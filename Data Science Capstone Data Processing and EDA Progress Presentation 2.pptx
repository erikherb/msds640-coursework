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52C85F-8529-47D6-8EA6-36B2BCD4A422}" v="5" dt="2026-07-13T23:18:09.3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25" autoAdjust="0"/>
  </p:normalViewPr>
  <p:slideViewPr>
    <p:cSldViewPr snapToGrid="0" snapToObjects="1">
      <p:cViewPr varScale="1">
        <p:scale>
          <a:sx n="77" d="100"/>
          <a:sy n="77" d="100"/>
        </p:scale>
        <p:origin x="91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481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framing: this is the data prep and EDA milestone for my capstone. The dataset is the UCI Adult Census Income data from the 1994 census, about 32,500 rows, and the task is predicting whether someone earns over 50K a year. Everything I do here is aimed at three hypotheses I'll show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built around three hypotheses. H1 is a drivers question: does education matter more than hours. H2 is the fairness question: whether XGBoost has the smallest recall gap between US-born and foreign-born high earners. H3 is a straight model comparison. EDA can't fully settle any of these, but it can give early hints, and that's how I framed every plot.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columns had missing values, all categorical, all under six percent. I filled them with an Unknown category rather than dropping, because dropping would lose about 2,400 people and the missingness isn't random, so it could bias things. I also removed 24 exact duplicates, and dropped fnlwgt because it's a sampling weight the docs say not to use, and education because it duplicates education_num.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imbalanced, about 76 to 24, roughly 3.2 to 1. That means accuracy is misleading, because a model that says nobody earns over 50K is right 76 percent of the time but useless. So I lead with recall and PR-AUC. PR-AUC is the key one because it focuses on the positive class and doesn't get credit for the easy negatives the way ROC-AUC can. For the fix I plan SMOTE on the training split only plus class weights, oversampling instead of undersampling so I keep every real row, and I leave the test set alone so it stays realistic.</a:t>
            </a:r>
          </a:p>
          <a:p>
            <a:endParaRPr lang="en-US" dirty="0"/>
          </a:p>
          <a:p>
            <a:endParaRPr lang="en-US" dirty="0"/>
          </a:p>
          <a:p>
            <a:r>
              <a:rPr lang="en-US" dirty="0"/>
              <a:t>Class weights: model is forced to pay more close attention to the rare or underrepresented class and faces a much higher penalty for misclassifying the rare class compared to the majority class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engineered three features, each tied to a hypothesis. native_region gives me the US vs non-US split the fairness audit needs. The capital gain and loss flags turn two heavily-zero columns into a clean wealth signal. hours_group bins hours because the effect isn't linear. Then one-hot encoding takes me to 52 features, standard scaling puts the numerics on the same range, and I checked PCA but skipped it: the variance is spread evenly and H1 depends on knowing which original feature matters.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show it mattered. Missing values go from a few percent to zero, duplicates to zero, and the training balance from 3.2 to 1 down to 1 to 1 after SMOTE, but only on the training split. Then a quick default logistic regression makes the point: on the raw imbalanced data it catches only 39 percent of real high earners, and after scaling, encoding and oversampling the recall jumps way up while accuracy barely moves. That's exactly the trade I want for a lending use case. It's just a sanity check though, the real modeling is next milestone.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summary stats, age is centered near 38, education around 10 years, hours piled at 40, and capital gain is mostly zero with a giant max. On the categorical side, Private workclass and married dominate. For outliers I used the IQR rule instead of z-scores, because z-scores assume a normal shape and capital gain, loss and hours are all skewed, so z-scores would flag a lot of normal points. The columns it flags most are capital gain and loss, which is expected. Those are real values, not errors, so I keep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at the raw shape of the data. The histograms confirm what the stats said: age bell-shaped, education clustered at high school, hours spiking at 40, and capital gain and loss basically all zero, which is why I built the flags. The correlation heatmap shows every numeric pair is only weakly related, so there's no multicollinearity to worry about. That matters because the logistic regression coefficients stay stable and readable, and H1 depends on reading those coefficients.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asks whether education drives income more than hours. I can't fully answer that with EDA, but I can see how cleanly each separates the classes alone. Education climbs steadily and its rate spread is 0.74, roughly double the 0.36 from hours, and hours flattens once you pass full-time. So education looks like the stronger single driver, an early hint for H1. I'm careful not to call it settled, because education is tangled up with occupation and marital status, and the real test is feature importance on the trained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 is the fairness question, and here I'm just showing the base-rate gap the models will be audited against. US-born earn over 50K at about 25 percent versus 19 percent for foreign-born. If a model simply learns that gap, it'll miss real high earners among foreign-born people, which shows up as lower recall for that group, and that recall gap is what the audit measures. Breaking it out by sex shows men are higher in both groups, so nativity isn't the only thing moving the base rate, which is why the audit checks sex and race too.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the model comparison. EDA can't test it, but it can show whether the data has the kind of patterns flexible models exploit. Three things: the over-50K rate by age is a clear curve that rises and falls, which a linear model can't bend to on its own. Having any capital gain flips the rate from low to high, a threshold that tree splits handle naturally. And the education-by-marital-status heatmap shows an interaction, married plus high education is higher than either alone. All three favor XGBoost and the MLP over the linear baseline, consistent with H3. Whether XGBoost actually wins, and whether it's significant, is the McNemar and bootstrap test next milestone.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nothing in the EDA cut against the three hypotheses. Education looks like the stronger driver for H1, there's a real nativity base-rate gap for H2, and the data has the non-linear, threshold and interaction patterns that back H3. The one honest caution is that the classes overlap heavily on any single feature, so these are hints, not proof. Next milestone is the actual modeling with all three models, tuning, the fairness recall gaps, and the significance tests. The full notebook and report are on my GitHub.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Right Panel"/>
          <p:cNvSpPr/>
          <p:nvPr/>
        </p:nvSpPr>
        <p:spPr>
          <a:xfrm>
            <a:off x="9906000" y="0"/>
            <a:ext cx="2286000" cy="6858000"/>
          </a:xfrm>
          <a:prstGeom prst="rect">
            <a:avLst/>
          </a:prstGeom>
          <a:solidFill>
            <a:srgbClr val="1C1E24"/>
          </a:solidFill>
          <a:ln/>
        </p:spPr>
        <p:txBody>
          <a:bodyPr/>
          <a:lstStyle/>
          <a:p>
            <a:endParaRPr lang="en-US"/>
          </a:p>
        </p:txBody>
      </p:sp>
      <p:sp>
        <p:nvSpPr>
          <p:cNvPr id="3" name="Panel Rule"/>
          <p:cNvSpPr/>
          <p:nvPr/>
        </p:nvSpPr>
        <p:spPr>
          <a:xfrm>
            <a:off x="9906000" y="0"/>
            <a:ext cx="27432" cy="6858000"/>
          </a:xfrm>
          <a:prstGeom prst="rect">
            <a:avLst/>
          </a:prstGeom>
          <a:solidFill>
            <a:srgbClr val="6AA0FF"/>
          </a:solidFill>
          <a:ln/>
        </p:spPr>
        <p:txBody>
          <a:bodyPr/>
          <a:lstStyle/>
          <a:p>
            <a:endParaRPr lang="en-US"/>
          </a:p>
        </p:txBody>
      </p:sp>
      <p:sp>
        <p:nvSpPr>
          <p:cNvPr id="4" name="Accent Bar"/>
          <p:cNvSpPr/>
          <p:nvPr/>
        </p:nvSpPr>
        <p:spPr>
          <a:xfrm>
            <a:off x="548640" y="1417320"/>
            <a:ext cx="50292" cy="2167128"/>
          </a:xfrm>
          <a:prstGeom prst="rect">
            <a:avLst/>
          </a:prstGeom>
          <a:solidFill>
            <a:srgbClr val="6AA0FF"/>
          </a:solidFill>
          <a:ln/>
        </p:spPr>
        <p:txBody>
          <a:bodyPr/>
          <a:lstStyle/>
          <a:p>
            <a:endParaRPr lang="en-US"/>
          </a:p>
        </p:txBody>
      </p:sp>
      <p:sp>
        <p:nvSpPr>
          <p:cNvPr id="5" name="Text 3"/>
          <p:cNvSpPr/>
          <p:nvPr/>
        </p:nvSpPr>
        <p:spPr>
          <a:xfrm>
            <a:off x="685800" y="1417320"/>
            <a:ext cx="9144000" cy="365760"/>
          </a:xfrm>
          <a:prstGeom prst="rect">
            <a:avLst/>
          </a:prstGeom>
          <a:noFill/>
          <a:ln/>
          <a:effectLst/>
        </p:spPr>
        <p:txBody>
          <a:bodyPr wrap="square" lIns="0" tIns="0" rIns="0" bIns="0" rtlCol="0" anchor="ctr"/>
          <a:lstStyle/>
          <a:p>
            <a:pPr marL="0" indent="0">
              <a:buNone/>
            </a:pPr>
            <a:r>
              <a:rPr lang="en-US" sz="1500" b="1" kern="0" spc="300" dirty="0">
                <a:solidFill>
                  <a:srgbClr val="E8C15A"/>
                </a:solidFill>
                <a:latin typeface="Calibri" pitchFamily="34" charset="0"/>
                <a:ea typeface="Calibri" pitchFamily="34" charset="-122"/>
                <a:cs typeface="Calibri" pitchFamily="34" charset="-120"/>
              </a:rPr>
              <a:t>DATA SCIENCE CAPSTONE   ·   MSDS640</a:t>
            </a:r>
            <a:endParaRPr lang="en-US" sz="1500" dirty="0"/>
          </a:p>
        </p:txBody>
      </p:sp>
      <p:sp>
        <p:nvSpPr>
          <p:cNvPr id="6" name="Text 4"/>
          <p:cNvSpPr/>
          <p:nvPr/>
        </p:nvSpPr>
        <p:spPr>
          <a:xfrm>
            <a:off x="658368" y="1965960"/>
            <a:ext cx="10607040" cy="960120"/>
          </a:xfrm>
          <a:prstGeom prst="rect">
            <a:avLst/>
          </a:prstGeom>
          <a:noFill/>
          <a:ln/>
          <a:effectLst/>
        </p:spPr>
        <p:txBody>
          <a:bodyPr wrap="square" lIns="0" tIns="0" rIns="0" bIns="0" rtlCol="0" anchor="ctr"/>
          <a:lstStyle/>
          <a:p>
            <a:pPr marL="0" indent="0">
              <a:buNone/>
            </a:pPr>
            <a:r>
              <a:rPr lang="en-US" sz="5400" b="1">
                <a:solidFill>
                  <a:srgbClr val="F5F7FA"/>
                </a:solidFill>
                <a:latin typeface="Trebuchet MS" pitchFamily="34" charset="0"/>
                <a:ea typeface="Trebuchet MS" pitchFamily="34" charset="-122"/>
                <a:cs typeface="Trebuchet MS" pitchFamily="34" charset="-120"/>
              </a:rPr>
              <a:t>Adult Census Income</a:t>
            </a:r>
            <a:endParaRPr lang="en-US" sz="5400" dirty="0"/>
          </a:p>
        </p:txBody>
      </p:sp>
      <p:sp>
        <p:nvSpPr>
          <p:cNvPr id="7" name="Text 5"/>
          <p:cNvSpPr/>
          <p:nvPr/>
        </p:nvSpPr>
        <p:spPr>
          <a:xfrm>
            <a:off x="685800" y="3035808"/>
            <a:ext cx="10424160" cy="548640"/>
          </a:xfrm>
          <a:prstGeom prst="rect">
            <a:avLst/>
          </a:prstGeom>
          <a:noFill/>
          <a:ln/>
        </p:spPr>
        <p:txBody>
          <a:bodyPr wrap="square" lIns="0" tIns="0" rIns="0" bIns="0" rtlCol="0" anchor="ctr"/>
          <a:lstStyle/>
          <a:p>
            <a:pPr marL="0" indent="0">
              <a:buNone/>
            </a:pPr>
            <a:r>
              <a:rPr lang="en-US" sz="2500">
                <a:solidFill>
                  <a:srgbClr val="6AA0FF"/>
                </a:solidFill>
                <a:latin typeface="Trebuchet MS" pitchFamily="34" charset="0"/>
                <a:ea typeface="Trebuchet MS" pitchFamily="34" charset="-122"/>
                <a:cs typeface="Trebuchet MS" pitchFamily="34" charset="-120"/>
              </a:rPr>
              <a:t>Data Preparation and Exploratory Data Analysis</a:t>
            </a:r>
            <a:endParaRPr lang="en-US" sz="2500" dirty="0"/>
          </a:p>
        </p:txBody>
      </p:sp>
      <p:sp>
        <p:nvSpPr>
          <p:cNvPr id="8" name="Shape 6"/>
          <p:cNvSpPr/>
          <p:nvPr/>
        </p:nvSpPr>
        <p:spPr>
          <a:xfrm>
            <a:off x="713232" y="3840480"/>
            <a:ext cx="3017520" cy="0"/>
          </a:xfrm>
          <a:prstGeom prst="line">
            <a:avLst/>
          </a:prstGeom>
          <a:noFill/>
          <a:ln w="25400">
            <a:solidFill>
              <a:srgbClr val="6AA0FF"/>
            </a:solidFill>
            <a:prstDash val="solid"/>
          </a:ln>
          <a:effectLst/>
        </p:spPr>
        <p:txBody>
          <a:bodyPr/>
          <a:lstStyle/>
          <a:p>
            <a:endParaRPr lang="en-US"/>
          </a:p>
        </p:txBody>
      </p:sp>
      <p:sp>
        <p:nvSpPr>
          <p:cNvPr id="9" name="Text 7"/>
          <p:cNvSpPr/>
          <p:nvPr/>
        </p:nvSpPr>
        <p:spPr>
          <a:xfrm>
            <a:off x="713232" y="4114800"/>
            <a:ext cx="7315200" cy="1097280"/>
          </a:xfrm>
          <a:prstGeom prst="rect">
            <a:avLst/>
          </a:prstGeom>
          <a:noFill/>
          <a:ln/>
        </p:spPr>
        <p:txBody>
          <a:bodyPr wrap="square" lIns="0" tIns="0" rIns="0" bIns="0" rtlCol="0" anchor="ctr"/>
          <a:lstStyle/>
          <a:p>
            <a:pPr marL="0" indent="0">
              <a:spcAft>
                <a:spcPts val="400"/>
              </a:spcAft>
              <a:buNone/>
            </a:pPr>
            <a:r>
              <a:rPr lang="en-US" sz="1700" b="1" dirty="0">
                <a:solidFill>
                  <a:srgbClr val="F5F7FA"/>
                </a:solidFill>
                <a:latin typeface="Calibri" pitchFamily="34" charset="0"/>
                <a:ea typeface="Calibri" pitchFamily="34" charset="-122"/>
                <a:cs typeface="Calibri" pitchFamily="34" charset="-120"/>
              </a:rPr>
              <a:t>Erik Herb</a:t>
            </a:r>
            <a:endParaRPr lang="en-US" sz="1700" dirty="0"/>
          </a:p>
          <a:p>
            <a:pPr marL="0" indent="0">
              <a:spcAft>
                <a:spcPts val="200"/>
              </a:spcAft>
              <a:buNone/>
            </a:pPr>
            <a:r>
              <a:rPr lang="en-US" sz="1350" dirty="0">
                <a:solidFill>
                  <a:srgbClr val="9AA7BD"/>
                </a:solidFill>
                <a:latin typeface="Calibri" pitchFamily="34" charset="0"/>
                <a:ea typeface="Calibri" pitchFamily="34" charset="-122"/>
                <a:cs typeface="Calibri" pitchFamily="34" charset="-120"/>
              </a:rPr>
              <a:t>M.S. Data Science   ·   Bryant University</a:t>
            </a:r>
            <a:endParaRPr lang="en-US" sz="1700" dirty="0"/>
          </a:p>
        </p:txBody>
      </p:sp>
      <p:sp>
        <p:nvSpPr>
          <p:cNvPr id="10" name="Text 8"/>
          <p:cNvSpPr/>
          <p:nvPr/>
        </p:nvSpPr>
        <p:spPr>
          <a:xfrm>
            <a:off x="713232" y="6172200"/>
            <a:ext cx="10058400" cy="365760"/>
          </a:xfrm>
          <a:prstGeom prst="rect">
            <a:avLst/>
          </a:prstGeom>
          <a:noFill/>
          <a:ln/>
        </p:spPr>
        <p:txBody>
          <a:bodyPr wrap="square" lIns="0" tIns="0" rIns="0" bIns="0" rtlCol="0" anchor="ctr"/>
          <a:lstStyle/>
          <a:p>
            <a:pPr marL="0" indent="0">
              <a:buNone/>
            </a:pPr>
            <a:r>
              <a:rPr lang="en-US" sz="1200" i="1" dirty="0">
                <a:solidFill>
                  <a:srgbClr val="6E7C94"/>
                </a:solidFill>
                <a:latin typeface="Calibri" pitchFamily="34" charset="0"/>
                <a:ea typeface="Calibri" pitchFamily="34" charset="-122"/>
                <a:cs typeface="Calibri" pitchFamily="34" charset="-120"/>
              </a:rPr>
              <a:t>UCI Adult Census, 1994 U.S. Census   ·   ~32,500 rows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6AA0FF"/>
          </a:solidFill>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endParaRPr lang="en-US" sz="22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The task and the three hypotheses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I explored the data with these questions in mind, not just plotting for the sake of plotting</a:t>
            </a:r>
            <a:endParaRPr lang="en-US" sz="1250" dirty="0"/>
          </a:p>
        </p:txBody>
      </p:sp>
      <p:sp>
        <p:nvSpPr>
          <p:cNvPr id="6" name="Shape 4"/>
          <p:cNvSpPr/>
          <p:nvPr/>
        </p:nvSpPr>
        <p:spPr>
          <a:xfrm>
            <a:off x="502920" y="1371600"/>
            <a:ext cx="3383280" cy="484632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7" name="Text 5"/>
          <p:cNvSpPr/>
          <p:nvPr/>
        </p:nvSpPr>
        <p:spPr>
          <a:xfrm>
            <a:off x="749808" y="1600200"/>
            <a:ext cx="2926080" cy="320040"/>
          </a:xfrm>
          <a:prstGeom prst="rect">
            <a:avLst/>
          </a:prstGeom>
          <a:noFill/>
          <a:ln/>
        </p:spPr>
        <p:txBody>
          <a:bodyPr wrap="square" lIns="0" tIns="0" rIns="0" bIns="0" rtlCol="0" anchor="ctr"/>
          <a:lstStyle/>
          <a:p>
            <a:pPr marL="0" indent="0">
              <a:buNone/>
            </a:pPr>
            <a:r>
              <a:rPr lang="en-US" sz="1200" b="1" kern="0" spc="150" dirty="0">
                <a:solidFill>
                  <a:srgbClr val="6AA0FF"/>
                </a:solidFill>
                <a:latin typeface="Calibri" pitchFamily="34" charset="0"/>
                <a:ea typeface="Calibri" pitchFamily="34" charset="-122"/>
                <a:cs typeface="Calibri" pitchFamily="34" charset="-120"/>
              </a:rPr>
              <a:t>THE PREDICTION TASK</a:t>
            </a:r>
            <a:endParaRPr lang="en-US" sz="1200" dirty="0"/>
          </a:p>
        </p:txBody>
      </p:sp>
      <p:sp>
        <p:nvSpPr>
          <p:cNvPr id="8" name="Text 6"/>
          <p:cNvSpPr/>
          <p:nvPr/>
        </p:nvSpPr>
        <p:spPr>
          <a:xfrm>
            <a:off x="749808" y="2011680"/>
            <a:ext cx="2889504" cy="4023360"/>
          </a:xfrm>
          <a:prstGeom prst="rect">
            <a:avLst/>
          </a:prstGeom>
          <a:noFill/>
          <a:ln/>
        </p:spPr>
        <p:txBody>
          <a:bodyPr wrap="square" lIns="0" tIns="0" rIns="0" bIns="0" rtlCol="0" anchor="t"/>
          <a:lstStyle/>
          <a:p>
            <a:pPr marL="0" indent="0">
              <a:spcAft>
                <a:spcPts val="200"/>
              </a:spcAft>
              <a:buNone/>
            </a:pPr>
            <a:r>
              <a:rPr lang="en-US" sz="1100" b="1" kern="0" spc="100" dirty="0">
                <a:solidFill>
                  <a:srgbClr val="6E7C94"/>
                </a:solidFill>
                <a:latin typeface="Calibri" pitchFamily="34" charset="0"/>
                <a:ea typeface="Calibri" pitchFamily="34" charset="-122"/>
                <a:cs typeface="Calibri" pitchFamily="34" charset="-120"/>
              </a:rPr>
              <a:t>Target</a:t>
            </a:r>
            <a:endParaRPr lang="en-US" sz="1100" dirty="0"/>
          </a:p>
          <a:p>
            <a:pPr marL="0" indent="0">
              <a:spcAft>
                <a:spcPts val="1300"/>
              </a:spcAft>
              <a:buNone/>
            </a:pPr>
            <a:r>
              <a:rPr lang="en-US" sz="1400" b="1" dirty="0">
                <a:solidFill>
                  <a:srgbClr val="E8C15A"/>
                </a:solidFill>
                <a:latin typeface="Calibri" pitchFamily="34" charset="0"/>
                <a:ea typeface="Calibri" pitchFamily="34" charset="-122"/>
                <a:cs typeface="Calibri" pitchFamily="34" charset="-120"/>
              </a:rPr>
              <a:t>income  &gt;50K  vs  ≤50K</a:t>
            </a:r>
            <a:endParaRPr lang="en-US" sz="1100" dirty="0"/>
          </a:p>
          <a:p>
            <a:pPr marL="0" indent="0">
              <a:spcAft>
                <a:spcPts val="200"/>
              </a:spcAft>
              <a:buNone/>
            </a:pPr>
            <a:r>
              <a:rPr lang="en-US" sz="1100" b="1" kern="0" spc="100" dirty="0">
                <a:solidFill>
                  <a:srgbClr val="6E7C94"/>
                </a:solidFill>
                <a:latin typeface="Calibri" pitchFamily="34" charset="0"/>
                <a:ea typeface="Calibri" pitchFamily="34" charset="-122"/>
                <a:cs typeface="Calibri" pitchFamily="34" charset="-120"/>
              </a:rPr>
              <a:t>Rows</a:t>
            </a:r>
            <a:endParaRPr lang="en-US" sz="1100" dirty="0"/>
          </a:p>
          <a:p>
            <a:pPr marL="0" indent="0">
              <a:spcAft>
                <a:spcPts val="1300"/>
              </a:spcAft>
              <a:buNone/>
            </a:pPr>
            <a:r>
              <a:rPr lang="en-US" sz="1400" dirty="0">
                <a:solidFill>
                  <a:srgbClr val="F5F7FA"/>
                </a:solidFill>
                <a:latin typeface="Calibri" pitchFamily="34" charset="0"/>
                <a:ea typeface="Calibri" pitchFamily="34" charset="-122"/>
                <a:cs typeface="Calibri" pitchFamily="34" charset="-120"/>
              </a:rPr>
              <a:t>32,537 after cleaning</a:t>
            </a:r>
            <a:endParaRPr lang="en-US" sz="1100" dirty="0"/>
          </a:p>
          <a:p>
            <a:pPr marL="0" indent="0">
              <a:spcAft>
                <a:spcPts val="200"/>
              </a:spcAft>
              <a:buNone/>
            </a:pPr>
            <a:r>
              <a:rPr lang="en-US" sz="1100" b="1" kern="0" spc="100" dirty="0">
                <a:solidFill>
                  <a:srgbClr val="6E7C94"/>
                </a:solidFill>
                <a:latin typeface="Calibri" pitchFamily="34" charset="0"/>
                <a:ea typeface="Calibri" pitchFamily="34" charset="-122"/>
                <a:cs typeface="Calibri" pitchFamily="34" charset="-120"/>
              </a:rPr>
              <a:t>Use case</a:t>
            </a:r>
          </a:p>
          <a:p>
            <a:pPr>
              <a:spcAft>
                <a:spcPts val="200"/>
              </a:spcAft>
            </a:pPr>
            <a:r>
              <a:rPr lang="en-US" sz="1400" dirty="0">
                <a:solidFill>
                  <a:schemeClr val="bg1"/>
                </a:solidFill>
              </a:rPr>
              <a:t>In a screening use case like lending, the goal is catching real high earners, so recall matters more than overall accuracy.</a:t>
            </a:r>
          </a:p>
          <a:p>
            <a:pPr>
              <a:spcAft>
                <a:spcPts val="200"/>
              </a:spcAft>
            </a:pPr>
            <a:endParaRPr lang="en-US" sz="1100" dirty="0">
              <a:solidFill>
                <a:schemeClr val="bg1"/>
              </a:solidFill>
            </a:endParaRPr>
          </a:p>
          <a:p>
            <a:pPr marL="0" indent="0">
              <a:spcAft>
                <a:spcPts val="200"/>
              </a:spcAft>
              <a:buNone/>
            </a:pPr>
            <a:r>
              <a:rPr lang="en-US" sz="1100" b="1" kern="0" spc="100" dirty="0">
                <a:solidFill>
                  <a:srgbClr val="6E7C94"/>
                </a:solidFill>
                <a:latin typeface="Calibri" pitchFamily="34" charset="0"/>
                <a:ea typeface="Calibri" pitchFamily="34" charset="-122"/>
                <a:cs typeface="Calibri" pitchFamily="34" charset="-120"/>
              </a:rPr>
              <a:t>Models to come</a:t>
            </a:r>
            <a:endParaRPr lang="en-US" sz="1100" dirty="0"/>
          </a:p>
          <a:p>
            <a:pPr marL="0" indent="0">
              <a:buNone/>
            </a:pPr>
            <a:r>
              <a:rPr lang="en-US" sz="1300" dirty="0">
                <a:solidFill>
                  <a:srgbClr val="F5F7FA"/>
                </a:solidFill>
                <a:latin typeface="Calibri" pitchFamily="34" charset="0"/>
                <a:ea typeface="Calibri" pitchFamily="34" charset="-122"/>
                <a:cs typeface="Calibri" pitchFamily="34" charset="-120"/>
              </a:rPr>
              <a:t>Logistic Regression · XGBoost · MLP</a:t>
            </a:r>
            <a:endParaRPr lang="en-US" sz="1100" dirty="0"/>
          </a:p>
        </p:txBody>
      </p:sp>
      <p:sp>
        <p:nvSpPr>
          <p:cNvPr id="9" name="Shape 7"/>
          <p:cNvSpPr/>
          <p:nvPr/>
        </p:nvSpPr>
        <p:spPr>
          <a:xfrm>
            <a:off x="4114800" y="1371600"/>
            <a:ext cx="7571232" cy="148132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0" name="Shape 8"/>
          <p:cNvSpPr/>
          <p:nvPr/>
        </p:nvSpPr>
        <p:spPr>
          <a:xfrm>
            <a:off x="4370832" y="1636776"/>
            <a:ext cx="960120" cy="960120"/>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1" name="Text 9"/>
          <p:cNvSpPr/>
          <p:nvPr/>
        </p:nvSpPr>
        <p:spPr>
          <a:xfrm>
            <a:off x="4370832" y="1636776"/>
            <a:ext cx="960120" cy="960120"/>
          </a:xfrm>
          <a:prstGeom prst="rect">
            <a:avLst/>
          </a:prstGeom>
          <a:noFill/>
          <a:ln/>
        </p:spPr>
        <p:txBody>
          <a:bodyPr wrap="square" rtlCol="0" anchor="ctr"/>
          <a:lstStyle/>
          <a:p>
            <a:pPr marL="0" indent="0" algn="ctr">
              <a:buNone/>
            </a:pPr>
            <a:r>
              <a:rPr lang="en-US" sz="2600" b="1">
                <a:solidFill>
                  <a:srgbClr val="E8C15A"/>
                </a:solidFill>
                <a:latin typeface="Trebuchet MS" pitchFamily="34" charset="0"/>
                <a:ea typeface="Trebuchet MS" pitchFamily="34" charset="-122"/>
                <a:cs typeface="Trebuchet MS" pitchFamily="34" charset="-120"/>
              </a:rPr>
              <a:t>H1</a:t>
            </a:r>
            <a:endParaRPr lang="en-US" sz="2600" dirty="0"/>
          </a:p>
        </p:txBody>
      </p:sp>
      <p:sp>
        <p:nvSpPr>
          <p:cNvPr id="12" name="Text 10"/>
          <p:cNvSpPr/>
          <p:nvPr/>
        </p:nvSpPr>
        <p:spPr>
          <a:xfrm>
            <a:off x="5532120" y="1600200"/>
            <a:ext cx="5943600" cy="365760"/>
          </a:xfrm>
          <a:prstGeom prst="rect">
            <a:avLst/>
          </a:prstGeom>
          <a:noFill/>
          <a:ln/>
        </p:spPr>
        <p:txBody>
          <a:bodyPr wrap="square" lIns="0" tIns="0" rIns="0" bIns="0" rtlCol="0" anchor="ctr"/>
          <a:lstStyle/>
          <a:p>
            <a:pPr marL="0" indent="0">
              <a:buNone/>
            </a:pPr>
            <a:r>
              <a:rPr lang="en-US" sz="1800" b="1">
                <a:solidFill>
                  <a:srgbClr val="F5F7FA"/>
                </a:solidFill>
                <a:latin typeface="Trebuchet MS" pitchFamily="34" charset="0"/>
                <a:ea typeface="Trebuchet MS" pitchFamily="34" charset="-122"/>
                <a:cs typeface="Trebuchet MS" pitchFamily="34" charset="-120"/>
              </a:rPr>
              <a:t>Education over hours</a:t>
            </a:r>
            <a:endParaRPr lang="en-US" sz="1800" dirty="0"/>
          </a:p>
        </p:txBody>
      </p:sp>
      <p:sp>
        <p:nvSpPr>
          <p:cNvPr id="13" name="Text 11"/>
          <p:cNvSpPr/>
          <p:nvPr/>
        </p:nvSpPr>
        <p:spPr>
          <a:xfrm>
            <a:off x="5532120" y="2002536"/>
            <a:ext cx="5943600" cy="749808"/>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Education level is a stronger driver of the &gt;50K prediction than hours worked.</a:t>
            </a:r>
            <a:endParaRPr lang="en-US" sz="1300" dirty="0"/>
          </a:p>
        </p:txBody>
      </p:sp>
      <p:sp>
        <p:nvSpPr>
          <p:cNvPr id="14" name="Shape 12"/>
          <p:cNvSpPr/>
          <p:nvPr/>
        </p:nvSpPr>
        <p:spPr>
          <a:xfrm>
            <a:off x="4114800" y="2999232"/>
            <a:ext cx="7571232" cy="148132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5" name="Shape 13"/>
          <p:cNvSpPr/>
          <p:nvPr/>
        </p:nvSpPr>
        <p:spPr>
          <a:xfrm>
            <a:off x="4370832" y="3264408"/>
            <a:ext cx="960120" cy="960120"/>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6" name="Text 14"/>
          <p:cNvSpPr/>
          <p:nvPr/>
        </p:nvSpPr>
        <p:spPr>
          <a:xfrm>
            <a:off x="4370832" y="3264408"/>
            <a:ext cx="960120" cy="960120"/>
          </a:xfrm>
          <a:prstGeom prst="rect">
            <a:avLst/>
          </a:prstGeom>
          <a:noFill/>
          <a:ln/>
        </p:spPr>
        <p:txBody>
          <a:bodyPr wrap="square" rtlCol="0" anchor="ctr"/>
          <a:lstStyle/>
          <a:p>
            <a:pPr marL="0" indent="0" algn="ctr">
              <a:buNone/>
            </a:pPr>
            <a:r>
              <a:rPr lang="en-US" sz="2600" b="1">
                <a:solidFill>
                  <a:srgbClr val="E8C15A"/>
                </a:solidFill>
                <a:latin typeface="Trebuchet MS" pitchFamily="34" charset="0"/>
                <a:ea typeface="Trebuchet MS" pitchFamily="34" charset="-122"/>
                <a:cs typeface="Trebuchet MS" pitchFamily="34" charset="-120"/>
              </a:rPr>
              <a:t>H2</a:t>
            </a:r>
            <a:endParaRPr lang="en-US" sz="2600" dirty="0"/>
          </a:p>
        </p:txBody>
      </p:sp>
      <p:sp>
        <p:nvSpPr>
          <p:cNvPr id="17" name="Text 15"/>
          <p:cNvSpPr/>
          <p:nvPr/>
        </p:nvSpPr>
        <p:spPr>
          <a:xfrm>
            <a:off x="5532120" y="3227832"/>
            <a:ext cx="5943600" cy="365760"/>
          </a:xfrm>
          <a:prstGeom prst="rect">
            <a:avLst/>
          </a:prstGeom>
          <a:noFill/>
          <a:ln/>
        </p:spPr>
        <p:txBody>
          <a:bodyPr wrap="square" lIns="0" tIns="0" rIns="0" bIns="0" rtlCol="0" anchor="ctr"/>
          <a:lstStyle/>
          <a:p>
            <a:pPr marL="0" indent="0">
              <a:buNone/>
            </a:pPr>
            <a:r>
              <a:rPr lang="en-US" sz="1800" b="1">
                <a:solidFill>
                  <a:srgbClr val="F5F7FA"/>
                </a:solidFill>
                <a:latin typeface="Trebuchet MS" pitchFamily="34" charset="0"/>
                <a:ea typeface="Trebuchet MS" pitchFamily="34" charset="-122"/>
                <a:cs typeface="Trebuchet MS" pitchFamily="34" charset="-120"/>
              </a:rPr>
              <a:t>Fairness across nativity</a:t>
            </a:r>
            <a:endParaRPr lang="en-US" sz="1800" dirty="0"/>
          </a:p>
        </p:txBody>
      </p:sp>
      <p:sp>
        <p:nvSpPr>
          <p:cNvPr id="18" name="Text 16"/>
          <p:cNvSpPr/>
          <p:nvPr/>
        </p:nvSpPr>
        <p:spPr>
          <a:xfrm>
            <a:off x="5532120" y="3630168"/>
            <a:ext cx="5943600" cy="749808"/>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XGBoost is the fairest of the three models toward true high earners, with the smallest US-born vs foreign-born recall gap.</a:t>
            </a:r>
            <a:endParaRPr lang="en-US" sz="1300" dirty="0"/>
          </a:p>
        </p:txBody>
      </p:sp>
      <p:sp>
        <p:nvSpPr>
          <p:cNvPr id="19" name="Shape 17"/>
          <p:cNvSpPr/>
          <p:nvPr/>
        </p:nvSpPr>
        <p:spPr>
          <a:xfrm>
            <a:off x="4114800" y="4626864"/>
            <a:ext cx="7571232" cy="148132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20" name="Shape 18"/>
          <p:cNvSpPr/>
          <p:nvPr/>
        </p:nvSpPr>
        <p:spPr>
          <a:xfrm>
            <a:off x="4370832" y="4892040"/>
            <a:ext cx="960120" cy="960120"/>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21" name="Text 19"/>
          <p:cNvSpPr/>
          <p:nvPr/>
        </p:nvSpPr>
        <p:spPr>
          <a:xfrm>
            <a:off x="4370832" y="4892040"/>
            <a:ext cx="960120" cy="960120"/>
          </a:xfrm>
          <a:prstGeom prst="rect">
            <a:avLst/>
          </a:prstGeom>
          <a:noFill/>
          <a:ln/>
        </p:spPr>
        <p:txBody>
          <a:bodyPr wrap="square" rtlCol="0" anchor="ctr"/>
          <a:lstStyle/>
          <a:p>
            <a:pPr marL="0" indent="0" algn="ctr">
              <a:buNone/>
            </a:pPr>
            <a:r>
              <a:rPr lang="en-US" sz="2600" b="1">
                <a:solidFill>
                  <a:srgbClr val="E8C15A"/>
                </a:solidFill>
                <a:latin typeface="Trebuchet MS" pitchFamily="34" charset="0"/>
                <a:ea typeface="Trebuchet MS" pitchFamily="34" charset="-122"/>
                <a:cs typeface="Trebuchet MS" pitchFamily="34" charset="-120"/>
              </a:rPr>
              <a:t>H3</a:t>
            </a:r>
            <a:endParaRPr lang="en-US" sz="2600" dirty="0"/>
          </a:p>
        </p:txBody>
      </p:sp>
      <p:sp>
        <p:nvSpPr>
          <p:cNvPr id="22" name="Text 20"/>
          <p:cNvSpPr/>
          <p:nvPr/>
        </p:nvSpPr>
        <p:spPr>
          <a:xfrm>
            <a:off x="5532120" y="4855464"/>
            <a:ext cx="5943600" cy="365760"/>
          </a:xfrm>
          <a:prstGeom prst="rect">
            <a:avLst/>
          </a:prstGeom>
          <a:noFill/>
          <a:ln/>
        </p:spPr>
        <p:txBody>
          <a:bodyPr wrap="square" lIns="0" tIns="0" rIns="0" bIns="0" rtlCol="0" anchor="ctr"/>
          <a:lstStyle/>
          <a:p>
            <a:pPr marL="0" indent="0">
              <a:buNone/>
            </a:pPr>
            <a:r>
              <a:rPr lang="en-US" sz="1800" b="1">
                <a:solidFill>
                  <a:srgbClr val="F5F7FA"/>
                </a:solidFill>
                <a:latin typeface="Trebuchet MS" pitchFamily="34" charset="0"/>
                <a:ea typeface="Trebuchet MS" pitchFamily="34" charset="-122"/>
                <a:cs typeface="Trebuchet MS" pitchFamily="34" charset="-120"/>
              </a:rPr>
              <a:t>XGBoost classifies best</a:t>
            </a:r>
            <a:endParaRPr lang="en-US" sz="1800" dirty="0"/>
          </a:p>
        </p:txBody>
      </p:sp>
      <p:sp>
        <p:nvSpPr>
          <p:cNvPr id="23" name="Text 21"/>
          <p:cNvSpPr/>
          <p:nvPr/>
        </p:nvSpPr>
        <p:spPr>
          <a:xfrm>
            <a:off x="5532120" y="5257800"/>
            <a:ext cx="5943600" cy="749808"/>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XGBoost beats the logistic baseline and the MLP on PR-AUC and F1.</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1</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Handling missing values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Only three columns had gaps, none badly affected</a:t>
            </a:r>
            <a:endParaRPr lang="en-US" sz="1250" dirty="0"/>
          </a:p>
        </p:txBody>
      </p:sp>
      <p:sp>
        <p:nvSpPr>
          <p:cNvPr id="8" name="Shape 6"/>
          <p:cNvSpPr/>
          <p:nvPr/>
        </p:nvSpPr>
        <p:spPr>
          <a:xfrm>
            <a:off x="502920" y="1371600"/>
            <a:ext cx="5257800" cy="283464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9" name="Text 7"/>
          <p:cNvSpPr/>
          <p:nvPr/>
        </p:nvSpPr>
        <p:spPr>
          <a:xfrm>
            <a:off x="749808" y="1536192"/>
            <a:ext cx="475488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MISSINGNESS BY COLUMN</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200387295"/>
              </p:ext>
            </p:extLst>
          </p:nvPr>
        </p:nvGraphicFramePr>
        <p:xfrm>
          <a:off x="749808" y="1965960"/>
          <a:ext cx="4754880" cy="1691640"/>
        </p:xfrm>
        <a:graphic>
          <a:graphicData uri="http://schemas.openxmlformats.org/drawingml/2006/table">
            <a:tbl>
              <a:tblPr/>
              <a:tblGrid>
                <a:gridCol w="24688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22910">
                <a:tc>
                  <a:txBody>
                    <a:bodyPr/>
                    <a:lstStyle/>
                    <a:p>
                      <a:pPr marL="0" indent="0" algn="l">
                        <a:buNone/>
                      </a:pPr>
                      <a:r>
                        <a:rPr lang="en-US" sz="1300" b="1" dirty="0">
                          <a:solidFill>
                            <a:srgbClr val="E8C15A"/>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300" b="1" dirty="0">
                          <a:solidFill>
                            <a:srgbClr val="E8C15A"/>
                          </a:solidFill>
                          <a:latin typeface="Calibri" pitchFamily="34" charset="0"/>
                          <a:ea typeface="Calibri" pitchFamily="34" charset="-122"/>
                          <a:cs typeface="Calibri" pitchFamily="34" charset="-120"/>
                        </a:rPr>
                        <a:t>Missing</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300" b="1" dirty="0">
                          <a:solidFill>
                            <a:srgbClr val="E8C15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extLst>
                  <a:ext uri="{0D108BD9-81ED-4DB2-BD59-A6C34878D82A}">
                    <a16:rowId xmlns:a16="http://schemas.microsoft.com/office/drawing/2014/main" val="10000"/>
                  </a:ext>
                </a:extLst>
              </a:tr>
              <a:tr h="422910">
                <a:tc>
                  <a:txBody>
                    <a:bodyPr/>
                    <a:lstStyle/>
                    <a:p>
                      <a:pPr marL="0" indent="0" algn="l">
                        <a:buNone/>
                      </a:pPr>
                      <a:r>
                        <a:rPr lang="en-US" sz="1300" b="1" dirty="0">
                          <a:solidFill>
                            <a:srgbClr val="F5F7FA"/>
                          </a:solidFill>
                          <a:latin typeface="Calibri" pitchFamily="34" charset="0"/>
                          <a:ea typeface="Calibri" pitchFamily="34" charset="-122"/>
                          <a:cs typeface="Calibri" pitchFamily="34" charset="-120"/>
                        </a:rPr>
                        <a:t>occupation</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1,843</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5.66%</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422910">
                <a:tc>
                  <a:txBody>
                    <a:bodyPr/>
                    <a:lstStyle/>
                    <a:p>
                      <a:pPr marL="0" indent="0" algn="l">
                        <a:buNone/>
                      </a:pPr>
                      <a:r>
                        <a:rPr lang="en-US" sz="1300" b="1" dirty="0">
                          <a:solidFill>
                            <a:srgbClr val="F5F7FA"/>
                          </a:solidFill>
                          <a:latin typeface="Calibri" pitchFamily="34" charset="0"/>
                          <a:ea typeface="Calibri" pitchFamily="34" charset="-122"/>
                          <a:cs typeface="Calibri" pitchFamily="34" charset="-120"/>
                        </a:rPr>
                        <a:t>workclass</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1,836</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5.64%</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extLst>
                  <a:ext uri="{0D108BD9-81ED-4DB2-BD59-A6C34878D82A}">
                    <a16:rowId xmlns:a16="http://schemas.microsoft.com/office/drawing/2014/main" val="10002"/>
                  </a:ext>
                </a:extLst>
              </a:tr>
              <a:tr h="422910">
                <a:tc>
                  <a:txBody>
                    <a:bodyPr/>
                    <a:lstStyle/>
                    <a:p>
                      <a:pPr marL="0" indent="0" algn="l">
                        <a:buNone/>
                      </a:pPr>
                      <a:r>
                        <a:rPr lang="en-US" sz="1300" b="1" dirty="0">
                          <a:solidFill>
                            <a:srgbClr val="F5F7FA"/>
                          </a:solidFill>
                          <a:latin typeface="Calibri" pitchFamily="34" charset="0"/>
                          <a:ea typeface="Calibri" pitchFamily="34" charset="-122"/>
                          <a:cs typeface="Calibri" pitchFamily="34" charset="-120"/>
                        </a:rPr>
                        <a:t>native_country</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583</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1.79%</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1" name="Text 8"/>
          <p:cNvSpPr/>
          <p:nvPr/>
        </p:nvSpPr>
        <p:spPr>
          <a:xfrm>
            <a:off x="749808" y="3767328"/>
            <a:ext cx="4754880" cy="320040"/>
          </a:xfrm>
          <a:prstGeom prst="rect">
            <a:avLst/>
          </a:prstGeom>
          <a:noFill/>
          <a:ln/>
        </p:spPr>
        <p:txBody>
          <a:bodyPr wrap="square" lIns="0" tIns="0" rIns="0" bIns="0" rtlCol="0" anchor="ctr"/>
          <a:lstStyle/>
          <a:p>
            <a:pPr marL="0" indent="0">
              <a:buNone/>
            </a:pPr>
            <a:r>
              <a:rPr lang="en-US" sz="1200" i="1" dirty="0">
                <a:solidFill>
                  <a:srgbClr val="6E7C94"/>
                </a:solidFill>
                <a:latin typeface="Calibri" pitchFamily="34" charset="0"/>
                <a:ea typeface="Calibri" pitchFamily="34" charset="-122"/>
                <a:cs typeface="Calibri" pitchFamily="34" charset="-120"/>
              </a:rPr>
              <a:t>All three are categorical and well under any drop threshold.</a:t>
            </a:r>
            <a:endParaRPr lang="en-US" sz="1200" dirty="0"/>
          </a:p>
        </p:txBody>
      </p:sp>
      <p:sp>
        <p:nvSpPr>
          <p:cNvPr id="12" name="Shape 9"/>
          <p:cNvSpPr/>
          <p:nvPr/>
        </p:nvSpPr>
        <p:spPr>
          <a:xfrm>
            <a:off x="5989320" y="1371600"/>
            <a:ext cx="5696712" cy="484632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3" name="Text 10"/>
          <p:cNvSpPr/>
          <p:nvPr/>
        </p:nvSpPr>
        <p:spPr>
          <a:xfrm>
            <a:off x="6236208" y="1536192"/>
            <a:ext cx="521208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WHAT I DID AND WHY</a:t>
            </a:r>
            <a:endParaRPr lang="en-US" sz="1250" dirty="0"/>
          </a:p>
        </p:txBody>
      </p:sp>
      <p:sp>
        <p:nvSpPr>
          <p:cNvPr id="14" name="Text 11"/>
          <p:cNvSpPr/>
          <p:nvPr/>
        </p:nvSpPr>
        <p:spPr>
          <a:xfrm>
            <a:off x="6236208" y="1938528"/>
            <a:ext cx="5230368" cy="393192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F5F7FA"/>
                </a:solidFill>
                <a:latin typeface="Calibri" pitchFamily="34" charset="0"/>
                <a:ea typeface="Calibri" pitchFamily="34" charset="-122"/>
                <a:cs typeface="Calibri" pitchFamily="34" charset="-120"/>
              </a:rPr>
              <a:t>Filled all three with an explicit Unknown category instead of dropping rows.</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Dropping every row with a gap would remove ~2,400 people </a:t>
            </a:r>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Missingness is not totally random (a missing workclass often pairs with a missing occupation), so dropping could bias the income analysis.</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Unknown lets the model treat missingness as its own signal.</a:t>
            </a:r>
            <a:endParaRPr lang="en-US" sz="1250" dirty="0"/>
          </a:p>
          <a:p>
            <a:pPr marL="177800" indent="-177800">
              <a:spcAft>
                <a:spcPts val="700"/>
              </a:spcAft>
              <a:buSzPct val="100000"/>
              <a:buChar char="•"/>
            </a:pPr>
            <a:r>
              <a:rPr lang="en-US" sz="1250" b="1" dirty="0">
                <a:solidFill>
                  <a:srgbClr val="F5F7FA"/>
                </a:solidFill>
                <a:latin typeface="Calibri" pitchFamily="34" charset="0"/>
                <a:ea typeface="Calibri" pitchFamily="34" charset="-122"/>
                <a:cs typeface="Calibri" pitchFamily="34" charset="-120"/>
              </a:rPr>
              <a:t>Removed 24 exact duplicate rows.</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Done while fnlwgt was still in the table, since it is near-unique per row, so I only cut truly identical people.</a:t>
            </a:r>
            <a:endParaRPr lang="en-US" sz="1250" dirty="0"/>
          </a:p>
          <a:p>
            <a:pPr marL="177800" indent="-177800">
              <a:spcAft>
                <a:spcPts val="700"/>
              </a:spcAft>
              <a:buSzPct val="100000"/>
              <a:buChar char="•"/>
            </a:pPr>
            <a:r>
              <a:rPr lang="en-US" sz="1250" b="1" dirty="0">
                <a:solidFill>
                  <a:srgbClr val="F5F7FA"/>
                </a:solidFill>
                <a:latin typeface="Calibri" pitchFamily="34" charset="0"/>
                <a:ea typeface="Calibri" pitchFamily="34" charset="-122"/>
                <a:cs typeface="Calibri" pitchFamily="34" charset="-120"/>
              </a:rPr>
              <a:t>Dropped fnlwgt and education.</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fnlwgt is a survey sampling weight and education is redundant with the numeric education_num.</a:t>
            </a:r>
            <a:endParaRPr lang="en-US" sz="1250" dirty="0"/>
          </a:p>
        </p:txBody>
      </p:sp>
      <p:sp>
        <p:nvSpPr>
          <p:cNvPr id="15" name="Shape 12"/>
          <p:cNvSpPr/>
          <p:nvPr/>
        </p:nvSpPr>
        <p:spPr>
          <a:xfrm>
            <a:off x="6236208" y="5650992"/>
            <a:ext cx="5212080" cy="402336"/>
          </a:xfrm>
          <a:prstGeom prst="roundRect">
            <a:avLst>
              <a:gd name="adj" fmla="val 1600"/>
            </a:avLst>
          </a:prstGeom>
          <a:solidFill>
            <a:srgbClr val="2A2E39"/>
          </a:solidFill>
          <a:ln w="12700">
            <a:solidFill>
              <a:srgbClr val="6AA0FF">
                <a:alpha val="55000"/>
              </a:srgbClr>
            </a:solidFill>
            <a:prstDash val="solid"/>
          </a:ln>
          <a:effectLst/>
        </p:spPr>
        <p:txBody>
          <a:bodyPr/>
          <a:lstStyle/>
          <a:p>
            <a:endParaRPr lang="en-US"/>
          </a:p>
        </p:txBody>
      </p:sp>
      <p:sp>
        <p:nvSpPr>
          <p:cNvPr id="16" name="Text 13"/>
          <p:cNvSpPr/>
          <p:nvPr/>
        </p:nvSpPr>
        <p:spPr>
          <a:xfrm>
            <a:off x="6236208" y="5650992"/>
            <a:ext cx="5212080" cy="402336"/>
          </a:xfrm>
          <a:prstGeom prst="rect">
            <a:avLst/>
          </a:prstGeom>
          <a:noFill/>
          <a:ln/>
        </p:spPr>
        <p:txBody>
          <a:bodyPr wrap="square" rtlCol="0" anchor="ctr"/>
          <a:lstStyle/>
          <a:p>
            <a:pPr marL="0" indent="0" algn="ctr">
              <a:buNone/>
            </a:pPr>
            <a:r>
              <a:rPr lang="en-US" sz="1250" b="1" dirty="0">
                <a:solidFill>
                  <a:srgbClr val="E8C15A"/>
                </a:solidFill>
                <a:latin typeface="Calibri" pitchFamily="34" charset="0"/>
                <a:ea typeface="Calibri" pitchFamily="34" charset="-122"/>
                <a:cs typeface="Calibri" pitchFamily="34" charset="-120"/>
              </a:rPr>
              <a:t>Result: 0 missing values  ·  final shape 32,537 × 14</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2</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Class imbalance and metrics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About a 3.2 to 1 split, so accuracy alone would be misleading</a:t>
            </a:r>
            <a:endParaRPr lang="en-US" sz="1250" dirty="0"/>
          </a:p>
        </p:txBody>
      </p:sp>
      <p:sp>
        <p:nvSpPr>
          <p:cNvPr id="6" name="Shape 4"/>
          <p:cNvSpPr/>
          <p:nvPr/>
        </p:nvSpPr>
        <p:spPr>
          <a:xfrm>
            <a:off x="502920" y="1371600"/>
            <a:ext cx="4160520" cy="384048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7" name="Image 0" descr="/home/claude/imgs/cell21_0.png"/>
          <p:cNvPicPr>
            <a:picLocks noChangeAspect="1"/>
          </p:cNvPicPr>
          <p:nvPr/>
        </p:nvPicPr>
        <p:blipFill>
          <a:blip r:embed="rId3"/>
          <a:stretch>
            <a:fillRect/>
          </a:stretch>
        </p:blipFill>
        <p:spPr>
          <a:xfrm>
            <a:off x="649224" y="1803262"/>
            <a:ext cx="3867912" cy="2977156"/>
          </a:xfrm>
          <a:prstGeom prst="rect">
            <a:avLst/>
          </a:prstGeom>
        </p:spPr>
      </p:pic>
      <p:sp>
        <p:nvSpPr>
          <p:cNvPr id="8" name="Shape 5"/>
          <p:cNvSpPr/>
          <p:nvPr/>
        </p:nvSpPr>
        <p:spPr>
          <a:xfrm>
            <a:off x="502920" y="5349240"/>
            <a:ext cx="4160520" cy="777240"/>
          </a:xfrm>
          <a:prstGeom prst="roundRect">
            <a:avLst>
              <a:gd name="adj" fmla="val 1600"/>
            </a:avLst>
          </a:prstGeom>
          <a:solidFill>
            <a:srgbClr val="1C1E24"/>
          </a:solidFill>
          <a:ln w="12700">
            <a:solidFill>
              <a:srgbClr val="3A3F4A">
                <a:alpha val="75000"/>
              </a:srgbClr>
            </a:solidFill>
            <a:prstDash val="solid"/>
          </a:ln>
        </p:spPr>
        <p:txBody>
          <a:bodyPr/>
          <a:lstStyle/>
          <a:p>
            <a:endParaRPr lang="en-US"/>
          </a:p>
        </p:txBody>
      </p:sp>
      <p:sp>
        <p:nvSpPr>
          <p:cNvPr id="9" name="Text 6"/>
          <p:cNvSpPr/>
          <p:nvPr/>
        </p:nvSpPr>
        <p:spPr>
          <a:xfrm>
            <a:off x="502920" y="5349240"/>
            <a:ext cx="4160520" cy="777240"/>
          </a:xfrm>
          <a:prstGeom prst="rect">
            <a:avLst/>
          </a:prstGeom>
          <a:noFill/>
          <a:ln/>
        </p:spPr>
        <p:txBody>
          <a:bodyPr wrap="square" lIns="0" tIns="0" rIns="0" bIns="0" rtlCol="0" anchor="ctr"/>
          <a:lstStyle/>
          <a:p>
            <a:pPr marL="0" indent="0" algn="ctr">
              <a:buNone/>
            </a:pPr>
            <a:r>
              <a:rPr lang="en-US" sz="2000" b="1">
                <a:solidFill>
                  <a:srgbClr val="F5F7FA"/>
                </a:solidFill>
                <a:latin typeface="Trebuchet MS" pitchFamily="34" charset="0"/>
                <a:ea typeface="Trebuchet MS" pitchFamily="34" charset="-122"/>
                <a:cs typeface="Trebuchet MS" pitchFamily="34" charset="-120"/>
              </a:rPr>
              <a:t>75.9%</a:t>
            </a:r>
            <a:r>
              <a:rPr lang="en-US" sz="1300" dirty="0">
                <a:solidFill>
                  <a:srgbClr val="9AA7BD"/>
                </a:solidFill>
                <a:latin typeface="Calibri" pitchFamily="34" charset="0"/>
                <a:ea typeface="Calibri" pitchFamily="34" charset="-122"/>
                <a:cs typeface="Calibri" pitchFamily="34" charset="-120"/>
              </a:rPr>
              <a:t>  ≤50K        </a:t>
            </a:r>
            <a:r>
              <a:rPr lang="en-US" sz="2000" b="1">
                <a:solidFill>
                  <a:srgbClr val="E8C15A"/>
                </a:solidFill>
                <a:latin typeface="Trebuchet MS" pitchFamily="34" charset="0"/>
                <a:ea typeface="Trebuchet MS" pitchFamily="34" charset="-122"/>
                <a:cs typeface="Trebuchet MS" pitchFamily="34" charset="-120"/>
              </a:rPr>
              <a:t>24.1%</a:t>
            </a:r>
            <a:r>
              <a:rPr lang="en-US" sz="1300" dirty="0">
                <a:solidFill>
                  <a:srgbClr val="9AA7BD"/>
                </a:solidFill>
                <a:latin typeface="Calibri" pitchFamily="34" charset="0"/>
                <a:ea typeface="Calibri" pitchFamily="34" charset="-122"/>
                <a:cs typeface="Calibri" pitchFamily="34" charset="-120"/>
              </a:rPr>
              <a:t>  &gt;50K</a:t>
            </a:r>
            <a:endParaRPr lang="en-US" sz="2000" dirty="0"/>
          </a:p>
        </p:txBody>
      </p:sp>
      <p:sp>
        <p:nvSpPr>
          <p:cNvPr id="10" name="Shape 7"/>
          <p:cNvSpPr/>
          <p:nvPr/>
        </p:nvSpPr>
        <p:spPr>
          <a:xfrm>
            <a:off x="4892040" y="1371600"/>
            <a:ext cx="6793992" cy="248716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1" name="Text 8"/>
          <p:cNvSpPr/>
          <p:nvPr/>
        </p:nvSpPr>
        <p:spPr>
          <a:xfrm>
            <a:off x="5138928" y="1536192"/>
            <a:ext cx="630936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WHY I LEAD WITH PR-AUC AND RECALL</a:t>
            </a:r>
            <a:endParaRPr lang="en-US" sz="1250" dirty="0"/>
          </a:p>
        </p:txBody>
      </p:sp>
      <p:sp>
        <p:nvSpPr>
          <p:cNvPr id="12" name="Text 9"/>
          <p:cNvSpPr/>
          <p:nvPr/>
        </p:nvSpPr>
        <p:spPr>
          <a:xfrm>
            <a:off x="5138928" y="1938528"/>
            <a:ext cx="6355080"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Accuracy can be a trap when classes are heavily imbalanced: predicting nobody earns &gt;50K scores ~76% while catching zero high earners.</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Precision and recall split that apart; F1 combines them and is far more honest about the model’s performance</a:t>
            </a:r>
          </a:p>
          <a:p>
            <a:pPr marL="177800" indent="-177800">
              <a:spcAft>
                <a:spcPts val="600"/>
              </a:spcAft>
              <a:buSzPct val="100000"/>
              <a:buFontTx/>
              <a:buChar char="•"/>
            </a:pPr>
            <a:r>
              <a:rPr lang="en-US" sz="1400" dirty="0">
                <a:solidFill>
                  <a:srgbClr val="9AA7BD"/>
                </a:solidFill>
                <a:latin typeface="Calibri" pitchFamily="34" charset="0"/>
                <a:ea typeface="Calibri" pitchFamily="34" charset="-122"/>
                <a:cs typeface="Calibri" pitchFamily="34" charset="-120"/>
              </a:rPr>
              <a:t>ROC-AUC can look strong just because the easy majority class will bring the score up</a:t>
            </a:r>
            <a:r>
              <a:rPr lang="en-US" sz="1400" dirty="0"/>
              <a:t>.</a:t>
            </a:r>
          </a:p>
          <a:p>
            <a:pPr marL="177800" indent="-177800">
              <a:spcAft>
                <a:spcPts val="600"/>
              </a:spcAft>
              <a:buSzPct val="100000"/>
              <a:buFontTx/>
              <a:buChar char="•"/>
            </a:pPr>
            <a:r>
              <a:rPr lang="en-US" sz="1400" b="1" dirty="0">
                <a:solidFill>
                  <a:schemeClr val="bg1"/>
                </a:solidFill>
              </a:rPr>
              <a:t>PR-AUC only rewards finding the high earners I want to find, so it is my most reliable single number.</a:t>
            </a:r>
            <a:endParaRPr lang="en-US" sz="1250" b="1" dirty="0">
              <a:solidFill>
                <a:schemeClr val="bg1"/>
              </a:solidFill>
            </a:endParaRPr>
          </a:p>
        </p:txBody>
      </p:sp>
      <p:sp>
        <p:nvSpPr>
          <p:cNvPr id="13" name="Shape 10"/>
          <p:cNvSpPr/>
          <p:nvPr/>
        </p:nvSpPr>
        <p:spPr>
          <a:xfrm>
            <a:off x="4892040" y="4114800"/>
            <a:ext cx="6793992" cy="201168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4" name="Text 11"/>
          <p:cNvSpPr/>
          <p:nvPr/>
        </p:nvSpPr>
        <p:spPr>
          <a:xfrm>
            <a:off x="5138928" y="4279392"/>
            <a:ext cx="630936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PLAN FOR THE IMBALANCE</a:t>
            </a:r>
            <a:endParaRPr lang="en-US" sz="1250" dirty="0"/>
          </a:p>
        </p:txBody>
      </p:sp>
      <p:sp>
        <p:nvSpPr>
          <p:cNvPr id="15" name="Text 12"/>
          <p:cNvSpPr/>
          <p:nvPr/>
        </p:nvSpPr>
        <p:spPr>
          <a:xfrm>
            <a:off x="5138928" y="4681728"/>
            <a:ext cx="6355080" cy="13716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SMOTE oversampling on the training split only, plus class weights, both compared against the raw imbalance.</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Oversample the minority rather than undersample, so I keep every real row instead of throwing majority rows away.</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Validation and test sets will stay untouched, so they still reflect the true population.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3</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Feature engineering and dimensionality</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Three new features, each tied to a hypothesis</a:t>
            </a:r>
            <a:endParaRPr lang="en-US" sz="1250" dirty="0"/>
          </a:p>
        </p:txBody>
      </p:sp>
      <p:sp>
        <p:nvSpPr>
          <p:cNvPr id="6" name="Shape 4"/>
          <p:cNvSpPr/>
          <p:nvPr/>
        </p:nvSpPr>
        <p:spPr>
          <a:xfrm>
            <a:off x="502920" y="1371600"/>
            <a:ext cx="3675888" cy="265176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7" name="Shape 5"/>
          <p:cNvSpPr/>
          <p:nvPr/>
        </p:nvSpPr>
        <p:spPr>
          <a:xfrm>
            <a:off x="749808" y="1609344"/>
            <a:ext cx="475488" cy="475488"/>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8" name="Shape 6"/>
          <p:cNvSpPr/>
          <p:nvPr/>
        </p:nvSpPr>
        <p:spPr>
          <a:xfrm>
            <a:off x="868680" y="1728216"/>
            <a:ext cx="237744" cy="237744"/>
          </a:xfrm>
          <a:prstGeom prst="ellipse">
            <a:avLst/>
          </a:prstGeom>
          <a:solidFill>
            <a:srgbClr val="E8C15A"/>
          </a:solidFill>
          <a:ln/>
          <a:effectLst/>
        </p:spPr>
        <p:txBody>
          <a:bodyPr/>
          <a:lstStyle/>
          <a:p>
            <a:endParaRPr lang="en-US"/>
          </a:p>
        </p:txBody>
      </p:sp>
      <p:sp>
        <p:nvSpPr>
          <p:cNvPr id="9" name="Text 7"/>
          <p:cNvSpPr/>
          <p:nvPr/>
        </p:nvSpPr>
        <p:spPr>
          <a:xfrm>
            <a:off x="1371600" y="1572768"/>
            <a:ext cx="2697480" cy="54864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native_region</a:t>
            </a:r>
            <a:endParaRPr lang="en-US" sz="1400" dirty="0"/>
          </a:p>
        </p:txBody>
      </p:sp>
      <p:sp>
        <p:nvSpPr>
          <p:cNvPr id="10" name="Text 8"/>
          <p:cNvSpPr/>
          <p:nvPr/>
        </p:nvSpPr>
        <p:spPr>
          <a:xfrm>
            <a:off x="749808" y="2212848"/>
            <a:ext cx="3246120" cy="274320"/>
          </a:xfrm>
          <a:prstGeom prst="rect">
            <a:avLst/>
          </a:prstGeom>
          <a:noFill/>
          <a:ln/>
        </p:spPr>
        <p:txBody>
          <a:bodyPr wrap="square" lIns="0" tIns="0" rIns="0" bIns="0" rtlCol="0" anchor="ctr"/>
          <a:lstStyle/>
          <a:p>
            <a:pPr marL="0" indent="0">
              <a:buNone/>
            </a:pPr>
            <a:r>
              <a:rPr lang="en-US" sz="1150" i="1" dirty="0">
                <a:solidFill>
                  <a:srgbClr val="E8C15A"/>
                </a:solidFill>
                <a:latin typeface="Calibri" pitchFamily="34" charset="0"/>
                <a:ea typeface="Calibri" pitchFamily="34" charset="-122"/>
                <a:cs typeface="Calibri" pitchFamily="34" charset="-120"/>
              </a:rPr>
              <a:t>US · non-US · Unknown</a:t>
            </a:r>
            <a:endParaRPr lang="en-US" sz="1150" dirty="0"/>
          </a:p>
        </p:txBody>
      </p:sp>
      <p:sp>
        <p:nvSpPr>
          <p:cNvPr id="11" name="Text 9"/>
          <p:cNvSpPr/>
          <p:nvPr/>
        </p:nvSpPr>
        <p:spPr>
          <a:xfrm>
            <a:off x="749808" y="2542032"/>
            <a:ext cx="3200400" cy="1371600"/>
          </a:xfrm>
          <a:prstGeom prst="rect">
            <a:avLst/>
          </a:prstGeom>
          <a:noFill/>
          <a:ln/>
        </p:spPr>
        <p:txBody>
          <a:bodyPr wrap="square" lIns="0" tIns="0" rIns="0" bIns="0" rtlCol="0" anchor="t"/>
          <a:lstStyle/>
          <a:p>
            <a:pPr marL="0" indent="0">
              <a:buNone/>
            </a:pPr>
            <a:r>
              <a:rPr lang="en-US" sz="1250" dirty="0">
                <a:solidFill>
                  <a:srgbClr val="9AA7BD"/>
                </a:solidFill>
                <a:latin typeface="Calibri" pitchFamily="34" charset="0"/>
                <a:ea typeface="Calibri" pitchFamily="34" charset="-122"/>
                <a:cs typeface="Calibri" pitchFamily="34" charset="-120"/>
              </a:rPr>
              <a:t>Replaced original column “</a:t>
            </a:r>
            <a:r>
              <a:rPr lang="en-US" sz="1250" dirty="0" err="1">
                <a:solidFill>
                  <a:srgbClr val="9AA7BD"/>
                </a:solidFill>
                <a:latin typeface="Calibri" pitchFamily="34" charset="0"/>
                <a:ea typeface="Calibri" pitchFamily="34" charset="-122"/>
                <a:cs typeface="Calibri" pitchFamily="34" charset="-120"/>
              </a:rPr>
              <a:t>native_region</a:t>
            </a:r>
            <a:r>
              <a:rPr lang="en-US" sz="1250" dirty="0">
                <a:solidFill>
                  <a:srgbClr val="9AA7BD"/>
                </a:solidFill>
                <a:latin typeface="Calibri" pitchFamily="34" charset="0"/>
                <a:ea typeface="Calibri" pitchFamily="34" charset="-122"/>
                <a:cs typeface="Calibri" pitchFamily="34" charset="-120"/>
              </a:rPr>
              <a:t>” that is 90% United States into the split my fairness audit categories (Hypothesis 2) needs, keeping Unknown separate.</a:t>
            </a:r>
            <a:endParaRPr lang="en-US" sz="1250" dirty="0"/>
          </a:p>
        </p:txBody>
      </p:sp>
      <p:sp>
        <p:nvSpPr>
          <p:cNvPr id="12" name="Shape 10"/>
          <p:cNvSpPr/>
          <p:nvPr/>
        </p:nvSpPr>
        <p:spPr>
          <a:xfrm>
            <a:off x="4279392" y="1371600"/>
            <a:ext cx="3675888" cy="265176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3" name="Shape 11"/>
          <p:cNvSpPr/>
          <p:nvPr/>
        </p:nvSpPr>
        <p:spPr>
          <a:xfrm>
            <a:off x="4526280" y="1609344"/>
            <a:ext cx="475488" cy="475488"/>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4" name="Shape 12"/>
          <p:cNvSpPr/>
          <p:nvPr/>
        </p:nvSpPr>
        <p:spPr>
          <a:xfrm>
            <a:off x="4645152" y="1728216"/>
            <a:ext cx="237744" cy="237744"/>
          </a:xfrm>
          <a:prstGeom prst="ellipse">
            <a:avLst/>
          </a:prstGeom>
          <a:solidFill>
            <a:srgbClr val="E8C15A"/>
          </a:solidFill>
          <a:ln/>
          <a:effectLst/>
        </p:spPr>
        <p:txBody>
          <a:bodyPr/>
          <a:lstStyle/>
          <a:p>
            <a:endParaRPr lang="en-US"/>
          </a:p>
        </p:txBody>
      </p:sp>
      <p:sp>
        <p:nvSpPr>
          <p:cNvPr id="15" name="Text 13"/>
          <p:cNvSpPr/>
          <p:nvPr/>
        </p:nvSpPr>
        <p:spPr>
          <a:xfrm>
            <a:off x="5148072" y="1572768"/>
            <a:ext cx="2697480" cy="54864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has_capital_gain / _loss</a:t>
            </a:r>
            <a:endParaRPr lang="en-US" sz="1400" dirty="0"/>
          </a:p>
        </p:txBody>
      </p:sp>
      <p:sp>
        <p:nvSpPr>
          <p:cNvPr id="16" name="Text 14"/>
          <p:cNvSpPr/>
          <p:nvPr/>
        </p:nvSpPr>
        <p:spPr>
          <a:xfrm>
            <a:off x="4526280" y="2212848"/>
            <a:ext cx="3246120" cy="274320"/>
          </a:xfrm>
          <a:prstGeom prst="rect">
            <a:avLst/>
          </a:prstGeom>
          <a:noFill/>
          <a:ln/>
        </p:spPr>
        <p:txBody>
          <a:bodyPr wrap="square" lIns="0" tIns="0" rIns="0" bIns="0" rtlCol="0" anchor="ctr"/>
          <a:lstStyle/>
          <a:p>
            <a:pPr marL="0" indent="0">
              <a:buNone/>
            </a:pPr>
            <a:r>
              <a:rPr lang="en-US" sz="1150" i="1" dirty="0">
                <a:solidFill>
                  <a:srgbClr val="E8C15A"/>
                </a:solidFill>
                <a:latin typeface="Calibri" pitchFamily="34" charset="0"/>
                <a:ea typeface="Calibri" pitchFamily="34" charset="-122"/>
                <a:cs typeface="Calibri" pitchFamily="34" charset="-120"/>
              </a:rPr>
              <a:t>binary flags</a:t>
            </a:r>
            <a:endParaRPr lang="en-US" sz="1150" dirty="0"/>
          </a:p>
        </p:txBody>
      </p:sp>
      <p:sp>
        <p:nvSpPr>
          <p:cNvPr id="17" name="Text 15"/>
          <p:cNvSpPr/>
          <p:nvPr/>
        </p:nvSpPr>
        <p:spPr>
          <a:xfrm>
            <a:off x="4526280" y="2542032"/>
            <a:ext cx="3200400" cy="1371600"/>
          </a:xfrm>
          <a:prstGeom prst="rect">
            <a:avLst/>
          </a:prstGeom>
          <a:noFill/>
          <a:ln/>
        </p:spPr>
        <p:txBody>
          <a:bodyPr wrap="square" lIns="0" tIns="0" rIns="0" bIns="0" rtlCol="0" anchor="t"/>
          <a:lstStyle/>
          <a:p>
            <a:r>
              <a:rPr lang="en-US" sz="1250" dirty="0">
                <a:solidFill>
                  <a:srgbClr val="9AA7BD"/>
                </a:solidFill>
                <a:latin typeface="Calibri" pitchFamily="34" charset="0"/>
                <a:ea typeface="Calibri" pitchFamily="34" charset="-122"/>
                <a:cs typeface="Calibri" pitchFamily="34" charset="-120"/>
              </a:rPr>
              <a:t>Almost everyone has zero capital gain or loss, with a few very large values</a:t>
            </a:r>
          </a:p>
          <a:p>
            <a:endParaRPr lang="en-US" sz="1250" dirty="0">
              <a:solidFill>
                <a:srgbClr val="9AA7BD"/>
              </a:solidFill>
              <a:latin typeface="Calibri" pitchFamily="34" charset="0"/>
              <a:ea typeface="Calibri" pitchFamily="34" charset="-122"/>
              <a:cs typeface="Calibri" pitchFamily="34" charset="-120"/>
            </a:endParaRPr>
          </a:p>
          <a:p>
            <a:r>
              <a:rPr lang="en-US" sz="1250" dirty="0">
                <a:solidFill>
                  <a:srgbClr val="9AA7BD"/>
                </a:solidFill>
                <a:latin typeface="Calibri" pitchFamily="34" charset="0"/>
                <a:ea typeface="Calibri" pitchFamily="34" charset="-122"/>
                <a:cs typeface="Calibri" pitchFamily="34" charset="-120"/>
              </a:rPr>
              <a:t>Using a yes or no flag column for having capital gains or not is a clearer signal than using the exact dollar amount</a:t>
            </a:r>
            <a:endParaRPr lang="en-US" sz="1250" dirty="0">
              <a:solidFill>
                <a:schemeClr val="bg1"/>
              </a:solidFill>
            </a:endParaRPr>
          </a:p>
        </p:txBody>
      </p:sp>
      <p:sp>
        <p:nvSpPr>
          <p:cNvPr id="18" name="Shape 16"/>
          <p:cNvSpPr/>
          <p:nvPr/>
        </p:nvSpPr>
        <p:spPr>
          <a:xfrm>
            <a:off x="8055864" y="1371600"/>
            <a:ext cx="3675888" cy="265176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9" name="Shape 17"/>
          <p:cNvSpPr/>
          <p:nvPr/>
        </p:nvSpPr>
        <p:spPr>
          <a:xfrm>
            <a:off x="8302752" y="1609344"/>
            <a:ext cx="475488" cy="475488"/>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20" name="Shape 18"/>
          <p:cNvSpPr/>
          <p:nvPr/>
        </p:nvSpPr>
        <p:spPr>
          <a:xfrm>
            <a:off x="8421624" y="1728216"/>
            <a:ext cx="237744" cy="237744"/>
          </a:xfrm>
          <a:prstGeom prst="ellipse">
            <a:avLst/>
          </a:prstGeom>
          <a:solidFill>
            <a:srgbClr val="E8C15A"/>
          </a:solidFill>
          <a:ln/>
          <a:effectLst/>
        </p:spPr>
        <p:txBody>
          <a:bodyPr/>
          <a:lstStyle/>
          <a:p>
            <a:endParaRPr lang="en-US"/>
          </a:p>
        </p:txBody>
      </p:sp>
      <p:sp>
        <p:nvSpPr>
          <p:cNvPr id="21" name="Text 19"/>
          <p:cNvSpPr/>
          <p:nvPr/>
        </p:nvSpPr>
        <p:spPr>
          <a:xfrm>
            <a:off x="8924544" y="1572768"/>
            <a:ext cx="2697480" cy="54864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hours_group</a:t>
            </a:r>
            <a:endParaRPr lang="en-US" sz="1400" dirty="0"/>
          </a:p>
        </p:txBody>
      </p:sp>
      <p:sp>
        <p:nvSpPr>
          <p:cNvPr id="22" name="Text 20"/>
          <p:cNvSpPr/>
          <p:nvPr/>
        </p:nvSpPr>
        <p:spPr>
          <a:xfrm>
            <a:off x="8302752" y="2212848"/>
            <a:ext cx="3246120" cy="274320"/>
          </a:xfrm>
          <a:prstGeom prst="rect">
            <a:avLst/>
          </a:prstGeom>
          <a:noFill/>
          <a:ln/>
        </p:spPr>
        <p:txBody>
          <a:bodyPr wrap="square" lIns="0" tIns="0" rIns="0" bIns="0" rtlCol="0" anchor="ctr"/>
          <a:lstStyle/>
          <a:p>
            <a:pPr marL="0" indent="0">
              <a:buNone/>
            </a:pPr>
            <a:r>
              <a:rPr lang="en-US" sz="1150" i="1" dirty="0">
                <a:solidFill>
                  <a:srgbClr val="E8C15A"/>
                </a:solidFill>
                <a:latin typeface="Calibri" pitchFamily="34" charset="0"/>
                <a:ea typeface="Calibri" pitchFamily="34" charset="-122"/>
                <a:cs typeface="Calibri" pitchFamily="34" charset="-120"/>
              </a:rPr>
              <a:t>6 ranges</a:t>
            </a:r>
            <a:endParaRPr lang="en-US" sz="1150" dirty="0"/>
          </a:p>
        </p:txBody>
      </p:sp>
      <p:sp>
        <p:nvSpPr>
          <p:cNvPr id="23" name="Text 21"/>
          <p:cNvSpPr/>
          <p:nvPr/>
        </p:nvSpPr>
        <p:spPr>
          <a:xfrm>
            <a:off x="8302752" y="2542032"/>
            <a:ext cx="3200400" cy="1371600"/>
          </a:xfrm>
          <a:prstGeom prst="rect">
            <a:avLst/>
          </a:prstGeom>
          <a:noFill/>
          <a:ln/>
        </p:spPr>
        <p:txBody>
          <a:bodyPr wrap="square" lIns="0" tIns="0" rIns="0" bIns="0" rtlCol="0" anchor="t"/>
          <a:lstStyle/>
          <a:p>
            <a:pPr marL="0" indent="0">
              <a:buNone/>
            </a:pPr>
            <a:r>
              <a:rPr lang="en-US" sz="1250" dirty="0">
                <a:solidFill>
                  <a:srgbClr val="9AA7BD"/>
                </a:solidFill>
                <a:latin typeface="Calibri" pitchFamily="34" charset="0"/>
                <a:ea typeface="Calibri" pitchFamily="34" charset="-122"/>
                <a:cs typeface="Calibri" pitchFamily="34" charset="-120"/>
              </a:rPr>
              <a:t>Bins hours worked, since the effect is not a straight line, part-time to full-time matters more than 50 to 60. Feeds the Hypothesis 1 comparison.</a:t>
            </a:r>
            <a:endParaRPr lang="en-US" sz="1250" dirty="0"/>
          </a:p>
        </p:txBody>
      </p:sp>
      <p:sp>
        <p:nvSpPr>
          <p:cNvPr id="24" name="Shape 22"/>
          <p:cNvSpPr/>
          <p:nvPr/>
        </p:nvSpPr>
        <p:spPr>
          <a:xfrm>
            <a:off x="502920" y="4206240"/>
            <a:ext cx="11183112" cy="196596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25" name="Text 23"/>
          <p:cNvSpPr/>
          <p:nvPr/>
        </p:nvSpPr>
        <p:spPr>
          <a:xfrm>
            <a:off x="822960" y="4434840"/>
            <a:ext cx="3383280" cy="365760"/>
          </a:xfrm>
          <a:prstGeom prst="rect">
            <a:avLst/>
          </a:prstGeom>
          <a:noFill/>
          <a:ln/>
          <a:effectLst/>
        </p:spPr>
        <p:txBody>
          <a:bodyPr wrap="square" lIns="0" tIns="0" rIns="0" bIns="0" rtlCol="0" anchor="ctr"/>
          <a:lstStyle/>
          <a:p>
            <a:pPr marL="0" indent="0">
              <a:buNone/>
            </a:pPr>
            <a:r>
              <a:rPr lang="en-US" sz="1500" b="1">
                <a:solidFill>
                  <a:srgbClr val="E8C15A"/>
                </a:solidFill>
                <a:latin typeface="Trebuchet MS" pitchFamily="34" charset="0"/>
                <a:ea typeface="Trebuchet MS" pitchFamily="34" charset="-122"/>
                <a:cs typeface="Trebuchet MS" pitchFamily="34" charset="-120"/>
              </a:rPr>
              <a:t>One-hot encoding</a:t>
            </a:r>
            <a:endParaRPr lang="en-US" sz="1500" dirty="0"/>
          </a:p>
        </p:txBody>
      </p:sp>
      <p:sp>
        <p:nvSpPr>
          <p:cNvPr id="26" name="Text 24"/>
          <p:cNvSpPr/>
          <p:nvPr/>
        </p:nvSpPr>
        <p:spPr>
          <a:xfrm>
            <a:off x="822960" y="4828032"/>
            <a:ext cx="3383280" cy="1188720"/>
          </a:xfrm>
          <a:prstGeom prst="rect">
            <a:avLst/>
          </a:prstGeom>
          <a:noFill/>
          <a:ln/>
        </p:spPr>
        <p:txBody>
          <a:bodyPr wrap="square" lIns="0" tIns="0" rIns="0" bIns="0" rtlCol="0" anchor="t"/>
          <a:lstStyle/>
          <a:p>
            <a:r>
              <a:rPr lang="en-US" sz="1200" dirty="0">
                <a:solidFill>
                  <a:srgbClr val="9AA7BD"/>
                </a:solidFill>
                <a:latin typeface="Calibri" pitchFamily="34" charset="0"/>
                <a:ea typeface="Calibri" pitchFamily="34" charset="-122"/>
                <a:cs typeface="Calibri" pitchFamily="34" charset="-120"/>
              </a:rPr>
              <a:t>One-hot encoding turned each text column with each category into 52 numeric columns that the model can interpret from the original 8 categorical columns</a:t>
            </a:r>
            <a:endParaRPr lang="en-US" sz="1200" dirty="0"/>
          </a:p>
          <a:p>
            <a:endParaRPr lang="en-US" sz="1200" dirty="0">
              <a:solidFill>
                <a:schemeClr val="bg1"/>
              </a:solidFill>
            </a:endParaRPr>
          </a:p>
        </p:txBody>
      </p:sp>
      <p:sp>
        <p:nvSpPr>
          <p:cNvPr id="27" name="Shape 25"/>
          <p:cNvSpPr/>
          <p:nvPr/>
        </p:nvSpPr>
        <p:spPr>
          <a:xfrm>
            <a:off x="4343400" y="4480560"/>
            <a:ext cx="0" cy="1371600"/>
          </a:xfrm>
          <a:prstGeom prst="line">
            <a:avLst/>
          </a:prstGeom>
          <a:noFill/>
          <a:ln w="12700">
            <a:solidFill>
              <a:srgbClr val="3A3F4A"/>
            </a:solidFill>
            <a:prstDash val="solid"/>
          </a:ln>
        </p:spPr>
        <p:txBody>
          <a:bodyPr/>
          <a:lstStyle/>
          <a:p>
            <a:endParaRPr lang="en-US"/>
          </a:p>
        </p:txBody>
      </p:sp>
      <p:sp>
        <p:nvSpPr>
          <p:cNvPr id="28" name="Text 26"/>
          <p:cNvSpPr/>
          <p:nvPr/>
        </p:nvSpPr>
        <p:spPr>
          <a:xfrm>
            <a:off x="4535424" y="4434840"/>
            <a:ext cx="3383280" cy="365760"/>
          </a:xfrm>
          <a:prstGeom prst="rect">
            <a:avLst/>
          </a:prstGeom>
          <a:noFill/>
          <a:ln/>
          <a:effectLst/>
        </p:spPr>
        <p:txBody>
          <a:bodyPr wrap="square" lIns="0" tIns="0" rIns="0" bIns="0" rtlCol="0" anchor="ctr"/>
          <a:lstStyle/>
          <a:p>
            <a:pPr marL="0" indent="0">
              <a:buNone/>
            </a:pPr>
            <a:r>
              <a:rPr lang="en-US" sz="1500" b="1">
                <a:solidFill>
                  <a:srgbClr val="E8C15A"/>
                </a:solidFill>
                <a:latin typeface="Trebuchet MS" pitchFamily="34" charset="0"/>
                <a:ea typeface="Trebuchet MS" pitchFamily="34" charset="-122"/>
                <a:cs typeface="Trebuchet MS" pitchFamily="34" charset="-120"/>
              </a:rPr>
              <a:t>Standard scaling</a:t>
            </a:r>
            <a:endParaRPr lang="en-US" sz="1500" dirty="0"/>
          </a:p>
        </p:txBody>
      </p:sp>
      <p:sp>
        <p:nvSpPr>
          <p:cNvPr id="29" name="Text 27"/>
          <p:cNvSpPr/>
          <p:nvPr/>
        </p:nvSpPr>
        <p:spPr>
          <a:xfrm>
            <a:off x="4535424" y="4828032"/>
            <a:ext cx="3383280" cy="1188720"/>
          </a:xfrm>
          <a:prstGeom prst="rect">
            <a:avLst/>
          </a:prstGeom>
          <a:noFill/>
          <a:ln/>
        </p:spPr>
        <p:txBody>
          <a:bodyPr wrap="square" lIns="0" tIns="0" rIns="0" bIns="0" rtlCol="0" anchor="t"/>
          <a:lstStyle/>
          <a:p>
            <a:pPr marL="0" indent="0">
              <a:buNone/>
            </a:pPr>
            <a:r>
              <a:rPr lang="en-US" sz="1200" dirty="0">
                <a:solidFill>
                  <a:srgbClr val="9AA7BD"/>
                </a:solidFill>
                <a:latin typeface="Calibri" pitchFamily="34" charset="0"/>
                <a:ea typeface="Calibri" pitchFamily="34" charset="-122"/>
                <a:cs typeface="Calibri" pitchFamily="34" charset="-120"/>
              </a:rPr>
              <a:t>Numeric features adjusted to mean of 0, standard deviation of 1, and fit on training only in the real pipeline.</a:t>
            </a:r>
            <a:endParaRPr lang="en-US" sz="1200" dirty="0"/>
          </a:p>
        </p:txBody>
      </p:sp>
      <p:sp>
        <p:nvSpPr>
          <p:cNvPr id="30" name="Shape 28"/>
          <p:cNvSpPr/>
          <p:nvPr/>
        </p:nvSpPr>
        <p:spPr>
          <a:xfrm>
            <a:off x="8055864" y="4480560"/>
            <a:ext cx="0" cy="1371600"/>
          </a:xfrm>
          <a:prstGeom prst="line">
            <a:avLst/>
          </a:prstGeom>
          <a:noFill/>
          <a:ln w="12700">
            <a:solidFill>
              <a:srgbClr val="3A3F4A"/>
            </a:solidFill>
            <a:prstDash val="solid"/>
          </a:ln>
        </p:spPr>
        <p:txBody>
          <a:bodyPr/>
          <a:lstStyle/>
          <a:p>
            <a:endParaRPr lang="en-US"/>
          </a:p>
        </p:txBody>
      </p:sp>
      <p:sp>
        <p:nvSpPr>
          <p:cNvPr id="31" name="Text 29"/>
          <p:cNvSpPr/>
          <p:nvPr/>
        </p:nvSpPr>
        <p:spPr>
          <a:xfrm>
            <a:off x="8247888" y="4434840"/>
            <a:ext cx="3383280" cy="365760"/>
          </a:xfrm>
          <a:prstGeom prst="rect">
            <a:avLst/>
          </a:prstGeom>
          <a:noFill/>
          <a:ln/>
          <a:effectLst/>
        </p:spPr>
        <p:txBody>
          <a:bodyPr wrap="square" lIns="0" tIns="0" rIns="0" bIns="0" rtlCol="0" anchor="ctr"/>
          <a:lstStyle/>
          <a:p>
            <a:pPr marL="0" indent="0">
              <a:buNone/>
            </a:pPr>
            <a:r>
              <a:rPr lang="en-US" sz="1500" b="1">
                <a:solidFill>
                  <a:srgbClr val="E8C15A"/>
                </a:solidFill>
                <a:latin typeface="Trebuchet MS" pitchFamily="34" charset="0"/>
                <a:ea typeface="Trebuchet MS" pitchFamily="34" charset="-122"/>
                <a:cs typeface="Trebuchet MS" pitchFamily="34" charset="-120"/>
              </a:rPr>
              <a:t>No PCA</a:t>
            </a:r>
            <a:endParaRPr lang="en-US" sz="1500" dirty="0"/>
          </a:p>
        </p:txBody>
      </p:sp>
      <p:sp>
        <p:nvSpPr>
          <p:cNvPr id="32" name="Text 30"/>
          <p:cNvSpPr/>
          <p:nvPr/>
        </p:nvSpPr>
        <p:spPr>
          <a:xfrm>
            <a:off x="8247888" y="4828032"/>
            <a:ext cx="3383280" cy="1188720"/>
          </a:xfrm>
          <a:prstGeom prst="rect">
            <a:avLst/>
          </a:prstGeom>
          <a:noFill/>
          <a:ln/>
        </p:spPr>
        <p:txBody>
          <a:bodyPr wrap="square" lIns="0" tIns="0" rIns="0" bIns="0" rtlCol="0" anchor="t"/>
          <a:lstStyle/>
          <a:p>
            <a:pPr marL="0" indent="0">
              <a:buNone/>
            </a:pPr>
            <a:r>
              <a:rPr lang="en-US" sz="1200" dirty="0">
                <a:solidFill>
                  <a:srgbClr val="9AA7BD"/>
                </a:solidFill>
                <a:latin typeface="Calibri" pitchFamily="34" charset="0"/>
                <a:ea typeface="Calibri" pitchFamily="34" charset="-122"/>
                <a:cs typeface="Calibri" pitchFamily="34" charset="-120"/>
              </a:rPr>
              <a:t>Variance spread evenly across all principal components (26/21/20/18/16%). </a:t>
            </a:r>
          </a:p>
          <a:p>
            <a:pPr marL="0" indent="0">
              <a:buNone/>
            </a:pPr>
            <a:endParaRPr lang="en-US" sz="1200" dirty="0">
              <a:solidFill>
                <a:srgbClr val="9AA7BD"/>
              </a:solidFill>
              <a:latin typeface="Calibri" pitchFamily="34" charset="0"/>
              <a:ea typeface="Calibri" pitchFamily="34" charset="-122"/>
              <a:cs typeface="Calibri" pitchFamily="34" charset="-120"/>
            </a:endParaRPr>
          </a:p>
          <a:p>
            <a:pPr marL="0" indent="0">
              <a:buNone/>
            </a:pPr>
            <a:r>
              <a:rPr lang="en-US" sz="1200" dirty="0">
                <a:solidFill>
                  <a:srgbClr val="9AA7BD"/>
                </a:solidFill>
                <a:latin typeface="Calibri" pitchFamily="34" charset="0"/>
                <a:ea typeface="Calibri" pitchFamily="34" charset="-122"/>
                <a:cs typeface="Calibri" pitchFamily="34" charset="-120"/>
              </a:rPr>
              <a:t>Hypothesis 1 needs the original features, so reducing dimensionality using PCA would cost interpretability for little gain.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4</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The impact of preprocessing</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Before and after, plus a quick baseline to prove it mattered</a:t>
            </a:r>
            <a:endParaRPr lang="en-US" sz="1250" dirty="0"/>
          </a:p>
        </p:txBody>
      </p:sp>
      <p:sp>
        <p:nvSpPr>
          <p:cNvPr id="6" name="Shape 4"/>
          <p:cNvSpPr/>
          <p:nvPr/>
        </p:nvSpPr>
        <p:spPr>
          <a:xfrm>
            <a:off x="502920" y="1371600"/>
            <a:ext cx="5212080" cy="219456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7" name="Text 5"/>
          <p:cNvSpPr/>
          <p:nvPr/>
        </p:nvSpPr>
        <p:spPr>
          <a:xfrm>
            <a:off x="749808" y="1517904"/>
            <a:ext cx="475488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BEFORE  →  AFTER</a:t>
            </a:r>
            <a:endParaRPr lang="en-US" sz="1250" dirty="0"/>
          </a:p>
        </p:txBody>
      </p:sp>
      <p:sp>
        <p:nvSpPr>
          <p:cNvPr id="8" name="Text 6"/>
          <p:cNvSpPr/>
          <p:nvPr/>
        </p:nvSpPr>
        <p:spPr>
          <a:xfrm>
            <a:off x="749808" y="1938528"/>
            <a:ext cx="4754880" cy="14630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Missing: workclass 5.64%, occupation 5.66%, native_country 1.79%  →  0%</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Exact duplicates: 24  →  0</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Train balance: 3.2 : 1  →  1 : 1 after SMOTE (training split only)</a:t>
            </a:r>
            <a:endParaRPr lang="en-US" sz="1250" dirty="0"/>
          </a:p>
        </p:txBody>
      </p:sp>
      <p:sp>
        <p:nvSpPr>
          <p:cNvPr id="9" name="Shape 7"/>
          <p:cNvSpPr/>
          <p:nvPr/>
        </p:nvSpPr>
        <p:spPr>
          <a:xfrm>
            <a:off x="5943600" y="1371600"/>
            <a:ext cx="5742432" cy="219456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0" name="Image 0" descr="/home/claude/imgs/cell36_0.png"/>
          <p:cNvPicPr>
            <a:picLocks noChangeAspect="1"/>
          </p:cNvPicPr>
          <p:nvPr/>
        </p:nvPicPr>
        <p:blipFill>
          <a:blip r:embed="rId3"/>
          <a:stretch>
            <a:fillRect/>
          </a:stretch>
        </p:blipFill>
        <p:spPr>
          <a:xfrm>
            <a:off x="6159177" y="1517904"/>
            <a:ext cx="5311279" cy="1901952"/>
          </a:xfrm>
          <a:prstGeom prst="rect">
            <a:avLst/>
          </a:prstGeom>
        </p:spPr>
      </p:pic>
      <p:sp>
        <p:nvSpPr>
          <p:cNvPr id="11" name="Shape 8"/>
          <p:cNvSpPr/>
          <p:nvPr/>
        </p:nvSpPr>
        <p:spPr>
          <a:xfrm>
            <a:off x="502920" y="3749040"/>
            <a:ext cx="11183112" cy="237744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2" name="Text 9"/>
          <p:cNvSpPr/>
          <p:nvPr/>
        </p:nvSpPr>
        <p:spPr>
          <a:xfrm>
            <a:off x="777240" y="3913632"/>
            <a:ext cx="1051560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QUICK BASELINE LOGISTIC REGRESSION  ·  SAME HELD-OUT TEST ROWS</a:t>
            </a:r>
            <a:endParaRPr lang="en-US" sz="1250" dirty="0"/>
          </a:p>
        </p:txBody>
      </p:sp>
      <p:sp>
        <p:nvSpPr>
          <p:cNvPr id="13" name="Text 10"/>
          <p:cNvSpPr/>
          <p:nvPr/>
        </p:nvSpPr>
        <p:spPr>
          <a:xfrm>
            <a:off x="777240" y="4407408"/>
            <a:ext cx="2651760" cy="731520"/>
          </a:xfrm>
          <a:prstGeom prst="rect">
            <a:avLst/>
          </a:prstGeom>
          <a:noFill/>
          <a:ln/>
          <a:effectLst/>
        </p:spPr>
        <p:txBody>
          <a:bodyPr wrap="square" lIns="0" tIns="0" rIns="0" bIns="0" rtlCol="0" anchor="ctr"/>
          <a:lstStyle/>
          <a:p>
            <a:pPr marL="0" indent="0" algn="ctr">
              <a:buNone/>
            </a:pPr>
            <a:r>
              <a:rPr lang="en-US" sz="3800" b="1">
                <a:solidFill>
                  <a:srgbClr val="F5F7FA"/>
                </a:solidFill>
                <a:latin typeface="Trebuchet MS" pitchFamily="34" charset="0"/>
                <a:ea typeface="Trebuchet MS" pitchFamily="34" charset="-122"/>
                <a:cs typeface="Trebuchet MS" pitchFamily="34" charset="-120"/>
              </a:rPr>
              <a:t>0.39</a:t>
            </a:r>
            <a:endParaRPr lang="en-US" sz="3800" dirty="0"/>
          </a:p>
        </p:txBody>
      </p:sp>
      <p:sp>
        <p:nvSpPr>
          <p:cNvPr id="14" name="Text 11"/>
          <p:cNvSpPr/>
          <p:nvPr/>
        </p:nvSpPr>
        <p:spPr>
          <a:xfrm>
            <a:off x="777240" y="5175504"/>
            <a:ext cx="2651760" cy="274320"/>
          </a:xfrm>
          <a:prstGeom prst="rect">
            <a:avLst/>
          </a:prstGeom>
          <a:noFill/>
          <a:ln/>
        </p:spPr>
        <p:txBody>
          <a:bodyPr wrap="square" lIns="0" tIns="0" rIns="0" bIns="0" rtlCol="0" anchor="ctr"/>
          <a:lstStyle/>
          <a:p>
            <a:pPr marL="0" indent="0" algn="ctr">
              <a:buNone/>
            </a:pPr>
            <a:r>
              <a:rPr lang="en-US" sz="1250" b="1" dirty="0">
                <a:solidFill>
                  <a:srgbClr val="F5F7FA"/>
                </a:solidFill>
                <a:latin typeface="Calibri" pitchFamily="34" charset="0"/>
                <a:ea typeface="Calibri" pitchFamily="34" charset="-122"/>
                <a:cs typeface="Calibri" pitchFamily="34" charset="-120"/>
              </a:rPr>
              <a:t>Recall before</a:t>
            </a:r>
            <a:endParaRPr lang="en-US" sz="1250" dirty="0"/>
          </a:p>
        </p:txBody>
      </p:sp>
      <p:sp>
        <p:nvSpPr>
          <p:cNvPr id="15" name="Text 12"/>
          <p:cNvSpPr/>
          <p:nvPr/>
        </p:nvSpPr>
        <p:spPr>
          <a:xfrm>
            <a:off x="777240" y="5449824"/>
            <a:ext cx="2651760" cy="457200"/>
          </a:xfrm>
          <a:prstGeom prst="rect">
            <a:avLst/>
          </a:prstGeom>
          <a:noFill/>
          <a:ln/>
        </p:spPr>
        <p:txBody>
          <a:bodyPr wrap="square" lIns="0" tIns="0" rIns="0" bIns="0" rtlCol="0" anchor="ctr"/>
          <a:lstStyle/>
          <a:p>
            <a:pPr marL="0" indent="0" algn="ctr">
              <a:buNone/>
            </a:pPr>
            <a:r>
              <a:rPr lang="en-US" sz="1100" dirty="0">
                <a:solidFill>
                  <a:srgbClr val="6E7C94"/>
                </a:solidFill>
                <a:latin typeface="Calibri" pitchFamily="34" charset="0"/>
                <a:ea typeface="Calibri" pitchFamily="34" charset="-122"/>
                <a:cs typeface="Calibri" pitchFamily="34" charset="-120"/>
              </a:rPr>
              <a:t>&gt;50K earners caught</a:t>
            </a:r>
            <a:endParaRPr lang="en-US" sz="1100" dirty="0"/>
          </a:p>
          <a:p>
            <a:pPr marL="0" indent="0" algn="ctr">
              <a:buNone/>
            </a:pPr>
            <a:r>
              <a:rPr lang="en-US" sz="1100" dirty="0">
                <a:solidFill>
                  <a:srgbClr val="6E7C94"/>
                </a:solidFill>
                <a:latin typeface="Calibri" pitchFamily="34" charset="0"/>
                <a:ea typeface="Calibri" pitchFamily="34" charset="-122"/>
                <a:cs typeface="Calibri" pitchFamily="34" charset="-120"/>
              </a:rPr>
              <a:t>on raw imbalanced data</a:t>
            </a:r>
            <a:endParaRPr lang="en-US" sz="1100" dirty="0"/>
          </a:p>
        </p:txBody>
      </p:sp>
      <p:sp>
        <p:nvSpPr>
          <p:cNvPr id="16" name="Text 13"/>
          <p:cNvSpPr/>
          <p:nvPr/>
        </p:nvSpPr>
        <p:spPr>
          <a:xfrm>
            <a:off x="3429000" y="4480560"/>
            <a:ext cx="914400" cy="640080"/>
          </a:xfrm>
          <a:prstGeom prst="rect">
            <a:avLst/>
          </a:prstGeom>
          <a:noFill/>
          <a:ln/>
          <a:effectLst/>
        </p:spPr>
        <p:txBody>
          <a:bodyPr wrap="square" lIns="0" tIns="0" rIns="0" bIns="0" rtlCol="0" anchor="ctr"/>
          <a:lstStyle/>
          <a:p>
            <a:pPr marL="0" indent="0" algn="ctr">
              <a:buNone/>
            </a:pPr>
            <a:r>
              <a:rPr lang="en-US" sz="3400" b="1" dirty="0">
                <a:solidFill>
                  <a:srgbClr val="E8C15A"/>
                </a:solidFill>
                <a:latin typeface="Calibri" pitchFamily="34" charset="0"/>
                <a:ea typeface="Calibri" pitchFamily="34" charset="-122"/>
                <a:cs typeface="Calibri" pitchFamily="34" charset="-120"/>
              </a:rPr>
              <a:t>→</a:t>
            </a:r>
            <a:endParaRPr lang="en-US" sz="3400" dirty="0"/>
          </a:p>
        </p:txBody>
      </p:sp>
      <p:sp>
        <p:nvSpPr>
          <p:cNvPr id="17" name="Text 14"/>
          <p:cNvSpPr/>
          <p:nvPr/>
        </p:nvSpPr>
        <p:spPr>
          <a:xfrm>
            <a:off x="4389120" y="4407408"/>
            <a:ext cx="2651760" cy="731520"/>
          </a:xfrm>
          <a:prstGeom prst="rect">
            <a:avLst/>
          </a:prstGeom>
          <a:noFill/>
          <a:ln/>
          <a:effectLst/>
        </p:spPr>
        <p:txBody>
          <a:bodyPr wrap="square" lIns="0" tIns="0" rIns="0" bIns="0" rtlCol="0" anchor="ctr"/>
          <a:lstStyle/>
          <a:p>
            <a:pPr marL="0" indent="0" algn="ctr">
              <a:buNone/>
            </a:pPr>
            <a:r>
              <a:rPr lang="en-US" sz="3600" b="1" dirty="0">
                <a:solidFill>
                  <a:schemeClr val="bg1"/>
                </a:solidFill>
                <a:latin typeface="Trebuchet MS" pitchFamily="34" charset="0"/>
                <a:ea typeface="Trebuchet MS" pitchFamily="34" charset="-122"/>
                <a:cs typeface="Trebuchet MS" pitchFamily="34" charset="-120"/>
              </a:rPr>
              <a:t>0.79</a:t>
            </a:r>
            <a:endParaRPr lang="en-US" sz="3600" dirty="0">
              <a:solidFill>
                <a:schemeClr val="bg1"/>
              </a:solidFill>
            </a:endParaRPr>
          </a:p>
        </p:txBody>
      </p:sp>
      <p:sp>
        <p:nvSpPr>
          <p:cNvPr id="18" name="Text 15"/>
          <p:cNvSpPr/>
          <p:nvPr/>
        </p:nvSpPr>
        <p:spPr>
          <a:xfrm>
            <a:off x="4389120" y="5175504"/>
            <a:ext cx="2651760" cy="274320"/>
          </a:xfrm>
          <a:prstGeom prst="rect">
            <a:avLst/>
          </a:prstGeom>
          <a:noFill/>
          <a:ln/>
        </p:spPr>
        <p:txBody>
          <a:bodyPr wrap="square" lIns="0" tIns="0" rIns="0" bIns="0" rtlCol="0" anchor="ctr"/>
          <a:lstStyle/>
          <a:p>
            <a:pPr marL="0" indent="0" algn="ctr">
              <a:buNone/>
            </a:pPr>
            <a:r>
              <a:rPr lang="en-US" sz="1250" b="1" dirty="0">
                <a:solidFill>
                  <a:srgbClr val="F5F7FA"/>
                </a:solidFill>
                <a:latin typeface="Calibri" pitchFamily="34" charset="0"/>
                <a:ea typeface="Calibri" pitchFamily="34" charset="-122"/>
                <a:cs typeface="Calibri" pitchFamily="34" charset="-120"/>
              </a:rPr>
              <a:t>Recall after</a:t>
            </a:r>
            <a:endParaRPr lang="en-US" sz="1250" dirty="0"/>
          </a:p>
        </p:txBody>
      </p:sp>
      <p:sp>
        <p:nvSpPr>
          <p:cNvPr id="19" name="Text 16"/>
          <p:cNvSpPr/>
          <p:nvPr/>
        </p:nvSpPr>
        <p:spPr>
          <a:xfrm>
            <a:off x="4389120" y="5449824"/>
            <a:ext cx="2651760" cy="457200"/>
          </a:xfrm>
          <a:prstGeom prst="rect">
            <a:avLst/>
          </a:prstGeom>
          <a:noFill/>
          <a:ln/>
        </p:spPr>
        <p:txBody>
          <a:bodyPr wrap="square" lIns="0" tIns="0" rIns="0" bIns="0" rtlCol="0" anchor="ctr"/>
          <a:lstStyle/>
          <a:p>
            <a:pPr marL="0" indent="0" algn="ctr">
              <a:buNone/>
            </a:pPr>
            <a:r>
              <a:rPr lang="en-US" sz="1100" dirty="0">
                <a:solidFill>
                  <a:srgbClr val="6E7C94"/>
                </a:solidFill>
                <a:latin typeface="Calibri" pitchFamily="34" charset="0"/>
                <a:ea typeface="Calibri" pitchFamily="34" charset="-122"/>
                <a:cs typeface="Calibri" pitchFamily="34" charset="-120"/>
              </a:rPr>
              <a:t>scaling + encoding</a:t>
            </a:r>
            <a:endParaRPr lang="en-US" sz="1100" dirty="0"/>
          </a:p>
          <a:p>
            <a:pPr marL="0" indent="0" algn="ctr">
              <a:buNone/>
            </a:pPr>
            <a:r>
              <a:rPr lang="en-US" sz="1100" dirty="0">
                <a:solidFill>
                  <a:srgbClr val="6E7C94"/>
                </a:solidFill>
                <a:latin typeface="Calibri" pitchFamily="34" charset="0"/>
                <a:ea typeface="Calibri" pitchFamily="34" charset="-122"/>
                <a:cs typeface="Calibri" pitchFamily="34" charset="-120"/>
              </a:rPr>
              <a:t>+ SMOTE oversampling</a:t>
            </a:r>
            <a:endParaRPr lang="en-US" sz="1100" dirty="0"/>
          </a:p>
        </p:txBody>
      </p:sp>
      <p:sp>
        <p:nvSpPr>
          <p:cNvPr id="20" name="Shape 17"/>
          <p:cNvSpPr/>
          <p:nvPr/>
        </p:nvSpPr>
        <p:spPr>
          <a:xfrm>
            <a:off x="7360920" y="4462272"/>
            <a:ext cx="0" cy="1463040"/>
          </a:xfrm>
          <a:prstGeom prst="line">
            <a:avLst/>
          </a:prstGeom>
          <a:noFill/>
          <a:ln w="12700">
            <a:solidFill>
              <a:srgbClr val="3A3F4A"/>
            </a:solidFill>
            <a:prstDash val="solid"/>
          </a:ln>
        </p:spPr>
        <p:txBody>
          <a:bodyPr/>
          <a:lstStyle/>
          <a:p>
            <a:endParaRPr lang="en-US"/>
          </a:p>
        </p:txBody>
      </p:sp>
      <p:sp>
        <p:nvSpPr>
          <p:cNvPr id="21" name="Text 18"/>
          <p:cNvSpPr/>
          <p:nvPr/>
        </p:nvSpPr>
        <p:spPr>
          <a:xfrm>
            <a:off x="7680960" y="4434840"/>
            <a:ext cx="3840480" cy="1554480"/>
          </a:xfrm>
          <a:prstGeom prst="rect">
            <a:avLst/>
          </a:prstGeom>
          <a:noFill/>
          <a:ln/>
        </p:spPr>
        <p:txBody>
          <a:bodyPr wrap="square" lIns="0" tIns="0" rIns="0" bIns="0" rtlCol="0" anchor="ctr"/>
          <a:lstStyle/>
          <a:p>
            <a:pPr marL="0" indent="0">
              <a:spcAft>
                <a:spcPts val="600"/>
              </a:spcAft>
              <a:buNone/>
            </a:pPr>
            <a:r>
              <a:rPr lang="en-US" sz="1300" b="1" dirty="0">
                <a:solidFill>
                  <a:srgbClr val="F5F7FA"/>
                </a:solidFill>
                <a:latin typeface="Calibri" pitchFamily="34" charset="0"/>
                <a:ea typeface="Calibri" pitchFamily="34" charset="-122"/>
                <a:cs typeface="Calibri" pitchFamily="34" charset="-120"/>
              </a:rPr>
              <a:t>Accuracy barely moved (0.815 → 0.819) But Recall Jumped Way Up</a:t>
            </a:r>
          </a:p>
          <a:p>
            <a:r>
              <a:rPr lang="en-US" sz="1400" dirty="0">
                <a:solidFill>
                  <a:srgbClr val="6E7C94"/>
                </a:solidFill>
                <a:latin typeface="Calibri" pitchFamily="34" charset="0"/>
                <a:ea typeface="Calibri" pitchFamily="34" charset="-122"/>
                <a:cs typeface="Calibri" pitchFamily="34" charset="-120"/>
              </a:rPr>
              <a:t>After preprocessing the model catches far more of the real high earners above $50k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5</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Summary statistics and outliers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describe(), frequency tables, and the IQR rule</a:t>
            </a:r>
            <a:endParaRPr lang="en-US" sz="1250" dirty="0"/>
          </a:p>
        </p:txBody>
      </p:sp>
      <p:sp>
        <p:nvSpPr>
          <p:cNvPr id="6" name="Shape 4"/>
          <p:cNvSpPr/>
          <p:nvPr/>
        </p:nvSpPr>
        <p:spPr>
          <a:xfrm>
            <a:off x="502920" y="1371600"/>
            <a:ext cx="5806440" cy="233172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7" name="Text 5"/>
          <p:cNvSpPr/>
          <p:nvPr/>
        </p:nvSpPr>
        <p:spPr>
          <a:xfrm>
            <a:off x="749808" y="1517904"/>
            <a:ext cx="530352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NUMERIC SNAPSHOT</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3199726317"/>
              </p:ext>
            </p:extLst>
          </p:nvPr>
        </p:nvGraphicFramePr>
        <p:xfrm>
          <a:off x="749808" y="1920240"/>
          <a:ext cx="5349240" cy="1554480"/>
        </p:xfrm>
        <a:graphic>
          <a:graphicData uri="http://schemas.openxmlformats.org/drawingml/2006/table">
            <a:tbl>
              <a:tblPr/>
              <a:tblGrid>
                <a:gridCol w="2331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10896">
                <a:tc>
                  <a:txBody>
                    <a:bodyPr/>
                    <a:lstStyle/>
                    <a:p>
                      <a:pPr marL="0" indent="0" algn="l">
                        <a:buNone/>
                      </a:pP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250" b="1" dirty="0">
                          <a:solidFill>
                            <a:srgbClr val="E8C15A"/>
                          </a:solidFill>
                          <a:latin typeface="Calibri" pitchFamily="34" charset="0"/>
                          <a:ea typeface="Calibri" pitchFamily="34" charset="-122"/>
                          <a:cs typeface="Calibri" pitchFamily="34" charset="-120"/>
                        </a:rPr>
                        <a:t>mean</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250" b="1" dirty="0">
                          <a:solidFill>
                            <a:srgbClr val="E8C15A"/>
                          </a:solidFill>
                          <a:latin typeface="Calibri" pitchFamily="34" charset="0"/>
                          <a:ea typeface="Calibri" pitchFamily="34" charset="-122"/>
                          <a:cs typeface="Calibri" pitchFamily="34" charset="-120"/>
                        </a:rPr>
                        <a:t>median</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250" b="1" dirty="0">
                          <a:solidFill>
                            <a:srgbClr val="E8C15A"/>
                          </a:solidFill>
                          <a:latin typeface="Calibri" pitchFamily="34" charset="0"/>
                          <a:ea typeface="Calibri" pitchFamily="34" charset="-122"/>
                          <a:cs typeface="Calibri" pitchFamily="34" charset="-120"/>
                        </a:rPr>
                        <a:t>max</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extLst>
                  <a:ext uri="{0D108BD9-81ED-4DB2-BD59-A6C34878D82A}">
                    <a16:rowId xmlns:a16="http://schemas.microsoft.com/office/drawing/2014/main" val="10000"/>
                  </a:ext>
                </a:extLst>
              </a:tr>
              <a:tr h="310896">
                <a:tc>
                  <a:txBody>
                    <a:bodyPr/>
                    <a:lstStyle/>
                    <a:p>
                      <a:pPr marL="0" indent="0" algn="l">
                        <a:buNone/>
                      </a:pPr>
                      <a:r>
                        <a:rPr lang="en-US" sz="1250" b="1" dirty="0">
                          <a:solidFill>
                            <a:srgbClr val="F5F7FA"/>
                          </a:solidFill>
                          <a:latin typeface="Calibri" pitchFamily="34" charset="0"/>
                          <a:ea typeface="Calibri" pitchFamily="34" charset="-122"/>
                          <a:cs typeface="Calibri" pitchFamily="34" charset="-120"/>
                        </a:rPr>
                        <a:t>age</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38.6</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37</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90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310896">
                <a:tc>
                  <a:txBody>
                    <a:bodyPr/>
                    <a:lstStyle/>
                    <a:p>
                      <a:pPr marL="0" indent="0" algn="l">
                        <a:buNone/>
                      </a:pPr>
                      <a:r>
                        <a:rPr lang="en-US" sz="1250" b="1" dirty="0">
                          <a:solidFill>
                            <a:srgbClr val="F5F7FA"/>
                          </a:solidFill>
                          <a:latin typeface="Calibri" pitchFamily="34" charset="0"/>
                          <a:ea typeface="Calibri" pitchFamily="34" charset="-122"/>
                          <a:cs typeface="Calibri" pitchFamily="34" charset="-120"/>
                        </a:rPr>
                        <a:t>education_num</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extLst>
                  <a:ext uri="{0D108BD9-81ED-4DB2-BD59-A6C34878D82A}">
                    <a16:rowId xmlns:a16="http://schemas.microsoft.com/office/drawing/2014/main" val="10002"/>
                  </a:ext>
                </a:extLst>
              </a:tr>
              <a:tr h="310896">
                <a:tc>
                  <a:txBody>
                    <a:bodyPr/>
                    <a:lstStyle/>
                    <a:p>
                      <a:pPr marL="0" indent="0" algn="l">
                        <a:buNone/>
                      </a:pPr>
                      <a:r>
                        <a:rPr lang="en-US" sz="1250" b="1" dirty="0">
                          <a:solidFill>
                            <a:srgbClr val="F5F7FA"/>
                          </a:solidFill>
                          <a:latin typeface="Calibri" pitchFamily="34" charset="0"/>
                          <a:ea typeface="Calibri" pitchFamily="34" charset="-122"/>
                          <a:cs typeface="Calibri" pitchFamily="34" charset="-120"/>
                        </a:rPr>
                        <a:t>hours_per_week</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40.4</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99</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310896">
                <a:tc>
                  <a:txBody>
                    <a:bodyPr/>
                    <a:lstStyle/>
                    <a:p>
                      <a:pPr marL="0" indent="0" algn="l">
                        <a:buNone/>
                      </a:pPr>
                      <a:r>
                        <a:rPr lang="en-US" sz="1250" b="1" dirty="0" err="1">
                          <a:solidFill>
                            <a:srgbClr val="F5F7FA"/>
                          </a:solidFill>
                          <a:latin typeface="Calibri" pitchFamily="34" charset="0"/>
                          <a:ea typeface="Calibri" pitchFamily="34" charset="-122"/>
                          <a:cs typeface="Calibri" pitchFamily="34" charset="-120"/>
                        </a:rPr>
                        <a:t>capital_gain</a:t>
                      </a:r>
                      <a:r>
                        <a:rPr lang="en-US" sz="1250" b="1" dirty="0">
                          <a:solidFill>
                            <a:srgbClr val="F5F7FA"/>
                          </a:solidFill>
                          <a:latin typeface="Calibri" pitchFamily="34" charset="0"/>
                          <a:ea typeface="Calibri" pitchFamily="34" charset="-122"/>
                          <a:cs typeface="Calibri" pitchFamily="34" charset="-120"/>
                        </a:rPr>
                        <a:t> ($ amount)</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1,078</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99,999</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extLst>
                  <a:ext uri="{0D108BD9-81ED-4DB2-BD59-A6C34878D82A}">
                    <a16:rowId xmlns:a16="http://schemas.microsoft.com/office/drawing/2014/main" val="10004"/>
                  </a:ext>
                </a:extLst>
              </a:tr>
            </a:tbl>
          </a:graphicData>
        </a:graphic>
      </p:graphicFrame>
      <p:sp>
        <p:nvSpPr>
          <p:cNvPr id="9" name="Shape 6"/>
          <p:cNvSpPr/>
          <p:nvPr/>
        </p:nvSpPr>
        <p:spPr>
          <a:xfrm>
            <a:off x="502920" y="3886200"/>
            <a:ext cx="5806440" cy="228600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0" name="Text 7"/>
          <p:cNvSpPr/>
          <p:nvPr/>
        </p:nvSpPr>
        <p:spPr>
          <a:xfrm>
            <a:off x="749808" y="4032504"/>
            <a:ext cx="530352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CATEGORICAL FREQUENCY  (TOP VALUES)</a:t>
            </a:r>
            <a:endParaRPr lang="en-US" sz="1250" dirty="0"/>
          </a:p>
        </p:txBody>
      </p:sp>
      <p:sp>
        <p:nvSpPr>
          <p:cNvPr id="11" name="Text 8"/>
          <p:cNvSpPr/>
          <p:nvPr/>
        </p:nvSpPr>
        <p:spPr>
          <a:xfrm>
            <a:off x="749808" y="4443984"/>
            <a:ext cx="5394960" cy="1645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workclass: Private 22,673 dominates; Unknown 1,836</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marital_status: Married-civ-spouse 14,970, Never-married 10,667</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sex: Male 21,775, Female 10,762</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native_region: US 29,153, non-US 2,802, Unknown 582</a:t>
            </a:r>
            <a:endParaRPr lang="en-US" sz="1250" dirty="0"/>
          </a:p>
        </p:txBody>
      </p:sp>
      <p:sp>
        <p:nvSpPr>
          <p:cNvPr id="12" name="Shape 9"/>
          <p:cNvSpPr/>
          <p:nvPr/>
        </p:nvSpPr>
        <p:spPr>
          <a:xfrm>
            <a:off x="6537960" y="1371600"/>
            <a:ext cx="5148072" cy="480060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3" name="Text 10"/>
          <p:cNvSpPr/>
          <p:nvPr/>
        </p:nvSpPr>
        <p:spPr>
          <a:xfrm>
            <a:off x="6784848" y="1517904"/>
            <a:ext cx="466344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OUTLIERS BY THE IQR RULE</a:t>
            </a:r>
            <a:endParaRPr lang="en-US" sz="1250" dirty="0"/>
          </a:p>
        </p:txBody>
      </p:sp>
      <p:sp>
        <p:nvSpPr>
          <p:cNvPr id="14" name="Text 11"/>
          <p:cNvSpPr/>
          <p:nvPr/>
        </p:nvSpPr>
        <p:spPr>
          <a:xfrm>
            <a:off x="6784848" y="2011680"/>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hours_per_week</a:t>
            </a:r>
            <a:endParaRPr lang="en-US" sz="1300" dirty="0"/>
          </a:p>
        </p:txBody>
      </p:sp>
      <p:sp>
        <p:nvSpPr>
          <p:cNvPr id="15" name="Text 12"/>
          <p:cNvSpPr/>
          <p:nvPr/>
        </p:nvSpPr>
        <p:spPr>
          <a:xfrm>
            <a:off x="9829800" y="2011680"/>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27.7%</a:t>
            </a:r>
            <a:endParaRPr lang="en-US" sz="1500" dirty="0"/>
          </a:p>
        </p:txBody>
      </p:sp>
      <p:sp>
        <p:nvSpPr>
          <p:cNvPr id="16" name="Shape 13"/>
          <p:cNvSpPr/>
          <p:nvPr/>
        </p:nvSpPr>
        <p:spPr>
          <a:xfrm>
            <a:off x="6784848" y="2404872"/>
            <a:ext cx="4709160" cy="0"/>
          </a:xfrm>
          <a:prstGeom prst="line">
            <a:avLst/>
          </a:prstGeom>
          <a:noFill/>
          <a:ln w="9525">
            <a:solidFill>
              <a:srgbClr val="3A3F4A"/>
            </a:solidFill>
            <a:prstDash val="solid"/>
          </a:ln>
        </p:spPr>
        <p:txBody>
          <a:bodyPr/>
          <a:lstStyle/>
          <a:p>
            <a:endParaRPr lang="en-US"/>
          </a:p>
        </p:txBody>
      </p:sp>
      <p:sp>
        <p:nvSpPr>
          <p:cNvPr id="17" name="Text 14"/>
          <p:cNvSpPr/>
          <p:nvPr/>
        </p:nvSpPr>
        <p:spPr>
          <a:xfrm>
            <a:off x="6784848" y="2450592"/>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capital_gain</a:t>
            </a:r>
            <a:endParaRPr lang="en-US" sz="1300" dirty="0"/>
          </a:p>
        </p:txBody>
      </p:sp>
      <p:sp>
        <p:nvSpPr>
          <p:cNvPr id="18" name="Text 15"/>
          <p:cNvSpPr/>
          <p:nvPr/>
        </p:nvSpPr>
        <p:spPr>
          <a:xfrm>
            <a:off x="9829800" y="2450592"/>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8.3%</a:t>
            </a:r>
            <a:endParaRPr lang="en-US" sz="1500" dirty="0"/>
          </a:p>
        </p:txBody>
      </p:sp>
      <p:sp>
        <p:nvSpPr>
          <p:cNvPr id="19" name="Shape 16"/>
          <p:cNvSpPr/>
          <p:nvPr/>
        </p:nvSpPr>
        <p:spPr>
          <a:xfrm>
            <a:off x="6784848" y="2843784"/>
            <a:ext cx="4709160" cy="0"/>
          </a:xfrm>
          <a:prstGeom prst="line">
            <a:avLst/>
          </a:prstGeom>
          <a:noFill/>
          <a:ln w="9525">
            <a:solidFill>
              <a:srgbClr val="3A3F4A"/>
            </a:solidFill>
            <a:prstDash val="solid"/>
          </a:ln>
        </p:spPr>
        <p:txBody>
          <a:bodyPr/>
          <a:lstStyle/>
          <a:p>
            <a:endParaRPr lang="en-US"/>
          </a:p>
        </p:txBody>
      </p:sp>
      <p:sp>
        <p:nvSpPr>
          <p:cNvPr id="20" name="Text 17"/>
          <p:cNvSpPr/>
          <p:nvPr/>
        </p:nvSpPr>
        <p:spPr>
          <a:xfrm>
            <a:off x="6784848" y="2889504"/>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capital_loss</a:t>
            </a:r>
            <a:endParaRPr lang="en-US" sz="1300" dirty="0"/>
          </a:p>
        </p:txBody>
      </p:sp>
      <p:sp>
        <p:nvSpPr>
          <p:cNvPr id="21" name="Text 18"/>
          <p:cNvSpPr/>
          <p:nvPr/>
        </p:nvSpPr>
        <p:spPr>
          <a:xfrm>
            <a:off x="9829800" y="2889504"/>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4.7%</a:t>
            </a:r>
            <a:endParaRPr lang="en-US" sz="1500" dirty="0"/>
          </a:p>
        </p:txBody>
      </p:sp>
      <p:sp>
        <p:nvSpPr>
          <p:cNvPr id="22" name="Shape 19"/>
          <p:cNvSpPr/>
          <p:nvPr/>
        </p:nvSpPr>
        <p:spPr>
          <a:xfrm>
            <a:off x="6784848" y="3282696"/>
            <a:ext cx="4709160" cy="0"/>
          </a:xfrm>
          <a:prstGeom prst="line">
            <a:avLst/>
          </a:prstGeom>
          <a:noFill/>
          <a:ln w="9525">
            <a:solidFill>
              <a:srgbClr val="3A3F4A"/>
            </a:solidFill>
            <a:prstDash val="solid"/>
          </a:ln>
        </p:spPr>
        <p:txBody>
          <a:bodyPr/>
          <a:lstStyle/>
          <a:p>
            <a:endParaRPr lang="en-US"/>
          </a:p>
        </p:txBody>
      </p:sp>
      <p:sp>
        <p:nvSpPr>
          <p:cNvPr id="23" name="Text 20"/>
          <p:cNvSpPr/>
          <p:nvPr/>
        </p:nvSpPr>
        <p:spPr>
          <a:xfrm>
            <a:off x="6784848" y="3328416"/>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education_num</a:t>
            </a:r>
            <a:endParaRPr lang="en-US" sz="1300" dirty="0"/>
          </a:p>
        </p:txBody>
      </p:sp>
      <p:sp>
        <p:nvSpPr>
          <p:cNvPr id="24" name="Text 21"/>
          <p:cNvSpPr/>
          <p:nvPr/>
        </p:nvSpPr>
        <p:spPr>
          <a:xfrm>
            <a:off x="9829800" y="3328416"/>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3.7%</a:t>
            </a:r>
            <a:endParaRPr lang="en-US" sz="1500" dirty="0"/>
          </a:p>
        </p:txBody>
      </p:sp>
      <p:sp>
        <p:nvSpPr>
          <p:cNvPr id="25" name="Shape 22"/>
          <p:cNvSpPr/>
          <p:nvPr/>
        </p:nvSpPr>
        <p:spPr>
          <a:xfrm>
            <a:off x="6784848" y="3721608"/>
            <a:ext cx="4709160" cy="0"/>
          </a:xfrm>
          <a:prstGeom prst="line">
            <a:avLst/>
          </a:prstGeom>
          <a:noFill/>
          <a:ln w="9525">
            <a:solidFill>
              <a:srgbClr val="3A3F4A"/>
            </a:solidFill>
            <a:prstDash val="solid"/>
          </a:ln>
        </p:spPr>
        <p:txBody>
          <a:bodyPr/>
          <a:lstStyle/>
          <a:p>
            <a:endParaRPr lang="en-US"/>
          </a:p>
        </p:txBody>
      </p:sp>
      <p:sp>
        <p:nvSpPr>
          <p:cNvPr id="26" name="Text 23"/>
          <p:cNvSpPr/>
          <p:nvPr/>
        </p:nvSpPr>
        <p:spPr>
          <a:xfrm>
            <a:off x="6784848" y="3767328"/>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age</a:t>
            </a:r>
            <a:endParaRPr lang="en-US" sz="1300" dirty="0"/>
          </a:p>
        </p:txBody>
      </p:sp>
      <p:sp>
        <p:nvSpPr>
          <p:cNvPr id="27" name="Text 24"/>
          <p:cNvSpPr/>
          <p:nvPr/>
        </p:nvSpPr>
        <p:spPr>
          <a:xfrm>
            <a:off x="9829800" y="3767328"/>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0.4%</a:t>
            </a:r>
            <a:endParaRPr lang="en-US" sz="1500" dirty="0"/>
          </a:p>
        </p:txBody>
      </p:sp>
      <p:sp>
        <p:nvSpPr>
          <p:cNvPr id="28" name="Text 25"/>
          <p:cNvSpPr/>
          <p:nvPr/>
        </p:nvSpPr>
        <p:spPr>
          <a:xfrm>
            <a:off x="6784848" y="4343400"/>
            <a:ext cx="4709160" cy="1051560"/>
          </a:xfrm>
          <a:prstGeom prst="rect">
            <a:avLst/>
          </a:prstGeom>
          <a:noFill/>
          <a:ln/>
        </p:spPr>
        <p:txBody>
          <a:bodyPr wrap="square" lIns="0" tIns="0" rIns="0" bIns="0" rtlCol="0" anchor="t"/>
          <a:lstStyle/>
          <a:p>
            <a:pPr marL="0" indent="0">
              <a:buNone/>
            </a:pPr>
            <a:r>
              <a:rPr lang="en-US" sz="1250" b="1" dirty="0">
                <a:solidFill>
                  <a:srgbClr val="E8C15A"/>
                </a:solidFill>
                <a:latin typeface="Calibri" pitchFamily="34" charset="0"/>
                <a:ea typeface="Calibri" pitchFamily="34" charset="-122"/>
                <a:cs typeface="Calibri" pitchFamily="34" charset="-120"/>
              </a:rPr>
              <a:t>Why IQR, not z-scores:  </a:t>
            </a:r>
            <a:r>
              <a:rPr lang="en-US" sz="1250" dirty="0">
                <a:solidFill>
                  <a:srgbClr val="9AA7BD"/>
                </a:solidFill>
                <a:latin typeface="Calibri" pitchFamily="34" charset="0"/>
                <a:ea typeface="Calibri" pitchFamily="34" charset="-122"/>
                <a:cs typeface="Calibri" pitchFamily="34" charset="-120"/>
              </a:rPr>
              <a:t>z-scores assume a symmetric normal shape, but capital gain, loss and hours are heavily skewed, so they would mislabel ordinary points. IQR does not make this assumption.</a:t>
            </a:r>
            <a:endParaRPr lang="en-US" sz="1250" dirty="0"/>
          </a:p>
        </p:txBody>
      </p:sp>
      <p:sp>
        <p:nvSpPr>
          <p:cNvPr id="29" name="Text 26"/>
          <p:cNvSpPr/>
          <p:nvPr/>
        </p:nvSpPr>
        <p:spPr>
          <a:xfrm>
            <a:off x="6784848" y="5440680"/>
            <a:ext cx="4709160" cy="685800"/>
          </a:xfrm>
          <a:prstGeom prst="rect">
            <a:avLst/>
          </a:prstGeom>
          <a:noFill/>
          <a:ln/>
        </p:spPr>
        <p:txBody>
          <a:bodyPr wrap="square" lIns="0" tIns="0" rIns="0" bIns="0" rtlCol="0" anchor="t"/>
          <a:lstStyle/>
          <a:p>
            <a:pPr marL="0" indent="0">
              <a:buNone/>
            </a:pPr>
            <a:r>
              <a:rPr lang="en-US" sz="1150" i="1" dirty="0">
                <a:solidFill>
                  <a:srgbClr val="6E7C94"/>
                </a:solidFill>
                <a:latin typeface="Calibri" pitchFamily="34" charset="0"/>
                <a:ea typeface="Calibri" pitchFamily="34" charset="-122"/>
                <a:cs typeface="Calibri" pitchFamily="34" charset="-120"/>
              </a:rPr>
              <a:t>These are real values, not errors, so I keep them. Removing real high earners would bias the analysis, and tree models can handle the skew.</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6</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Core distributions and correlations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The shape of the data before reading it against the hypotheses</a:t>
            </a:r>
            <a:endParaRPr lang="en-US" sz="1250" dirty="0"/>
          </a:p>
        </p:txBody>
      </p:sp>
      <p:sp>
        <p:nvSpPr>
          <p:cNvPr id="6" name="Text 4"/>
          <p:cNvSpPr/>
          <p:nvPr/>
        </p:nvSpPr>
        <p:spPr>
          <a:xfrm>
            <a:off x="548640" y="1371600"/>
            <a:ext cx="667512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NUMERIC DISTRIBUTIONS</a:t>
            </a:r>
            <a:endParaRPr lang="en-US" sz="1200" dirty="0"/>
          </a:p>
        </p:txBody>
      </p:sp>
      <p:sp>
        <p:nvSpPr>
          <p:cNvPr id="7" name="Shape 5"/>
          <p:cNvSpPr/>
          <p:nvPr/>
        </p:nvSpPr>
        <p:spPr>
          <a:xfrm>
            <a:off x="502920" y="1737360"/>
            <a:ext cx="6766560" cy="35204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50_0.png"/>
          <p:cNvPicPr>
            <a:picLocks noChangeAspect="1"/>
          </p:cNvPicPr>
          <p:nvPr/>
        </p:nvPicPr>
        <p:blipFill>
          <a:blip r:embed="rId3"/>
          <a:stretch>
            <a:fillRect/>
          </a:stretch>
        </p:blipFill>
        <p:spPr>
          <a:xfrm>
            <a:off x="1247782" y="1883664"/>
            <a:ext cx="5276836" cy="3227832"/>
          </a:xfrm>
          <a:prstGeom prst="rect">
            <a:avLst/>
          </a:prstGeom>
        </p:spPr>
      </p:pic>
      <p:sp>
        <p:nvSpPr>
          <p:cNvPr id="9" name="Text 6"/>
          <p:cNvSpPr/>
          <p:nvPr/>
        </p:nvSpPr>
        <p:spPr>
          <a:xfrm>
            <a:off x="548640" y="5349240"/>
            <a:ext cx="6675120" cy="731520"/>
          </a:xfrm>
          <a:prstGeom prst="rect">
            <a:avLst/>
          </a:prstGeom>
          <a:noFill/>
          <a:ln/>
        </p:spPr>
        <p:txBody>
          <a:bodyPr wrap="square" lIns="0" tIns="0" rIns="0" bIns="0" rtlCol="0" anchor="t"/>
          <a:lstStyle/>
          <a:p>
            <a:pPr marL="0" indent="0">
              <a:buNone/>
            </a:pPr>
            <a:r>
              <a:rPr lang="en-US" sz="1000" i="1" dirty="0">
                <a:solidFill>
                  <a:srgbClr val="9AA7BD"/>
                </a:solidFill>
                <a:latin typeface="Calibri" pitchFamily="34" charset="0"/>
                <a:ea typeface="Calibri" pitchFamily="34" charset="-122"/>
                <a:cs typeface="Calibri" pitchFamily="34" charset="-120"/>
              </a:rPr>
              <a:t>Age is right skewed</a:t>
            </a:r>
          </a:p>
          <a:p>
            <a:pPr marL="0" indent="0">
              <a:buNone/>
            </a:pPr>
            <a:endParaRPr lang="en-US" sz="1000" i="1" dirty="0">
              <a:solidFill>
                <a:srgbClr val="9AA7BD"/>
              </a:solidFill>
              <a:latin typeface="Calibri" pitchFamily="34" charset="0"/>
              <a:ea typeface="Calibri" pitchFamily="34" charset="-122"/>
              <a:cs typeface="Calibri" pitchFamily="34" charset="-120"/>
            </a:endParaRPr>
          </a:p>
          <a:p>
            <a:pPr marL="0" indent="0">
              <a:buNone/>
            </a:pPr>
            <a:r>
              <a:rPr lang="en-US" sz="1000" i="1" dirty="0">
                <a:solidFill>
                  <a:srgbClr val="9AA7BD"/>
                </a:solidFill>
                <a:latin typeface="Calibri" pitchFamily="34" charset="0"/>
                <a:ea typeface="Calibri" pitchFamily="34" charset="-122"/>
                <a:cs typeface="Calibri" pitchFamily="34" charset="-120"/>
              </a:rPr>
              <a:t>Education clusters at 9 to 10 (high school)</a:t>
            </a:r>
          </a:p>
          <a:p>
            <a:pPr marL="0" indent="0">
              <a:buNone/>
            </a:pPr>
            <a:endParaRPr lang="en-US" sz="1000" i="1" dirty="0">
              <a:solidFill>
                <a:srgbClr val="9AA7BD"/>
              </a:solidFill>
              <a:latin typeface="Calibri" pitchFamily="34" charset="0"/>
              <a:ea typeface="Calibri" pitchFamily="34" charset="-122"/>
              <a:cs typeface="Calibri" pitchFamily="34" charset="-120"/>
            </a:endParaRPr>
          </a:p>
          <a:p>
            <a:pPr marL="0" indent="0">
              <a:buNone/>
            </a:pPr>
            <a:r>
              <a:rPr lang="en-US" sz="1000" i="1" dirty="0">
                <a:solidFill>
                  <a:srgbClr val="9AA7BD"/>
                </a:solidFill>
                <a:latin typeface="Calibri" pitchFamily="34" charset="0"/>
                <a:ea typeface="Calibri" pitchFamily="34" charset="-122"/>
                <a:cs typeface="Calibri" pitchFamily="34" charset="-120"/>
              </a:rPr>
              <a:t>Hours are highly concentrated at 40</a:t>
            </a:r>
          </a:p>
          <a:p>
            <a:pPr marL="0" indent="0">
              <a:buNone/>
            </a:pPr>
            <a:endParaRPr lang="en-US" sz="1000" i="1" dirty="0">
              <a:solidFill>
                <a:srgbClr val="9AA7BD"/>
              </a:solidFill>
              <a:latin typeface="Calibri" pitchFamily="34" charset="0"/>
              <a:ea typeface="Calibri" pitchFamily="34" charset="-122"/>
              <a:cs typeface="Calibri" pitchFamily="34" charset="-120"/>
            </a:endParaRPr>
          </a:p>
          <a:p>
            <a:pPr marL="0" indent="0">
              <a:buNone/>
            </a:pPr>
            <a:r>
              <a:rPr lang="en-US" sz="1000" i="1" dirty="0">
                <a:solidFill>
                  <a:srgbClr val="9AA7BD"/>
                </a:solidFill>
                <a:latin typeface="Calibri" pitchFamily="34" charset="0"/>
                <a:ea typeface="Calibri" pitchFamily="34" charset="-122"/>
                <a:cs typeface="Calibri" pitchFamily="34" charset="-120"/>
              </a:rPr>
              <a:t>Capital gain and loss are almost all zero.</a:t>
            </a:r>
            <a:endParaRPr lang="en-US" sz="1000" dirty="0"/>
          </a:p>
        </p:txBody>
      </p:sp>
      <p:sp>
        <p:nvSpPr>
          <p:cNvPr id="10" name="Text 7"/>
          <p:cNvSpPr/>
          <p:nvPr/>
        </p:nvSpPr>
        <p:spPr>
          <a:xfrm>
            <a:off x="7543800" y="1371600"/>
            <a:ext cx="411480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NUMERIC CORRELATIONS</a:t>
            </a:r>
            <a:endParaRPr lang="en-US" sz="1200" dirty="0"/>
          </a:p>
        </p:txBody>
      </p:sp>
      <p:sp>
        <p:nvSpPr>
          <p:cNvPr id="11" name="Shape 8"/>
          <p:cNvSpPr/>
          <p:nvPr/>
        </p:nvSpPr>
        <p:spPr>
          <a:xfrm>
            <a:off x="7498080" y="1737360"/>
            <a:ext cx="4187952" cy="35204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2" name="Image 1" descr="/home/claude/imgs/cell52_0.png"/>
          <p:cNvPicPr>
            <a:picLocks noChangeAspect="1"/>
          </p:cNvPicPr>
          <p:nvPr/>
        </p:nvPicPr>
        <p:blipFill>
          <a:blip r:embed="rId4"/>
          <a:stretch>
            <a:fillRect/>
          </a:stretch>
        </p:blipFill>
        <p:spPr>
          <a:xfrm>
            <a:off x="7644384" y="1984028"/>
            <a:ext cx="3895344" cy="3027105"/>
          </a:xfrm>
          <a:prstGeom prst="rect">
            <a:avLst/>
          </a:prstGeom>
        </p:spPr>
      </p:pic>
      <p:sp>
        <p:nvSpPr>
          <p:cNvPr id="13" name="Text 9"/>
          <p:cNvSpPr/>
          <p:nvPr/>
        </p:nvSpPr>
        <p:spPr>
          <a:xfrm>
            <a:off x="7543800" y="5349240"/>
            <a:ext cx="4114800" cy="731520"/>
          </a:xfrm>
          <a:prstGeom prst="rect">
            <a:avLst/>
          </a:prstGeom>
          <a:noFill/>
          <a:ln/>
        </p:spPr>
        <p:txBody>
          <a:bodyPr wrap="square" lIns="0" tIns="0" rIns="0" bIns="0" rtlCol="0" anchor="t"/>
          <a:lstStyle/>
          <a:p>
            <a:pPr marL="0" indent="0">
              <a:buNone/>
            </a:pPr>
            <a:r>
              <a:rPr lang="en-US" sz="1000" i="1" dirty="0">
                <a:solidFill>
                  <a:srgbClr val="9AA7BD"/>
                </a:solidFill>
                <a:latin typeface="Calibri" pitchFamily="34" charset="0"/>
                <a:ea typeface="Calibri" pitchFamily="34" charset="-122"/>
                <a:cs typeface="Calibri" pitchFamily="34" charset="-120"/>
              </a:rPr>
              <a:t>Every off-diagonal correlation is small: no multicollinearity, which keeps the logistic regression coefficients stable and readable (Hypothesis 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000" b="1">
                <a:solidFill>
                  <a:srgbClr val="E8C15A"/>
                </a:solidFill>
                <a:latin typeface="Trebuchet MS" pitchFamily="34" charset="0"/>
                <a:ea typeface="Trebuchet MS" pitchFamily="34" charset="-122"/>
                <a:cs typeface="Trebuchet MS" pitchFamily="34" charset="-120"/>
              </a:rPr>
              <a:t>H1</a:t>
            </a:r>
            <a:endParaRPr lang="en-US" sz="20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Education looks like the stronger driver</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One-feature-at-a-time view: how cleanly each separates the classes</a:t>
            </a:r>
            <a:endParaRPr lang="en-US" sz="1250" dirty="0"/>
          </a:p>
        </p:txBody>
      </p:sp>
      <p:sp>
        <p:nvSpPr>
          <p:cNvPr id="6" name="Text 4"/>
          <p:cNvSpPr/>
          <p:nvPr/>
        </p:nvSpPr>
        <p:spPr>
          <a:xfrm>
            <a:off x="548640" y="1371600"/>
            <a:ext cx="4023360" cy="274320"/>
          </a:xfrm>
          <a:prstGeom prst="rect">
            <a:avLst/>
          </a:prstGeom>
          <a:noFill/>
          <a:ln/>
        </p:spPr>
        <p:txBody>
          <a:bodyPr wrap="square" lIns="0" tIns="0" rIns="0" bIns="0" rtlCol="0" anchor="ctr"/>
          <a:lstStyle/>
          <a:p>
            <a:pPr marL="0" indent="0" algn="ctr">
              <a:buNone/>
            </a:pPr>
            <a:r>
              <a:rPr lang="en-US" sz="1150" b="1" kern="0" spc="100" dirty="0">
                <a:solidFill>
                  <a:srgbClr val="9AA7BD"/>
                </a:solidFill>
                <a:latin typeface="Calibri" pitchFamily="34" charset="0"/>
                <a:ea typeface="Calibri" pitchFamily="34" charset="-122"/>
                <a:cs typeface="Calibri" pitchFamily="34" charset="-120"/>
              </a:rPr>
              <a:t>&gt;50K RATE BY EDUCATION</a:t>
            </a:r>
            <a:endParaRPr lang="en-US" sz="1150" dirty="0"/>
          </a:p>
        </p:txBody>
      </p:sp>
      <p:sp>
        <p:nvSpPr>
          <p:cNvPr id="7" name="Shape 5"/>
          <p:cNvSpPr/>
          <p:nvPr/>
        </p:nvSpPr>
        <p:spPr>
          <a:xfrm>
            <a:off x="502920" y="1691640"/>
            <a:ext cx="4114800" cy="361188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60_0.png"/>
          <p:cNvPicPr>
            <a:picLocks noChangeAspect="1"/>
          </p:cNvPicPr>
          <p:nvPr/>
        </p:nvPicPr>
        <p:blipFill>
          <a:blip r:embed="rId3"/>
          <a:stretch>
            <a:fillRect/>
          </a:stretch>
        </p:blipFill>
        <p:spPr>
          <a:xfrm>
            <a:off x="649224" y="1957660"/>
            <a:ext cx="3822192" cy="3079840"/>
          </a:xfrm>
          <a:prstGeom prst="rect">
            <a:avLst/>
          </a:prstGeom>
        </p:spPr>
      </p:pic>
      <p:sp>
        <p:nvSpPr>
          <p:cNvPr id="9" name="Text 6"/>
          <p:cNvSpPr/>
          <p:nvPr/>
        </p:nvSpPr>
        <p:spPr>
          <a:xfrm>
            <a:off x="4800600" y="1371600"/>
            <a:ext cx="4023360" cy="274320"/>
          </a:xfrm>
          <a:prstGeom prst="rect">
            <a:avLst/>
          </a:prstGeom>
          <a:noFill/>
          <a:ln/>
        </p:spPr>
        <p:txBody>
          <a:bodyPr wrap="square" lIns="0" tIns="0" rIns="0" bIns="0" rtlCol="0" anchor="ctr"/>
          <a:lstStyle/>
          <a:p>
            <a:pPr marL="0" indent="0" algn="ctr">
              <a:buNone/>
            </a:pPr>
            <a:r>
              <a:rPr lang="en-US" sz="1150" b="1" kern="0" spc="100" dirty="0">
                <a:solidFill>
                  <a:srgbClr val="9AA7BD"/>
                </a:solidFill>
                <a:latin typeface="Calibri" pitchFamily="34" charset="0"/>
                <a:ea typeface="Calibri" pitchFamily="34" charset="-122"/>
                <a:cs typeface="Calibri" pitchFamily="34" charset="-120"/>
              </a:rPr>
              <a:t>&gt;50K RATE BY HOURS</a:t>
            </a:r>
            <a:endParaRPr lang="en-US" sz="1150" dirty="0"/>
          </a:p>
        </p:txBody>
      </p:sp>
      <p:sp>
        <p:nvSpPr>
          <p:cNvPr id="10" name="Shape 7"/>
          <p:cNvSpPr/>
          <p:nvPr/>
        </p:nvSpPr>
        <p:spPr>
          <a:xfrm>
            <a:off x="4754880" y="1691640"/>
            <a:ext cx="4114800" cy="361188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1" name="Image 1" descr="/home/claude/imgs/cell61_0.png"/>
          <p:cNvPicPr>
            <a:picLocks noChangeAspect="1"/>
          </p:cNvPicPr>
          <p:nvPr/>
        </p:nvPicPr>
        <p:blipFill>
          <a:blip r:embed="rId4"/>
          <a:stretch>
            <a:fillRect/>
          </a:stretch>
        </p:blipFill>
        <p:spPr>
          <a:xfrm>
            <a:off x="4901184" y="1994064"/>
            <a:ext cx="3822192" cy="3007033"/>
          </a:xfrm>
          <a:prstGeom prst="rect">
            <a:avLst/>
          </a:prstGeom>
        </p:spPr>
      </p:pic>
      <p:sp>
        <p:nvSpPr>
          <p:cNvPr id="12" name="Shape 8"/>
          <p:cNvSpPr/>
          <p:nvPr/>
        </p:nvSpPr>
        <p:spPr>
          <a:xfrm>
            <a:off x="9006840" y="1691640"/>
            <a:ext cx="2679192" cy="361188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3" name="Text 9"/>
          <p:cNvSpPr/>
          <p:nvPr/>
        </p:nvSpPr>
        <p:spPr>
          <a:xfrm>
            <a:off x="9144000" y="1920240"/>
            <a:ext cx="2423160" cy="274320"/>
          </a:xfrm>
          <a:prstGeom prst="rect">
            <a:avLst/>
          </a:prstGeom>
          <a:noFill/>
          <a:ln/>
        </p:spPr>
        <p:txBody>
          <a:bodyPr wrap="square" lIns="0" tIns="0" rIns="0" bIns="0" rtlCol="0" anchor="ctr"/>
          <a:lstStyle/>
          <a:p>
            <a:pPr marL="0" indent="0" algn="ctr">
              <a:buNone/>
            </a:pPr>
            <a:r>
              <a:rPr lang="en-US" sz="1200" b="1" kern="0" spc="150" dirty="0">
                <a:solidFill>
                  <a:srgbClr val="E8C15A"/>
                </a:solidFill>
                <a:latin typeface="Calibri" pitchFamily="34" charset="0"/>
                <a:ea typeface="Calibri" pitchFamily="34" charset="-122"/>
                <a:cs typeface="Calibri" pitchFamily="34" charset="-120"/>
              </a:rPr>
              <a:t>RATE SPREAD</a:t>
            </a:r>
            <a:endParaRPr lang="en-US" sz="1200" dirty="0"/>
          </a:p>
        </p:txBody>
      </p:sp>
      <p:sp>
        <p:nvSpPr>
          <p:cNvPr id="14" name="Text 10"/>
          <p:cNvSpPr/>
          <p:nvPr/>
        </p:nvSpPr>
        <p:spPr>
          <a:xfrm>
            <a:off x="9144000" y="2331720"/>
            <a:ext cx="2423160" cy="685800"/>
          </a:xfrm>
          <a:prstGeom prst="rect">
            <a:avLst/>
          </a:prstGeom>
          <a:noFill/>
          <a:ln/>
          <a:effectLst/>
        </p:spPr>
        <p:txBody>
          <a:bodyPr wrap="square" lIns="0" tIns="0" rIns="0" bIns="0" rtlCol="0" anchor="ctr"/>
          <a:lstStyle/>
          <a:p>
            <a:pPr marL="0" indent="0" algn="ctr">
              <a:buNone/>
            </a:pPr>
            <a:r>
              <a:rPr lang="en-US" sz="4000" b="1">
                <a:solidFill>
                  <a:srgbClr val="F5F7FA"/>
                </a:solidFill>
                <a:latin typeface="Trebuchet MS" pitchFamily="34" charset="0"/>
                <a:ea typeface="Trebuchet MS" pitchFamily="34" charset="-122"/>
                <a:cs typeface="Trebuchet MS" pitchFamily="34" charset="-120"/>
              </a:rPr>
              <a:t>0.741</a:t>
            </a:r>
            <a:endParaRPr lang="en-US" sz="4000" dirty="0"/>
          </a:p>
        </p:txBody>
      </p:sp>
      <p:sp>
        <p:nvSpPr>
          <p:cNvPr id="15" name="Text 11"/>
          <p:cNvSpPr/>
          <p:nvPr/>
        </p:nvSpPr>
        <p:spPr>
          <a:xfrm>
            <a:off x="9144000" y="3017520"/>
            <a:ext cx="2423160" cy="274320"/>
          </a:xfrm>
          <a:prstGeom prst="rect">
            <a:avLst/>
          </a:prstGeom>
          <a:noFill/>
          <a:ln/>
        </p:spPr>
        <p:txBody>
          <a:bodyPr wrap="square" lIns="0" tIns="0" rIns="0" bIns="0" rtlCol="0" anchor="ctr"/>
          <a:lstStyle/>
          <a:p>
            <a:pPr marL="0" indent="0" algn="ctr">
              <a:buNone/>
            </a:pPr>
            <a:r>
              <a:rPr lang="en-US" sz="1200" dirty="0">
                <a:solidFill>
                  <a:srgbClr val="9AA7BD"/>
                </a:solidFill>
                <a:latin typeface="Calibri" pitchFamily="34" charset="0"/>
                <a:ea typeface="Calibri" pitchFamily="34" charset="-122"/>
                <a:cs typeface="Calibri" pitchFamily="34" charset="-120"/>
              </a:rPr>
              <a:t>education</a:t>
            </a:r>
            <a:endParaRPr lang="en-US" sz="1200" dirty="0"/>
          </a:p>
        </p:txBody>
      </p:sp>
      <p:sp>
        <p:nvSpPr>
          <p:cNvPr id="16" name="Text 12"/>
          <p:cNvSpPr/>
          <p:nvPr/>
        </p:nvSpPr>
        <p:spPr>
          <a:xfrm>
            <a:off x="9144000" y="3611880"/>
            <a:ext cx="2423160" cy="685800"/>
          </a:xfrm>
          <a:prstGeom prst="rect">
            <a:avLst/>
          </a:prstGeom>
          <a:noFill/>
          <a:ln/>
          <a:effectLst/>
        </p:spPr>
        <p:txBody>
          <a:bodyPr wrap="square" lIns="0" tIns="0" rIns="0" bIns="0" rtlCol="0" anchor="ctr"/>
          <a:lstStyle/>
          <a:p>
            <a:pPr marL="0" indent="0" algn="ctr">
              <a:buNone/>
            </a:pPr>
            <a:r>
              <a:rPr lang="en-US" sz="4000" b="1">
                <a:solidFill>
                  <a:schemeClr val="bg1"/>
                </a:solidFill>
                <a:latin typeface="Trebuchet MS" pitchFamily="34" charset="0"/>
                <a:ea typeface="Trebuchet MS" pitchFamily="34" charset="-122"/>
                <a:cs typeface="Trebuchet MS" pitchFamily="34" charset="-120"/>
              </a:rPr>
              <a:t>0.361</a:t>
            </a:r>
            <a:endParaRPr lang="en-US" sz="4000" dirty="0">
              <a:solidFill>
                <a:schemeClr val="bg1"/>
              </a:solidFill>
            </a:endParaRPr>
          </a:p>
        </p:txBody>
      </p:sp>
      <p:sp>
        <p:nvSpPr>
          <p:cNvPr id="17" name="Text 13"/>
          <p:cNvSpPr/>
          <p:nvPr/>
        </p:nvSpPr>
        <p:spPr>
          <a:xfrm>
            <a:off x="9144000" y="4297680"/>
            <a:ext cx="2423160" cy="274320"/>
          </a:xfrm>
          <a:prstGeom prst="rect">
            <a:avLst/>
          </a:prstGeom>
          <a:noFill/>
          <a:ln/>
        </p:spPr>
        <p:txBody>
          <a:bodyPr wrap="square" lIns="0" tIns="0" rIns="0" bIns="0" rtlCol="0" anchor="ctr"/>
          <a:lstStyle/>
          <a:p>
            <a:pPr marL="0" indent="0" algn="ctr">
              <a:buNone/>
            </a:pPr>
            <a:r>
              <a:rPr lang="en-US" sz="1200" dirty="0">
                <a:solidFill>
                  <a:srgbClr val="9AA7BD"/>
                </a:solidFill>
                <a:latin typeface="Calibri" pitchFamily="34" charset="0"/>
                <a:ea typeface="Calibri" pitchFamily="34" charset="-122"/>
                <a:cs typeface="Calibri" pitchFamily="34" charset="-120"/>
              </a:rPr>
              <a:t>hours</a:t>
            </a:r>
            <a:endParaRPr lang="en-US" sz="1200" dirty="0"/>
          </a:p>
        </p:txBody>
      </p:sp>
      <p:sp>
        <p:nvSpPr>
          <p:cNvPr id="18" name="Text 14"/>
          <p:cNvSpPr/>
          <p:nvPr/>
        </p:nvSpPr>
        <p:spPr>
          <a:xfrm>
            <a:off x="9144000" y="4663440"/>
            <a:ext cx="2423160" cy="548640"/>
          </a:xfrm>
          <a:prstGeom prst="rect">
            <a:avLst/>
          </a:prstGeom>
          <a:noFill/>
          <a:ln/>
        </p:spPr>
        <p:txBody>
          <a:bodyPr wrap="square" lIns="0" tIns="0" rIns="0" bIns="0" rtlCol="0" anchor="t"/>
          <a:lstStyle/>
          <a:p>
            <a:pPr marL="0" indent="0" algn="ctr">
              <a:buNone/>
            </a:pPr>
            <a:r>
              <a:rPr lang="en-US" sz="1150" i="1" dirty="0">
                <a:solidFill>
                  <a:srgbClr val="6E7C94"/>
                </a:solidFill>
                <a:latin typeface="Calibri" pitchFamily="34" charset="0"/>
                <a:ea typeface="Calibri" pitchFamily="34" charset="-122"/>
                <a:cs typeface="Calibri" pitchFamily="34" charset="-120"/>
              </a:rPr>
              <a:t>Education spreads the rate roughly 2× wider.</a:t>
            </a:r>
            <a:endParaRPr lang="en-US" sz="1150" dirty="0"/>
          </a:p>
        </p:txBody>
      </p:sp>
      <p:sp>
        <p:nvSpPr>
          <p:cNvPr id="19" name="Shape 15"/>
          <p:cNvSpPr/>
          <p:nvPr/>
        </p:nvSpPr>
        <p:spPr>
          <a:xfrm>
            <a:off x="502920" y="5486400"/>
            <a:ext cx="11183112" cy="86868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20" name="Text 16"/>
          <p:cNvSpPr/>
          <p:nvPr/>
        </p:nvSpPr>
        <p:spPr>
          <a:xfrm>
            <a:off x="777240" y="5532120"/>
            <a:ext cx="10698480" cy="777240"/>
          </a:xfrm>
          <a:prstGeom prst="rect">
            <a:avLst/>
          </a:prstGeom>
          <a:noFill/>
          <a:ln/>
        </p:spPr>
        <p:txBody>
          <a:bodyPr wrap="square" lIns="0" tIns="0" rIns="0" bIns="0" rtlCol="0" anchor="ctr"/>
          <a:lstStyle/>
          <a:p>
            <a:pPr marL="0" indent="0">
              <a:buNone/>
            </a:pPr>
            <a:r>
              <a:rPr lang="en-US" sz="1300" b="1" dirty="0">
                <a:solidFill>
                  <a:srgbClr val="E8C15A"/>
                </a:solidFill>
                <a:latin typeface="Calibri" pitchFamily="34" charset="0"/>
                <a:ea typeface="Calibri" pitchFamily="34" charset="-122"/>
                <a:cs typeface="Calibri" pitchFamily="34" charset="-120"/>
              </a:rPr>
              <a:t>Takeaway   </a:t>
            </a:r>
            <a:r>
              <a:rPr lang="en-US" sz="1250" dirty="0">
                <a:solidFill>
                  <a:srgbClr val="9AA7BD"/>
                </a:solidFill>
                <a:latin typeface="Calibri" pitchFamily="34" charset="0"/>
                <a:ea typeface="Calibri" pitchFamily="34" charset="-122"/>
                <a:cs typeface="Calibri" pitchFamily="34" charset="-120"/>
              </a:rPr>
              <a:t>Education climbs cleanly and spreads the &gt;50K rate far wider than hours, which flattens after full-time (hint for H1). Education correlates with occupation and marital status, so the real test is permutation importance on the trained model with a bootstrap interval.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000" b="1">
                <a:solidFill>
                  <a:srgbClr val="E8C15A"/>
                </a:solidFill>
                <a:latin typeface="Trebuchet MS" pitchFamily="34" charset="0"/>
                <a:ea typeface="Trebuchet MS" pitchFamily="34" charset="-122"/>
                <a:cs typeface="Trebuchet MS" pitchFamily="34" charset="-120"/>
              </a:rPr>
              <a:t>H2</a:t>
            </a:r>
            <a:endParaRPr lang="en-US" sz="20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A real base-rate gap across nativity</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The gap the fairness audit will measure as a recall gap</a:t>
            </a:r>
            <a:endParaRPr lang="en-US" sz="1250" dirty="0"/>
          </a:p>
        </p:txBody>
      </p:sp>
      <p:sp>
        <p:nvSpPr>
          <p:cNvPr id="6" name="Text 4"/>
          <p:cNvSpPr/>
          <p:nvPr/>
        </p:nvSpPr>
        <p:spPr>
          <a:xfrm>
            <a:off x="548640" y="1371600"/>
            <a:ext cx="5486400" cy="274320"/>
          </a:xfrm>
          <a:prstGeom prst="rect">
            <a:avLst/>
          </a:prstGeom>
          <a:noFill/>
          <a:ln/>
        </p:spPr>
        <p:txBody>
          <a:bodyPr wrap="square" lIns="0" tIns="0" rIns="0" bIns="0" rtlCol="0" anchor="ctr"/>
          <a:lstStyle/>
          <a:p>
            <a:pPr marL="0" indent="0" algn="ctr">
              <a:buNone/>
            </a:pPr>
            <a:r>
              <a:rPr lang="en-US" sz="1150" b="1" kern="0" spc="100" dirty="0">
                <a:solidFill>
                  <a:srgbClr val="9AA7BD"/>
                </a:solidFill>
                <a:latin typeface="Calibri" pitchFamily="34" charset="0"/>
                <a:ea typeface="Calibri" pitchFamily="34" charset="-122"/>
                <a:cs typeface="Calibri" pitchFamily="34" charset="-120"/>
              </a:rPr>
              <a:t>&gt;50K RATE BY NATIVITY AND SEX</a:t>
            </a:r>
            <a:endParaRPr lang="en-US" sz="1150" dirty="0"/>
          </a:p>
        </p:txBody>
      </p:sp>
      <p:sp>
        <p:nvSpPr>
          <p:cNvPr id="7" name="Shape 5"/>
          <p:cNvSpPr/>
          <p:nvPr/>
        </p:nvSpPr>
        <p:spPr>
          <a:xfrm>
            <a:off x="502920" y="1691640"/>
            <a:ext cx="5577840" cy="448056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68_0.png"/>
          <p:cNvPicPr>
            <a:picLocks noChangeAspect="1"/>
          </p:cNvPicPr>
          <p:nvPr/>
        </p:nvPicPr>
        <p:blipFill>
          <a:blip r:embed="rId3"/>
          <a:stretch>
            <a:fillRect/>
          </a:stretch>
        </p:blipFill>
        <p:spPr>
          <a:xfrm>
            <a:off x="649224" y="1852895"/>
            <a:ext cx="5285232" cy="4158050"/>
          </a:xfrm>
          <a:prstGeom prst="rect">
            <a:avLst/>
          </a:prstGeom>
        </p:spPr>
      </p:pic>
      <p:sp>
        <p:nvSpPr>
          <p:cNvPr id="9" name="Shape 6"/>
          <p:cNvSpPr/>
          <p:nvPr/>
        </p:nvSpPr>
        <p:spPr>
          <a:xfrm>
            <a:off x="6263640" y="1371600"/>
            <a:ext cx="5422392" cy="228600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0" name="Text 7"/>
          <p:cNvSpPr/>
          <p:nvPr/>
        </p:nvSpPr>
        <p:spPr>
          <a:xfrm>
            <a:off x="6510528" y="1536192"/>
            <a:ext cx="493776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THE GAP</a:t>
            </a:r>
            <a:endParaRPr lang="en-US" sz="1200" dirty="0"/>
          </a:p>
        </p:txBody>
      </p:sp>
      <p:sp>
        <p:nvSpPr>
          <p:cNvPr id="11" name="Text 8"/>
          <p:cNvSpPr/>
          <p:nvPr/>
        </p:nvSpPr>
        <p:spPr>
          <a:xfrm>
            <a:off x="6510528" y="1965960"/>
            <a:ext cx="5029200" cy="822960"/>
          </a:xfrm>
          <a:prstGeom prst="rect">
            <a:avLst/>
          </a:prstGeom>
          <a:noFill/>
          <a:ln/>
          <a:effectLst/>
        </p:spPr>
        <p:txBody>
          <a:bodyPr wrap="square" lIns="0" tIns="0" rIns="0" bIns="0" rtlCol="0" anchor="ctr"/>
          <a:lstStyle/>
          <a:p>
            <a:pPr marL="0" indent="0">
              <a:buNone/>
            </a:pPr>
            <a:r>
              <a:rPr lang="en-US" sz="3400" b="1">
                <a:solidFill>
                  <a:srgbClr val="F5F7FA"/>
                </a:solidFill>
                <a:latin typeface="Trebuchet MS" pitchFamily="34" charset="0"/>
                <a:ea typeface="Trebuchet MS" pitchFamily="34" charset="-122"/>
                <a:cs typeface="Trebuchet MS" pitchFamily="34" charset="-120"/>
              </a:rPr>
              <a:t>24.6%</a:t>
            </a:r>
            <a:r>
              <a:rPr lang="en-US" sz="1400" dirty="0">
                <a:solidFill>
                  <a:srgbClr val="9AA7BD"/>
                </a:solidFill>
                <a:latin typeface="Calibri" pitchFamily="34" charset="0"/>
                <a:ea typeface="Calibri" pitchFamily="34" charset="-122"/>
                <a:cs typeface="Calibri" pitchFamily="34" charset="-120"/>
              </a:rPr>
              <a:t>  US-born</a:t>
            </a:r>
            <a:r>
              <a:rPr lang="en-US" sz="1300" dirty="0">
                <a:solidFill>
                  <a:srgbClr val="6E7C94"/>
                </a:solidFill>
                <a:latin typeface="Calibri" pitchFamily="34" charset="0"/>
                <a:ea typeface="Calibri" pitchFamily="34" charset="-122"/>
                <a:cs typeface="Calibri" pitchFamily="34" charset="-120"/>
              </a:rPr>
              <a:t>    vs    </a:t>
            </a:r>
            <a:r>
              <a:rPr lang="en-US" sz="3400" b="1">
                <a:solidFill>
                  <a:schemeClr val="bg1"/>
                </a:solidFill>
                <a:latin typeface="Trebuchet MS" pitchFamily="34" charset="0"/>
                <a:ea typeface="Trebuchet MS" pitchFamily="34" charset="-122"/>
                <a:cs typeface="Trebuchet MS" pitchFamily="34" charset="-120"/>
              </a:rPr>
              <a:t>18.7%</a:t>
            </a:r>
            <a:r>
              <a:rPr lang="en-US" sz="1400" dirty="0">
                <a:solidFill>
                  <a:srgbClr val="9AA7BD"/>
                </a:solidFill>
                <a:latin typeface="Calibri" pitchFamily="34" charset="0"/>
                <a:ea typeface="Calibri" pitchFamily="34" charset="-122"/>
                <a:cs typeface="Calibri" pitchFamily="34" charset="-120"/>
              </a:rPr>
              <a:t>  foreign-born</a:t>
            </a:r>
            <a:endParaRPr lang="en-US" sz="3400" dirty="0"/>
          </a:p>
        </p:txBody>
      </p:sp>
      <p:sp>
        <p:nvSpPr>
          <p:cNvPr id="12" name="Text 9"/>
          <p:cNvSpPr/>
          <p:nvPr/>
        </p:nvSpPr>
        <p:spPr>
          <a:xfrm>
            <a:off x="6510528" y="2880360"/>
            <a:ext cx="5029200" cy="640080"/>
          </a:xfrm>
          <a:prstGeom prst="rect">
            <a:avLst/>
          </a:prstGeom>
          <a:noFill/>
          <a:ln/>
        </p:spPr>
        <p:txBody>
          <a:bodyPr wrap="square" lIns="0" tIns="0" rIns="0" bIns="0" rtlCol="0" anchor="t"/>
          <a:lstStyle/>
          <a:p>
            <a:pPr marL="0" indent="0">
              <a:buNone/>
            </a:pPr>
            <a:r>
              <a:rPr lang="en-US" sz="1250" dirty="0">
                <a:solidFill>
                  <a:srgbClr val="9AA7BD"/>
                </a:solidFill>
                <a:latin typeface="Calibri" pitchFamily="34" charset="0"/>
                <a:ea typeface="Calibri" pitchFamily="34" charset="-122"/>
                <a:cs typeface="Calibri" pitchFamily="34" charset="-120"/>
              </a:rPr>
              <a:t>US-born people earn &gt;50K at a higher base rate. Unknown region sits near the US rate at 25.1%.</a:t>
            </a:r>
            <a:endParaRPr lang="en-US" sz="1250" dirty="0"/>
          </a:p>
        </p:txBody>
      </p:sp>
      <p:sp>
        <p:nvSpPr>
          <p:cNvPr id="13" name="Shape 10"/>
          <p:cNvSpPr/>
          <p:nvPr/>
        </p:nvSpPr>
        <p:spPr>
          <a:xfrm>
            <a:off x="6263640" y="3840480"/>
            <a:ext cx="5422392" cy="233172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4" name="Text 11"/>
          <p:cNvSpPr/>
          <p:nvPr/>
        </p:nvSpPr>
        <p:spPr>
          <a:xfrm>
            <a:off x="6510528" y="3986784"/>
            <a:ext cx="493776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WHY IT MATTERS</a:t>
            </a:r>
            <a:endParaRPr lang="en-US" sz="1200" dirty="0"/>
          </a:p>
        </p:txBody>
      </p:sp>
      <p:sp>
        <p:nvSpPr>
          <p:cNvPr id="15" name="Text 12"/>
          <p:cNvSpPr/>
          <p:nvPr/>
        </p:nvSpPr>
        <p:spPr>
          <a:xfrm>
            <a:off x="6510528" y="4370832"/>
            <a:ext cx="5029200" cy="17373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9AA7BD"/>
                </a:solidFill>
                <a:latin typeface="Calibri" pitchFamily="34" charset="0"/>
                <a:ea typeface="Calibri" pitchFamily="34" charset="-122"/>
                <a:cs typeface="Calibri" pitchFamily="34" charset="-120"/>
              </a:rPr>
              <a:t>If a model just learns this gap, it misses real foreign-born high earners: a higher false-negative rate  (results in a lower recall, for that group)</a:t>
            </a:r>
            <a:endParaRPr lang="en-US" sz="1200" dirty="0"/>
          </a:p>
          <a:p>
            <a:pPr marL="177800" indent="-177800">
              <a:spcAft>
                <a:spcPts val="600"/>
              </a:spcAft>
              <a:buSzPct val="100000"/>
              <a:buChar char="•"/>
            </a:pPr>
            <a:r>
              <a:rPr lang="en-US" sz="1200" dirty="0">
                <a:solidFill>
                  <a:srgbClr val="9AA7BD"/>
                </a:solidFill>
                <a:latin typeface="Calibri" pitchFamily="34" charset="0"/>
                <a:ea typeface="Calibri" pitchFamily="34" charset="-122"/>
                <a:cs typeface="Calibri" pitchFamily="34" charset="-120"/>
              </a:rPr>
              <a:t>That per-group recall gap is exactly what the fairness audit measures, and Hypothesis 2 predicts XGBoost has the smallest one.</a:t>
            </a:r>
            <a:endParaRPr lang="en-US" sz="1200" dirty="0"/>
          </a:p>
          <a:p>
            <a:pPr marL="177800" indent="-177800">
              <a:spcAft>
                <a:spcPts val="600"/>
              </a:spcAft>
              <a:buSzPct val="100000"/>
              <a:buChar char="•"/>
            </a:pPr>
            <a:r>
              <a:rPr lang="en-US" sz="1200" dirty="0">
                <a:solidFill>
                  <a:srgbClr val="9AA7BD"/>
                </a:solidFill>
                <a:latin typeface="Calibri" pitchFamily="34" charset="0"/>
                <a:ea typeface="Calibri" pitchFamily="34" charset="-122"/>
                <a:cs typeface="Calibri" pitchFamily="34" charset="-120"/>
              </a:rPr>
              <a:t>Splitting by sex shows men are higher in both groups, so the audit checks sex and race alongside nativity, not just nativity alone.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000" b="1">
                <a:solidFill>
                  <a:srgbClr val="E8C15A"/>
                </a:solidFill>
                <a:latin typeface="Trebuchet MS" pitchFamily="34" charset="0"/>
                <a:ea typeface="Trebuchet MS" pitchFamily="34" charset="-122"/>
                <a:cs typeface="Trebuchet MS" pitchFamily="34" charset="-120"/>
              </a:rPr>
              <a:t>H3</a:t>
            </a:r>
            <a:endParaRPr lang="en-US" sz="20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Patterns the flexible models can exploit</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Non-linearity, thresholds, and interactions favor trees and networks</a:t>
            </a:r>
            <a:endParaRPr lang="en-US" sz="1250" dirty="0"/>
          </a:p>
        </p:txBody>
      </p:sp>
      <p:sp>
        <p:nvSpPr>
          <p:cNvPr id="6" name="Text 4"/>
          <p:cNvSpPr/>
          <p:nvPr/>
        </p:nvSpPr>
        <p:spPr>
          <a:xfrm>
            <a:off x="548640" y="1371600"/>
            <a:ext cx="3611880" cy="274320"/>
          </a:xfrm>
          <a:prstGeom prst="rect">
            <a:avLst/>
          </a:prstGeom>
          <a:noFill/>
          <a:ln/>
        </p:spPr>
        <p:txBody>
          <a:bodyPr wrap="square" lIns="0" tIns="0" rIns="0" bIns="0" rtlCol="0" anchor="ctr"/>
          <a:lstStyle/>
          <a:p>
            <a:pPr marL="0" indent="0" algn="ctr">
              <a:buNone/>
            </a:pPr>
            <a:r>
              <a:rPr lang="en-US" sz="1100" b="1" kern="0" spc="100" dirty="0">
                <a:solidFill>
                  <a:srgbClr val="9AA7BD"/>
                </a:solidFill>
                <a:latin typeface="Calibri" pitchFamily="34" charset="0"/>
                <a:ea typeface="Calibri" pitchFamily="34" charset="-122"/>
                <a:cs typeface="Calibri" pitchFamily="34" charset="-120"/>
              </a:rPr>
              <a:t>AGE: A CURVE, NOT A LINE</a:t>
            </a:r>
            <a:endParaRPr lang="en-US" sz="1100" dirty="0"/>
          </a:p>
        </p:txBody>
      </p:sp>
      <p:sp>
        <p:nvSpPr>
          <p:cNvPr id="7" name="Shape 5"/>
          <p:cNvSpPr/>
          <p:nvPr/>
        </p:nvSpPr>
        <p:spPr>
          <a:xfrm>
            <a:off x="502920" y="1691640"/>
            <a:ext cx="3703320" cy="30632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71_0.png"/>
          <p:cNvPicPr>
            <a:picLocks noChangeAspect="1"/>
          </p:cNvPicPr>
          <p:nvPr/>
        </p:nvPicPr>
        <p:blipFill>
          <a:blip r:embed="rId3"/>
          <a:stretch>
            <a:fillRect/>
          </a:stretch>
        </p:blipFill>
        <p:spPr>
          <a:xfrm>
            <a:off x="649224" y="1860070"/>
            <a:ext cx="3410712" cy="2726380"/>
          </a:xfrm>
          <a:prstGeom prst="rect">
            <a:avLst/>
          </a:prstGeom>
        </p:spPr>
      </p:pic>
      <p:sp>
        <p:nvSpPr>
          <p:cNvPr id="9" name="Text 6"/>
          <p:cNvSpPr/>
          <p:nvPr/>
        </p:nvSpPr>
        <p:spPr>
          <a:xfrm>
            <a:off x="4389120" y="1371600"/>
            <a:ext cx="3611880" cy="274320"/>
          </a:xfrm>
          <a:prstGeom prst="rect">
            <a:avLst/>
          </a:prstGeom>
          <a:noFill/>
          <a:ln/>
        </p:spPr>
        <p:txBody>
          <a:bodyPr wrap="square" lIns="0" tIns="0" rIns="0" bIns="0" rtlCol="0" anchor="ctr"/>
          <a:lstStyle/>
          <a:p>
            <a:pPr marL="0" indent="0" algn="ctr">
              <a:buNone/>
            </a:pPr>
            <a:r>
              <a:rPr lang="en-US" sz="1100" b="1" kern="0" spc="100" dirty="0">
                <a:solidFill>
                  <a:srgbClr val="9AA7BD"/>
                </a:solidFill>
                <a:latin typeface="Calibri" pitchFamily="34" charset="0"/>
                <a:ea typeface="Calibri" pitchFamily="34" charset="-122"/>
                <a:cs typeface="Calibri" pitchFamily="34" charset="-120"/>
              </a:rPr>
              <a:t>CAPITAL GAIN: A THRESHOLD</a:t>
            </a:r>
            <a:endParaRPr lang="en-US" sz="1100" dirty="0"/>
          </a:p>
        </p:txBody>
      </p:sp>
      <p:sp>
        <p:nvSpPr>
          <p:cNvPr id="10" name="Shape 7"/>
          <p:cNvSpPr/>
          <p:nvPr/>
        </p:nvSpPr>
        <p:spPr>
          <a:xfrm>
            <a:off x="4343400" y="1691640"/>
            <a:ext cx="3703320" cy="30632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1" name="Image 1" descr="/home/claude/imgs/cell72_0.png"/>
          <p:cNvPicPr>
            <a:picLocks noChangeAspect="1"/>
          </p:cNvPicPr>
          <p:nvPr/>
        </p:nvPicPr>
        <p:blipFill>
          <a:blip r:embed="rId4"/>
          <a:stretch>
            <a:fillRect/>
          </a:stretch>
        </p:blipFill>
        <p:spPr>
          <a:xfrm>
            <a:off x="4489704" y="1860070"/>
            <a:ext cx="3410712" cy="2726380"/>
          </a:xfrm>
          <a:prstGeom prst="rect">
            <a:avLst/>
          </a:prstGeom>
        </p:spPr>
      </p:pic>
      <p:sp>
        <p:nvSpPr>
          <p:cNvPr id="12" name="Text 8"/>
          <p:cNvSpPr/>
          <p:nvPr/>
        </p:nvSpPr>
        <p:spPr>
          <a:xfrm>
            <a:off x="8229600" y="1371600"/>
            <a:ext cx="3410712" cy="274320"/>
          </a:xfrm>
          <a:prstGeom prst="rect">
            <a:avLst/>
          </a:prstGeom>
          <a:noFill/>
          <a:ln/>
        </p:spPr>
        <p:txBody>
          <a:bodyPr wrap="square" lIns="0" tIns="0" rIns="0" bIns="0" rtlCol="0" anchor="ctr"/>
          <a:lstStyle/>
          <a:p>
            <a:pPr marL="0" indent="0" algn="ctr">
              <a:buNone/>
            </a:pPr>
            <a:r>
              <a:rPr lang="en-US" sz="1100" b="1" kern="0" spc="100" dirty="0">
                <a:solidFill>
                  <a:srgbClr val="9AA7BD"/>
                </a:solidFill>
                <a:latin typeface="Calibri" pitchFamily="34" charset="0"/>
                <a:ea typeface="Calibri" pitchFamily="34" charset="-122"/>
                <a:cs typeface="Calibri" pitchFamily="34" charset="-120"/>
              </a:rPr>
              <a:t>INTERACTION CHECK</a:t>
            </a:r>
            <a:endParaRPr lang="en-US" sz="1100" dirty="0"/>
          </a:p>
        </p:txBody>
      </p:sp>
      <p:sp>
        <p:nvSpPr>
          <p:cNvPr id="13" name="Shape 9"/>
          <p:cNvSpPr/>
          <p:nvPr/>
        </p:nvSpPr>
        <p:spPr>
          <a:xfrm>
            <a:off x="8183880" y="1691640"/>
            <a:ext cx="3502152" cy="30632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4" name="Image 2" descr="/home/claude/imgs/cell73_0.png"/>
          <p:cNvPicPr>
            <a:picLocks noChangeAspect="1"/>
          </p:cNvPicPr>
          <p:nvPr/>
        </p:nvPicPr>
        <p:blipFill>
          <a:blip r:embed="rId5"/>
          <a:stretch>
            <a:fillRect/>
          </a:stretch>
        </p:blipFill>
        <p:spPr>
          <a:xfrm>
            <a:off x="8330184" y="2304532"/>
            <a:ext cx="3209544" cy="1837456"/>
          </a:xfrm>
          <a:prstGeom prst="rect">
            <a:avLst/>
          </a:prstGeom>
        </p:spPr>
      </p:pic>
      <p:sp>
        <p:nvSpPr>
          <p:cNvPr id="15" name="Shape 10"/>
          <p:cNvSpPr/>
          <p:nvPr/>
        </p:nvSpPr>
        <p:spPr>
          <a:xfrm>
            <a:off x="502920" y="4937760"/>
            <a:ext cx="11183112" cy="137160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6" name="Text 11"/>
          <p:cNvSpPr/>
          <p:nvPr/>
        </p:nvSpPr>
        <p:spPr>
          <a:xfrm>
            <a:off x="822960" y="5084064"/>
            <a:ext cx="3429000" cy="320040"/>
          </a:xfrm>
          <a:prstGeom prst="rect">
            <a:avLst/>
          </a:prstGeom>
          <a:noFill/>
          <a:ln/>
          <a:effectLst/>
        </p:spPr>
        <p:txBody>
          <a:bodyPr wrap="square" lIns="0" tIns="0" rIns="0" bIns="0" rtlCol="0" anchor="ctr"/>
          <a:lstStyle/>
          <a:p>
            <a:pPr marL="0" indent="0">
              <a:buNone/>
            </a:pPr>
            <a:r>
              <a:rPr lang="en-US" sz="1400" b="1">
                <a:solidFill>
                  <a:srgbClr val="E8C15A"/>
                </a:solidFill>
                <a:latin typeface="Trebuchet MS" pitchFamily="34" charset="0"/>
                <a:ea typeface="Trebuchet MS" pitchFamily="34" charset="-122"/>
                <a:cs typeface="Trebuchet MS" pitchFamily="34" charset="-120"/>
              </a:rPr>
              <a:t>Non-linear</a:t>
            </a:r>
            <a:endParaRPr lang="en-US" sz="1400" dirty="0"/>
          </a:p>
        </p:txBody>
      </p:sp>
      <p:sp>
        <p:nvSpPr>
          <p:cNvPr id="17" name="Text 12"/>
          <p:cNvSpPr/>
          <p:nvPr/>
        </p:nvSpPr>
        <p:spPr>
          <a:xfrm>
            <a:off x="822960" y="5413248"/>
            <a:ext cx="3474720" cy="822960"/>
          </a:xfrm>
          <a:prstGeom prst="rect">
            <a:avLst/>
          </a:prstGeom>
          <a:noFill/>
          <a:ln/>
        </p:spPr>
        <p:txBody>
          <a:bodyPr wrap="square" lIns="0" tIns="0" rIns="0" bIns="0" rtlCol="0" anchor="t"/>
          <a:lstStyle/>
          <a:p>
            <a:pPr marL="0" indent="0">
              <a:buNone/>
            </a:pPr>
            <a:r>
              <a:rPr lang="en-US" sz="1150" dirty="0">
                <a:solidFill>
                  <a:srgbClr val="9AA7BD"/>
                </a:solidFill>
                <a:latin typeface="Calibri" pitchFamily="34" charset="0"/>
                <a:ea typeface="Calibri" pitchFamily="34" charset="-122"/>
                <a:cs typeface="Calibri" pitchFamily="34" charset="-120"/>
              </a:rPr>
              <a:t>The &gt;50K rate rises then falls with age. A linear model reads age as one straight effect; a tree or net captures the bend.</a:t>
            </a:r>
            <a:endParaRPr lang="en-US" sz="1150" dirty="0"/>
          </a:p>
        </p:txBody>
      </p:sp>
      <p:sp>
        <p:nvSpPr>
          <p:cNvPr id="18" name="Shape 13"/>
          <p:cNvSpPr/>
          <p:nvPr/>
        </p:nvSpPr>
        <p:spPr>
          <a:xfrm>
            <a:off x="4389120" y="5084064"/>
            <a:ext cx="0" cy="960120"/>
          </a:xfrm>
          <a:prstGeom prst="line">
            <a:avLst/>
          </a:prstGeom>
          <a:noFill/>
          <a:ln w="12700">
            <a:solidFill>
              <a:srgbClr val="3A3F4A"/>
            </a:solidFill>
            <a:prstDash val="solid"/>
          </a:ln>
        </p:spPr>
        <p:txBody>
          <a:bodyPr/>
          <a:lstStyle/>
          <a:p>
            <a:endParaRPr lang="en-US"/>
          </a:p>
        </p:txBody>
      </p:sp>
      <p:sp>
        <p:nvSpPr>
          <p:cNvPr id="19" name="Text 14"/>
          <p:cNvSpPr/>
          <p:nvPr/>
        </p:nvSpPr>
        <p:spPr>
          <a:xfrm>
            <a:off x="4535424" y="5084064"/>
            <a:ext cx="3429000" cy="320040"/>
          </a:xfrm>
          <a:prstGeom prst="rect">
            <a:avLst/>
          </a:prstGeom>
          <a:noFill/>
          <a:ln/>
          <a:effectLst/>
        </p:spPr>
        <p:txBody>
          <a:bodyPr wrap="square" lIns="0" tIns="0" rIns="0" bIns="0" rtlCol="0" anchor="ctr"/>
          <a:lstStyle/>
          <a:p>
            <a:pPr marL="0" indent="0">
              <a:buNone/>
            </a:pPr>
            <a:r>
              <a:rPr lang="en-US" sz="1400" b="1">
                <a:solidFill>
                  <a:srgbClr val="E8C15A"/>
                </a:solidFill>
                <a:latin typeface="Trebuchet MS" pitchFamily="34" charset="0"/>
                <a:ea typeface="Trebuchet MS" pitchFamily="34" charset="-122"/>
                <a:cs typeface="Trebuchet MS" pitchFamily="34" charset="-120"/>
              </a:rPr>
              <a:t>Threshold</a:t>
            </a:r>
            <a:endParaRPr lang="en-US" sz="1400" dirty="0"/>
          </a:p>
        </p:txBody>
      </p:sp>
      <p:sp>
        <p:nvSpPr>
          <p:cNvPr id="20" name="Text 15"/>
          <p:cNvSpPr/>
          <p:nvPr/>
        </p:nvSpPr>
        <p:spPr>
          <a:xfrm>
            <a:off x="4535424" y="5413248"/>
            <a:ext cx="3474720" cy="822960"/>
          </a:xfrm>
          <a:prstGeom prst="rect">
            <a:avLst/>
          </a:prstGeom>
          <a:noFill/>
          <a:ln/>
        </p:spPr>
        <p:txBody>
          <a:bodyPr wrap="square" lIns="0" tIns="0" rIns="0" bIns="0" rtlCol="0" anchor="t"/>
          <a:lstStyle/>
          <a:p>
            <a:pPr marL="0" indent="0">
              <a:buNone/>
            </a:pPr>
            <a:r>
              <a:rPr lang="en-US" sz="1150" dirty="0">
                <a:solidFill>
                  <a:srgbClr val="9AA7BD"/>
                </a:solidFill>
                <a:latin typeface="Calibri" pitchFamily="34" charset="0"/>
                <a:ea typeface="Calibri" pitchFamily="34" charset="-122"/>
                <a:cs typeface="Calibri" pitchFamily="34" charset="-120"/>
              </a:rPr>
              <a:t>Any capital gain flips the &gt;$50k rate from low to high as an association, a sharp cutoff that tree model splits handle naturally.</a:t>
            </a:r>
            <a:endParaRPr lang="en-US" sz="1150" dirty="0"/>
          </a:p>
        </p:txBody>
      </p:sp>
      <p:sp>
        <p:nvSpPr>
          <p:cNvPr id="21" name="Shape 16"/>
          <p:cNvSpPr/>
          <p:nvPr/>
        </p:nvSpPr>
        <p:spPr>
          <a:xfrm>
            <a:off x="8101584" y="5084064"/>
            <a:ext cx="0" cy="960120"/>
          </a:xfrm>
          <a:prstGeom prst="line">
            <a:avLst/>
          </a:prstGeom>
          <a:noFill/>
          <a:ln w="12700">
            <a:solidFill>
              <a:srgbClr val="3A3F4A"/>
            </a:solidFill>
            <a:prstDash val="solid"/>
          </a:ln>
        </p:spPr>
        <p:txBody>
          <a:bodyPr/>
          <a:lstStyle/>
          <a:p>
            <a:endParaRPr lang="en-US"/>
          </a:p>
        </p:txBody>
      </p:sp>
      <p:sp>
        <p:nvSpPr>
          <p:cNvPr id="22" name="Text 17"/>
          <p:cNvSpPr/>
          <p:nvPr/>
        </p:nvSpPr>
        <p:spPr>
          <a:xfrm>
            <a:off x="8247888" y="5084064"/>
            <a:ext cx="3429000" cy="320040"/>
          </a:xfrm>
          <a:prstGeom prst="rect">
            <a:avLst/>
          </a:prstGeom>
          <a:noFill/>
          <a:ln/>
          <a:effectLst/>
        </p:spPr>
        <p:txBody>
          <a:bodyPr wrap="square" lIns="0" tIns="0" rIns="0" bIns="0" rtlCol="0" anchor="ctr"/>
          <a:lstStyle/>
          <a:p>
            <a:pPr marL="0" indent="0">
              <a:buNone/>
            </a:pPr>
            <a:r>
              <a:rPr lang="en-US" sz="1400" b="1">
                <a:solidFill>
                  <a:srgbClr val="E8C15A"/>
                </a:solidFill>
                <a:latin typeface="Trebuchet MS" pitchFamily="34" charset="0"/>
                <a:ea typeface="Trebuchet MS" pitchFamily="34" charset="-122"/>
                <a:cs typeface="Trebuchet MS" pitchFamily="34" charset="-120"/>
              </a:rPr>
              <a:t>Interaction</a:t>
            </a:r>
            <a:endParaRPr lang="en-US" sz="1400" dirty="0"/>
          </a:p>
        </p:txBody>
      </p:sp>
      <p:sp>
        <p:nvSpPr>
          <p:cNvPr id="23" name="Text 18"/>
          <p:cNvSpPr/>
          <p:nvPr/>
        </p:nvSpPr>
        <p:spPr>
          <a:xfrm>
            <a:off x="8247888" y="5413248"/>
            <a:ext cx="3474720" cy="822960"/>
          </a:xfrm>
          <a:prstGeom prst="rect">
            <a:avLst/>
          </a:prstGeom>
          <a:noFill/>
          <a:ln/>
        </p:spPr>
        <p:txBody>
          <a:bodyPr wrap="square" lIns="0" tIns="0" rIns="0" bIns="0" rtlCol="0" anchor="t"/>
          <a:lstStyle/>
          <a:p>
            <a:r>
              <a:rPr lang="en-US" sz="1200" dirty="0"/>
              <a:t>.</a:t>
            </a:r>
            <a:r>
              <a:rPr lang="en-US" sz="1150" dirty="0">
                <a:solidFill>
                  <a:srgbClr val="9AA7BD"/>
                </a:solidFill>
                <a:latin typeface="Calibri" pitchFamily="34" charset="0"/>
                <a:ea typeface="Calibri" pitchFamily="34" charset="-122"/>
                <a:cs typeface="Calibri" pitchFamily="34" charset="-120"/>
              </a:rPr>
              <a:t>High pay rates show up where high education and being married occur together, not from either alone. </a:t>
            </a:r>
            <a:r>
              <a:rPr lang="en-US" sz="1150" dirty="0" err="1">
                <a:solidFill>
                  <a:srgbClr val="9AA7BD"/>
                </a:solidFill>
                <a:latin typeface="Calibri" pitchFamily="34" charset="0"/>
                <a:ea typeface="Calibri" pitchFamily="34" charset="-122"/>
                <a:cs typeface="Calibri" pitchFamily="34" charset="-120"/>
              </a:rPr>
              <a:t>XGBoost</a:t>
            </a:r>
            <a:r>
              <a:rPr lang="en-US" sz="1150" dirty="0">
                <a:solidFill>
                  <a:srgbClr val="9AA7BD"/>
                </a:solidFill>
                <a:latin typeface="Calibri" pitchFamily="34" charset="0"/>
                <a:ea typeface="Calibri" pitchFamily="34" charset="-122"/>
                <a:cs typeface="Calibri" pitchFamily="34" charset="-120"/>
              </a:rPr>
              <a:t> and MLP can pick up on those kinds of combined patterns. </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81D"/>
        </a:solidFill>
        <a:effectLst/>
      </p:bgPr>
    </p:bg>
    <p:spTree>
      <p:nvGrpSpPr>
        <p:cNvPr id="1" name=""/>
        <p:cNvGrpSpPr/>
        <p:nvPr/>
      </p:nvGrpSpPr>
      <p:grpSpPr>
        <a:xfrm>
          <a:off x="0" y="0"/>
          <a:ext cx="0" cy="0"/>
          <a:chOff x="0" y="0"/>
          <a:chExt cx="0" cy="0"/>
        </a:xfrm>
      </p:grpSpPr>
      <p:sp>
        <p:nvSpPr>
          <p:cNvPr id="4" name="Text 2"/>
          <p:cNvSpPr/>
          <p:nvPr/>
        </p:nvSpPr>
        <p:spPr>
          <a:xfrm>
            <a:off x="640080" y="566928"/>
            <a:ext cx="10972800" cy="640080"/>
          </a:xfrm>
          <a:prstGeom prst="rect">
            <a:avLst/>
          </a:prstGeom>
          <a:noFill/>
          <a:ln/>
          <a:effectLst/>
        </p:spPr>
        <p:txBody>
          <a:bodyPr wrap="square" lIns="0" tIns="0" rIns="0" bIns="0" rtlCol="0" anchor="ctr"/>
          <a:lstStyle/>
          <a:p>
            <a:pPr marL="0" indent="0">
              <a:buNone/>
            </a:pPr>
            <a:r>
              <a:rPr lang="en-US" sz="3200" b="1">
                <a:solidFill>
                  <a:srgbClr val="F5F7FA"/>
                </a:solidFill>
                <a:latin typeface="Trebuchet MS" pitchFamily="34" charset="0"/>
                <a:ea typeface="Trebuchet MS" pitchFamily="34" charset="-122"/>
                <a:cs typeface="Trebuchet MS" pitchFamily="34" charset="-120"/>
              </a:rPr>
              <a:t>Where the EDA leaves each hypothesis</a:t>
            </a:r>
            <a:endParaRPr lang="en-US" sz="3200" dirty="0"/>
          </a:p>
        </p:txBody>
      </p:sp>
      <p:sp>
        <p:nvSpPr>
          <p:cNvPr id="5" name="Shape 3"/>
          <p:cNvSpPr/>
          <p:nvPr/>
        </p:nvSpPr>
        <p:spPr>
          <a:xfrm>
            <a:off x="667512" y="1298448"/>
            <a:ext cx="2743200" cy="0"/>
          </a:xfrm>
          <a:prstGeom prst="line">
            <a:avLst/>
          </a:prstGeom>
          <a:noFill/>
          <a:ln w="25400">
            <a:solidFill>
              <a:srgbClr val="6AA0FF"/>
            </a:solidFill>
            <a:prstDash val="solid"/>
          </a:ln>
          <a:effectLst/>
        </p:spPr>
        <p:txBody>
          <a:bodyPr/>
          <a:lstStyle/>
          <a:p>
            <a:endParaRPr lang="en-US"/>
          </a:p>
        </p:txBody>
      </p:sp>
      <p:sp>
        <p:nvSpPr>
          <p:cNvPr id="6" name="Shape 4"/>
          <p:cNvSpPr/>
          <p:nvPr/>
        </p:nvSpPr>
        <p:spPr>
          <a:xfrm>
            <a:off x="640080" y="1627632"/>
            <a:ext cx="896112" cy="896112"/>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7" name="Text 5"/>
          <p:cNvSpPr/>
          <p:nvPr/>
        </p:nvSpPr>
        <p:spPr>
          <a:xfrm>
            <a:off x="640080" y="1627632"/>
            <a:ext cx="896112" cy="896112"/>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H1</a:t>
            </a:r>
            <a:endParaRPr lang="en-US" sz="2400" dirty="0"/>
          </a:p>
        </p:txBody>
      </p:sp>
      <p:sp>
        <p:nvSpPr>
          <p:cNvPr id="8" name="Text 6"/>
          <p:cNvSpPr/>
          <p:nvPr/>
        </p:nvSpPr>
        <p:spPr>
          <a:xfrm>
            <a:off x="1719072" y="1609344"/>
            <a:ext cx="7589520" cy="932688"/>
          </a:xfrm>
          <a:prstGeom prst="rect">
            <a:avLst/>
          </a:prstGeom>
          <a:noFill/>
          <a:ln/>
        </p:spPr>
        <p:txBody>
          <a:bodyPr wrap="square" lIns="0" tIns="0" rIns="0" bIns="0" rtlCol="0" anchor="ctr"/>
          <a:lstStyle/>
          <a:p>
            <a:pPr marL="0" indent="0">
              <a:buNone/>
            </a:pPr>
            <a:r>
              <a:rPr lang="en-US" sz="1350" dirty="0">
                <a:solidFill>
                  <a:srgbClr val="9AA7BD"/>
                </a:solidFill>
                <a:latin typeface="Calibri" pitchFamily="34" charset="0"/>
                <a:ea typeface="Calibri" pitchFamily="34" charset="-122"/>
                <a:cs typeface="Calibri" pitchFamily="34" charset="-120"/>
              </a:rPr>
              <a:t>Education spreads the &gt;50K rate wider and cleaner than hours. Early hints suggest that education is the stronger driver, but I will confirm this with feature importance.</a:t>
            </a:r>
            <a:endParaRPr lang="en-US" sz="1350" dirty="0"/>
          </a:p>
        </p:txBody>
      </p:sp>
      <p:sp>
        <p:nvSpPr>
          <p:cNvPr id="9" name="Shape 7"/>
          <p:cNvSpPr/>
          <p:nvPr/>
        </p:nvSpPr>
        <p:spPr>
          <a:xfrm>
            <a:off x="640080" y="2688336"/>
            <a:ext cx="896112" cy="896112"/>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0" name="Text 8"/>
          <p:cNvSpPr/>
          <p:nvPr/>
        </p:nvSpPr>
        <p:spPr>
          <a:xfrm>
            <a:off x="640080" y="2688336"/>
            <a:ext cx="896112" cy="896112"/>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H2</a:t>
            </a:r>
            <a:endParaRPr lang="en-US" sz="2400" dirty="0"/>
          </a:p>
        </p:txBody>
      </p:sp>
      <p:sp>
        <p:nvSpPr>
          <p:cNvPr id="11" name="Text 9"/>
          <p:cNvSpPr/>
          <p:nvPr/>
        </p:nvSpPr>
        <p:spPr>
          <a:xfrm>
            <a:off x="1719072" y="2670048"/>
            <a:ext cx="7589520" cy="932688"/>
          </a:xfrm>
          <a:prstGeom prst="rect">
            <a:avLst/>
          </a:prstGeom>
          <a:noFill/>
          <a:ln/>
        </p:spPr>
        <p:txBody>
          <a:bodyPr wrap="square" lIns="0" tIns="0" rIns="0" bIns="0" rtlCol="0" anchor="ctr"/>
          <a:lstStyle/>
          <a:p>
            <a:pPr marL="0" indent="0">
              <a:buNone/>
            </a:pPr>
            <a:r>
              <a:rPr lang="en-US" sz="1350" dirty="0">
                <a:solidFill>
                  <a:srgbClr val="9AA7BD"/>
                </a:solidFill>
                <a:latin typeface="Calibri" pitchFamily="34" charset="0"/>
                <a:ea typeface="Calibri" pitchFamily="34" charset="-122"/>
                <a:cs typeface="Calibri" pitchFamily="34" charset="-120"/>
              </a:rPr>
              <a:t>A real US-born vs foreign-born base-rate gap that holds up alongside sex. This is the recall gap the fairness audit will measure per model.</a:t>
            </a:r>
            <a:endParaRPr lang="en-US" sz="1350" dirty="0"/>
          </a:p>
        </p:txBody>
      </p:sp>
      <p:sp>
        <p:nvSpPr>
          <p:cNvPr id="12" name="Shape 10"/>
          <p:cNvSpPr/>
          <p:nvPr/>
        </p:nvSpPr>
        <p:spPr>
          <a:xfrm>
            <a:off x="640080" y="3749040"/>
            <a:ext cx="896112" cy="896112"/>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3" name="Text 11"/>
          <p:cNvSpPr/>
          <p:nvPr/>
        </p:nvSpPr>
        <p:spPr>
          <a:xfrm>
            <a:off x="640080" y="3749040"/>
            <a:ext cx="896112" cy="896112"/>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H3</a:t>
            </a:r>
            <a:endParaRPr lang="en-US" sz="2400" dirty="0"/>
          </a:p>
        </p:txBody>
      </p:sp>
      <p:sp>
        <p:nvSpPr>
          <p:cNvPr id="14" name="Text 12"/>
          <p:cNvSpPr/>
          <p:nvPr/>
        </p:nvSpPr>
        <p:spPr>
          <a:xfrm>
            <a:off x="1719072" y="3730752"/>
            <a:ext cx="7589520" cy="932688"/>
          </a:xfrm>
          <a:prstGeom prst="rect">
            <a:avLst/>
          </a:prstGeom>
          <a:noFill/>
          <a:ln/>
        </p:spPr>
        <p:txBody>
          <a:bodyPr wrap="square" lIns="0" tIns="0" rIns="0" bIns="0" rtlCol="0" anchor="ctr"/>
          <a:lstStyle/>
          <a:p>
            <a:pPr marL="0" indent="0">
              <a:buNone/>
            </a:pPr>
            <a:r>
              <a:rPr lang="en-US" sz="1350" dirty="0">
                <a:solidFill>
                  <a:srgbClr val="9AA7BD"/>
                </a:solidFill>
                <a:latin typeface="Calibri" pitchFamily="34" charset="0"/>
                <a:ea typeface="Calibri" pitchFamily="34" charset="-122"/>
                <a:cs typeface="Calibri" pitchFamily="34" charset="-120"/>
              </a:rPr>
              <a:t>Non-linear (age), threshold (capital gain), and interaction (education × marital status) patterns are present, consistent with expecting XGBoost to classify best.</a:t>
            </a:r>
            <a:endParaRPr lang="en-US" sz="1350" dirty="0"/>
          </a:p>
        </p:txBody>
      </p:sp>
      <p:sp>
        <p:nvSpPr>
          <p:cNvPr id="15" name="Text 13"/>
          <p:cNvSpPr/>
          <p:nvPr/>
        </p:nvSpPr>
        <p:spPr>
          <a:xfrm>
            <a:off x="640080" y="4919472"/>
            <a:ext cx="8503920" cy="731520"/>
          </a:xfrm>
          <a:prstGeom prst="rect">
            <a:avLst/>
          </a:prstGeom>
          <a:noFill/>
          <a:ln/>
        </p:spPr>
        <p:txBody>
          <a:bodyPr wrap="square" lIns="0" tIns="0" rIns="0" bIns="0" rtlCol="0" anchor="t"/>
          <a:lstStyle/>
          <a:p>
            <a:r>
              <a:rPr lang="en-US" sz="1250" i="1" dirty="0">
                <a:solidFill>
                  <a:srgbClr val="6E7C94"/>
                </a:solidFill>
                <a:latin typeface="Calibri" pitchFamily="34" charset="0"/>
                <a:ea typeface="Calibri" pitchFamily="34" charset="-122"/>
                <a:cs typeface="Calibri" pitchFamily="34" charset="-120"/>
              </a:rPr>
              <a:t>*No single feature cleanly separates the two income groups, so these are early hints rather than actual proof. But nothing in the EDA cuts against these three hypotheses either.  </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2712567" y="45720"/>
            <a:ext cx="6766560" cy="6766560"/>
          </a:xfrm>
          <a:prstGeom prst="ellipse">
            <a:avLst/>
          </a:prstGeom>
          <a:noFill/>
          <a:ln w="15240">
            <a:solidFill>
              <a:srgbClr val="E8C15A">
                <a:alpha val="20000"/>
              </a:srgbClr>
            </a:solidFill>
          </a:ln>
          <a:effectLst>
            <a:glow rad="203200">
              <a:srgbClr val="E8C15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66960" y="-1280160"/>
            <a:ext cx="3657600" cy="3657600"/>
          </a:xfrm>
          <a:prstGeom prst="ellipse">
            <a:avLst/>
          </a:prstGeom>
          <a:noFill/>
          <a:ln w="12700">
            <a:solidFill>
              <a:srgbClr val="6AA0FF">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5" y="2563053"/>
            <a:ext cx="12191695" cy="1097280"/>
          </a:xfrm>
          <a:prstGeom prst="rect">
            <a:avLst/>
          </a:prstGeom>
          <a:noFill/>
        </p:spPr>
        <p:txBody>
          <a:bodyPr wrap="square" lIns="0" tIns="0" rIns="0" bIns="0" anchor="ctr">
            <a:spAutoFit/>
          </a:bodyPr>
          <a:lstStyle/>
          <a:p>
            <a:pPr algn="ctr"/>
            <a:r>
              <a:rPr sz="5800" b="1" i="0" dirty="0">
                <a:solidFill>
                  <a:srgbClr val="F5F7FA"/>
                </a:solidFill>
                <a:latin typeface="Cambria"/>
              </a:rPr>
              <a:t>Thank you</a:t>
            </a:r>
          </a:p>
        </p:txBody>
      </p:sp>
      <p:sp>
        <p:nvSpPr>
          <p:cNvPr id="10" name="TextBox 9"/>
          <p:cNvSpPr txBox="1"/>
          <p:nvPr/>
        </p:nvSpPr>
        <p:spPr>
          <a:xfrm>
            <a:off x="-610" y="3760470"/>
            <a:ext cx="12191695" cy="640080"/>
          </a:xfrm>
          <a:prstGeom prst="rect">
            <a:avLst/>
          </a:prstGeom>
          <a:noFill/>
        </p:spPr>
        <p:txBody>
          <a:bodyPr wrap="square" lIns="0" tIns="0" rIns="0" bIns="0" anchor="ctr">
            <a:spAutoFit/>
          </a:bodyPr>
          <a:lstStyle/>
          <a:p>
            <a:pPr algn="ctr"/>
            <a:r>
              <a:rPr sz="3000" b="0" i="0" dirty="0">
                <a:solidFill>
                  <a:srgbClr val="E8C15A"/>
                </a:solidFill>
                <a:latin typeface="Cambria"/>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302</TotalTime>
  <Words>2806</Words>
  <Application>Microsoft Office PowerPoint</Application>
  <PresentationFormat>Widescreen</PresentationFormat>
  <Paragraphs>234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Erik Herb</cp:lastModifiedBy>
  <cp:revision>3</cp:revision>
  <dcterms:created xsi:type="dcterms:W3CDTF">2026-07-13T18:07:21Z</dcterms:created>
  <dcterms:modified xsi:type="dcterms:W3CDTF">2026-07-13T23:40:14Z</dcterms:modified>
</cp:coreProperties>
</file>