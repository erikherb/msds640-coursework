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4" r:id="rId17"/>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8C275D-B6E5-4529-B653-9B69BD724A8D}" v="2" dt="2026-07-06T19:15:34.3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 Id="rId17"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k Herb" userId="0f28f5b0af101864" providerId="LiveId" clId="{B89B4A7F-E6AC-4820-B61E-1E3BA66D7C70}"/>
    <pc:docChg chg="addSld delSld modSld">
      <pc:chgData name="Erik Herb" userId="0f28f5b0af101864" providerId="LiveId" clId="{B89B4A7F-E6AC-4820-B61E-1E3BA66D7C70}" dt="2026-07-06T19:16:21.643" v="57" actId="207"/>
      <pc:docMkLst>
        <pc:docMk/>
      </pc:docMkLst>
      <pc:sldChg chg="addSp modSp mod">
        <pc:chgData name="Erik Herb" userId="0f28f5b0af101864" providerId="LiveId" clId="{B89B4A7F-E6AC-4820-B61E-1E3BA66D7C70}" dt="2026-07-06T19:16:21.643" v="57" actId="207"/>
        <pc:sldMkLst>
          <pc:docMk/>
          <pc:sldMk cId="0" sldId="263"/>
        </pc:sldMkLst>
        <pc:spChg chg="add mod">
          <ac:chgData name="Erik Herb" userId="0f28f5b0af101864" providerId="LiveId" clId="{B89B4A7F-E6AC-4820-B61E-1E3BA66D7C70}" dt="2026-07-06T19:16:21.643" v="57" actId="207"/>
          <ac:spMkLst>
            <pc:docMk/>
            <pc:sldMk cId="0" sldId="263"/>
            <ac:spMk id="22" creationId="{13E25CF9-3F6E-14F4-EFC9-DB8390DB9E18}"/>
          </ac:spMkLst>
        </pc:spChg>
      </pc:sldChg>
      <pc:sldChg chg="addSp modSp new del mod">
        <pc:chgData name="Erik Herb" userId="0f28f5b0af101864" providerId="LiveId" clId="{B89B4A7F-E6AC-4820-B61E-1E3BA66D7C70}" dt="2026-07-06T19:15:15.872" v="31" actId="2696"/>
        <pc:sldMkLst>
          <pc:docMk/>
          <pc:sldMk cId="389494026" sldId="264"/>
        </pc:sldMkLst>
        <pc:spChg chg="add mod">
          <ac:chgData name="Erik Herb" userId="0f28f5b0af101864" providerId="LiveId" clId="{B89B4A7F-E6AC-4820-B61E-1E3BA66D7C70}" dt="2026-07-06T19:15:01.669" v="30" actId="1076"/>
          <ac:spMkLst>
            <pc:docMk/>
            <pc:sldMk cId="389494026" sldId="264"/>
            <ac:spMk id="2" creationId="{BEFB9464-E1ED-A95C-384C-9EFBFFCED0A2}"/>
          </ac:spMkLst>
        </pc:spChg>
      </pc:sldChg>
    </pc:docChg>
  </pc:docChgLst>
</pc:chgInfo>
</file>

<file path=ppt/charts/_rels/chart1.xml.rels><?xml version="1.0" encoding="UTF-8"?><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3B362D"/>
                </a:solidFill>
                <a:latin typeface="Calibri"/>
              </a:defRPr>
            </a:pPr>
            <a:r>
              <a:rPr lang="en-US" sz="1300" b="0" i="0" u="none" strike="noStrike">
                <a:solidFill>
                  <a:srgbClr val="3B362D"/>
                </a:solidFill>
                <a:latin typeface="Calibri"/>
              </a:rPr>
              <a:t>Income class balance (%)</a:t>
            </a:r>
          </a:p>
        </c:rich>
      </c:tx>
      <c:overlay val="0"/>
    </c:title>
    <c:autoTitleDeleted val="0"/>
    <c:plotArea>
      <c:layout/>
      <c:barChart>
        <c:barDir val="col"/>
        <c:grouping val="clustered"/>
        <c:varyColors val="0"/>
        <c:ser>
          <c:idx val="0"/>
          <c:order val="0"/>
          <c:tx>
            <c:strRef>
              <c:f>Sheet1!$B$1</c:f>
              <c:strCache>
                <c:ptCount val="1"/>
                <c:pt idx="0">
                  <c:v>Share</c:v>
                </c:pt>
              </c:strCache>
            </c:strRef>
          </c:tx>
          <c:spPr>
            <a:solidFill>
              <a:srgbClr val="B0512F"/>
            </a:solidFill>
            <a:effectLst/>
          </c:spPr>
          <c:invertIfNegative val="0"/>
          <c:dPt>
            <c:idx val="0"/>
            <c:invertIfNegative val="0"/>
            <c:bubble3D val="0"/>
            <c:extLst>
              <c:ext xmlns:c16="http://schemas.microsoft.com/office/drawing/2014/chart" uri="{C3380CC4-5D6E-409C-BE32-E72D297353CC}">
                <c16:uniqueId val="{00000001-38E3-482B-BA4E-7A7B78884460}"/>
              </c:ext>
            </c:extLst>
          </c:dPt>
          <c:dPt>
            <c:idx val="1"/>
            <c:invertIfNegative val="0"/>
            <c:bubble3D val="0"/>
            <c:spPr>
              <a:solidFill>
                <a:srgbClr val="C88A2C"/>
              </a:solidFill>
              <a:effectLst/>
            </c:spPr>
            <c:extLst>
              <c:ext xmlns:c16="http://schemas.microsoft.com/office/drawing/2014/chart" uri="{C3380CC4-5D6E-409C-BE32-E72D297353CC}">
                <c16:uniqueId val="{00000003-38E3-482B-BA4E-7A7B78884460}"/>
              </c:ext>
            </c:extLst>
          </c:dPt>
          <c:dLbls>
            <c:numFmt formatCode="#,##0" sourceLinked="0"/>
            <c:spPr>
              <a:noFill/>
              <a:ln>
                <a:noFill/>
              </a:ln>
              <a:effectLst/>
            </c:spPr>
            <c:txPr>
              <a:bodyPr/>
              <a:lstStyle/>
              <a:p>
                <a:pPr>
                  <a:defRPr sz="1200" b="0" i="0" u="none" strike="noStrike">
                    <a:solidFill>
                      <a:srgbClr val="3B362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&lt;=50K</c:v>
                </c:pt>
                <c:pt idx="1">
                  <c:v>&gt;50K</c:v>
                </c:pt>
              </c:strCache>
            </c:strRef>
          </c:cat>
          <c:val>
            <c:numRef>
              <c:f>Sheet1!$B$2:$B$3</c:f>
              <c:numCache>
                <c:formatCode>General</c:formatCode>
                <c:ptCount val="2"/>
                <c:pt idx="0">
                  <c:v>75.900000000000006</c:v>
                </c:pt>
                <c:pt idx="1">
                  <c:v>24.1</c:v>
                </c:pt>
              </c:numCache>
            </c:numRef>
          </c:val>
          <c:extLst>
            <c:ext xmlns:c16="http://schemas.microsoft.com/office/drawing/2014/chart" uri="{C3380CC4-5D6E-409C-BE32-E72D297353CC}">
              <c16:uniqueId val="{00000004-38E3-482B-BA4E-7A7B788844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B0A183"/>
            </a:solidFill>
            <a:prstDash val="solid"/>
            <a:round/>
          </a:ln>
        </c:spPr>
        <c:txPr>
          <a:bodyPr/>
          <a:lstStyle/>
          <a:p>
            <a:pPr>
              <a:defRPr sz="1200" b="0" i="0" u="none" strike="noStrike">
                <a:solidFill>
                  <a:srgbClr val="776755"/>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9C7A6"/>
              </a:solidFill>
              <a:prstDash val="solid"/>
              <a:round/>
            </a:ln>
          </c:spPr>
        </c:majorGridlines>
        <c:numFmt formatCode="General" sourceLinked="0"/>
        <c:majorTickMark val="out"/>
        <c:minorTickMark val="none"/>
        <c:tickLblPos val="nextTo"/>
        <c:spPr>
          <a:ln w="12700" cap="flat">
            <a:solidFill>
              <a:srgbClr val="B0A183"/>
            </a:solidFill>
            <a:prstDash val="solid"/>
            <a:round/>
          </a:ln>
        </c:spPr>
        <c:txPr>
          <a:bodyPr/>
          <a:lstStyle/>
          <a:p>
            <a:pPr>
              <a:defRPr sz="1100" b="0" i="0" u="none" strike="noStrike">
                <a:solidFill>
                  <a:srgbClr val="7767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BF6EC"/>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9439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My capstone is a binary income classifier on the UCI Adult Census data: predicting whether a person earns more or less than 50 thousand a year. This milestone was the data setup and exploration part, so that's what I'll walk through, and then where I'm headed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from the 1994 Census and the target is whether someone makes more than 50 thousand a year. I picked it because income prediction is a classic classification task that maps onto real decisions like lending and hiring, and because it's clean and public, so it's easy to build and compare models on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32 thousand rows, one per person. The target is imbalanced, only about a quarter earn more than 50K, which matters for how I score models. I kept 12 predictors and dropped two columns: fnlwgt because it's a survey weight, not about the person, and the text education column because it duplicates education_num.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is a model comparison: does XGBoost actually beat a logistic baseline on held-out PR-AUC, or is the extra complexity not worth it. Null is that it doesn't beat it. I use PR-AUC instead of accuracy because the classes are imbalanced. I'll test significance with McNemar's and a bootstrap confidence interval on the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milestone I just finished. Three things. First, the data lives in a SQLite database now, and everything reads out of that. Second, cleaning: I filled missing values instead of dropping rows, removed 24 real duplicates, and dropped the two columns I mentioned. Third, a full round of EDA. So database and exploration are done, and modeling is the next milestone.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takeaways. The target is about 76/24, which is why I don't trust accuracy: always guessing the majority class already gets 76 percent. Education and marital status separate the classes well, and sex, race, and hours worked all carry some signal too. And the numeric features aren't strongly correlated, so no multicollinearity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Two of the EDA plots from the notebook. On the </a:t>
            </a:r>
            <a:r>
              <a:rPr lang="en-US"/>
              <a:t>right</a:t>
            </a:r>
            <a:r>
              <a:rPr lang="en-US" dirty="0"/>
              <a:t xml:space="preserve">, the share earning more than 50K climbs steadily as education goes up, which is a clean trend even a linear model can use. On the </a:t>
            </a:r>
            <a:r>
              <a:rPr lang="en-US"/>
              <a:t>left</a:t>
            </a:r>
            <a:r>
              <a:rPr lang="en-US" dirty="0"/>
              <a:t xml:space="preserve"> is the correlation heatmap for the numeric features: the off-diagonal values are all small, so there's no multicollinearity and I don't need to drop any of the numeric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the next milestone is modeling: a majority-class reference, then logistic regression as the baseline, then XGBoost and an MLP, cross-validated and tuned. Then I test whether XGBoost really beats the baseline with McNemar's and a bootstrap confidence interval. And I'll finish the written project plan alongside it.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140"/>
        </a:solidFill>
        <a:effectLst/>
      </p:bgPr>
    </p:bg>
    <p:spTree>
      <p:nvGrpSpPr>
        <p:cNvPr id="1" name=""/>
        <p:cNvGrpSpPr/>
        <p:nvPr/>
      </p:nvGrpSpPr>
      <p:grpSpPr>
        <a:xfrm>
          <a:off x="0" y="0"/>
          <a:ext cx="0" cy="0"/>
          <a:chOff x="0" y="0"/>
          <a:chExt cx="0" cy="0"/>
        </a:xfrm>
      </p:grpSpPr>
      <p:sp>
        <p:nvSpPr>
          <p:cNvPr id="3" name="Kicker"/>
          <p:cNvSpPr/>
          <p:nvPr/>
        </p:nvSpPr>
        <p:spPr>
          <a:xfrm>
            <a:off x="330550" y="1751023"/>
            <a:ext cx="11561380" cy="411480"/>
          </a:xfrm>
          <a:prstGeom prst="rect">
            <a:avLst/>
          </a:prstGeom>
          <a:noFill/>
          <a:ln/>
        </p:spPr>
        <p:txBody>
          <a:bodyPr wrap="square" lIns="0" tIns="0" rIns="0" bIns="0" rtlCol="0" anchor="ctr"/>
          <a:lstStyle/>
          <a:p>
            <a:pPr marL="0" indent="0" algn="ctr">
              <a:buNone/>
            </a:pPr>
            <a:r>
              <a:rPr lang="en-US" sz="1400" b="1" spc="340" dirty="0">
                <a:solidFill>
                  <a:srgbClr val="C88A2C"/>
                </a:solidFill>
                <a:latin typeface="Calibri" pitchFamily="34" charset="0"/>
                <a:ea typeface="Calibri" pitchFamily="34" charset="-122"/>
                <a:cs typeface="Calibri" pitchFamily="34" charset="-120"/>
              </a:rPr>
              <a:t>DATA SCIENCE CAPSTONE</a:t>
            </a:r>
            <a:endParaRPr lang="en-US" sz="1400" dirty="0"/>
          </a:p>
        </p:txBody>
      </p:sp>
      <p:sp>
        <p:nvSpPr>
          <p:cNvPr id="4" name="Title1"/>
          <p:cNvSpPr/>
          <p:nvPr/>
        </p:nvSpPr>
        <p:spPr>
          <a:xfrm>
            <a:off x="252248" y="2148840"/>
            <a:ext cx="11687504" cy="822960"/>
          </a:xfrm>
          <a:prstGeom prst="rect">
            <a:avLst/>
          </a:prstGeom>
          <a:noFill/>
          <a:ln/>
        </p:spPr>
        <p:txBody>
          <a:bodyPr wrap="square" lIns="0" tIns="0" rIns="0" bIns="0" rtlCol="0" anchor="ctr"/>
          <a:lstStyle/>
          <a:p>
            <a:pPr marL="0" indent="0" algn="ctr">
              <a:buNone/>
            </a:pPr>
            <a:r>
              <a:rPr lang="en-US" sz="4200" b="1" dirty="0">
                <a:solidFill>
                  <a:srgbClr val="F4ECDD"/>
                </a:solidFill>
                <a:latin typeface="Cambria" pitchFamily="34" charset="0"/>
                <a:ea typeface="Cambria" pitchFamily="34" charset="-122"/>
                <a:cs typeface="Cambria" pitchFamily="34" charset="-120"/>
              </a:rPr>
              <a:t>Income Drivers and Fairness on the</a:t>
            </a:r>
            <a:endParaRPr lang="en-US" sz="4200" dirty="0"/>
          </a:p>
        </p:txBody>
      </p:sp>
      <p:sp>
        <p:nvSpPr>
          <p:cNvPr id="5" name="Title2"/>
          <p:cNvSpPr/>
          <p:nvPr/>
        </p:nvSpPr>
        <p:spPr>
          <a:xfrm>
            <a:off x="252248" y="2971800"/>
            <a:ext cx="11687504" cy="822960"/>
          </a:xfrm>
          <a:prstGeom prst="rect">
            <a:avLst/>
          </a:prstGeom>
          <a:noFill/>
          <a:ln/>
        </p:spPr>
        <p:txBody>
          <a:bodyPr wrap="square" lIns="0" tIns="0" rIns="0" bIns="0" rtlCol="0" anchor="ctr"/>
          <a:lstStyle/>
          <a:p>
            <a:pPr marL="0" indent="0" algn="ctr">
              <a:buNone/>
            </a:pPr>
            <a:r>
              <a:rPr lang="en-US" sz="4200" b="1" i="1" dirty="0">
                <a:solidFill>
                  <a:srgbClr val="C88A2C"/>
                </a:solidFill>
                <a:latin typeface="Cambria" pitchFamily="34" charset="0"/>
                <a:ea typeface="Cambria" pitchFamily="34" charset="-122"/>
                <a:cs typeface="Cambria" pitchFamily="34" charset="-120"/>
              </a:rPr>
              <a:t>UCI Adult Census data</a:t>
            </a:r>
            <a:endParaRPr lang="en-US" sz="4200" dirty="0"/>
          </a:p>
        </p:txBody>
      </p:sp>
      <p:sp>
        <p:nvSpPr>
          <p:cNvPr id="6" name="Subtitle"/>
          <p:cNvSpPr/>
          <p:nvPr/>
        </p:nvSpPr>
        <p:spPr>
          <a:xfrm>
            <a:off x="637452" y="4420126"/>
            <a:ext cx="10917095" cy="1097280"/>
          </a:xfrm>
          <a:prstGeom prst="rect">
            <a:avLst/>
          </a:prstGeom>
          <a:noFill/>
          <a:ln/>
        </p:spPr>
        <p:txBody>
          <a:bodyPr wrap="square" lIns="0" tIns="0" rIns="0" bIns="0" rtlCol="0" anchor="t"/>
          <a:lstStyle/>
          <a:p>
            <a:pPr marL="0" indent="0" algn="ctr">
              <a:lnSpc>
                <a:spcPct val="130000"/>
              </a:lnSpc>
              <a:buNone/>
            </a:pPr>
            <a:r>
              <a:rPr lang="en-US" sz="1700" b="1" dirty="0">
                <a:solidFill>
                  <a:srgbClr val="F4ECDD"/>
                </a:solidFill>
                <a:latin typeface="Calibri" pitchFamily="34" charset="0"/>
                <a:ea typeface="Calibri" pitchFamily="34" charset="-122"/>
                <a:cs typeface="Calibri" pitchFamily="34" charset="-120"/>
              </a:rPr>
              <a:t>Data preparation and EDA milestone</a:t>
            </a:r>
            <a:endParaRPr lang="en-US" sz="1700" dirty="0"/>
          </a:p>
          <a:p>
            <a:pPr marL="0" indent="0" algn="ctr">
              <a:lnSpc>
                <a:spcPct val="130000"/>
              </a:lnSpc>
              <a:buNone/>
            </a:pPr>
            <a:r>
              <a:rPr lang="en-US" sz="1500" dirty="0">
                <a:solidFill>
                  <a:srgbClr val="D8CBB2"/>
                </a:solidFill>
                <a:latin typeface="Calibri" pitchFamily="34" charset="0"/>
                <a:ea typeface="Calibri" pitchFamily="34" charset="-122"/>
                <a:cs typeface="Calibri" pitchFamily="34" charset="-120"/>
              </a:rPr>
              <a:t>Erik Herb</a:t>
            </a:r>
            <a:endParaRPr lang="en-US" sz="1500" dirty="0"/>
          </a:p>
        </p:txBody>
      </p:sp>
      <p:sp>
        <p:nvSpPr>
          <p:cNvPr id="7" name="FooterMeta"/>
          <p:cNvSpPr/>
          <p:nvPr/>
        </p:nvSpPr>
        <p:spPr>
          <a:xfrm>
            <a:off x="853440" y="6172200"/>
            <a:ext cx="10515600" cy="320040"/>
          </a:xfrm>
          <a:prstGeom prst="rect">
            <a:avLst/>
          </a:prstGeom>
          <a:noFill/>
          <a:ln/>
        </p:spPr>
        <p:txBody>
          <a:bodyPr wrap="square" lIns="0" tIns="0" rIns="0" bIns="0" rtlCol="0" anchor="ctr"/>
          <a:lstStyle/>
          <a:p>
            <a:pPr marL="0" indent="0" algn="r">
              <a:buNone/>
            </a:pPr>
            <a:r>
              <a:rPr lang="en-US" sz="1000" spc="120">
                <a:solidFill>
                  <a:srgbClr val="9A8B76"/>
                </a:solidFill>
                <a:latin typeface="Calibri" pitchFamily="34" charset="0"/>
                <a:ea typeface="Calibri" pitchFamily="34" charset="-122"/>
                <a:cs typeface="Calibri" pitchFamily="34" charset="-120"/>
              </a:rPr>
              <a:t>UCI Adult Census Income  ·  1994 U.S. Census  ·  Feature drivers and model fairness</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640080" y="411480"/>
            <a:ext cx="10000000" cy="276000"/>
          </a:xfrm>
          <a:prstGeom prst="rect">
            <a:avLst/>
          </a:prstGeom>
          <a:noFill/>
          <a:ln/>
        </p:spPr>
        <p:txBody>
          <a:bodyPr wrap="square" lIns="0" tIns="0" rIns="0" bIns="0" rtlCol="0" anchor="ctr"/>
          <a:lstStyle/>
          <a:p>
            <a:pPr marL="0" indent="0" algn="l">
              <a:buNone/>
            </a:pPr>
            <a:r>
              <a:rPr lang="en-US" sz="1150" b="1" spc="260">
                <a:solidFill>
                  <a:srgbClr val="B0512F"/>
                </a:solidFill>
                <a:latin typeface="Calibri" pitchFamily="34" charset="0"/>
              </a:rPr>
              <a:t>01</a:t>
            </a:r>
            <a:r>
              <a:rPr lang="en-US" sz="1150" b="1" spc="260">
                <a:solidFill>
                  <a:srgbClr val="776755"/>
                </a:solidFill>
                <a:latin typeface="Calibri" pitchFamily="34" charset="0"/>
              </a:rPr>
              <a:t xml:space="preserve">     BACKGROUND</a:t>
            </a:r>
            <a:endParaRPr lang="en-US" sz="1150"/>
          </a:p>
        </p:txBody>
      </p:sp>
      <p:sp>
        <p:nvSpPr>
          <p:cNvPr id="3" name="Title"/>
          <p:cNvSpPr/>
          <p:nvPr/>
        </p:nvSpPr>
        <p:spPr>
          <a:xfrm>
            <a:off x="640080" y="731520"/>
            <a:ext cx="10972800" cy="640080"/>
          </a:xfrm>
          <a:prstGeom prst="rect">
            <a:avLst/>
          </a:prstGeom>
          <a:noFill/>
          <a:ln/>
        </p:spPr>
        <p:txBody>
          <a:bodyPr wrap="square" lIns="0" tIns="0" rIns="0" bIns="0" rtlCol="0" anchor="ctr"/>
          <a:lstStyle/>
          <a:p>
            <a:pPr marL="0" indent="0" algn="l">
              <a:buNone/>
            </a:pPr>
            <a:r>
              <a:rPr lang="en-US" sz="2800" b="1">
                <a:solidFill>
                  <a:srgbClr val="223140"/>
                </a:solidFill>
                <a:latin typeface="Cambria" pitchFamily="34" charset="0"/>
                <a:ea typeface="Cambria" pitchFamily="34" charset="-122"/>
                <a:cs typeface="Cambria" pitchFamily="34" charset="-120"/>
              </a:rPr>
              <a:t>Problem context</a:t>
            </a:r>
            <a:endParaRPr lang="en-US" sz="2800"/>
          </a:p>
        </p:txBody>
      </p:sp>
      <p:sp>
        <p:nvSpPr>
          <p:cNvPr id="4" name="TitleRule"/>
          <p:cNvSpPr/>
          <p:nvPr/>
        </p:nvSpPr>
        <p:spPr>
          <a:xfrm>
            <a:off x="644080" y="1362840"/>
            <a:ext cx="838200" cy="34200"/>
          </a:xfrm>
          <a:prstGeom prst="rect">
            <a:avLst/>
          </a:prstGeom>
          <a:solidFill>
            <a:srgbClr val="B0512F"/>
          </a:solidFill>
          <a:ln/>
        </p:spPr>
        <p:txBody>
          <a:bodyPr/>
          <a:lstStyle/>
          <a:p>
            <a:endParaRPr lang="en-US"/>
          </a:p>
        </p:txBody>
      </p:sp>
      <p:sp>
        <p:nvSpPr>
          <p:cNvPr id="5" name="LeftRule"/>
          <p:cNvSpPr/>
          <p:nvPr/>
        </p:nvSpPr>
        <p:spPr>
          <a:xfrm>
            <a:off x="4389120" y="1691640"/>
            <a:ext cx="43200" cy="2865120"/>
          </a:xfrm>
          <a:prstGeom prst="rect">
            <a:avLst/>
          </a:prstGeom>
          <a:solidFill>
            <a:srgbClr val="D9C7A6"/>
          </a:solidFill>
          <a:ln/>
        </p:spPr>
        <p:txBody>
          <a:bodyPr/>
          <a:lstStyle/>
          <a:p>
            <a:endParaRPr lang="en-US"/>
          </a:p>
        </p:txBody>
      </p:sp>
      <p:sp>
        <p:nvSpPr>
          <p:cNvPr id="6" name="BodyText"/>
          <p:cNvSpPr/>
          <p:nvPr/>
        </p:nvSpPr>
        <p:spPr>
          <a:xfrm>
            <a:off x="4617720" y="1691640"/>
            <a:ext cx="6934200" cy="2865120"/>
          </a:xfrm>
          <a:prstGeom prst="rect">
            <a:avLst/>
          </a:prstGeom>
          <a:noFill/>
          <a:ln/>
        </p:spPr>
        <p:txBody>
          <a:bodyPr wrap="square" lIns="0" tIns="0" rIns="0" bIns="0" rtlCol="0" anchor="t"/>
          <a:lstStyle/>
          <a:p>
            <a:pPr marL="0" indent="0" algn="l">
              <a:lnSpc>
                <a:spcPct val="120000"/>
              </a:lnSpc>
              <a:spcAft>
                <a:spcPts val="1400"/>
              </a:spcAft>
              <a:buNone/>
            </a:pPr>
            <a:r>
              <a:rPr lang="en-US" sz="1600">
                <a:solidFill>
                  <a:srgbClr val="3B362D"/>
                </a:solidFill>
                <a:latin typeface="Calibri" pitchFamily="34" charset="0"/>
              </a:rPr>
              <a:t>The data comes from the 1994 U.S. Census. The task is to predict whether a person earns more than $50K a year from their demographic, education, and job info.</a:t>
            </a:r>
            <a:endParaRPr lang="en-US" sz="1600"/>
          </a:p>
          <a:p>
            <a:pPr marL="0" indent="0" algn="l">
              <a:lnSpc>
                <a:spcPct val="120000"/>
              </a:lnSpc>
              <a:spcAft>
                <a:spcPts val="1400"/>
              </a:spcAft>
              <a:buNone/>
            </a:pPr>
            <a:r>
              <a:rPr lang="en-US" sz="1600">
                <a:solidFill>
                  <a:srgbClr val="3B362D"/>
                </a:solidFill>
                <a:latin typeface="Calibri" pitchFamily="34" charset="0"/>
              </a:rPr>
              <a:t>But an accuracy score on its own says little. Models like this stand in for real decisions, so I frame the project around one use case: a lender or screening tool that flags likely high earners.</a:t>
            </a:r>
            <a:endParaRPr lang="en-US" sz="1600"/>
          </a:p>
          <a:p>
            <a:pPr marL="0" indent="0" algn="l">
              <a:lnSpc>
                <a:spcPct val="120000"/>
              </a:lnSpc>
              <a:buNone/>
            </a:pPr>
            <a:r>
              <a:rPr lang="en-US" sz="1600">
                <a:solidFill>
                  <a:srgbClr val="3B362D"/>
                </a:solidFill>
                <a:latin typeface="Calibri" pitchFamily="34" charset="0"/>
              </a:rPr>
              <a:t>In that setting, which features drive the decision, and whether it works equally well across groups, matter more than raw accuracy. So those become the questions I focus on.</a:t>
            </a:r>
            <a:endParaRPr lang="en-US" sz="1600"/>
          </a:p>
        </p:txBody>
      </p:sp>
      <p:sp>
        <p:nvSpPr>
          <p:cNvPr id="7" name="GoalPanel"/>
          <p:cNvSpPr/>
          <p:nvPr/>
        </p:nvSpPr>
        <p:spPr>
          <a:xfrm>
            <a:off x="640080" y="1691640"/>
            <a:ext cx="3474720" cy="2865120"/>
          </a:xfrm>
          <a:prstGeom prst="rect">
            <a:avLst/>
          </a:prstGeom>
          <a:solidFill>
            <a:srgbClr val="223140"/>
          </a:solidFill>
          <a:ln/>
        </p:spPr>
        <p:txBody>
          <a:bodyPr/>
          <a:lstStyle/>
          <a:p>
            <a:endParaRPr lang="en-US"/>
          </a:p>
        </p:txBody>
      </p:sp>
      <p:sp>
        <p:nvSpPr>
          <p:cNvPr id="8" name="GoalRule"/>
          <p:cNvSpPr/>
          <p:nvPr/>
        </p:nvSpPr>
        <p:spPr>
          <a:xfrm>
            <a:off x="914400" y="1965960"/>
            <a:ext cx="640080" cy="34200"/>
          </a:xfrm>
          <a:prstGeom prst="rect">
            <a:avLst/>
          </a:prstGeom>
          <a:solidFill>
            <a:srgbClr val="C88A2C"/>
          </a:solidFill>
          <a:ln/>
        </p:spPr>
        <p:txBody>
          <a:bodyPr/>
          <a:lstStyle/>
          <a:p>
            <a:endParaRPr lang="en-US"/>
          </a:p>
        </p:txBody>
      </p:sp>
      <p:sp>
        <p:nvSpPr>
          <p:cNvPr id="9" name="GoalHead"/>
          <p:cNvSpPr/>
          <p:nvPr/>
        </p:nvSpPr>
        <p:spPr>
          <a:xfrm>
            <a:off x="914400" y="2148840"/>
            <a:ext cx="2926080" cy="411480"/>
          </a:xfrm>
          <a:prstGeom prst="rect">
            <a:avLst/>
          </a:prstGeom>
          <a:noFill/>
          <a:ln/>
        </p:spPr>
        <p:txBody>
          <a:bodyPr wrap="square" lIns="0" tIns="0" rIns="0" bIns="0" rtlCol="0" anchor="ctr"/>
          <a:lstStyle/>
          <a:p>
            <a:pPr marL="0" indent="0" algn="l">
              <a:buNone/>
            </a:pPr>
            <a:r>
              <a:rPr lang="en-US" sz="1600" b="1" spc="120">
                <a:solidFill>
                  <a:srgbClr val="C88A2C"/>
                </a:solidFill>
                <a:latin typeface="Cambria" pitchFamily="34" charset="0"/>
              </a:rPr>
              <a:t>The goal</a:t>
            </a:r>
            <a:endParaRPr lang="en-US" sz="1600"/>
          </a:p>
        </p:txBody>
      </p:sp>
      <p:sp>
        <p:nvSpPr>
          <p:cNvPr id="10" name="GoalBody"/>
          <p:cNvSpPr/>
          <p:nvPr/>
        </p:nvSpPr>
        <p:spPr>
          <a:xfrm>
            <a:off x="914400" y="2652240"/>
            <a:ext cx="2926080" cy="1600200"/>
          </a:xfrm>
          <a:prstGeom prst="rect">
            <a:avLst/>
          </a:prstGeom>
          <a:noFill/>
          <a:ln/>
        </p:spPr>
        <p:txBody>
          <a:bodyPr wrap="square" lIns="0" tIns="0" rIns="0" bIns="0" rtlCol="0" anchor="t"/>
          <a:lstStyle/>
          <a:p>
            <a:pPr marL="0" indent="0" algn="l">
              <a:lnSpc>
                <a:spcPct val="122000"/>
              </a:lnSpc>
              <a:buNone/>
            </a:pPr>
            <a:r>
              <a:rPr lang="en-US" sz="1600">
                <a:solidFill>
                  <a:srgbClr val="F4ECDD"/>
                </a:solidFill>
                <a:latin typeface="Calibri" pitchFamily="34" charset="0"/>
              </a:rPr>
              <a:t>Find which features actually drive the &gt;50K prediction, and whether the model is fair across groups.</a:t>
            </a:r>
            <a:endParaRPr lang="en-US" sz="1600"/>
          </a:p>
        </p:txBody>
      </p:sp>
      <p:sp>
        <p:nvSpPr>
          <p:cNvPr id="11"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2"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02 / 09</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640080" y="411480"/>
            <a:ext cx="10000000" cy="276000"/>
          </a:xfrm>
          <a:prstGeom prst="rect">
            <a:avLst/>
          </a:prstGeom>
          <a:noFill/>
          <a:ln/>
        </p:spPr>
        <p:txBody>
          <a:bodyPr wrap="square" lIns="0" tIns="0" rIns="0" bIns="0" rtlCol="0" anchor="ctr"/>
          <a:lstStyle/>
          <a:p>
            <a:pPr marL="0" indent="0" algn="l">
              <a:buNone/>
            </a:pPr>
            <a:r>
              <a:rPr lang="en-US" sz="1150" b="1" spc="260">
                <a:solidFill>
                  <a:srgbClr val="B0512F"/>
                </a:solidFill>
                <a:latin typeface="Calibri" pitchFamily="34" charset="0"/>
              </a:rPr>
              <a:t>02</a:t>
            </a:r>
            <a:r>
              <a:rPr lang="en-US" sz="1150" b="1" spc="260">
                <a:solidFill>
                  <a:srgbClr val="776755"/>
                </a:solidFill>
                <a:latin typeface="Calibri" pitchFamily="34" charset="0"/>
              </a:rPr>
              <a:t xml:space="preserve">     DATASET</a:t>
            </a:r>
            <a:endParaRPr lang="en-US" sz="1150"/>
          </a:p>
        </p:txBody>
      </p:sp>
      <p:sp>
        <p:nvSpPr>
          <p:cNvPr id="3" name="Title"/>
          <p:cNvSpPr/>
          <p:nvPr/>
        </p:nvSpPr>
        <p:spPr>
          <a:xfrm>
            <a:off x="640080" y="731520"/>
            <a:ext cx="10972800" cy="640080"/>
          </a:xfrm>
          <a:prstGeom prst="rect">
            <a:avLst/>
          </a:prstGeom>
          <a:noFill/>
          <a:ln/>
        </p:spPr>
        <p:txBody>
          <a:bodyPr wrap="square" lIns="0" tIns="0" rIns="0" bIns="0" rtlCol="0" anchor="ctr"/>
          <a:lstStyle/>
          <a:p>
            <a:pPr marL="0" indent="0" algn="l">
              <a:buNone/>
            </a:pPr>
            <a:r>
              <a:rPr lang="en-US" sz="2800" b="1">
                <a:solidFill>
                  <a:srgbClr val="223140"/>
                </a:solidFill>
                <a:latin typeface="Cambria" pitchFamily="34" charset="0"/>
                <a:ea typeface="Cambria" pitchFamily="34" charset="-122"/>
                <a:cs typeface="Cambria" pitchFamily="34" charset="-120"/>
              </a:rPr>
              <a:t>The data</a:t>
            </a:r>
            <a:endParaRPr lang="en-US" sz="2800"/>
          </a:p>
        </p:txBody>
      </p:sp>
      <p:sp>
        <p:nvSpPr>
          <p:cNvPr id="4" name="TitleRule"/>
          <p:cNvSpPr/>
          <p:nvPr/>
        </p:nvSpPr>
        <p:spPr>
          <a:xfrm>
            <a:off x="644080" y="1362840"/>
            <a:ext cx="838200" cy="34200"/>
          </a:xfrm>
          <a:prstGeom prst="rect">
            <a:avLst/>
          </a:prstGeom>
          <a:solidFill>
            <a:srgbClr val="B0512F"/>
          </a:solidFill>
          <a:ln/>
        </p:spPr>
        <p:txBody>
          <a:bodyPr/>
          <a:lstStyle/>
          <a:p>
            <a:endParaRPr lang="en-US"/>
          </a:p>
        </p:txBody>
      </p:sp>
      <p:sp>
        <p:nvSpPr>
          <p:cNvPr id="5" name="DetailRule"/>
          <p:cNvSpPr/>
          <p:nvPr/>
        </p:nvSpPr>
        <p:spPr>
          <a:xfrm>
            <a:off x="640080" y="1760000"/>
            <a:ext cx="43200" cy="4141640"/>
          </a:xfrm>
          <a:prstGeom prst="rect">
            <a:avLst/>
          </a:prstGeom>
          <a:solidFill>
            <a:srgbClr val="D9C7A6"/>
          </a:solidFill>
          <a:ln/>
        </p:spPr>
        <p:txBody>
          <a:bodyPr/>
          <a:lstStyle/>
          <a:p>
            <a:endParaRPr lang="en-US"/>
          </a:p>
        </p:txBody>
      </p:sp>
      <p:sp>
        <p:nvSpPr>
          <p:cNvPr id="6" name="DetailText"/>
          <p:cNvSpPr/>
          <p:nvPr/>
        </p:nvSpPr>
        <p:spPr>
          <a:xfrm>
            <a:off x="868680" y="1760000"/>
            <a:ext cx="6172800" cy="4141640"/>
          </a:xfrm>
          <a:prstGeom prst="rect">
            <a:avLst/>
          </a:prstGeom>
          <a:noFill/>
          <a:ln/>
        </p:spPr>
        <p:txBody>
          <a:bodyPr wrap="square" lIns="0" tIns="0" rIns="0" bIns="0" rtlCol="0" anchor="t"/>
          <a:lstStyle/>
          <a:p>
            <a:pPr marL="342900" indent="-342900" algn="l">
              <a:lnSpc>
                <a:spcPct val="114000"/>
              </a:lnSpc>
              <a:spcAft>
                <a:spcPts val="1200"/>
              </a:spcAft>
              <a:buClr>
                <a:srgbClr val="B0512F"/>
              </a:buClr>
              <a:buSzPct val="90000"/>
              <a:buChar char="—"/>
            </a:pPr>
            <a:r>
              <a:rPr lang="en-US" sz="1500">
                <a:solidFill>
                  <a:srgbClr val="3B362D"/>
                </a:solidFill>
                <a:latin typeface="Calibri" pitchFamily="34" charset="0"/>
              </a:rPr>
              <a:t>Source: UCI Adult Census Income, about 15 raw columns.</a:t>
            </a:r>
            <a:endParaRPr lang="en-US" sz="1500"/>
          </a:p>
          <a:p>
            <a:pPr marL="342900" indent="-342900" algn="l">
              <a:lnSpc>
                <a:spcPct val="114000"/>
              </a:lnSpc>
              <a:spcAft>
                <a:spcPts val="1200"/>
              </a:spcAft>
              <a:buClr>
                <a:srgbClr val="B0512F"/>
              </a:buClr>
              <a:buSzPct val="90000"/>
              <a:buChar char="—"/>
            </a:pPr>
            <a:r>
              <a:rPr lang="en-US" sz="1500">
                <a:solidFill>
                  <a:srgbClr val="3B362D"/>
                </a:solidFill>
                <a:latin typeface="Calibri" pitchFamily="34" charset="0"/>
              </a:rPr>
              <a:t>Target: income, &gt;50K vs &lt;=50K. The classes are imbalanced.</a:t>
            </a:r>
            <a:endParaRPr lang="en-US" sz="1500"/>
          </a:p>
          <a:p>
            <a:pPr marL="342900" indent="-342900" algn="l">
              <a:lnSpc>
                <a:spcPct val="114000"/>
              </a:lnSpc>
              <a:spcAft>
                <a:spcPts val="1200"/>
              </a:spcAft>
              <a:buClr>
                <a:srgbClr val="B0512F"/>
              </a:buClr>
              <a:buSzPct val="90000"/>
              <a:buChar char="—"/>
            </a:pPr>
            <a:r>
              <a:rPr lang="en-US" sz="1500">
                <a:solidFill>
                  <a:srgbClr val="3B362D"/>
                </a:solidFill>
                <a:latin typeface="Calibri" pitchFamily="34" charset="0"/>
              </a:rPr>
              <a:t>Predictors: age, workclass, education, marital status, occupation, relationship, race, sex, capital gain and loss, hours per week, and native country.</a:t>
            </a:r>
            <a:endParaRPr lang="en-US" sz="1500"/>
          </a:p>
          <a:p>
            <a:pPr marL="342900" indent="-342900" algn="l">
              <a:lnSpc>
                <a:spcPct val="114000"/>
              </a:lnSpc>
              <a:buClr>
                <a:srgbClr val="B0512F"/>
              </a:buClr>
              <a:buSzPct val="90000"/>
              <a:buChar char="—"/>
            </a:pPr>
            <a:r>
              <a:rPr lang="en-US" sz="1500">
                <a:solidFill>
                  <a:srgbClr val="3B362D"/>
                </a:solidFill>
                <a:latin typeface="Calibri" pitchFamily="34" charset="0"/>
              </a:rPr>
              <a:t>I dropped fnlwgt, a census sampling weight that is not about the person, and education, which is redundant with education_num.</a:t>
            </a:r>
            <a:endParaRPr lang="en-US" sz="1500"/>
          </a:p>
        </p:txBody>
      </p:sp>
      <p:sp>
        <p:nvSpPr>
          <p:cNvPr id="7" name="StatDivider"/>
          <p:cNvSpPr/>
          <p:nvPr/>
        </p:nvSpPr>
        <p:spPr>
          <a:xfrm>
            <a:off x="7223760" y="1760000"/>
            <a:ext cx="15240" cy="4141640"/>
          </a:xfrm>
          <a:prstGeom prst="rect">
            <a:avLst/>
          </a:prstGeom>
          <a:solidFill>
            <a:srgbClr val="D9C7A6"/>
          </a:solidFill>
          <a:ln/>
        </p:spPr>
        <p:txBody>
          <a:bodyPr/>
          <a:lstStyle/>
          <a:p>
            <a:endParaRPr lang="en-US"/>
          </a:p>
        </p:txBody>
      </p:sp>
      <p:sp>
        <p:nvSpPr>
          <p:cNvPr id="8" name="StatA"/>
          <p:cNvSpPr/>
          <p:nvPr/>
        </p:nvSpPr>
        <p:spPr>
          <a:xfrm>
            <a:off x="7452360" y="1770000"/>
            <a:ext cx="3800000" cy="640080"/>
          </a:xfrm>
          <a:prstGeom prst="rect">
            <a:avLst/>
          </a:prstGeom>
          <a:noFill/>
          <a:ln/>
        </p:spPr>
        <p:txBody>
          <a:bodyPr wrap="square" lIns="0" tIns="0" rIns="0" bIns="0" rtlCol="0" anchor="ctr"/>
          <a:lstStyle/>
          <a:p>
            <a:pPr marL="0" indent="0" algn="l">
              <a:buNone/>
            </a:pPr>
            <a:r>
              <a:rPr lang="en-US" sz="3600" b="1">
                <a:solidFill>
                  <a:srgbClr val="B0512F"/>
                </a:solidFill>
                <a:latin typeface="Cambria" pitchFamily="34" charset="0"/>
              </a:rPr>
              <a:t>~32,500</a:t>
            </a:r>
            <a:endParaRPr lang="en-US" sz="3600"/>
          </a:p>
        </p:txBody>
      </p:sp>
      <p:sp>
        <p:nvSpPr>
          <p:cNvPr id="9" name="StatARule"/>
          <p:cNvSpPr/>
          <p:nvPr/>
        </p:nvSpPr>
        <p:spPr>
          <a:xfrm>
            <a:off x="7456360" y="2470000"/>
            <a:ext cx="640080" cy="30600"/>
          </a:xfrm>
          <a:prstGeom prst="rect">
            <a:avLst/>
          </a:prstGeom>
          <a:solidFill>
            <a:srgbClr val="B0512F"/>
          </a:solidFill>
          <a:ln/>
        </p:spPr>
        <p:txBody>
          <a:bodyPr/>
          <a:lstStyle/>
          <a:p>
            <a:endParaRPr lang="en-US"/>
          </a:p>
        </p:txBody>
      </p:sp>
      <p:sp>
        <p:nvSpPr>
          <p:cNvPr id="10" name="StatALabel"/>
          <p:cNvSpPr/>
          <p:nvPr/>
        </p:nvSpPr>
        <p:spPr>
          <a:xfrm>
            <a:off x="7452360" y="2540000"/>
            <a:ext cx="3800000" cy="400000"/>
          </a:xfrm>
          <a:prstGeom prst="rect">
            <a:avLst/>
          </a:prstGeom>
          <a:noFill/>
          <a:ln/>
        </p:spPr>
        <p:txBody>
          <a:bodyPr wrap="square" lIns="0" tIns="0" rIns="0" bIns="0" rtlCol="0" anchor="t"/>
          <a:lstStyle/>
          <a:p>
            <a:pPr marL="0" indent="0" algn="l">
              <a:buNone/>
            </a:pPr>
            <a:r>
              <a:rPr lang="en-US" sz="1400">
                <a:solidFill>
                  <a:srgbClr val="776755"/>
                </a:solidFill>
                <a:latin typeface="Calibri" pitchFamily="34" charset="0"/>
              </a:rPr>
              <a:t>rows, one per person</a:t>
            </a:r>
            <a:endParaRPr lang="en-US" sz="1400"/>
          </a:p>
        </p:txBody>
      </p:sp>
      <p:sp>
        <p:nvSpPr>
          <p:cNvPr id="11" name="StatB"/>
          <p:cNvSpPr/>
          <p:nvPr/>
        </p:nvSpPr>
        <p:spPr>
          <a:xfrm>
            <a:off x="7452360" y="3090000"/>
            <a:ext cx="3800000" cy="640080"/>
          </a:xfrm>
          <a:prstGeom prst="rect">
            <a:avLst/>
          </a:prstGeom>
          <a:noFill/>
          <a:ln/>
        </p:spPr>
        <p:txBody>
          <a:bodyPr wrap="square" lIns="0" tIns="0" rIns="0" bIns="0" rtlCol="0" anchor="ctr"/>
          <a:lstStyle/>
          <a:p>
            <a:pPr marL="0" indent="0" algn="l">
              <a:buNone/>
            </a:pPr>
            <a:r>
              <a:rPr lang="en-US" sz="3600" b="1">
                <a:solidFill>
                  <a:srgbClr val="223140"/>
                </a:solidFill>
                <a:latin typeface="Cambria" pitchFamily="34" charset="0"/>
              </a:rPr>
              <a:t>12</a:t>
            </a:r>
            <a:endParaRPr lang="en-US" sz="3600"/>
          </a:p>
        </p:txBody>
      </p:sp>
      <p:sp>
        <p:nvSpPr>
          <p:cNvPr id="12" name="StatBRule"/>
          <p:cNvSpPr/>
          <p:nvPr/>
        </p:nvSpPr>
        <p:spPr>
          <a:xfrm>
            <a:off x="7456360" y="3790000"/>
            <a:ext cx="640080" cy="30600"/>
          </a:xfrm>
          <a:prstGeom prst="rect">
            <a:avLst/>
          </a:prstGeom>
          <a:solidFill>
            <a:srgbClr val="D9C7A6"/>
          </a:solidFill>
          <a:ln/>
        </p:spPr>
        <p:txBody>
          <a:bodyPr/>
          <a:lstStyle/>
          <a:p>
            <a:endParaRPr lang="en-US"/>
          </a:p>
        </p:txBody>
      </p:sp>
      <p:sp>
        <p:nvSpPr>
          <p:cNvPr id="13" name="StatBLabel"/>
          <p:cNvSpPr/>
          <p:nvPr/>
        </p:nvSpPr>
        <p:spPr>
          <a:xfrm>
            <a:off x="7452360" y="3860000"/>
            <a:ext cx="3800000" cy="400000"/>
          </a:xfrm>
          <a:prstGeom prst="rect">
            <a:avLst/>
          </a:prstGeom>
          <a:noFill/>
          <a:ln/>
        </p:spPr>
        <p:txBody>
          <a:bodyPr wrap="square" lIns="0" tIns="0" rIns="0" bIns="0" rtlCol="0" anchor="t"/>
          <a:lstStyle/>
          <a:p>
            <a:pPr marL="0" indent="0" algn="l">
              <a:buNone/>
            </a:pPr>
            <a:r>
              <a:rPr lang="en-US" sz="1400">
                <a:solidFill>
                  <a:srgbClr val="776755"/>
                </a:solidFill>
                <a:latin typeface="Calibri" pitchFamily="34" charset="0"/>
              </a:rPr>
              <a:t>predictors used</a:t>
            </a:r>
            <a:endParaRPr lang="en-US" sz="1400"/>
          </a:p>
        </p:txBody>
      </p:sp>
      <p:sp>
        <p:nvSpPr>
          <p:cNvPr id="14" name="StatC"/>
          <p:cNvSpPr/>
          <p:nvPr/>
        </p:nvSpPr>
        <p:spPr>
          <a:xfrm>
            <a:off x="7452360" y="4410000"/>
            <a:ext cx="3800000" cy="640080"/>
          </a:xfrm>
          <a:prstGeom prst="rect">
            <a:avLst/>
          </a:prstGeom>
          <a:noFill/>
          <a:ln/>
        </p:spPr>
        <p:txBody>
          <a:bodyPr wrap="square" lIns="0" tIns="0" rIns="0" bIns="0" rtlCol="0" anchor="ctr"/>
          <a:lstStyle/>
          <a:p>
            <a:pPr marL="0" indent="0" algn="l">
              <a:buNone/>
            </a:pPr>
            <a:r>
              <a:rPr lang="en-US" sz="3600" b="1">
                <a:solidFill>
                  <a:srgbClr val="C88A2C"/>
                </a:solidFill>
                <a:latin typeface="Cambria" pitchFamily="34" charset="0"/>
              </a:rPr>
              <a:t>24%</a:t>
            </a:r>
            <a:endParaRPr lang="en-US" sz="3600"/>
          </a:p>
        </p:txBody>
      </p:sp>
      <p:sp>
        <p:nvSpPr>
          <p:cNvPr id="15" name="StatCRule"/>
          <p:cNvSpPr/>
          <p:nvPr/>
        </p:nvSpPr>
        <p:spPr>
          <a:xfrm>
            <a:off x="7456360" y="5110000"/>
            <a:ext cx="640080" cy="30600"/>
          </a:xfrm>
          <a:prstGeom prst="rect">
            <a:avLst/>
          </a:prstGeom>
          <a:solidFill>
            <a:srgbClr val="D9C7A6"/>
          </a:solidFill>
          <a:ln/>
        </p:spPr>
        <p:txBody>
          <a:bodyPr/>
          <a:lstStyle/>
          <a:p>
            <a:endParaRPr lang="en-US"/>
          </a:p>
        </p:txBody>
      </p:sp>
      <p:sp>
        <p:nvSpPr>
          <p:cNvPr id="16" name="StatCLabel"/>
          <p:cNvSpPr/>
          <p:nvPr/>
        </p:nvSpPr>
        <p:spPr>
          <a:xfrm>
            <a:off x="7452360" y="5180000"/>
            <a:ext cx="3800000" cy="400000"/>
          </a:xfrm>
          <a:prstGeom prst="rect">
            <a:avLst/>
          </a:prstGeom>
          <a:noFill/>
          <a:ln/>
        </p:spPr>
        <p:txBody>
          <a:bodyPr wrap="square" lIns="0" tIns="0" rIns="0" bIns="0" rtlCol="0" anchor="t"/>
          <a:lstStyle/>
          <a:p>
            <a:pPr marL="0" indent="0" algn="l">
              <a:buNone/>
            </a:pPr>
            <a:r>
              <a:rPr lang="en-US" sz="1400">
                <a:solidFill>
                  <a:srgbClr val="776755"/>
                </a:solidFill>
                <a:latin typeface="Calibri" pitchFamily="34" charset="0"/>
              </a:rPr>
              <a:t>earn more than $50K</a:t>
            </a:r>
            <a:endParaRPr lang="en-US" sz="1400"/>
          </a:p>
        </p:txBody>
      </p:sp>
      <p:sp>
        <p:nvSpPr>
          <p:cNvPr id="17"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8"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03 / 09</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1551920" y="411480"/>
            <a:ext cx="10000000" cy="276000"/>
          </a:xfrm>
          <a:prstGeom prst="rect">
            <a:avLst/>
          </a:prstGeom>
          <a:noFill/>
          <a:ln/>
        </p:spPr>
        <p:txBody>
          <a:bodyPr wrap="square" lIns="0" tIns="0" rIns="0" bIns="0" rtlCol="0" anchor="ctr"/>
          <a:lstStyle/>
          <a:p>
            <a:pPr marL="0" indent="0" algn="r">
              <a:buNone/>
            </a:pPr>
            <a:r>
              <a:rPr lang="en-US" sz="1150" b="1" spc="260">
                <a:solidFill>
                  <a:srgbClr val="B0512F"/>
                </a:solidFill>
                <a:latin typeface="Calibri" pitchFamily="34" charset="0"/>
              </a:rPr>
              <a:t>03</a:t>
            </a:r>
            <a:r>
              <a:rPr lang="en-US" sz="1150" b="1" spc="260">
                <a:solidFill>
                  <a:srgbClr val="776755"/>
                </a:solidFill>
                <a:latin typeface="Calibri" pitchFamily="34" charset="0"/>
              </a:rPr>
              <a:t xml:space="preserve">     METHOD</a:t>
            </a:r>
            <a:endParaRPr lang="en-US" sz="1150"/>
          </a:p>
        </p:txBody>
      </p:sp>
      <p:sp>
        <p:nvSpPr>
          <p:cNvPr id="3" name="Title"/>
          <p:cNvSpPr/>
          <p:nvPr/>
        </p:nvSpPr>
        <p:spPr>
          <a:xfrm>
            <a:off x="579120" y="731520"/>
            <a:ext cx="10972800" cy="640080"/>
          </a:xfrm>
          <a:prstGeom prst="rect">
            <a:avLst/>
          </a:prstGeom>
          <a:noFill/>
          <a:ln/>
        </p:spPr>
        <p:txBody>
          <a:bodyPr wrap="square" lIns="0" tIns="0" rIns="0" bIns="0" rtlCol="0" anchor="ctr"/>
          <a:lstStyle/>
          <a:p>
            <a:pPr marL="0" indent="0" algn="r">
              <a:buNone/>
            </a:pPr>
            <a:r>
              <a:rPr lang="en-US" sz="2800" b="1">
                <a:solidFill>
                  <a:srgbClr val="223140"/>
                </a:solidFill>
                <a:latin typeface="Cambria" pitchFamily="34" charset="0"/>
                <a:ea typeface="Cambria" pitchFamily="34" charset="-122"/>
                <a:cs typeface="Cambria" pitchFamily="34" charset="-120"/>
              </a:rPr>
              <a:t>Research questions</a:t>
            </a:r>
            <a:endParaRPr lang="en-US" sz="2800"/>
          </a:p>
        </p:txBody>
      </p:sp>
      <p:sp>
        <p:nvSpPr>
          <p:cNvPr id="4" name="TitleRule"/>
          <p:cNvSpPr/>
          <p:nvPr/>
        </p:nvSpPr>
        <p:spPr>
          <a:xfrm>
            <a:off x="10713720" y="1362840"/>
            <a:ext cx="838200" cy="34200"/>
          </a:xfrm>
          <a:prstGeom prst="rect">
            <a:avLst/>
          </a:prstGeom>
          <a:solidFill>
            <a:srgbClr val="B0512F"/>
          </a:solidFill>
          <a:ln/>
        </p:spPr>
        <p:txBody>
          <a:bodyPr/>
          <a:lstStyle/>
          <a:p>
            <a:endParaRPr lang="en-US"/>
          </a:p>
        </p:txBody>
      </p:sp>
      <p:sp>
        <p:nvSpPr>
          <p:cNvPr id="5" name="LeftRule"/>
          <p:cNvSpPr/>
          <p:nvPr/>
        </p:nvSpPr>
        <p:spPr>
          <a:xfrm>
            <a:off x="4389120" y="1691640"/>
            <a:ext cx="43200" cy="3383280"/>
          </a:xfrm>
          <a:prstGeom prst="rect">
            <a:avLst/>
          </a:prstGeom>
          <a:solidFill>
            <a:srgbClr val="D9C7A6"/>
          </a:solidFill>
          <a:ln/>
        </p:spPr>
        <p:txBody>
          <a:bodyPr/>
          <a:lstStyle/>
          <a:p>
            <a:endParaRPr lang="en-US"/>
          </a:p>
        </p:txBody>
      </p:sp>
      <p:sp>
        <p:nvSpPr>
          <p:cNvPr id="6" name="BodyText"/>
          <p:cNvSpPr/>
          <p:nvPr/>
        </p:nvSpPr>
        <p:spPr>
          <a:xfrm>
            <a:off x="4617720" y="1691640"/>
            <a:ext cx="6934200" cy="3383280"/>
          </a:xfrm>
          <a:prstGeom prst="rect">
            <a:avLst/>
          </a:prstGeom>
          <a:noFill/>
          <a:ln/>
        </p:spPr>
        <p:txBody>
          <a:bodyPr wrap="square" lIns="0" tIns="0" rIns="0" bIns="0" rtlCol="0" anchor="t"/>
          <a:lstStyle/>
          <a:p>
            <a:pPr marL="342900" indent="-342900" algn="l">
              <a:lnSpc>
                <a:spcPct val="116000"/>
              </a:lnSpc>
              <a:spcAft>
                <a:spcPts val="1400"/>
              </a:spcAft>
              <a:buClr>
                <a:srgbClr val="B0512F"/>
              </a:buClr>
              <a:buSzPct val="90000"/>
              <a:buChar char="—"/>
            </a:pPr>
            <a:r>
              <a:rPr lang="en-US" sz="1700">
                <a:solidFill>
                  <a:srgbClr val="3B362D"/>
                </a:solidFill>
                <a:latin typeface="Calibri" pitchFamily="34" charset="0"/>
              </a:rPr>
              <a:t>Three questions drive the project, so the payoff is what the model does and who it works for, not just an accuracy score.</a:t>
            </a:r>
            <a:endParaRPr lang="en-US" sz="1700"/>
          </a:p>
          <a:p>
            <a:pPr marL="342900" indent="-342900" algn="l">
              <a:lnSpc>
                <a:spcPct val="116000"/>
              </a:lnSpc>
              <a:spcAft>
                <a:spcPts val="1000"/>
              </a:spcAft>
              <a:buClr>
                <a:srgbClr val="B0512F"/>
              </a:buClr>
              <a:buSzPct val="90000"/>
              <a:buChar char="—"/>
            </a:pPr>
            <a:r>
              <a:rPr lang="en-US" sz="1700">
                <a:solidFill>
                  <a:srgbClr val="3B362D"/>
                </a:solidFill>
                <a:latin typeface="Calibri" pitchFamily="34" charset="0"/>
              </a:rPr>
              <a:t>H1: education level drives the &gt;50K prediction more than hours worked.</a:t>
            </a:r>
            <a:endParaRPr lang="en-US" sz="1700"/>
          </a:p>
          <a:p>
            <a:pPr marL="342900" indent="-342900" algn="l">
              <a:lnSpc>
                <a:spcPct val="116000"/>
              </a:lnSpc>
              <a:spcAft>
                <a:spcPts val="1400"/>
              </a:spcAft>
              <a:buClr>
                <a:srgbClr val="B0512F"/>
              </a:buClr>
              <a:buSzPct val="90000"/>
              <a:buChar char="—"/>
            </a:pPr>
            <a:r>
              <a:rPr lang="en-US" sz="1700">
                <a:solidFill>
                  <a:srgbClr val="3B362D"/>
                </a:solidFill>
                <a:latin typeface="Calibri" pitchFamily="34" charset="0"/>
              </a:rPr>
              <a:t>H2: the model misses more true high earners for foreign-born people than US-born people.</a:t>
            </a:r>
            <a:endParaRPr lang="en-US" sz="1700"/>
          </a:p>
          <a:p>
            <a:pPr marL="342900" indent="-342900" algn="l">
              <a:lnSpc>
                <a:spcPct val="116000"/>
              </a:lnSpc>
              <a:buClr>
                <a:srgbClr val="B0512F"/>
              </a:buClr>
              <a:buSzPct val="90000"/>
              <a:buChar char="—"/>
            </a:pPr>
            <a:r>
              <a:rPr lang="en-US" sz="1700">
                <a:solidFill>
                  <a:srgbClr val="3B362D"/>
                </a:solidFill>
                <a:latin typeface="Calibri" pitchFamily="34" charset="0"/>
              </a:rPr>
              <a:t>H3: the boosted model beats the logistic baseline on held-out PR-AUC (kept as a secondary check).</a:t>
            </a:r>
            <a:endParaRPr lang="en-US" sz="1700"/>
          </a:p>
        </p:txBody>
      </p:sp>
      <p:sp>
        <p:nvSpPr>
          <p:cNvPr id="7" name="TestPanel"/>
          <p:cNvSpPr/>
          <p:nvPr/>
        </p:nvSpPr>
        <p:spPr>
          <a:xfrm>
            <a:off x="640080" y="1691639"/>
            <a:ext cx="3474720" cy="2843521"/>
          </a:xfrm>
          <a:prstGeom prst="rect">
            <a:avLst/>
          </a:prstGeom>
          <a:solidFill>
            <a:srgbClr val="223140"/>
          </a:solidFill>
          <a:ln/>
        </p:spPr>
        <p:txBody>
          <a:bodyPr/>
          <a:lstStyle/>
          <a:p>
            <a:endParaRPr lang="en-US"/>
          </a:p>
        </p:txBody>
      </p:sp>
      <p:sp>
        <p:nvSpPr>
          <p:cNvPr id="8" name="TestRule"/>
          <p:cNvSpPr/>
          <p:nvPr/>
        </p:nvSpPr>
        <p:spPr>
          <a:xfrm>
            <a:off x="914400" y="1965960"/>
            <a:ext cx="640080" cy="34200"/>
          </a:xfrm>
          <a:prstGeom prst="rect">
            <a:avLst/>
          </a:prstGeom>
          <a:solidFill>
            <a:srgbClr val="C88A2C"/>
          </a:solidFill>
          <a:ln/>
        </p:spPr>
        <p:txBody>
          <a:bodyPr/>
          <a:lstStyle/>
          <a:p>
            <a:endParaRPr lang="en-US"/>
          </a:p>
        </p:txBody>
      </p:sp>
      <p:sp>
        <p:nvSpPr>
          <p:cNvPr id="9" name="TestHead"/>
          <p:cNvSpPr/>
          <p:nvPr/>
        </p:nvSpPr>
        <p:spPr>
          <a:xfrm>
            <a:off x="914400" y="2148840"/>
            <a:ext cx="2926080" cy="411480"/>
          </a:xfrm>
          <a:prstGeom prst="rect">
            <a:avLst/>
          </a:prstGeom>
          <a:noFill/>
          <a:ln/>
        </p:spPr>
        <p:txBody>
          <a:bodyPr wrap="square" lIns="0" tIns="0" rIns="0" bIns="0" rtlCol="0" anchor="ctr"/>
          <a:lstStyle/>
          <a:p>
            <a:pPr marL="0" indent="0" algn="l">
              <a:buNone/>
            </a:pPr>
            <a:r>
              <a:rPr lang="en-US" sz="1600" b="1" spc="120">
                <a:solidFill>
                  <a:srgbClr val="C88A2C"/>
                </a:solidFill>
                <a:latin typeface="Cambria" pitchFamily="34" charset="0"/>
              </a:rPr>
              <a:t>How I'll test it</a:t>
            </a:r>
            <a:endParaRPr lang="en-US" sz="1600"/>
          </a:p>
        </p:txBody>
      </p:sp>
      <p:sp>
        <p:nvSpPr>
          <p:cNvPr id="10" name="TestBody"/>
          <p:cNvSpPr/>
          <p:nvPr/>
        </p:nvSpPr>
        <p:spPr>
          <a:xfrm>
            <a:off x="914400" y="2652240"/>
            <a:ext cx="2926080" cy="1417320"/>
          </a:xfrm>
          <a:prstGeom prst="rect">
            <a:avLst/>
          </a:prstGeom>
          <a:noFill/>
          <a:ln/>
        </p:spPr>
        <p:txBody>
          <a:bodyPr wrap="square" lIns="0" tIns="0" rIns="0" bIns="0" rtlCol="0" anchor="t"/>
          <a:lstStyle/>
          <a:p>
            <a:pPr marL="285750" indent="-285750" algn="l">
              <a:lnSpc>
                <a:spcPct val="116000"/>
              </a:lnSpc>
              <a:spcAft>
                <a:spcPts val="1200"/>
              </a:spcAft>
              <a:buClr>
                <a:srgbClr val="C88A2C"/>
              </a:buClr>
              <a:buSzPct val="90000"/>
              <a:buChar char="—"/>
            </a:pPr>
            <a:r>
              <a:rPr lang="en-US" sz="1500" dirty="0">
                <a:solidFill>
                  <a:srgbClr val="F4ECDD"/>
                </a:solidFill>
                <a:latin typeface="Calibri" pitchFamily="34" charset="0"/>
              </a:rPr>
              <a:t>Feature importance for H1: coefficients, permutation, partial dependence</a:t>
            </a:r>
            <a:endParaRPr lang="en-US" sz="1500" dirty="0"/>
          </a:p>
          <a:p>
            <a:pPr marL="285750" indent="-285750" algn="l">
              <a:lnSpc>
                <a:spcPct val="116000"/>
              </a:lnSpc>
              <a:buClr>
                <a:srgbClr val="C88A2C"/>
              </a:buClr>
              <a:buSzPct val="90000"/>
              <a:buChar char="—"/>
            </a:pPr>
            <a:r>
              <a:rPr lang="en-US" sz="1500" dirty="0">
                <a:solidFill>
                  <a:srgbClr val="F4ECDD"/>
                </a:solidFill>
                <a:latin typeface="Calibri" pitchFamily="34" charset="0"/>
              </a:rPr>
              <a:t>Per-group error rates with McNemar and bootstrap CIs for H2 and H3</a:t>
            </a:r>
            <a:endParaRPr lang="en-US" sz="1500" dirty="0"/>
          </a:p>
        </p:txBody>
      </p:sp>
      <p:sp>
        <p:nvSpPr>
          <p:cNvPr id="11"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2"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04 / 09</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640080" y="411480"/>
            <a:ext cx="10000000" cy="276000"/>
          </a:xfrm>
          <a:prstGeom prst="rect">
            <a:avLst/>
          </a:prstGeom>
          <a:noFill/>
          <a:ln/>
        </p:spPr>
        <p:txBody>
          <a:bodyPr wrap="square" lIns="0" tIns="0" rIns="0" bIns="0" rtlCol="0" anchor="ctr"/>
          <a:lstStyle/>
          <a:p>
            <a:pPr marL="0" indent="0" algn="l">
              <a:buNone/>
            </a:pPr>
            <a:r>
              <a:rPr lang="en-US" sz="1150" b="1" spc="260">
                <a:solidFill>
                  <a:srgbClr val="B0512F"/>
                </a:solidFill>
                <a:latin typeface="Calibri" pitchFamily="34" charset="0"/>
              </a:rPr>
              <a:t>04</a:t>
            </a:r>
            <a:r>
              <a:rPr lang="en-US" sz="1150" b="1" spc="260">
                <a:solidFill>
                  <a:srgbClr val="776755"/>
                </a:solidFill>
                <a:latin typeface="Calibri" pitchFamily="34" charset="0"/>
              </a:rPr>
              <a:t xml:space="preserve">     PROGRESS</a:t>
            </a:r>
            <a:endParaRPr lang="en-US" sz="1150"/>
          </a:p>
        </p:txBody>
      </p:sp>
      <p:sp>
        <p:nvSpPr>
          <p:cNvPr id="3" name="Title"/>
          <p:cNvSpPr/>
          <p:nvPr/>
        </p:nvSpPr>
        <p:spPr>
          <a:xfrm>
            <a:off x="640080" y="731520"/>
            <a:ext cx="10972800" cy="640080"/>
          </a:xfrm>
          <a:prstGeom prst="rect">
            <a:avLst/>
          </a:prstGeom>
          <a:noFill/>
          <a:ln/>
        </p:spPr>
        <p:txBody>
          <a:bodyPr wrap="square" lIns="0" tIns="0" rIns="0" bIns="0" rtlCol="0" anchor="ctr"/>
          <a:lstStyle/>
          <a:p>
            <a:pPr marL="0" indent="0" algn="l">
              <a:buNone/>
            </a:pPr>
            <a:r>
              <a:rPr lang="en-US" sz="2800" b="1">
                <a:solidFill>
                  <a:srgbClr val="223140"/>
                </a:solidFill>
                <a:latin typeface="Cambria" pitchFamily="34" charset="0"/>
                <a:ea typeface="Cambria" pitchFamily="34" charset="-122"/>
                <a:cs typeface="Cambria" pitchFamily="34" charset="-120"/>
              </a:rPr>
              <a:t>Where I am now</a:t>
            </a:r>
            <a:endParaRPr lang="en-US" sz="2800"/>
          </a:p>
        </p:txBody>
      </p:sp>
      <p:sp>
        <p:nvSpPr>
          <p:cNvPr id="4" name="TitleRule"/>
          <p:cNvSpPr/>
          <p:nvPr/>
        </p:nvSpPr>
        <p:spPr>
          <a:xfrm>
            <a:off x="644080" y="1362840"/>
            <a:ext cx="838200" cy="34200"/>
          </a:xfrm>
          <a:prstGeom prst="rect">
            <a:avLst/>
          </a:prstGeom>
          <a:solidFill>
            <a:srgbClr val="B0512F"/>
          </a:solidFill>
          <a:ln/>
        </p:spPr>
        <p:txBody>
          <a:bodyPr/>
          <a:lstStyle/>
          <a:p>
            <a:endParaRPr lang="en-US"/>
          </a:p>
        </p:txBody>
      </p:sp>
      <p:sp>
        <p:nvSpPr>
          <p:cNvPr id="5" name="Num1"/>
          <p:cNvSpPr/>
          <p:nvPr/>
        </p:nvSpPr>
        <p:spPr>
          <a:xfrm>
            <a:off x="10591800" y="1600200"/>
            <a:ext cx="960120" cy="640080"/>
          </a:xfrm>
          <a:prstGeom prst="rect">
            <a:avLst/>
          </a:prstGeom>
          <a:noFill/>
          <a:ln/>
        </p:spPr>
        <p:txBody>
          <a:bodyPr wrap="square" lIns="0" tIns="0" rIns="0" bIns="0" rtlCol="0" anchor="ctr"/>
          <a:lstStyle/>
          <a:p>
            <a:pPr marL="0" indent="0" algn="r">
              <a:buNone/>
            </a:pPr>
            <a:r>
              <a:rPr lang="en-US" sz="3600" b="1">
                <a:solidFill>
                  <a:srgbClr val="B0512F"/>
                </a:solidFill>
                <a:latin typeface="Cambria" pitchFamily="34" charset="0"/>
              </a:rPr>
              <a:t>01</a:t>
            </a:r>
            <a:endParaRPr lang="en-US" sz="3600"/>
          </a:p>
        </p:txBody>
      </p:sp>
      <p:sp>
        <p:nvSpPr>
          <p:cNvPr id="6" name="Label1"/>
          <p:cNvSpPr/>
          <p:nvPr/>
        </p:nvSpPr>
        <p:spPr>
          <a:xfrm>
            <a:off x="640080" y="1600200"/>
            <a:ext cx="9600000" cy="384048"/>
          </a:xfrm>
          <a:prstGeom prst="rect">
            <a:avLst/>
          </a:prstGeom>
          <a:noFill/>
          <a:ln/>
        </p:spPr>
        <p:txBody>
          <a:bodyPr wrap="square" lIns="0" tIns="0" rIns="0" bIns="0" rtlCol="0" anchor="ctr"/>
          <a:lstStyle/>
          <a:p>
            <a:pPr marL="0" indent="0" algn="l">
              <a:buNone/>
            </a:pPr>
            <a:r>
              <a:rPr lang="en-US" sz="2000" b="1">
                <a:solidFill>
                  <a:srgbClr val="223140"/>
                </a:solidFill>
                <a:latin typeface="Cambria" pitchFamily="34" charset="0"/>
              </a:rPr>
              <a:t>Database</a:t>
            </a:r>
            <a:endParaRPr lang="en-US" sz="2000"/>
          </a:p>
        </p:txBody>
      </p:sp>
      <p:sp>
        <p:nvSpPr>
          <p:cNvPr id="7" name="Desc1"/>
          <p:cNvSpPr/>
          <p:nvPr/>
        </p:nvSpPr>
        <p:spPr>
          <a:xfrm>
            <a:off x="640080" y="2011680"/>
            <a:ext cx="9600000" cy="640080"/>
          </a:xfrm>
          <a:prstGeom prst="rect">
            <a:avLst/>
          </a:prstGeom>
          <a:noFill/>
          <a:ln/>
        </p:spPr>
        <p:txBody>
          <a:bodyPr wrap="square" lIns="0" tIns="0" rIns="0" bIns="0" rtlCol="0" anchor="t"/>
          <a:lstStyle/>
          <a:p>
            <a:pPr marL="0" indent="0" algn="l">
              <a:lnSpc>
                <a:spcPct val="112000"/>
              </a:lnSpc>
              <a:buNone/>
            </a:pPr>
            <a:r>
              <a:rPr lang="en-US" sz="1500">
                <a:solidFill>
                  <a:srgbClr val="3B362D"/>
                </a:solidFill>
                <a:latin typeface="Calibri" pitchFamily="34" charset="0"/>
              </a:rPr>
              <a:t>Built a SQLite database, loaded the raw data in, then pull it back out with SQL and save a CSV. The database is the source of truth.</a:t>
            </a:r>
            <a:endParaRPr lang="en-US" sz="1500"/>
          </a:p>
        </p:txBody>
      </p:sp>
      <p:sp>
        <p:nvSpPr>
          <p:cNvPr id="8" name="RowRule1"/>
          <p:cNvSpPr/>
          <p:nvPr/>
        </p:nvSpPr>
        <p:spPr>
          <a:xfrm>
            <a:off x="640080" y="2789760"/>
            <a:ext cx="10972800" cy="12240"/>
          </a:xfrm>
          <a:prstGeom prst="rect">
            <a:avLst/>
          </a:prstGeom>
          <a:solidFill>
            <a:srgbClr val="D9C7A6"/>
          </a:solidFill>
          <a:ln/>
        </p:spPr>
        <p:txBody>
          <a:bodyPr/>
          <a:lstStyle/>
          <a:p>
            <a:endParaRPr lang="en-US"/>
          </a:p>
        </p:txBody>
      </p:sp>
      <p:sp>
        <p:nvSpPr>
          <p:cNvPr id="9" name="Num2"/>
          <p:cNvSpPr/>
          <p:nvPr/>
        </p:nvSpPr>
        <p:spPr>
          <a:xfrm>
            <a:off x="10591800" y="2941320"/>
            <a:ext cx="960120" cy="640080"/>
          </a:xfrm>
          <a:prstGeom prst="rect">
            <a:avLst/>
          </a:prstGeom>
          <a:noFill/>
          <a:ln/>
        </p:spPr>
        <p:txBody>
          <a:bodyPr wrap="square" lIns="0" tIns="0" rIns="0" bIns="0" rtlCol="0" anchor="ctr"/>
          <a:lstStyle/>
          <a:p>
            <a:pPr marL="0" indent="0" algn="r">
              <a:buNone/>
            </a:pPr>
            <a:r>
              <a:rPr lang="en-US" sz="3600" b="1">
                <a:solidFill>
                  <a:srgbClr val="C88A2C"/>
                </a:solidFill>
                <a:latin typeface="Cambria" pitchFamily="34" charset="0"/>
              </a:rPr>
              <a:t>02</a:t>
            </a:r>
            <a:endParaRPr lang="en-US" sz="3600"/>
          </a:p>
        </p:txBody>
      </p:sp>
      <p:sp>
        <p:nvSpPr>
          <p:cNvPr id="10" name="Label2"/>
          <p:cNvSpPr/>
          <p:nvPr/>
        </p:nvSpPr>
        <p:spPr>
          <a:xfrm>
            <a:off x="640080" y="2941320"/>
            <a:ext cx="9600000" cy="384048"/>
          </a:xfrm>
          <a:prstGeom prst="rect">
            <a:avLst/>
          </a:prstGeom>
          <a:noFill/>
          <a:ln/>
        </p:spPr>
        <p:txBody>
          <a:bodyPr wrap="square" lIns="0" tIns="0" rIns="0" bIns="0" rtlCol="0" anchor="ctr"/>
          <a:lstStyle/>
          <a:p>
            <a:pPr marL="0" indent="0" algn="l">
              <a:buNone/>
            </a:pPr>
            <a:r>
              <a:rPr lang="en-US" sz="2000" b="1">
                <a:solidFill>
                  <a:srgbClr val="223140"/>
                </a:solidFill>
                <a:latin typeface="Cambria" pitchFamily="34" charset="0"/>
              </a:rPr>
              <a:t>Cleaning</a:t>
            </a:r>
            <a:endParaRPr lang="en-US" sz="2000" dirty="0"/>
          </a:p>
        </p:txBody>
      </p:sp>
      <p:sp>
        <p:nvSpPr>
          <p:cNvPr id="11" name="Desc2"/>
          <p:cNvSpPr/>
          <p:nvPr/>
        </p:nvSpPr>
        <p:spPr>
          <a:xfrm>
            <a:off x="640080" y="3352800"/>
            <a:ext cx="9600000" cy="640080"/>
          </a:xfrm>
          <a:prstGeom prst="rect">
            <a:avLst/>
          </a:prstGeom>
          <a:noFill/>
          <a:ln/>
        </p:spPr>
        <p:txBody>
          <a:bodyPr wrap="square" lIns="0" tIns="0" rIns="0" bIns="0" rtlCol="0" anchor="t"/>
          <a:lstStyle/>
          <a:p>
            <a:pPr marL="0" indent="0" algn="l">
              <a:lnSpc>
                <a:spcPct val="112000"/>
              </a:lnSpc>
              <a:buNone/>
            </a:pPr>
            <a:r>
              <a:rPr lang="en-US" sz="1500">
                <a:solidFill>
                  <a:srgbClr val="3B362D"/>
                </a:solidFill>
                <a:latin typeface="Calibri" pitchFamily="34" charset="0"/>
              </a:rPr>
              <a:t>Filled missing categorical values with "Unknown", dropped 24 exact duplicates, dropped fnlwgt and education, and renamed columns.</a:t>
            </a:r>
            <a:endParaRPr lang="en-US" sz="1500"/>
          </a:p>
        </p:txBody>
      </p:sp>
      <p:sp>
        <p:nvSpPr>
          <p:cNvPr id="12" name="RowRule2"/>
          <p:cNvSpPr/>
          <p:nvPr/>
        </p:nvSpPr>
        <p:spPr>
          <a:xfrm>
            <a:off x="640080" y="4130880"/>
            <a:ext cx="10972800" cy="12240"/>
          </a:xfrm>
          <a:prstGeom prst="rect">
            <a:avLst/>
          </a:prstGeom>
          <a:solidFill>
            <a:srgbClr val="D9C7A6"/>
          </a:solidFill>
          <a:ln/>
        </p:spPr>
        <p:txBody>
          <a:bodyPr/>
          <a:lstStyle/>
          <a:p>
            <a:endParaRPr lang="en-US"/>
          </a:p>
        </p:txBody>
      </p:sp>
      <p:sp>
        <p:nvSpPr>
          <p:cNvPr id="13" name="Num3"/>
          <p:cNvSpPr/>
          <p:nvPr/>
        </p:nvSpPr>
        <p:spPr>
          <a:xfrm>
            <a:off x="10591800" y="4282440"/>
            <a:ext cx="960120" cy="640080"/>
          </a:xfrm>
          <a:prstGeom prst="rect">
            <a:avLst/>
          </a:prstGeom>
          <a:noFill/>
          <a:ln/>
        </p:spPr>
        <p:txBody>
          <a:bodyPr wrap="square" lIns="0" tIns="0" rIns="0" bIns="0" rtlCol="0" anchor="ctr"/>
          <a:lstStyle/>
          <a:p>
            <a:pPr marL="0" indent="0" algn="r">
              <a:buNone/>
            </a:pPr>
            <a:r>
              <a:rPr lang="en-US" sz="3600" b="1">
                <a:solidFill>
                  <a:srgbClr val="223140"/>
                </a:solidFill>
                <a:latin typeface="Cambria" pitchFamily="34" charset="0"/>
              </a:rPr>
              <a:t>03</a:t>
            </a:r>
            <a:endParaRPr lang="en-US" sz="3600"/>
          </a:p>
        </p:txBody>
      </p:sp>
      <p:sp>
        <p:nvSpPr>
          <p:cNvPr id="14" name="Label3"/>
          <p:cNvSpPr/>
          <p:nvPr/>
        </p:nvSpPr>
        <p:spPr>
          <a:xfrm>
            <a:off x="640080" y="4282440"/>
            <a:ext cx="9600000" cy="384048"/>
          </a:xfrm>
          <a:prstGeom prst="rect">
            <a:avLst/>
          </a:prstGeom>
          <a:noFill/>
          <a:ln/>
        </p:spPr>
        <p:txBody>
          <a:bodyPr wrap="square" lIns="0" tIns="0" rIns="0" bIns="0" rtlCol="0" anchor="ctr"/>
          <a:lstStyle/>
          <a:p>
            <a:pPr marL="0" indent="0" algn="l">
              <a:buNone/>
            </a:pPr>
            <a:r>
              <a:rPr lang="en-US" sz="2000" b="1">
                <a:solidFill>
                  <a:srgbClr val="223140"/>
                </a:solidFill>
                <a:latin typeface="Cambria" pitchFamily="34" charset="0"/>
              </a:rPr>
              <a:t>EDA</a:t>
            </a:r>
            <a:endParaRPr lang="en-US" sz="2000"/>
          </a:p>
        </p:txBody>
      </p:sp>
      <p:sp>
        <p:nvSpPr>
          <p:cNvPr id="15" name="Desc3"/>
          <p:cNvSpPr/>
          <p:nvPr/>
        </p:nvSpPr>
        <p:spPr>
          <a:xfrm>
            <a:off x="640080" y="4693920"/>
            <a:ext cx="9600000" cy="640080"/>
          </a:xfrm>
          <a:prstGeom prst="rect">
            <a:avLst/>
          </a:prstGeom>
          <a:noFill/>
          <a:ln/>
        </p:spPr>
        <p:txBody>
          <a:bodyPr wrap="square" lIns="0" tIns="0" rIns="0" bIns="0" rtlCol="0" anchor="t"/>
          <a:lstStyle/>
          <a:p>
            <a:pPr marL="0" indent="0" algn="l">
              <a:lnSpc>
                <a:spcPct val="112000"/>
              </a:lnSpc>
              <a:buNone/>
            </a:pPr>
            <a:r>
              <a:rPr lang="en-US" sz="1500">
                <a:solidFill>
                  <a:srgbClr val="3B362D"/>
                </a:solidFill>
                <a:latin typeface="Calibri" pitchFamily="34" charset="0"/>
              </a:rPr>
              <a:t>Summary stats, distribution plots, a correlation heatmap, and income rates broken out by feature.</a:t>
            </a:r>
            <a:endParaRPr lang="en-US" sz="1500"/>
          </a:p>
        </p:txBody>
      </p:sp>
      <p:sp>
        <p:nvSpPr>
          <p:cNvPr id="16" name="NoteBar"/>
          <p:cNvSpPr/>
          <p:nvPr/>
        </p:nvSpPr>
        <p:spPr>
          <a:xfrm>
            <a:off x="640080" y="5577840"/>
            <a:ext cx="10972800" cy="502920"/>
          </a:xfrm>
          <a:prstGeom prst="rect">
            <a:avLst/>
          </a:prstGeom>
          <a:solidFill>
            <a:srgbClr val="EADFCA"/>
          </a:solidFill>
          <a:ln/>
        </p:spPr>
        <p:txBody>
          <a:bodyPr wrap="square" lIns="182880" tIns="0" rIns="91440" bIns="0" rtlCol="0" anchor="ctr"/>
          <a:lstStyle/>
          <a:p>
            <a:pPr marL="0" indent="0" algn="l">
              <a:buNone/>
            </a:pPr>
            <a:r>
              <a:rPr lang="en-US" sz="1500" b="1">
                <a:solidFill>
                  <a:srgbClr val="B0512F"/>
                </a:solidFill>
                <a:latin typeface="Calibri" pitchFamily="34" charset="0"/>
              </a:rPr>
              <a:t xml:space="preserve">Status:  </a:t>
            </a:r>
            <a:r>
              <a:rPr lang="en-US" sz="1500" i="1">
                <a:solidFill>
                  <a:srgbClr val="3B362D"/>
                </a:solidFill>
                <a:latin typeface="Calibri" pitchFamily="34" charset="0"/>
              </a:rPr>
              <a:t>This milestone (database + EDA) is done. Modeling comes next.</a:t>
            </a:r>
            <a:endParaRPr lang="en-US" sz="1500"/>
          </a:p>
        </p:txBody>
      </p:sp>
      <p:sp>
        <p:nvSpPr>
          <p:cNvPr id="17"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8"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05 / 09</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640080" y="411480"/>
            <a:ext cx="10000000" cy="276000"/>
          </a:xfrm>
          <a:prstGeom prst="rect">
            <a:avLst/>
          </a:prstGeom>
          <a:noFill/>
          <a:ln/>
        </p:spPr>
        <p:txBody>
          <a:bodyPr wrap="square" lIns="0" tIns="0" rIns="0" bIns="0" rtlCol="0" anchor="ctr"/>
          <a:lstStyle/>
          <a:p>
            <a:pPr marL="0" indent="0" algn="l">
              <a:buNone/>
            </a:pPr>
            <a:r>
              <a:rPr lang="en-US" sz="1150" b="1" spc="260">
                <a:solidFill>
                  <a:srgbClr val="B0512F"/>
                </a:solidFill>
                <a:latin typeface="Calibri" pitchFamily="34" charset="0"/>
              </a:rPr>
              <a:t>05</a:t>
            </a:r>
            <a:r>
              <a:rPr lang="en-US" sz="1150" b="1" spc="260">
                <a:solidFill>
                  <a:srgbClr val="776755"/>
                </a:solidFill>
                <a:latin typeface="Calibri" pitchFamily="34" charset="0"/>
              </a:rPr>
              <a:t xml:space="preserve">     FINDINGS</a:t>
            </a:r>
            <a:endParaRPr lang="en-US" sz="1150"/>
          </a:p>
        </p:txBody>
      </p:sp>
      <p:sp>
        <p:nvSpPr>
          <p:cNvPr id="3" name="Title"/>
          <p:cNvSpPr/>
          <p:nvPr/>
        </p:nvSpPr>
        <p:spPr>
          <a:xfrm>
            <a:off x="640080" y="731520"/>
            <a:ext cx="10972800" cy="640080"/>
          </a:xfrm>
          <a:prstGeom prst="rect">
            <a:avLst/>
          </a:prstGeom>
          <a:noFill/>
          <a:ln/>
        </p:spPr>
        <p:txBody>
          <a:bodyPr wrap="square" lIns="0" tIns="0" rIns="0" bIns="0" rtlCol="0" anchor="ctr"/>
          <a:lstStyle/>
          <a:p>
            <a:pPr marL="0" indent="0" algn="l">
              <a:buNone/>
            </a:pPr>
            <a:r>
              <a:rPr lang="en-US" sz="2800" b="1">
                <a:solidFill>
                  <a:srgbClr val="223140"/>
                </a:solidFill>
                <a:latin typeface="Cambria" pitchFamily="34" charset="0"/>
                <a:ea typeface="Cambria" pitchFamily="34" charset="-122"/>
                <a:cs typeface="Cambria" pitchFamily="34" charset="-120"/>
              </a:rPr>
              <a:t>What the data shows</a:t>
            </a:r>
            <a:endParaRPr lang="en-US" sz="2800"/>
          </a:p>
        </p:txBody>
      </p:sp>
      <p:sp>
        <p:nvSpPr>
          <p:cNvPr id="4" name="TitleRule"/>
          <p:cNvSpPr/>
          <p:nvPr/>
        </p:nvSpPr>
        <p:spPr>
          <a:xfrm>
            <a:off x="644080" y="1362840"/>
            <a:ext cx="838200" cy="34200"/>
          </a:xfrm>
          <a:prstGeom prst="rect">
            <a:avLst/>
          </a:prstGeom>
          <a:solidFill>
            <a:srgbClr val="B0512F"/>
          </a:solidFill>
          <a:ln/>
        </p:spPr>
        <p:txBody>
          <a:bodyPr/>
          <a:lstStyle/>
          <a:p>
            <a:endParaRPr lang="en-US"/>
          </a:p>
        </p:txBody>
      </p:sp>
      <p:sp>
        <p:nvSpPr>
          <p:cNvPr id="5" name="LeftRule"/>
          <p:cNvSpPr/>
          <p:nvPr/>
        </p:nvSpPr>
        <p:spPr>
          <a:xfrm>
            <a:off x="5257800" y="1691640"/>
            <a:ext cx="43200" cy="3931920"/>
          </a:xfrm>
          <a:prstGeom prst="rect">
            <a:avLst/>
          </a:prstGeom>
          <a:solidFill>
            <a:srgbClr val="D9C7A6"/>
          </a:solidFill>
          <a:ln/>
        </p:spPr>
        <p:txBody>
          <a:bodyPr/>
          <a:lstStyle/>
          <a:p>
            <a:endParaRPr lang="en-US"/>
          </a:p>
        </p:txBody>
      </p:sp>
      <p:sp>
        <p:nvSpPr>
          <p:cNvPr id="6" name="BodyText"/>
          <p:cNvSpPr/>
          <p:nvPr/>
        </p:nvSpPr>
        <p:spPr>
          <a:xfrm>
            <a:off x="5486400" y="1691640"/>
            <a:ext cx="6065520" cy="3931920"/>
          </a:xfrm>
          <a:prstGeom prst="rect">
            <a:avLst/>
          </a:prstGeom>
          <a:noFill/>
          <a:ln/>
        </p:spPr>
        <p:txBody>
          <a:bodyPr wrap="square" lIns="0" tIns="0" rIns="0" bIns="0" rtlCol="0" anchor="t"/>
          <a:lstStyle/>
          <a:p>
            <a:pPr marL="342900" indent="-342900" algn="l">
              <a:lnSpc>
                <a:spcPct val="114000"/>
              </a:lnSpc>
              <a:spcAft>
                <a:spcPts val="1400"/>
              </a:spcAft>
              <a:buClr>
                <a:srgbClr val="B0512F"/>
              </a:buClr>
              <a:buSzPct val="90000"/>
              <a:buChar char="—"/>
            </a:pPr>
            <a:r>
              <a:rPr lang="en-US" sz="1600">
                <a:solidFill>
                  <a:srgbClr val="3B362D"/>
                </a:solidFill>
                <a:latin typeface="Calibri" pitchFamily="34" charset="0"/>
              </a:rPr>
              <a:t>About 76% earn &lt;=50K and 24% earn &gt;50K, so plain accuracy is misleading and I score with PR-AUC.</a:t>
            </a:r>
            <a:endParaRPr lang="en-US" sz="1600"/>
          </a:p>
          <a:p>
            <a:pPr marL="342900" indent="-342900" algn="l">
              <a:lnSpc>
                <a:spcPct val="114000"/>
              </a:lnSpc>
              <a:spcAft>
                <a:spcPts val="1400"/>
              </a:spcAft>
              <a:buClr>
                <a:srgbClr val="B0512F"/>
              </a:buClr>
              <a:buSzPct val="90000"/>
              <a:buChar char="—"/>
            </a:pPr>
            <a:r>
              <a:rPr lang="en-US" sz="1600">
                <a:solidFill>
                  <a:srgbClr val="3B362D"/>
                </a:solidFill>
                <a:latin typeface="Calibri" pitchFamily="34" charset="0"/>
              </a:rPr>
              <a:t>Education and marital status are strong predictors. The &gt;50K rate climbs steadily with education, and married people are far above never-married.</a:t>
            </a:r>
            <a:endParaRPr lang="en-US" sz="1600"/>
          </a:p>
          <a:p>
            <a:pPr marL="342900" indent="-342900" algn="l">
              <a:lnSpc>
                <a:spcPct val="114000"/>
              </a:lnSpc>
              <a:spcAft>
                <a:spcPts val="1400"/>
              </a:spcAft>
              <a:buClr>
                <a:srgbClr val="B0512F"/>
              </a:buClr>
              <a:buSzPct val="90000"/>
              <a:buChar char="—"/>
            </a:pPr>
            <a:r>
              <a:rPr lang="en-US" sz="1600">
                <a:solidFill>
                  <a:srgbClr val="3B362D"/>
                </a:solidFill>
                <a:latin typeface="Calibri" pitchFamily="34" charset="0"/>
              </a:rPr>
              <a:t>The &gt;50K rate is much higher for US-born than foreign-born people. That gap is what the fairness audit (RQ2) is built to test.</a:t>
            </a:r>
            <a:endParaRPr lang="en-US" sz="1600"/>
          </a:p>
          <a:p>
            <a:pPr marL="342900" indent="-342900" algn="l">
              <a:lnSpc>
                <a:spcPct val="114000"/>
              </a:lnSpc>
              <a:buClr>
                <a:srgbClr val="B0512F"/>
              </a:buClr>
              <a:buSzPct val="90000"/>
              <a:buChar char="—"/>
            </a:pPr>
            <a:r>
              <a:rPr lang="en-US" sz="1600">
                <a:solidFill>
                  <a:srgbClr val="3B362D"/>
                </a:solidFill>
                <a:latin typeface="Calibri" pitchFamily="34" charset="0"/>
              </a:rPr>
              <a:t>Education separates the classes more cleanly than hours worked, an early hint toward the RQ1 drivers question.</a:t>
            </a:r>
            <a:endParaRPr lang="en-US" sz="1600"/>
          </a:p>
        </p:txBody>
      </p:sp>
      <p:sp>
        <p:nvSpPr>
          <p:cNvPr id="8" name="ChartPanel"/>
          <p:cNvSpPr/>
          <p:nvPr/>
        </p:nvSpPr>
        <p:spPr>
          <a:xfrm>
            <a:off x="640080" y="1691640"/>
            <a:ext cx="4389120" cy="3931920"/>
          </a:xfrm>
          <a:prstGeom prst="rect">
            <a:avLst/>
          </a:prstGeom>
          <a:solidFill>
            <a:srgbClr val="FBF6EC"/>
          </a:solidFill>
          <a:ln>
            <a:solidFill>
              <a:srgbClr val="D9C7A6"/>
            </a:solidFill>
          </a:ln>
        </p:spPr>
        <p:txBody>
          <a:bodyPr/>
          <a:lstStyle/>
          <a:p>
            <a:endParaRPr lang="en-US"/>
          </a:p>
        </p:txBody>
      </p:sp>
      <p:graphicFrame>
        <p:nvGraphicFramePr>
          <p:cNvPr id="7" name="Chart 0"/>
          <p:cNvGraphicFramePr/>
          <p:nvPr>
            <p:extLst>
              <p:ext uri="{D42A27DB-BD31-4B8C-83A1-F6EECF244321}">
                <p14:modId xmlns:p14="http://schemas.microsoft.com/office/powerpoint/2010/main" val="2213616216"/>
              </p:ext>
            </p:extLst>
          </p:nvPr>
        </p:nvGraphicFramePr>
        <p:xfrm>
          <a:off x="868680" y="1965960"/>
          <a:ext cx="39319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9"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0"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06 / 09</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1551920" y="411480"/>
            <a:ext cx="10000000" cy="276000"/>
          </a:xfrm>
          <a:prstGeom prst="rect">
            <a:avLst/>
          </a:prstGeom>
          <a:noFill/>
          <a:ln/>
        </p:spPr>
        <p:txBody>
          <a:bodyPr wrap="square" lIns="0" tIns="0" rIns="0" bIns="0" rtlCol="0" anchor="ctr"/>
          <a:lstStyle/>
          <a:p>
            <a:pPr marL="0" indent="0" algn="r">
              <a:buNone/>
            </a:pPr>
            <a:r>
              <a:rPr lang="en-US" sz="1150" b="1" spc="260">
                <a:solidFill>
                  <a:srgbClr val="B0512F"/>
                </a:solidFill>
                <a:latin typeface="Calibri" pitchFamily="34" charset="0"/>
              </a:rPr>
              <a:t>06</a:t>
            </a:r>
            <a:r>
              <a:rPr lang="en-US" sz="1150" b="1" spc="260">
                <a:solidFill>
                  <a:srgbClr val="776755"/>
                </a:solidFill>
                <a:latin typeface="Calibri" pitchFamily="34" charset="0"/>
              </a:rPr>
              <a:t xml:space="preserve">     EXPLORATORY ANALYSIS</a:t>
            </a:r>
            <a:endParaRPr lang="en-US" sz="1150"/>
          </a:p>
        </p:txBody>
      </p:sp>
      <p:sp>
        <p:nvSpPr>
          <p:cNvPr id="3" name="Title"/>
          <p:cNvSpPr/>
          <p:nvPr/>
        </p:nvSpPr>
        <p:spPr>
          <a:xfrm>
            <a:off x="579120" y="731520"/>
            <a:ext cx="10972800" cy="640080"/>
          </a:xfrm>
          <a:prstGeom prst="rect">
            <a:avLst/>
          </a:prstGeom>
          <a:noFill/>
          <a:ln/>
        </p:spPr>
        <p:txBody>
          <a:bodyPr wrap="square" lIns="0" tIns="0" rIns="0" bIns="0" rtlCol="0" anchor="ctr"/>
          <a:lstStyle/>
          <a:p>
            <a:pPr marL="0" indent="0" algn="r">
              <a:buNone/>
            </a:pPr>
            <a:r>
              <a:rPr lang="en-US" sz="2800" b="1">
                <a:solidFill>
                  <a:srgbClr val="223140"/>
                </a:solidFill>
                <a:latin typeface="Cambria" pitchFamily="34" charset="0"/>
                <a:ea typeface="Cambria" pitchFamily="34" charset="-122"/>
                <a:cs typeface="Cambria" pitchFamily="34" charset="-120"/>
              </a:rPr>
              <a:t>A closer look at the data</a:t>
            </a:r>
            <a:endParaRPr lang="en-US" sz="2800"/>
          </a:p>
        </p:txBody>
      </p:sp>
      <p:sp>
        <p:nvSpPr>
          <p:cNvPr id="4" name="TitleRule"/>
          <p:cNvSpPr/>
          <p:nvPr/>
        </p:nvSpPr>
        <p:spPr>
          <a:xfrm>
            <a:off x="10713720" y="1362840"/>
            <a:ext cx="838200" cy="34200"/>
          </a:xfrm>
          <a:prstGeom prst="rect">
            <a:avLst/>
          </a:prstGeom>
          <a:solidFill>
            <a:srgbClr val="B0512F"/>
          </a:solidFill>
          <a:ln/>
        </p:spPr>
        <p:txBody>
          <a:bodyPr/>
          <a:lstStyle/>
          <a:p>
            <a:endParaRPr lang="en-US"/>
          </a:p>
        </p:txBody>
      </p:sp>
      <p:sp>
        <p:nvSpPr>
          <p:cNvPr id="5" name="Mat1"/>
          <p:cNvSpPr/>
          <p:nvPr/>
        </p:nvSpPr>
        <p:spPr>
          <a:xfrm>
            <a:off x="640080" y="1554480"/>
            <a:ext cx="5257800" cy="4114800"/>
          </a:xfrm>
          <a:prstGeom prst="rect">
            <a:avLst/>
          </a:prstGeom>
          <a:solidFill>
            <a:srgbClr val="FBF6EC"/>
          </a:solidFill>
          <a:ln>
            <a:solidFill>
              <a:srgbClr val="D9C7A6"/>
            </a:solidFill>
          </a:ln>
        </p:spPr>
        <p:txBody>
          <a:bodyPr/>
          <a:lstStyle/>
          <a:p>
            <a:endParaRPr lang="en-US"/>
          </a:p>
        </p:txBody>
      </p:sp>
      <p:sp>
        <p:nvSpPr>
          <p:cNvPr id="6" name="Fig1Label"/>
          <p:cNvSpPr/>
          <p:nvPr/>
        </p:nvSpPr>
        <p:spPr>
          <a:xfrm>
            <a:off x="868680" y="1691640"/>
            <a:ext cx="4800600" cy="274320"/>
          </a:xfrm>
          <a:prstGeom prst="rect">
            <a:avLst/>
          </a:prstGeom>
          <a:noFill/>
          <a:ln/>
        </p:spPr>
        <p:txBody>
          <a:bodyPr wrap="square" lIns="0" tIns="0" rIns="0" bIns="0" rtlCol="0" anchor="ctr"/>
          <a:lstStyle/>
          <a:p>
            <a:pPr marL="0" indent="0" algn="l">
              <a:buNone/>
            </a:pPr>
            <a:r>
              <a:rPr lang="en-US" sz="1100" b="1" spc="160">
                <a:solidFill>
                  <a:srgbClr val="B0512F"/>
                </a:solidFill>
                <a:latin typeface="Calibri" pitchFamily="34" charset="0"/>
              </a:rPr>
              <a:t>FIG. 1  —  NUMERIC FEATURE CORRELATION</a:t>
            </a:r>
            <a:endParaRPr lang="en-US" sz="1100"/>
          </a:p>
        </p:txBody>
      </p:sp>
      <p:sp>
        <p:nvSpPr>
          <p:cNvPr id="8" name="Caption1"/>
          <p:cNvSpPr/>
          <p:nvPr/>
        </p:nvSpPr>
        <p:spPr>
          <a:xfrm>
            <a:off x="640080" y="5760720"/>
            <a:ext cx="5257800" cy="502920"/>
          </a:xfrm>
          <a:prstGeom prst="rect">
            <a:avLst/>
          </a:prstGeom>
          <a:noFill/>
          <a:ln/>
        </p:spPr>
        <p:txBody>
          <a:bodyPr wrap="square" lIns="0" tIns="0" rIns="0" bIns="0" rtlCol="0" anchor="t"/>
          <a:lstStyle/>
          <a:p>
            <a:pPr marL="0" indent="0" algn="l">
              <a:lnSpc>
                <a:spcPct val="110000"/>
              </a:lnSpc>
              <a:buNone/>
            </a:pPr>
            <a:r>
              <a:rPr lang="en-US" sz="1250">
                <a:solidFill>
                  <a:srgbClr val="776755"/>
                </a:solidFill>
                <a:latin typeface="Calibri" pitchFamily="34" charset="0"/>
              </a:rPr>
              <a:t>The numeric features aren't strongly correlated, so none need dropping for multicollinearity.</a:t>
            </a:r>
            <a:endParaRPr lang="en-US" sz="1250"/>
          </a:p>
        </p:txBody>
      </p:sp>
      <p:sp>
        <p:nvSpPr>
          <p:cNvPr id="9" name="Mat2"/>
          <p:cNvSpPr/>
          <p:nvPr/>
        </p:nvSpPr>
        <p:spPr>
          <a:xfrm>
            <a:off x="6263640" y="1554480"/>
            <a:ext cx="5257800" cy="4114800"/>
          </a:xfrm>
          <a:prstGeom prst="rect">
            <a:avLst/>
          </a:prstGeom>
          <a:solidFill>
            <a:srgbClr val="FBF6EC"/>
          </a:solidFill>
          <a:ln>
            <a:solidFill>
              <a:srgbClr val="D9C7A6"/>
            </a:solidFill>
          </a:ln>
        </p:spPr>
        <p:txBody>
          <a:bodyPr/>
          <a:lstStyle/>
          <a:p>
            <a:endParaRPr lang="en-US"/>
          </a:p>
        </p:txBody>
      </p:sp>
      <p:sp>
        <p:nvSpPr>
          <p:cNvPr id="10" name="Fig2Label"/>
          <p:cNvSpPr/>
          <p:nvPr/>
        </p:nvSpPr>
        <p:spPr>
          <a:xfrm>
            <a:off x="6492240" y="1691640"/>
            <a:ext cx="4800600" cy="274320"/>
          </a:xfrm>
          <a:prstGeom prst="rect">
            <a:avLst/>
          </a:prstGeom>
          <a:noFill/>
          <a:ln/>
        </p:spPr>
        <p:txBody>
          <a:bodyPr wrap="square" lIns="0" tIns="0" rIns="0" bIns="0" rtlCol="0" anchor="ctr"/>
          <a:lstStyle/>
          <a:p>
            <a:pPr marL="0" indent="0" algn="l">
              <a:buNone/>
            </a:pPr>
            <a:r>
              <a:rPr lang="en-US" sz="1100" b="1" spc="160">
                <a:solidFill>
                  <a:srgbClr val="B0512F"/>
                </a:solidFill>
                <a:latin typeface="Calibri" pitchFamily="34" charset="0"/>
              </a:rPr>
              <a:t>FIG. 2  —  INCOME RATE BY EDUCATION</a:t>
            </a:r>
            <a:endParaRPr lang="en-US" sz="1100"/>
          </a:p>
        </p:txBody>
      </p:sp>
      <p:pic>
        <p:nvPicPr>
          <p:cNvPr id="7" name="Image 0" descr="plots/income_rate_by_education.png"/>
          <p:cNvPicPr>
            <a:picLocks noChangeAspect="1"/>
          </p:cNvPicPr>
          <p:nvPr/>
        </p:nvPicPr>
        <p:blipFill>
          <a:blip r:embed="rId3"/>
          <a:stretch>
            <a:fillRect/>
          </a:stretch>
        </p:blipFill>
        <p:spPr>
          <a:xfrm>
            <a:off x="6681216" y="2057400"/>
            <a:ext cx="4422648" cy="3572698"/>
          </a:xfrm>
          <a:prstGeom prst="rect">
            <a:avLst/>
          </a:prstGeom>
        </p:spPr>
      </p:pic>
      <p:pic>
        <p:nvPicPr>
          <p:cNvPr id="11" name="Image 1" descr="plots/correlation_heatmap.png"/>
          <p:cNvPicPr>
            <a:picLocks noChangeAspect="1"/>
          </p:cNvPicPr>
          <p:nvPr/>
        </p:nvPicPr>
        <p:blipFill>
          <a:blip r:embed="rId4"/>
          <a:stretch>
            <a:fillRect/>
          </a:stretch>
        </p:blipFill>
        <p:spPr>
          <a:xfrm>
            <a:off x="1150848" y="2148840"/>
            <a:ext cx="4236264" cy="3294747"/>
          </a:xfrm>
          <a:prstGeom prst="rect">
            <a:avLst/>
          </a:prstGeom>
        </p:spPr>
      </p:pic>
      <p:sp>
        <p:nvSpPr>
          <p:cNvPr id="12" name="Caption2"/>
          <p:cNvSpPr/>
          <p:nvPr/>
        </p:nvSpPr>
        <p:spPr>
          <a:xfrm>
            <a:off x="6263640" y="5760720"/>
            <a:ext cx="5257800" cy="502920"/>
          </a:xfrm>
          <a:prstGeom prst="rect">
            <a:avLst/>
          </a:prstGeom>
          <a:noFill/>
          <a:ln/>
        </p:spPr>
        <p:txBody>
          <a:bodyPr wrap="square" lIns="0" tIns="0" rIns="0" bIns="0" rtlCol="0" anchor="t"/>
          <a:lstStyle/>
          <a:p>
            <a:pPr marL="0" indent="0" algn="l">
              <a:lnSpc>
                <a:spcPct val="110000"/>
              </a:lnSpc>
              <a:buNone/>
            </a:pPr>
            <a:r>
              <a:rPr lang="en-US" sz="1250">
                <a:solidFill>
                  <a:srgbClr val="776755"/>
                </a:solidFill>
                <a:latin typeface="Calibri" pitchFamily="34" charset="0"/>
              </a:rPr>
              <a:t>The &gt;50K rate rises steadily with years of education, a clean signal a model can use.</a:t>
            </a:r>
            <a:endParaRPr lang="en-US" sz="1250"/>
          </a:p>
        </p:txBody>
      </p:sp>
      <p:sp>
        <p:nvSpPr>
          <p:cNvPr id="13"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07 / 09</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23140"/>
        </a:solidFill>
        <a:effectLst/>
      </p:bgPr>
    </p:bg>
    <p:spTree>
      <p:nvGrpSpPr>
        <p:cNvPr id="1" name=""/>
        <p:cNvGrpSpPr/>
        <p:nvPr/>
      </p:nvGrpSpPr>
      <p:grpSpPr>
        <a:xfrm>
          <a:off x="0" y="0"/>
          <a:ext cx="0" cy="0"/>
          <a:chOff x="0" y="0"/>
          <a:chExt cx="0" cy="0"/>
        </a:xfrm>
      </p:grpSpPr>
      <p:sp>
        <p:nvSpPr>
          <p:cNvPr id="2" name="RuleTop"/>
          <p:cNvSpPr/>
          <p:nvPr/>
        </p:nvSpPr>
        <p:spPr>
          <a:xfrm>
            <a:off x="5743956" y="780000"/>
            <a:ext cx="704088" cy="36000"/>
          </a:xfrm>
          <a:prstGeom prst="rect">
            <a:avLst/>
          </a:prstGeom>
          <a:solidFill>
            <a:srgbClr val="B0512F"/>
          </a:solidFill>
          <a:ln/>
        </p:spPr>
        <p:txBody>
          <a:bodyPr/>
          <a:lstStyle/>
          <a:p>
            <a:endParaRPr lang="en-US"/>
          </a:p>
        </p:txBody>
      </p:sp>
      <p:sp>
        <p:nvSpPr>
          <p:cNvPr id="3" name="Kicker"/>
          <p:cNvSpPr/>
          <p:nvPr/>
        </p:nvSpPr>
        <p:spPr>
          <a:xfrm>
            <a:off x="640080" y="920000"/>
            <a:ext cx="10911840" cy="320040"/>
          </a:xfrm>
          <a:prstGeom prst="rect">
            <a:avLst/>
          </a:prstGeom>
          <a:noFill/>
          <a:ln/>
        </p:spPr>
        <p:txBody>
          <a:bodyPr wrap="square" lIns="0" tIns="0" rIns="0" bIns="0" rtlCol="0" anchor="ctr"/>
          <a:lstStyle/>
          <a:p>
            <a:pPr marL="0" indent="0" algn="ctr">
              <a:buNone/>
            </a:pPr>
            <a:r>
              <a:rPr lang="en-US" sz="1400" b="1" spc="340">
                <a:solidFill>
                  <a:srgbClr val="C88A2C"/>
                </a:solidFill>
                <a:latin typeface="Calibri" pitchFamily="34" charset="0"/>
              </a:rPr>
              <a:t>WHAT'S NEXT</a:t>
            </a:r>
            <a:endParaRPr lang="en-US" sz="1400"/>
          </a:p>
        </p:txBody>
      </p:sp>
      <p:sp>
        <p:nvSpPr>
          <p:cNvPr id="4" name="Title"/>
          <p:cNvSpPr/>
          <p:nvPr/>
        </p:nvSpPr>
        <p:spPr>
          <a:xfrm>
            <a:off x="640080" y="1240000"/>
            <a:ext cx="10911840" cy="640080"/>
          </a:xfrm>
          <a:prstGeom prst="rect">
            <a:avLst/>
          </a:prstGeom>
          <a:noFill/>
          <a:ln/>
        </p:spPr>
        <p:txBody>
          <a:bodyPr wrap="square" lIns="0" tIns="0" rIns="0" bIns="0" rtlCol="0" anchor="ctr"/>
          <a:lstStyle/>
          <a:p>
            <a:pPr marL="0" indent="0" algn="ctr">
              <a:buNone/>
            </a:pPr>
            <a:r>
              <a:rPr lang="en-US" sz="3200" b="1">
                <a:solidFill>
                  <a:srgbClr val="F4ECDD"/>
                </a:solidFill>
                <a:latin typeface="Cambria" pitchFamily="34" charset="0"/>
                <a:ea typeface="Cambria" pitchFamily="34" charset="-122"/>
                <a:cs typeface="Cambria" pitchFamily="34" charset="-120"/>
              </a:rPr>
              <a:t>Next steps</a:t>
            </a:r>
            <a:endParaRPr lang="en-US" sz="3200"/>
          </a:p>
        </p:txBody>
      </p:sp>
      <p:sp>
        <p:nvSpPr>
          <p:cNvPr id="5" name="Card1"/>
          <p:cNvSpPr/>
          <p:nvPr/>
        </p:nvSpPr>
        <p:spPr>
          <a:xfrm>
            <a:off x="640080" y="2450000"/>
            <a:ext cx="5255920" cy="1800000"/>
          </a:xfrm>
          <a:prstGeom prst="rect">
            <a:avLst/>
          </a:prstGeom>
          <a:solidFill>
            <a:srgbClr val="2B3C4C"/>
          </a:solidFill>
          <a:ln/>
        </p:spPr>
        <p:txBody>
          <a:bodyPr/>
          <a:lstStyle/>
          <a:p>
            <a:endParaRPr lang="en-US"/>
          </a:p>
        </p:txBody>
      </p:sp>
      <p:sp>
        <p:nvSpPr>
          <p:cNvPr id="6" name="Card1Bar"/>
          <p:cNvSpPr/>
          <p:nvPr/>
        </p:nvSpPr>
        <p:spPr>
          <a:xfrm>
            <a:off x="640080" y="2450000"/>
            <a:ext cx="43200" cy="1800000"/>
          </a:xfrm>
          <a:prstGeom prst="rect">
            <a:avLst/>
          </a:prstGeom>
          <a:solidFill>
            <a:srgbClr val="C88A2C"/>
          </a:solidFill>
          <a:ln/>
        </p:spPr>
        <p:txBody>
          <a:bodyPr/>
          <a:lstStyle/>
          <a:p>
            <a:endParaRPr lang="en-US"/>
          </a:p>
        </p:txBody>
      </p:sp>
      <p:sp>
        <p:nvSpPr>
          <p:cNvPr id="7" name="N1"/>
          <p:cNvSpPr/>
          <p:nvPr/>
        </p:nvSpPr>
        <p:spPr>
          <a:xfrm>
            <a:off x="940080" y="2670000"/>
            <a:ext cx="1000000" cy="460000"/>
          </a:xfrm>
          <a:prstGeom prst="rect">
            <a:avLst/>
          </a:prstGeom>
          <a:noFill/>
          <a:ln/>
        </p:spPr>
        <p:txBody>
          <a:bodyPr wrap="square" lIns="0" tIns="0" rIns="0" bIns="0" rtlCol="0" anchor="t"/>
          <a:lstStyle/>
          <a:p>
            <a:pPr marL="0" indent="0" algn="l">
              <a:buNone/>
            </a:pPr>
            <a:r>
              <a:rPr lang="en-US" sz="2600" b="1">
                <a:solidFill>
                  <a:srgbClr val="C88A2C"/>
                </a:solidFill>
                <a:latin typeface="Cambria" pitchFamily="34" charset="0"/>
              </a:rPr>
              <a:t>01</a:t>
            </a:r>
            <a:endParaRPr lang="en-US" sz="2600"/>
          </a:p>
        </p:txBody>
      </p:sp>
      <p:sp>
        <p:nvSpPr>
          <p:cNvPr id="8" name="T1"/>
          <p:cNvSpPr/>
          <p:nvPr/>
        </p:nvSpPr>
        <p:spPr>
          <a:xfrm>
            <a:off x="940080" y="3230000"/>
            <a:ext cx="4655920" cy="900000"/>
          </a:xfrm>
          <a:prstGeom prst="rect">
            <a:avLst/>
          </a:prstGeom>
          <a:noFill/>
          <a:ln/>
        </p:spPr>
        <p:txBody>
          <a:bodyPr wrap="square" lIns="0" tIns="0" rIns="0" bIns="0" rtlCol="0" anchor="t"/>
          <a:lstStyle/>
          <a:p>
            <a:pPr marL="0" indent="0" algn="l">
              <a:lnSpc>
                <a:spcPct val="112000"/>
              </a:lnSpc>
              <a:buNone/>
            </a:pPr>
            <a:r>
              <a:rPr lang="en-US" sz="1500">
                <a:solidFill>
                  <a:srgbClr val="E6DCC8"/>
                </a:solidFill>
                <a:latin typeface="Calibri" pitchFamily="34" charset="0"/>
              </a:rPr>
              <a:t>Build and cross-validate the models (reference, logistic baseline, XGBoost, MLP), tune hyperparameters, and handle class imbalance.</a:t>
            </a:r>
            <a:endParaRPr lang="en-US" sz="1500"/>
          </a:p>
        </p:txBody>
      </p:sp>
      <p:sp>
        <p:nvSpPr>
          <p:cNvPr id="9" name="Card2"/>
          <p:cNvSpPr/>
          <p:nvPr/>
        </p:nvSpPr>
        <p:spPr>
          <a:xfrm>
            <a:off x="6296000" y="2450000"/>
            <a:ext cx="5255920" cy="1800000"/>
          </a:xfrm>
          <a:prstGeom prst="rect">
            <a:avLst/>
          </a:prstGeom>
          <a:solidFill>
            <a:srgbClr val="2B3C4C"/>
          </a:solidFill>
          <a:ln/>
        </p:spPr>
        <p:txBody>
          <a:bodyPr/>
          <a:lstStyle/>
          <a:p>
            <a:endParaRPr lang="en-US"/>
          </a:p>
        </p:txBody>
      </p:sp>
      <p:sp>
        <p:nvSpPr>
          <p:cNvPr id="10" name="Card2Bar"/>
          <p:cNvSpPr/>
          <p:nvPr/>
        </p:nvSpPr>
        <p:spPr>
          <a:xfrm>
            <a:off x="6296000" y="2450000"/>
            <a:ext cx="43200" cy="1800000"/>
          </a:xfrm>
          <a:prstGeom prst="rect">
            <a:avLst/>
          </a:prstGeom>
          <a:solidFill>
            <a:srgbClr val="C88A2C"/>
          </a:solidFill>
          <a:ln/>
        </p:spPr>
        <p:txBody>
          <a:bodyPr/>
          <a:lstStyle/>
          <a:p>
            <a:endParaRPr lang="en-US"/>
          </a:p>
        </p:txBody>
      </p:sp>
      <p:sp>
        <p:nvSpPr>
          <p:cNvPr id="11" name="N2"/>
          <p:cNvSpPr/>
          <p:nvPr/>
        </p:nvSpPr>
        <p:spPr>
          <a:xfrm>
            <a:off x="6596000" y="2670000"/>
            <a:ext cx="1000000" cy="460000"/>
          </a:xfrm>
          <a:prstGeom prst="rect">
            <a:avLst/>
          </a:prstGeom>
          <a:noFill/>
          <a:ln/>
        </p:spPr>
        <p:txBody>
          <a:bodyPr wrap="square" lIns="0" tIns="0" rIns="0" bIns="0" rtlCol="0" anchor="t"/>
          <a:lstStyle/>
          <a:p>
            <a:pPr marL="0" indent="0" algn="l">
              <a:buNone/>
            </a:pPr>
            <a:r>
              <a:rPr lang="en-US" sz="2600" b="1">
                <a:solidFill>
                  <a:srgbClr val="C88A2C"/>
                </a:solidFill>
                <a:latin typeface="Cambria" pitchFamily="34" charset="0"/>
              </a:rPr>
              <a:t>02</a:t>
            </a:r>
            <a:endParaRPr lang="en-US" sz="2600"/>
          </a:p>
        </p:txBody>
      </p:sp>
      <p:sp>
        <p:nvSpPr>
          <p:cNvPr id="12" name="T2"/>
          <p:cNvSpPr/>
          <p:nvPr/>
        </p:nvSpPr>
        <p:spPr>
          <a:xfrm>
            <a:off x="6596000" y="3230000"/>
            <a:ext cx="4655920" cy="900000"/>
          </a:xfrm>
          <a:prstGeom prst="rect">
            <a:avLst/>
          </a:prstGeom>
          <a:noFill/>
          <a:ln/>
        </p:spPr>
        <p:txBody>
          <a:bodyPr wrap="square" lIns="0" tIns="0" rIns="0" bIns="0" rtlCol="0" anchor="t"/>
          <a:lstStyle/>
          <a:p>
            <a:pPr marL="0" indent="0" algn="l">
              <a:lnSpc>
                <a:spcPct val="112000"/>
              </a:lnSpc>
              <a:buNone/>
            </a:pPr>
            <a:r>
              <a:rPr lang="en-US" sz="1500">
                <a:solidFill>
                  <a:srgbClr val="E6DCC8"/>
                </a:solidFill>
                <a:latin typeface="Calibri" pitchFamily="34" charset="0"/>
              </a:rPr>
              <a:t>Measure which features drive the prediction with coefficients, permutation importance, and partial dependence (RQ1: education vs hours).</a:t>
            </a:r>
            <a:endParaRPr lang="en-US" sz="1500"/>
          </a:p>
        </p:txBody>
      </p:sp>
      <p:sp>
        <p:nvSpPr>
          <p:cNvPr id="13" name="Card3"/>
          <p:cNvSpPr/>
          <p:nvPr/>
        </p:nvSpPr>
        <p:spPr>
          <a:xfrm>
            <a:off x="640080" y="4510000"/>
            <a:ext cx="5255920" cy="1800000"/>
          </a:xfrm>
          <a:prstGeom prst="rect">
            <a:avLst/>
          </a:prstGeom>
          <a:solidFill>
            <a:srgbClr val="2B3C4C"/>
          </a:solidFill>
          <a:ln/>
        </p:spPr>
        <p:txBody>
          <a:bodyPr/>
          <a:lstStyle/>
          <a:p>
            <a:endParaRPr lang="en-US"/>
          </a:p>
        </p:txBody>
      </p:sp>
      <p:sp>
        <p:nvSpPr>
          <p:cNvPr id="14" name="Card3Bar"/>
          <p:cNvSpPr/>
          <p:nvPr/>
        </p:nvSpPr>
        <p:spPr>
          <a:xfrm>
            <a:off x="640080" y="4510000"/>
            <a:ext cx="43200" cy="1800000"/>
          </a:xfrm>
          <a:prstGeom prst="rect">
            <a:avLst/>
          </a:prstGeom>
          <a:solidFill>
            <a:srgbClr val="C88A2C"/>
          </a:solidFill>
          <a:ln/>
        </p:spPr>
        <p:txBody>
          <a:bodyPr/>
          <a:lstStyle/>
          <a:p>
            <a:endParaRPr lang="en-US"/>
          </a:p>
        </p:txBody>
      </p:sp>
      <p:sp>
        <p:nvSpPr>
          <p:cNvPr id="15" name="N3"/>
          <p:cNvSpPr/>
          <p:nvPr/>
        </p:nvSpPr>
        <p:spPr>
          <a:xfrm>
            <a:off x="940080" y="4730000"/>
            <a:ext cx="1000000" cy="460000"/>
          </a:xfrm>
          <a:prstGeom prst="rect">
            <a:avLst/>
          </a:prstGeom>
          <a:noFill/>
          <a:ln/>
        </p:spPr>
        <p:txBody>
          <a:bodyPr wrap="square" lIns="0" tIns="0" rIns="0" bIns="0" rtlCol="0" anchor="t"/>
          <a:lstStyle/>
          <a:p>
            <a:pPr marL="0" indent="0" algn="l">
              <a:buNone/>
            </a:pPr>
            <a:r>
              <a:rPr lang="en-US" sz="2600" b="1">
                <a:solidFill>
                  <a:srgbClr val="C88A2C"/>
                </a:solidFill>
                <a:latin typeface="Cambria" pitchFamily="34" charset="0"/>
              </a:rPr>
              <a:t>03</a:t>
            </a:r>
            <a:endParaRPr lang="en-US" sz="2600"/>
          </a:p>
        </p:txBody>
      </p:sp>
      <p:sp>
        <p:nvSpPr>
          <p:cNvPr id="16" name="T3"/>
          <p:cNvSpPr/>
          <p:nvPr/>
        </p:nvSpPr>
        <p:spPr>
          <a:xfrm>
            <a:off x="940080" y="5290000"/>
            <a:ext cx="4655920" cy="900000"/>
          </a:xfrm>
          <a:prstGeom prst="rect">
            <a:avLst/>
          </a:prstGeom>
          <a:noFill/>
          <a:ln/>
        </p:spPr>
        <p:txBody>
          <a:bodyPr wrap="square" lIns="0" tIns="0" rIns="0" bIns="0" rtlCol="0" anchor="t"/>
          <a:lstStyle/>
          <a:p>
            <a:pPr marL="0" indent="0" algn="l">
              <a:lnSpc>
                <a:spcPct val="112000"/>
              </a:lnSpc>
              <a:buNone/>
            </a:pPr>
            <a:r>
              <a:rPr lang="en-US" sz="1500">
                <a:solidFill>
                  <a:srgbClr val="E6DCC8"/>
                </a:solidFill>
                <a:latin typeface="Calibri" pitchFamily="34" charset="0"/>
              </a:rPr>
              <a:t>Run the fairness audit: per-group error rates by nativity, sex, and race, McNemar and bootstrap CIs, and a fairness-through-unawareness check (RQ2).</a:t>
            </a:r>
            <a:endParaRPr lang="en-US" sz="1500"/>
          </a:p>
        </p:txBody>
      </p:sp>
      <p:sp>
        <p:nvSpPr>
          <p:cNvPr id="17" name="Card4"/>
          <p:cNvSpPr/>
          <p:nvPr/>
        </p:nvSpPr>
        <p:spPr>
          <a:xfrm>
            <a:off x="6296000" y="4510000"/>
            <a:ext cx="5255920" cy="1800000"/>
          </a:xfrm>
          <a:prstGeom prst="rect">
            <a:avLst/>
          </a:prstGeom>
          <a:solidFill>
            <a:srgbClr val="2B3C4C"/>
          </a:solidFill>
          <a:ln/>
        </p:spPr>
        <p:txBody>
          <a:bodyPr/>
          <a:lstStyle/>
          <a:p>
            <a:endParaRPr lang="en-US"/>
          </a:p>
        </p:txBody>
      </p:sp>
      <p:sp>
        <p:nvSpPr>
          <p:cNvPr id="18" name="Card4Bar"/>
          <p:cNvSpPr/>
          <p:nvPr/>
        </p:nvSpPr>
        <p:spPr>
          <a:xfrm>
            <a:off x="6296000" y="4510000"/>
            <a:ext cx="43200" cy="1800000"/>
          </a:xfrm>
          <a:prstGeom prst="rect">
            <a:avLst/>
          </a:prstGeom>
          <a:solidFill>
            <a:srgbClr val="C88A2C"/>
          </a:solidFill>
          <a:ln/>
        </p:spPr>
        <p:txBody>
          <a:bodyPr/>
          <a:lstStyle/>
          <a:p>
            <a:endParaRPr lang="en-US"/>
          </a:p>
        </p:txBody>
      </p:sp>
      <p:sp>
        <p:nvSpPr>
          <p:cNvPr id="19" name="N4"/>
          <p:cNvSpPr/>
          <p:nvPr/>
        </p:nvSpPr>
        <p:spPr>
          <a:xfrm>
            <a:off x="6596000" y="4730000"/>
            <a:ext cx="1000000" cy="460000"/>
          </a:xfrm>
          <a:prstGeom prst="rect">
            <a:avLst/>
          </a:prstGeom>
          <a:noFill/>
          <a:ln/>
        </p:spPr>
        <p:txBody>
          <a:bodyPr wrap="square" lIns="0" tIns="0" rIns="0" bIns="0" rtlCol="0" anchor="t"/>
          <a:lstStyle/>
          <a:p>
            <a:pPr marL="0" indent="0" algn="l">
              <a:buNone/>
            </a:pPr>
            <a:r>
              <a:rPr lang="en-US" sz="2600" b="1">
                <a:solidFill>
                  <a:srgbClr val="C88A2C"/>
                </a:solidFill>
                <a:latin typeface="Cambria" pitchFamily="34" charset="0"/>
              </a:rPr>
              <a:t>04</a:t>
            </a:r>
            <a:endParaRPr lang="en-US" sz="2600"/>
          </a:p>
        </p:txBody>
      </p:sp>
      <p:sp>
        <p:nvSpPr>
          <p:cNvPr id="20" name="T4"/>
          <p:cNvSpPr/>
          <p:nvPr/>
        </p:nvSpPr>
        <p:spPr>
          <a:xfrm>
            <a:off x="6596000" y="5290000"/>
            <a:ext cx="4655920" cy="900000"/>
          </a:xfrm>
          <a:prstGeom prst="rect">
            <a:avLst/>
          </a:prstGeom>
          <a:noFill/>
          <a:ln/>
        </p:spPr>
        <p:txBody>
          <a:bodyPr wrap="square" lIns="0" tIns="0" rIns="0" bIns="0" rtlCol="0" anchor="t"/>
          <a:lstStyle/>
          <a:p>
            <a:pPr marL="0" indent="0" algn="l">
              <a:lnSpc>
                <a:spcPct val="112000"/>
              </a:lnSpc>
              <a:buNone/>
            </a:pPr>
            <a:r>
              <a:rPr lang="en-US" sz="1500">
                <a:solidFill>
                  <a:srgbClr val="E6DCC8"/>
                </a:solidFill>
                <a:latin typeface="Calibri" pitchFamily="34" charset="0"/>
              </a:rPr>
              <a:t>Compare the boosted model to the baseline on held-out PR-AUC (RQ3), then write up an honest verdict on all three questions.</a:t>
            </a:r>
            <a:endParaRPr lang="en-US" sz="1500"/>
          </a:p>
        </p:txBody>
      </p:sp>
      <p:sp>
        <p:nvSpPr>
          <p:cNvPr id="21"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C88A2C"/>
                </a:solidFill>
                <a:latin typeface="Calibri" pitchFamily="34" charset="0"/>
              </a:rPr>
              <a:t>09 / 09</a:t>
            </a:r>
            <a:endParaRPr lang="en-US" sz="1000"/>
          </a:p>
        </p:txBody>
      </p:sp>
      <p:sp>
        <p:nvSpPr>
          <p:cNvPr id="22" name="TextBox 21">
            <a:extLst>
              <a:ext uri="{FF2B5EF4-FFF2-40B4-BE49-F238E27FC236}">
                <a16:creationId xmlns:a16="http://schemas.microsoft.com/office/drawing/2014/main" id="{13E25CF9-3F6E-14F4-EFC9-DB8390DB9E18}"/>
              </a:ext>
            </a:extLst>
          </p:cNvPr>
          <p:cNvSpPr txBox="1"/>
          <p:nvPr/>
        </p:nvSpPr>
        <p:spPr>
          <a:xfrm>
            <a:off x="579120" y="6345334"/>
            <a:ext cx="7427168" cy="369332"/>
          </a:xfrm>
          <a:prstGeom prst="rect">
            <a:avLst/>
          </a:prstGeom>
          <a:noFill/>
        </p:spPr>
        <p:txBody>
          <a:bodyPr wrap="square" rtlCol="0">
            <a:spAutoFit/>
          </a:bodyPr>
          <a:lstStyle/>
          <a:p>
            <a:r>
              <a:rPr lang="en-US" dirty="0">
                <a:solidFill>
                  <a:schemeClr val="accent4">
                    <a:lumMod val="75000"/>
                  </a:schemeClr>
                </a:solidFill>
              </a:rPr>
              <a:t xml:space="preserve">Thank You! Questions?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1551920" y="411480"/>
            <a:ext cx="10000000" cy="276000"/>
          </a:xfrm>
          <a:prstGeom prst="rect">
            <a:avLst/>
          </a:prstGeom>
          <a:noFill/>
          <a:ln/>
        </p:spPr>
        <p:txBody>
          <a:bodyPr wrap="square" lIns="0" tIns="0" rIns="0" bIns="0" rtlCol="0" anchor="ctr"/>
          <a:lstStyle/>
          <a:p>
            <a:pPr marL="0" indent="0" algn="r">
              <a:buNone/>
            </a:pPr>
            <a:r>
              <a:rPr lang="en-US" sz="1150" b="1" spc="260">
                <a:solidFill>
                  <a:srgbClr val="B0512F"/>
                </a:solidFill>
                <a:latin typeface="Calibri" pitchFamily="34" charset="0"/>
              </a:rPr>
              <a:t>07</a:t>
            </a:r>
            <a:r>
              <a:rPr lang="en-US" sz="1150" b="1" spc="260">
                <a:solidFill>
                  <a:srgbClr val="776755"/>
                </a:solidFill>
                <a:latin typeface="Calibri" pitchFamily="34" charset="0"/>
              </a:rPr>
              <a:t xml:space="preserve">     EXPLORATORY ANALYSIS</a:t>
            </a:r>
            <a:endParaRPr lang="en-US" sz="1150"/>
          </a:p>
        </p:txBody>
      </p:sp>
      <p:sp>
        <p:nvSpPr>
          <p:cNvPr id="3" name="Title"/>
          <p:cNvSpPr/>
          <p:nvPr/>
        </p:nvSpPr>
        <p:spPr>
          <a:xfrm>
            <a:off x="579120" y="731520"/>
            <a:ext cx="10972800" cy="640080"/>
          </a:xfrm>
          <a:prstGeom prst="rect">
            <a:avLst/>
          </a:prstGeom>
          <a:noFill/>
          <a:ln/>
        </p:spPr>
        <p:txBody>
          <a:bodyPr wrap="square" lIns="0" tIns="0" rIns="0" bIns="0" rtlCol="0" anchor="ctr"/>
          <a:lstStyle/>
          <a:p>
            <a:pPr marL="0" indent="0" algn="r">
              <a:buNone/>
            </a:pPr>
            <a:r>
              <a:rPr lang="en-US" sz="2800" b="1">
                <a:solidFill>
                  <a:srgbClr val="223140"/>
                </a:solidFill>
                <a:latin typeface="Cambria" pitchFamily="34" charset="0"/>
                <a:ea typeface="Cambria" pitchFamily="34" charset="-122"/>
                <a:cs typeface="Cambria" pitchFamily="34" charset="-120"/>
              </a:rPr>
              <a:t>Group differences in income</a:t>
            </a:r>
            <a:endParaRPr lang="en-US" sz="2800"/>
          </a:p>
        </p:txBody>
      </p:sp>
      <p:sp>
        <p:nvSpPr>
          <p:cNvPr id="4" name="TitleRule"/>
          <p:cNvSpPr/>
          <p:nvPr/>
        </p:nvSpPr>
        <p:spPr>
          <a:xfrm>
            <a:off x="10713720" y="1362840"/>
            <a:ext cx="838200" cy="34200"/>
          </a:xfrm>
          <a:prstGeom prst="rect">
            <a:avLst/>
          </a:prstGeom>
          <a:solidFill>
            <a:srgbClr val="B0512F"/>
          </a:solidFill>
          <a:ln/>
        </p:spPr>
        <p:txBody>
          <a:bodyPr/>
          <a:lstStyle/>
          <a:p>
            <a:endParaRPr lang="en-US"/>
          </a:p>
        </p:txBody>
      </p:sp>
      <p:sp>
        <p:nvSpPr>
          <p:cNvPr id="5" name="Mat1"/>
          <p:cNvSpPr/>
          <p:nvPr/>
        </p:nvSpPr>
        <p:spPr>
          <a:xfrm>
            <a:off x="640080" y="1554480"/>
            <a:ext cx="5257800" cy="4114800"/>
          </a:xfrm>
          <a:prstGeom prst="rect">
            <a:avLst/>
          </a:prstGeom>
          <a:solidFill>
            <a:srgbClr val="FBF6EC"/>
          </a:solidFill>
          <a:ln>
            <a:solidFill>
              <a:srgbClr val="D9C7A6"/>
            </a:solidFill>
          </a:ln>
        </p:spPr>
        <p:txBody>
          <a:bodyPr/>
          <a:lstStyle/>
          <a:p>
            <a:endParaRPr lang="en-US"/>
          </a:p>
        </p:txBody>
      </p:sp>
      <p:sp>
        <p:nvSpPr>
          <p:cNvPr id="6" name="Fig1Label"/>
          <p:cNvSpPr/>
          <p:nvPr/>
        </p:nvSpPr>
        <p:spPr>
          <a:xfrm>
            <a:off x="868680" y="1691640"/>
            <a:ext cx="4800600" cy="274320"/>
          </a:xfrm>
          <a:prstGeom prst="rect">
            <a:avLst/>
          </a:prstGeom>
          <a:noFill/>
          <a:ln/>
        </p:spPr>
        <p:txBody>
          <a:bodyPr wrap="square" lIns="0" tIns="0" rIns="0" bIns="0" rtlCol="0" anchor="ctr"/>
          <a:lstStyle/>
          <a:p>
            <a:pPr marL="0" indent="0" algn="l">
              <a:buNone/>
            </a:pPr>
            <a:r>
              <a:rPr lang="en-US" sz="1100" b="1" spc="160">
                <a:solidFill>
                  <a:srgbClr val="B0512F"/>
                </a:solidFill>
                <a:latin typeface="Calibri" pitchFamily="34" charset="0"/>
              </a:rPr>
              <a:t>FIG. 3  —  INCOME RATE BY MARITAL STATUS</a:t>
            </a:r>
            <a:endParaRPr lang="en-US" sz="1100"/>
          </a:p>
        </p:txBody>
      </p:sp>
      <p:sp>
        <p:nvSpPr>
          <p:cNvPr id="8" name="Caption1"/>
          <p:cNvSpPr/>
          <p:nvPr/>
        </p:nvSpPr>
        <p:spPr>
          <a:xfrm>
            <a:off x="640080" y="5760720"/>
            <a:ext cx="5257800" cy="502920"/>
          </a:xfrm>
          <a:prstGeom prst="rect">
            <a:avLst/>
          </a:prstGeom>
          <a:noFill/>
          <a:ln/>
        </p:spPr>
        <p:txBody>
          <a:bodyPr wrap="square" lIns="0" tIns="0" rIns="0" bIns="0" rtlCol="0" anchor="t"/>
          <a:lstStyle/>
          <a:p>
            <a:pPr marL="0" indent="0" algn="l">
              <a:lnSpc>
                <a:spcPct val="110000"/>
              </a:lnSpc>
              <a:buNone/>
            </a:pPr>
            <a:r>
              <a:rPr lang="en-US" sz="1250">
                <a:solidFill>
                  <a:srgbClr val="776755"/>
                </a:solidFill>
                <a:latin typeface="Calibri" pitchFamily="34" charset="0"/>
              </a:rPr>
              <a:t>Married people are far more likely to earn over $50K than never-married, separated, or divorced people.</a:t>
            </a:r>
            <a:endParaRPr lang="en-US" sz="1250"/>
          </a:p>
        </p:txBody>
      </p:sp>
      <p:sp>
        <p:nvSpPr>
          <p:cNvPr id="9" name="Mat2"/>
          <p:cNvSpPr/>
          <p:nvPr/>
        </p:nvSpPr>
        <p:spPr>
          <a:xfrm>
            <a:off x="6263640" y="1554480"/>
            <a:ext cx="5257800" cy="4114800"/>
          </a:xfrm>
          <a:prstGeom prst="rect">
            <a:avLst/>
          </a:prstGeom>
          <a:solidFill>
            <a:srgbClr val="FBF6EC"/>
          </a:solidFill>
          <a:ln>
            <a:solidFill>
              <a:srgbClr val="D9C7A6"/>
            </a:solidFill>
          </a:ln>
        </p:spPr>
        <p:txBody>
          <a:bodyPr/>
          <a:lstStyle/>
          <a:p>
            <a:endParaRPr lang="en-US"/>
          </a:p>
        </p:txBody>
      </p:sp>
      <p:sp>
        <p:nvSpPr>
          <p:cNvPr id="10" name="Fig2Label"/>
          <p:cNvSpPr/>
          <p:nvPr/>
        </p:nvSpPr>
        <p:spPr>
          <a:xfrm>
            <a:off x="6492240" y="1691640"/>
            <a:ext cx="4800600" cy="274320"/>
          </a:xfrm>
          <a:prstGeom prst="rect">
            <a:avLst/>
          </a:prstGeom>
          <a:noFill/>
          <a:ln/>
        </p:spPr>
        <p:txBody>
          <a:bodyPr wrap="square" lIns="0" tIns="0" rIns="0" bIns="0" rtlCol="0" anchor="ctr"/>
          <a:lstStyle/>
          <a:p>
            <a:pPr marL="0" indent="0" algn="l">
              <a:buNone/>
            </a:pPr>
            <a:r>
              <a:rPr lang="en-US" sz="1100" b="1" spc="160">
                <a:solidFill>
                  <a:srgbClr val="B0512F"/>
                </a:solidFill>
                <a:latin typeface="Calibri" pitchFamily="34" charset="0"/>
              </a:rPr>
              <a:t>FIG. 4  —  INCOME: US-BORN VS FOREIGN-BORN</a:t>
            </a:r>
            <a:endParaRPr lang="en-US" sz="1100"/>
          </a:p>
        </p:txBody>
      </p:sp>
      <p:pic>
        <p:nvPicPr>
          <p:cNvPr id="7" name="Image 0" descr="plots/income_rate_by_education.png"/>
          <p:cNvPicPr>
            <a:picLocks noChangeAspect="1"/>
          </p:cNvPicPr>
          <p:nvPr/>
        </p:nvPicPr>
        <p:blipFill>
          <a:blip r:embed="rId3"/>
          <a:stretch>
            <a:fillRect/>
          </a:stretch>
        </p:blipFill>
        <p:spPr>
          <a:xfrm>
            <a:off x="6492240" y="2350000"/>
            <a:ext cx="4800600" cy="3025000"/>
          </a:xfrm>
          <a:prstGeom prst="rect">
            <a:avLst/>
          </a:prstGeom>
        </p:spPr>
      </p:pic>
      <p:pic>
        <p:nvPicPr>
          <p:cNvPr id="11" name="Image 1" descr="plots/correlation_heatmap.png"/>
          <p:cNvPicPr>
            <a:picLocks noChangeAspect="1"/>
          </p:cNvPicPr>
          <p:nvPr/>
        </p:nvPicPr>
        <p:blipFill>
          <a:blip r:embed="rId4"/>
          <a:stretch>
            <a:fillRect/>
          </a:stretch>
        </p:blipFill>
        <p:spPr>
          <a:xfrm>
            <a:off x="868680" y="2350000"/>
            <a:ext cx="4800600" cy="3025000"/>
          </a:xfrm>
          <a:prstGeom prst="rect">
            <a:avLst/>
          </a:prstGeom>
        </p:spPr>
      </p:pic>
      <p:sp>
        <p:nvSpPr>
          <p:cNvPr id="12" name="Caption2"/>
          <p:cNvSpPr/>
          <p:nvPr/>
        </p:nvSpPr>
        <p:spPr>
          <a:xfrm>
            <a:off x="6263640" y="5760720"/>
            <a:ext cx="5257800" cy="502920"/>
          </a:xfrm>
          <a:prstGeom prst="rect">
            <a:avLst/>
          </a:prstGeom>
          <a:noFill/>
          <a:ln/>
        </p:spPr>
        <p:txBody>
          <a:bodyPr wrap="square" lIns="0" tIns="0" rIns="0" bIns="0" rtlCol="0" anchor="t"/>
          <a:lstStyle/>
          <a:p>
            <a:pPr marL="0" indent="0" algn="l">
              <a:lnSpc>
                <a:spcPct val="110000"/>
              </a:lnSpc>
              <a:buNone/>
            </a:pPr>
            <a:r>
              <a:rPr lang="en-US" sz="1250">
                <a:solidFill>
                  <a:srgbClr val="776755"/>
                </a:solidFill>
                <a:latin typeface="Calibri" pitchFamily="34" charset="0"/>
              </a:rPr>
              <a:t>US-born people earn over $50K at a higher rate than foreign-born people, the gap the fairness audit tests.</a:t>
            </a:r>
            <a:endParaRPr lang="en-US" sz="1250"/>
          </a:p>
        </p:txBody>
      </p:sp>
      <p:sp>
        <p:nvSpPr>
          <p:cNvPr id="13"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08 / 09</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1341</Words>
  <Application>Microsoft Office PowerPoint</Application>
  <PresentationFormat>Widescreen</PresentationFormat>
  <Paragraphs>98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Census Income - Data Prep &amp; EDA</dc:title>
  <dc:subject>PptxGenJS Presentation</dc:subject>
  <dc:creator>Erik</dc:creator>
  <cp:lastModifiedBy>Erik Herb</cp:lastModifiedBy>
  <cp:revision>3</cp:revision>
  <dcterms:created xsi:type="dcterms:W3CDTF">2026-07-06T17:09:35Z</dcterms:created>
  <dcterms:modified xsi:type="dcterms:W3CDTF">2026-07-07T01:47:25Z</dcterms:modified>
</cp:coreProperties>
</file>