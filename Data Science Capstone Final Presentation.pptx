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85"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5053"/>
    <a:srgbClr val="48494C"/>
    <a:srgbClr val="5051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B3330-4B4F-4738-9B11-66A9818B140D}" v="12" dt="2026-08-06T22:38:31.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876" autoAdjust="0"/>
  </p:normalViewPr>
  <p:slideViewPr>
    <p:cSldViewPr snapToGrid="0" snapToObjects="1">
      <p:cViewPr varScale="1">
        <p:scale>
          <a:sx n="52" d="100"/>
          <a:sy n="52" d="100"/>
        </p:scale>
        <p:origin x="184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k Herb" userId="0f28f5b0af101864" providerId="LiveId" clId="{B89B4A7F-E6AC-4820-B61E-1E3BA66D7C70}"/>
    <pc:docChg chg="undo custSel modSld">
      <pc:chgData name="Erik Herb" userId="0f28f5b0af101864" providerId="LiveId" clId="{B89B4A7F-E6AC-4820-B61E-1E3BA66D7C70}" dt="2026-08-06T22:38:31.033" v="4174" actId="20577"/>
      <pc:docMkLst>
        <pc:docMk/>
      </pc:docMkLst>
      <pc:sldChg chg="delSp modSp mod">
        <pc:chgData name="Erik Herb" userId="0f28f5b0af101864" providerId="LiveId" clId="{B89B4A7F-E6AC-4820-B61E-1E3BA66D7C70}" dt="2026-08-06T22:10:25.296" v="4081" actId="21"/>
        <pc:sldMkLst>
          <pc:docMk/>
          <pc:sldMk cId="0" sldId="256"/>
        </pc:sldMkLst>
        <pc:spChg chg="mod">
          <ac:chgData name="Erik Herb" userId="0f28f5b0af101864" providerId="LiveId" clId="{B89B4A7F-E6AC-4820-B61E-1E3BA66D7C70}" dt="2026-08-04T12:01:27.373" v="1293" actId="14100"/>
          <ac:spMkLst>
            <pc:docMk/>
            <pc:sldMk cId="0" sldId="256"/>
            <ac:spMk id="2" creationId="{00000000-0000-0000-0000-000000000000}"/>
          </ac:spMkLst>
        </pc:spChg>
        <pc:spChg chg="mod">
          <ac:chgData name="Erik Herb" userId="0f28f5b0af101864" providerId="LiveId" clId="{B89B4A7F-E6AC-4820-B61E-1E3BA66D7C70}" dt="2026-08-04T00:19:54.281" v="29" actId="20577"/>
          <ac:spMkLst>
            <pc:docMk/>
            <pc:sldMk cId="0" sldId="256"/>
            <ac:spMk id="7" creationId="{00000000-0000-0000-0000-000000000000}"/>
          </ac:spMkLst>
        </pc:spChg>
        <pc:spChg chg="del">
          <ac:chgData name="Erik Herb" userId="0f28f5b0af101864" providerId="LiveId" clId="{B89B4A7F-E6AC-4820-B61E-1E3BA66D7C70}" dt="2026-08-06T22:10:25.296" v="4081" actId="21"/>
          <ac:spMkLst>
            <pc:docMk/>
            <pc:sldMk cId="0" sldId="256"/>
            <ac:spMk id="8" creationId="{00000000-0000-0000-0000-000000000000}"/>
          </ac:spMkLst>
        </pc:spChg>
      </pc:sldChg>
      <pc:sldChg chg="modSp mod">
        <pc:chgData name="Erik Herb" userId="0f28f5b0af101864" providerId="LiveId" clId="{B89B4A7F-E6AC-4820-B61E-1E3BA66D7C70}" dt="2026-08-04T00:31:03.970" v="290" actId="20577"/>
        <pc:sldMkLst>
          <pc:docMk/>
          <pc:sldMk cId="0" sldId="257"/>
        </pc:sldMkLst>
        <pc:spChg chg="mod">
          <ac:chgData name="Erik Herb" userId="0f28f5b0af101864" providerId="LiveId" clId="{B89B4A7F-E6AC-4820-B61E-1E3BA66D7C70}" dt="2026-08-04T00:23:52.291" v="133" actId="20577"/>
          <ac:spMkLst>
            <pc:docMk/>
            <pc:sldMk cId="0" sldId="257"/>
            <ac:spMk id="8" creationId="{00000000-0000-0000-0000-000000000000}"/>
          </ac:spMkLst>
        </pc:spChg>
        <pc:spChg chg="mod">
          <ac:chgData name="Erik Herb" userId="0f28f5b0af101864" providerId="LiveId" clId="{B89B4A7F-E6AC-4820-B61E-1E3BA66D7C70}" dt="2026-08-04T00:31:03.970" v="290" actId="20577"/>
          <ac:spMkLst>
            <pc:docMk/>
            <pc:sldMk cId="0" sldId="257"/>
            <ac:spMk id="11" creationId="{00000000-0000-0000-0000-000000000000}"/>
          </ac:spMkLst>
        </pc:spChg>
      </pc:sldChg>
      <pc:sldChg chg="modSp mod">
        <pc:chgData name="Erik Herb" userId="0f28f5b0af101864" providerId="LiveId" clId="{B89B4A7F-E6AC-4820-B61E-1E3BA66D7C70}" dt="2026-08-04T00:52:19.147" v="693" actId="20577"/>
        <pc:sldMkLst>
          <pc:docMk/>
          <pc:sldMk cId="0" sldId="258"/>
        </pc:sldMkLst>
        <pc:spChg chg="mod">
          <ac:chgData name="Erik Herb" userId="0f28f5b0af101864" providerId="LiveId" clId="{B89B4A7F-E6AC-4820-B61E-1E3BA66D7C70}" dt="2026-08-04T00:33:48.550" v="340" actId="20577"/>
          <ac:spMkLst>
            <pc:docMk/>
            <pc:sldMk cId="0" sldId="258"/>
            <ac:spMk id="8" creationId="{00000000-0000-0000-0000-000000000000}"/>
          </ac:spMkLst>
        </pc:spChg>
        <pc:spChg chg="mod">
          <ac:chgData name="Erik Herb" userId="0f28f5b0af101864" providerId="LiveId" clId="{B89B4A7F-E6AC-4820-B61E-1E3BA66D7C70}" dt="2026-08-04T00:42:03.453" v="447" actId="255"/>
          <ac:spMkLst>
            <pc:docMk/>
            <pc:sldMk cId="0" sldId="258"/>
            <ac:spMk id="11" creationId="{00000000-0000-0000-0000-000000000000}"/>
          </ac:spMkLst>
        </pc:spChg>
        <pc:spChg chg="mod">
          <ac:chgData name="Erik Herb" userId="0f28f5b0af101864" providerId="LiveId" clId="{B89B4A7F-E6AC-4820-B61E-1E3BA66D7C70}" dt="2026-08-04T00:52:19.147" v="693" actId="20577"/>
          <ac:spMkLst>
            <pc:docMk/>
            <pc:sldMk cId="0" sldId="258"/>
            <ac:spMk id="14" creationId="{00000000-0000-0000-0000-000000000000}"/>
          </ac:spMkLst>
        </pc:spChg>
      </pc:sldChg>
      <pc:sldChg chg="modSp mod">
        <pc:chgData name="Erik Herb" userId="0f28f5b0af101864" providerId="LiveId" clId="{B89B4A7F-E6AC-4820-B61E-1E3BA66D7C70}" dt="2026-08-06T21:52:51.275" v="4080" actId="20577"/>
        <pc:sldMkLst>
          <pc:docMk/>
          <pc:sldMk cId="0" sldId="259"/>
        </pc:sldMkLst>
        <pc:spChg chg="mod">
          <ac:chgData name="Erik Herb" userId="0f28f5b0af101864" providerId="LiveId" clId="{B89B4A7F-E6AC-4820-B61E-1E3BA66D7C70}" dt="2026-08-04T12:04:51.911" v="1365" actId="20577"/>
          <ac:spMkLst>
            <pc:docMk/>
            <pc:sldMk cId="0" sldId="259"/>
            <ac:spMk id="9" creationId="{00000000-0000-0000-0000-000000000000}"/>
          </ac:spMkLst>
        </pc:spChg>
        <pc:spChg chg="mod">
          <ac:chgData name="Erik Herb" userId="0f28f5b0af101864" providerId="LiveId" clId="{B89B4A7F-E6AC-4820-B61E-1E3BA66D7C70}" dt="2026-08-04T12:03:37.983" v="1336" actId="20577"/>
          <ac:spMkLst>
            <pc:docMk/>
            <pc:sldMk cId="0" sldId="259"/>
            <ac:spMk id="13" creationId="{00000000-0000-0000-0000-000000000000}"/>
          </ac:spMkLst>
        </pc:spChg>
        <pc:spChg chg="mod">
          <ac:chgData name="Erik Herb" userId="0f28f5b0af101864" providerId="LiveId" clId="{B89B4A7F-E6AC-4820-B61E-1E3BA66D7C70}" dt="2026-08-04T12:04:43.811" v="1363" actId="20577"/>
          <ac:spMkLst>
            <pc:docMk/>
            <pc:sldMk cId="0" sldId="259"/>
            <ac:spMk id="17" creationId="{00000000-0000-0000-0000-000000000000}"/>
          </ac:spMkLst>
        </pc:spChg>
        <pc:spChg chg="mod">
          <ac:chgData name="Erik Herb" userId="0f28f5b0af101864" providerId="LiveId" clId="{B89B4A7F-E6AC-4820-B61E-1E3BA66D7C70}" dt="2026-08-04T12:04:37.755" v="1361" actId="20577"/>
          <ac:spMkLst>
            <pc:docMk/>
            <pc:sldMk cId="0" sldId="259"/>
            <ac:spMk id="21" creationId="{00000000-0000-0000-0000-000000000000}"/>
          </ac:spMkLst>
        </pc:spChg>
        <pc:spChg chg="mod">
          <ac:chgData name="Erik Herb" userId="0f28f5b0af101864" providerId="LiveId" clId="{B89B4A7F-E6AC-4820-B61E-1E3BA66D7C70}" dt="2026-08-06T21:52:51.275" v="4080" actId="20577"/>
          <ac:spMkLst>
            <pc:docMk/>
            <pc:sldMk cId="0" sldId="259"/>
            <ac:spMk id="23" creationId="{00000000-0000-0000-0000-000000000000}"/>
          </ac:spMkLst>
        </pc:spChg>
        <pc:spChg chg="mod">
          <ac:chgData name="Erik Herb" userId="0f28f5b0af101864" providerId="LiveId" clId="{B89B4A7F-E6AC-4820-B61E-1E3BA66D7C70}" dt="2026-08-06T15:40:41.753" v="3915" actId="20577"/>
          <ac:spMkLst>
            <pc:docMk/>
            <pc:sldMk cId="0" sldId="259"/>
            <ac:spMk id="25" creationId="{00000000-0000-0000-0000-000000000000}"/>
          </ac:spMkLst>
        </pc:spChg>
        <pc:spChg chg="mod">
          <ac:chgData name="Erik Herb" userId="0f28f5b0af101864" providerId="LiveId" clId="{B89B4A7F-E6AC-4820-B61E-1E3BA66D7C70}" dt="2026-08-04T01:10:21.447" v="923" actId="313"/>
          <ac:spMkLst>
            <pc:docMk/>
            <pc:sldMk cId="0" sldId="259"/>
            <ac:spMk id="28" creationId="{00000000-0000-0000-0000-000000000000}"/>
          </ac:spMkLst>
        </pc:spChg>
      </pc:sldChg>
      <pc:sldChg chg="modSp mod modNotesTx">
        <pc:chgData name="Erik Herb" userId="0f28f5b0af101864" providerId="LiveId" clId="{B89B4A7F-E6AC-4820-B61E-1E3BA66D7C70}" dt="2026-08-04T12:38:34.946" v="1757" actId="20577"/>
        <pc:sldMkLst>
          <pc:docMk/>
          <pc:sldMk cId="0" sldId="260"/>
        </pc:sldMkLst>
        <pc:spChg chg="mod">
          <ac:chgData name="Erik Herb" userId="0f28f5b0af101864" providerId="LiveId" clId="{B89B4A7F-E6AC-4820-B61E-1E3BA66D7C70}" dt="2026-08-04T12:14:11.563" v="1605" actId="20577"/>
          <ac:spMkLst>
            <pc:docMk/>
            <pc:sldMk cId="0" sldId="260"/>
            <ac:spMk id="28" creationId="{00000000-0000-0000-0000-000000000000}"/>
          </ac:spMkLst>
        </pc:spChg>
        <pc:spChg chg="mod">
          <ac:chgData name="Erik Herb" userId="0f28f5b0af101864" providerId="LiveId" clId="{B89B4A7F-E6AC-4820-B61E-1E3BA66D7C70}" dt="2026-08-04T12:38:34.946" v="1757" actId="20577"/>
          <ac:spMkLst>
            <pc:docMk/>
            <pc:sldMk cId="0" sldId="260"/>
            <ac:spMk id="31" creationId="{00000000-0000-0000-0000-000000000000}"/>
          </ac:spMkLst>
        </pc:spChg>
      </pc:sldChg>
      <pc:sldChg chg="modSp mod">
        <pc:chgData name="Erik Herb" userId="0f28f5b0af101864" providerId="LiveId" clId="{B89B4A7F-E6AC-4820-B61E-1E3BA66D7C70}" dt="2026-08-04T12:44:58.568" v="1789" actId="20577"/>
        <pc:sldMkLst>
          <pc:docMk/>
          <pc:sldMk cId="0" sldId="261"/>
        </pc:sldMkLst>
        <pc:spChg chg="mod">
          <ac:chgData name="Erik Herb" userId="0f28f5b0af101864" providerId="LiveId" clId="{B89B4A7F-E6AC-4820-B61E-1E3BA66D7C70}" dt="2026-08-04T12:42:26.015" v="1767" actId="20577"/>
          <ac:spMkLst>
            <pc:docMk/>
            <pc:sldMk cId="0" sldId="261"/>
            <ac:spMk id="9" creationId="{00000000-0000-0000-0000-000000000000}"/>
          </ac:spMkLst>
        </pc:spChg>
        <pc:spChg chg="mod">
          <ac:chgData name="Erik Herb" userId="0f28f5b0af101864" providerId="LiveId" clId="{B89B4A7F-E6AC-4820-B61E-1E3BA66D7C70}" dt="2026-08-04T12:42:49.905" v="1779" actId="20577"/>
          <ac:spMkLst>
            <pc:docMk/>
            <pc:sldMk cId="0" sldId="261"/>
            <ac:spMk id="13" creationId="{00000000-0000-0000-0000-000000000000}"/>
          </ac:spMkLst>
        </pc:spChg>
        <pc:spChg chg="mod">
          <ac:chgData name="Erik Herb" userId="0f28f5b0af101864" providerId="LiveId" clId="{B89B4A7F-E6AC-4820-B61E-1E3BA66D7C70}" dt="2026-08-04T12:44:58.568" v="1789" actId="20577"/>
          <ac:spMkLst>
            <pc:docMk/>
            <pc:sldMk cId="0" sldId="261"/>
            <ac:spMk id="17" creationId="{00000000-0000-0000-0000-000000000000}"/>
          </ac:spMkLst>
        </pc:spChg>
        <pc:spChg chg="mod">
          <ac:chgData name="Erik Herb" userId="0f28f5b0af101864" providerId="LiveId" clId="{B89B4A7F-E6AC-4820-B61E-1E3BA66D7C70}" dt="2026-08-04T01:22:47.787" v="1014" actId="20577"/>
          <ac:spMkLst>
            <pc:docMk/>
            <pc:sldMk cId="0" sldId="261"/>
            <ac:spMk id="20" creationId="{00000000-0000-0000-0000-000000000000}"/>
          </ac:spMkLst>
        </pc:spChg>
      </pc:sldChg>
      <pc:sldChg chg="modSp mod">
        <pc:chgData name="Erik Herb" userId="0f28f5b0af101864" providerId="LiveId" clId="{B89B4A7F-E6AC-4820-B61E-1E3BA66D7C70}" dt="2026-08-06T15:47:18.702" v="3956" actId="20577"/>
        <pc:sldMkLst>
          <pc:docMk/>
          <pc:sldMk cId="0" sldId="262"/>
        </pc:sldMkLst>
        <pc:spChg chg="mod">
          <ac:chgData name="Erik Herb" userId="0f28f5b0af101864" providerId="LiveId" clId="{B89B4A7F-E6AC-4820-B61E-1E3BA66D7C70}" dt="2026-08-04T01:27:43.523" v="1279" actId="255"/>
          <ac:spMkLst>
            <pc:docMk/>
            <pc:sldMk cId="0" sldId="262"/>
            <ac:spMk id="8" creationId="{00000000-0000-0000-0000-000000000000}"/>
          </ac:spMkLst>
        </pc:spChg>
        <pc:spChg chg="mod">
          <ac:chgData name="Erik Herb" userId="0f28f5b0af101864" providerId="LiveId" clId="{B89B4A7F-E6AC-4820-B61E-1E3BA66D7C70}" dt="2026-08-06T15:47:18.702" v="3956" actId="20577"/>
          <ac:spMkLst>
            <pc:docMk/>
            <pc:sldMk cId="0" sldId="262"/>
            <ac:spMk id="11" creationId="{00000000-0000-0000-0000-000000000000}"/>
          </ac:spMkLst>
        </pc:spChg>
        <pc:spChg chg="mod">
          <ac:chgData name="Erik Herb" userId="0f28f5b0af101864" providerId="LiveId" clId="{B89B4A7F-E6AC-4820-B61E-1E3BA66D7C70}" dt="2026-08-04T01:26:24.899" v="1250" actId="20577"/>
          <ac:spMkLst>
            <pc:docMk/>
            <pc:sldMk cId="0" sldId="262"/>
            <ac:spMk id="13" creationId="{00000000-0000-0000-0000-000000000000}"/>
          </ac:spMkLst>
        </pc:spChg>
        <pc:spChg chg="mod">
          <ac:chgData name="Erik Herb" userId="0f28f5b0af101864" providerId="LiveId" clId="{B89B4A7F-E6AC-4820-B61E-1E3BA66D7C70}" dt="2026-08-04T01:26:18.025" v="1249" actId="20577"/>
          <ac:spMkLst>
            <pc:docMk/>
            <pc:sldMk cId="0" sldId="262"/>
            <ac:spMk id="15" creationId="{00000000-0000-0000-0000-000000000000}"/>
          </ac:spMkLst>
        </pc:spChg>
        <pc:spChg chg="mod">
          <ac:chgData name="Erik Herb" userId="0f28f5b0af101864" providerId="LiveId" clId="{B89B4A7F-E6AC-4820-B61E-1E3BA66D7C70}" dt="2026-08-04T01:23:39.804" v="1041" actId="20577"/>
          <ac:spMkLst>
            <pc:docMk/>
            <pc:sldMk cId="0" sldId="262"/>
            <ac:spMk id="17" creationId="{00000000-0000-0000-0000-000000000000}"/>
          </ac:spMkLst>
        </pc:spChg>
        <pc:spChg chg="mod">
          <ac:chgData name="Erik Herb" userId="0f28f5b0af101864" providerId="LiveId" clId="{B89B4A7F-E6AC-4820-B61E-1E3BA66D7C70}" dt="2026-08-04T01:24:12.850" v="1054" actId="20577"/>
          <ac:spMkLst>
            <pc:docMk/>
            <pc:sldMk cId="0" sldId="262"/>
            <ac:spMk id="19" creationId="{00000000-0000-0000-0000-000000000000}"/>
          </ac:spMkLst>
        </pc:spChg>
        <pc:spChg chg="mod">
          <ac:chgData name="Erik Herb" userId="0f28f5b0af101864" providerId="LiveId" clId="{B89B4A7F-E6AC-4820-B61E-1E3BA66D7C70}" dt="2026-08-06T00:34:34.087" v="3146" actId="14100"/>
          <ac:spMkLst>
            <pc:docMk/>
            <pc:sldMk cId="0" sldId="262"/>
            <ac:spMk id="21" creationId="{00000000-0000-0000-0000-000000000000}"/>
          </ac:spMkLst>
        </pc:spChg>
      </pc:sldChg>
      <pc:sldChg chg="modSp mod">
        <pc:chgData name="Erik Herb" userId="0f28f5b0af101864" providerId="LiveId" clId="{B89B4A7F-E6AC-4820-B61E-1E3BA66D7C70}" dt="2026-08-04T13:20:43.688" v="2031" actId="207"/>
        <pc:sldMkLst>
          <pc:docMk/>
          <pc:sldMk cId="0" sldId="263"/>
        </pc:sldMkLst>
        <pc:spChg chg="mod">
          <ac:chgData name="Erik Herb" userId="0f28f5b0af101864" providerId="LiveId" clId="{B89B4A7F-E6AC-4820-B61E-1E3BA66D7C70}" dt="2026-08-04T12:51:17.261" v="1920" actId="20577"/>
          <ac:spMkLst>
            <pc:docMk/>
            <pc:sldMk cId="0" sldId="263"/>
            <ac:spMk id="9" creationId="{00000000-0000-0000-0000-000000000000}"/>
          </ac:spMkLst>
        </pc:spChg>
        <pc:spChg chg="mod">
          <ac:chgData name="Erik Herb" userId="0f28f5b0af101864" providerId="LiveId" clId="{B89B4A7F-E6AC-4820-B61E-1E3BA66D7C70}" dt="2026-08-04T12:53:15.284" v="1937" actId="12"/>
          <ac:spMkLst>
            <pc:docMk/>
            <pc:sldMk cId="0" sldId="263"/>
            <ac:spMk id="12" creationId="{00000000-0000-0000-0000-000000000000}"/>
          </ac:spMkLst>
        </pc:spChg>
        <pc:spChg chg="mod">
          <ac:chgData name="Erik Herb" userId="0f28f5b0af101864" providerId="LiveId" clId="{B89B4A7F-E6AC-4820-B61E-1E3BA66D7C70}" dt="2026-08-04T13:00:04.844" v="1954" actId="20577"/>
          <ac:spMkLst>
            <pc:docMk/>
            <pc:sldMk cId="0" sldId="263"/>
            <ac:spMk id="16" creationId="{00000000-0000-0000-0000-000000000000}"/>
          </ac:spMkLst>
        </pc:spChg>
        <pc:spChg chg="mod">
          <ac:chgData name="Erik Herb" userId="0f28f5b0af101864" providerId="LiveId" clId="{B89B4A7F-E6AC-4820-B61E-1E3BA66D7C70}" dt="2026-08-04T13:03:41.725" v="1972" actId="255"/>
          <ac:spMkLst>
            <pc:docMk/>
            <pc:sldMk cId="0" sldId="263"/>
            <ac:spMk id="19" creationId="{00000000-0000-0000-0000-000000000000}"/>
          </ac:spMkLst>
        </pc:spChg>
        <pc:spChg chg="mod">
          <ac:chgData name="Erik Herb" userId="0f28f5b0af101864" providerId="LiveId" clId="{B89B4A7F-E6AC-4820-B61E-1E3BA66D7C70}" dt="2026-08-04T13:09:22.598" v="1981" actId="207"/>
          <ac:spMkLst>
            <pc:docMk/>
            <pc:sldMk cId="0" sldId="263"/>
            <ac:spMk id="23" creationId="{00000000-0000-0000-0000-000000000000}"/>
          </ac:spMkLst>
        </pc:spChg>
        <pc:spChg chg="mod">
          <ac:chgData name="Erik Herb" userId="0f28f5b0af101864" providerId="LiveId" clId="{B89B4A7F-E6AC-4820-B61E-1E3BA66D7C70}" dt="2026-08-04T13:15:05.076" v="1993" actId="255"/>
          <ac:spMkLst>
            <pc:docMk/>
            <pc:sldMk cId="0" sldId="263"/>
            <ac:spMk id="26" creationId="{00000000-0000-0000-0000-000000000000}"/>
          </ac:spMkLst>
        </pc:spChg>
        <pc:spChg chg="mod">
          <ac:chgData name="Erik Herb" userId="0f28f5b0af101864" providerId="LiveId" clId="{B89B4A7F-E6AC-4820-B61E-1E3BA66D7C70}" dt="2026-08-04T13:18:37.510" v="2020" actId="20577"/>
          <ac:spMkLst>
            <pc:docMk/>
            <pc:sldMk cId="0" sldId="263"/>
            <ac:spMk id="30" creationId="{00000000-0000-0000-0000-000000000000}"/>
          </ac:spMkLst>
        </pc:spChg>
        <pc:spChg chg="mod">
          <ac:chgData name="Erik Herb" userId="0f28f5b0af101864" providerId="LiveId" clId="{B89B4A7F-E6AC-4820-B61E-1E3BA66D7C70}" dt="2026-08-04T13:20:43.688" v="2031" actId="207"/>
          <ac:spMkLst>
            <pc:docMk/>
            <pc:sldMk cId="0" sldId="263"/>
            <ac:spMk id="33" creationId="{00000000-0000-0000-0000-000000000000}"/>
          </ac:spMkLst>
        </pc:spChg>
      </pc:sldChg>
      <pc:sldChg chg="modSp mod modNotesTx">
        <pc:chgData name="Erik Herb" userId="0f28f5b0af101864" providerId="LiveId" clId="{B89B4A7F-E6AC-4820-B61E-1E3BA66D7C70}" dt="2026-08-04T13:42:10.683" v="2196" actId="20577"/>
        <pc:sldMkLst>
          <pc:docMk/>
          <pc:sldMk cId="0" sldId="264"/>
        </pc:sldMkLst>
        <pc:spChg chg="mod">
          <ac:chgData name="Erik Herb" userId="0f28f5b0af101864" providerId="LiveId" clId="{B89B4A7F-E6AC-4820-B61E-1E3BA66D7C70}" dt="2026-08-04T13:39:47.412" v="2127" actId="20577"/>
          <ac:spMkLst>
            <pc:docMk/>
            <pc:sldMk cId="0" sldId="264"/>
            <ac:spMk id="5" creationId="{00000000-0000-0000-0000-000000000000}"/>
          </ac:spMkLst>
        </pc:spChg>
        <pc:spChg chg="mod">
          <ac:chgData name="Erik Herb" userId="0f28f5b0af101864" providerId="LiveId" clId="{B89B4A7F-E6AC-4820-B61E-1E3BA66D7C70}" dt="2026-08-04T13:34:13.632" v="2046" actId="20577"/>
          <ac:spMkLst>
            <pc:docMk/>
            <pc:sldMk cId="0" sldId="264"/>
            <ac:spMk id="11" creationId="{00000000-0000-0000-0000-000000000000}"/>
          </ac:spMkLst>
        </pc:spChg>
        <pc:spChg chg="mod">
          <ac:chgData name="Erik Herb" userId="0f28f5b0af101864" providerId="LiveId" clId="{B89B4A7F-E6AC-4820-B61E-1E3BA66D7C70}" dt="2026-08-04T13:42:10.683" v="2196" actId="20577"/>
          <ac:spMkLst>
            <pc:docMk/>
            <pc:sldMk cId="0" sldId="264"/>
            <ac:spMk id="14" creationId="{00000000-0000-0000-0000-000000000000}"/>
          </ac:spMkLst>
        </pc:spChg>
        <pc:spChg chg="mod">
          <ac:chgData name="Erik Herb" userId="0f28f5b0af101864" providerId="LiveId" clId="{B89B4A7F-E6AC-4820-B61E-1E3BA66D7C70}" dt="2026-08-04T13:40:56.810" v="2137" actId="20577"/>
          <ac:spMkLst>
            <pc:docMk/>
            <pc:sldMk cId="0" sldId="264"/>
            <ac:spMk id="17" creationId="{00000000-0000-0000-0000-000000000000}"/>
          </ac:spMkLst>
        </pc:spChg>
      </pc:sldChg>
      <pc:sldChg chg="modSp mod modNotesTx">
        <pc:chgData name="Erik Herb" userId="0f28f5b0af101864" providerId="LiveId" clId="{B89B4A7F-E6AC-4820-B61E-1E3BA66D7C70}" dt="2026-08-06T12:44:27.412" v="3647" actId="20577"/>
        <pc:sldMkLst>
          <pc:docMk/>
          <pc:sldMk cId="0" sldId="265"/>
        </pc:sldMkLst>
        <pc:spChg chg="mod">
          <ac:chgData name="Erik Herb" userId="0f28f5b0af101864" providerId="LiveId" clId="{B89B4A7F-E6AC-4820-B61E-1E3BA66D7C70}" dt="2026-08-06T12:32:56.249" v="3172" actId="20577"/>
          <ac:spMkLst>
            <pc:docMk/>
            <pc:sldMk cId="0" sldId="265"/>
            <ac:spMk id="8" creationId="{00000000-0000-0000-0000-000000000000}"/>
          </ac:spMkLst>
        </pc:spChg>
        <pc:spChg chg="mod">
          <ac:chgData name="Erik Herb" userId="0f28f5b0af101864" providerId="LiveId" clId="{B89B4A7F-E6AC-4820-B61E-1E3BA66D7C70}" dt="2026-08-04T13:49:52.346" v="2293" actId="20577"/>
          <ac:spMkLst>
            <pc:docMk/>
            <pc:sldMk cId="0" sldId="265"/>
            <ac:spMk id="20" creationId="{00000000-0000-0000-0000-000000000000}"/>
          </ac:spMkLst>
        </pc:spChg>
      </pc:sldChg>
      <pc:sldChg chg="modSp mod">
        <pc:chgData name="Erik Herb" userId="0f28f5b0af101864" providerId="LiveId" clId="{B89B4A7F-E6AC-4820-B61E-1E3BA66D7C70}" dt="2026-08-04T13:53:06.008" v="2302" actId="20577"/>
        <pc:sldMkLst>
          <pc:docMk/>
          <pc:sldMk cId="0" sldId="266"/>
        </pc:sldMkLst>
        <pc:spChg chg="mod">
          <ac:chgData name="Erik Herb" userId="0f28f5b0af101864" providerId="LiveId" clId="{B89B4A7F-E6AC-4820-B61E-1E3BA66D7C70}" dt="2026-08-04T13:53:06.008" v="2302" actId="20577"/>
          <ac:spMkLst>
            <pc:docMk/>
            <pc:sldMk cId="0" sldId="266"/>
            <ac:spMk id="11" creationId="{00000000-0000-0000-0000-000000000000}"/>
          </ac:spMkLst>
        </pc:spChg>
      </pc:sldChg>
      <pc:sldChg chg="modSp mod">
        <pc:chgData name="Erik Herb" userId="0f28f5b0af101864" providerId="LiveId" clId="{B89B4A7F-E6AC-4820-B61E-1E3BA66D7C70}" dt="2026-08-04T14:30:35.230" v="2563" actId="20577"/>
        <pc:sldMkLst>
          <pc:docMk/>
          <pc:sldMk cId="0" sldId="267"/>
        </pc:sldMkLst>
        <pc:spChg chg="mod">
          <ac:chgData name="Erik Herb" userId="0f28f5b0af101864" providerId="LiveId" clId="{B89B4A7F-E6AC-4820-B61E-1E3BA66D7C70}" dt="2026-08-04T14:29:45.445" v="2492" actId="20577"/>
          <ac:spMkLst>
            <pc:docMk/>
            <pc:sldMk cId="0" sldId="267"/>
            <ac:spMk id="11" creationId="{00000000-0000-0000-0000-000000000000}"/>
          </ac:spMkLst>
        </pc:spChg>
        <pc:spChg chg="mod">
          <ac:chgData name="Erik Herb" userId="0f28f5b0af101864" providerId="LiveId" clId="{B89B4A7F-E6AC-4820-B61E-1E3BA66D7C70}" dt="2026-08-04T14:30:35.230" v="2563" actId="20577"/>
          <ac:spMkLst>
            <pc:docMk/>
            <pc:sldMk cId="0" sldId="267"/>
            <ac:spMk id="15" creationId="{00000000-0000-0000-0000-000000000000}"/>
          </ac:spMkLst>
        </pc:spChg>
      </pc:sldChg>
      <pc:sldChg chg="modSp mod">
        <pc:chgData name="Erik Herb" userId="0f28f5b0af101864" providerId="LiveId" clId="{B89B4A7F-E6AC-4820-B61E-1E3BA66D7C70}" dt="2026-08-04T14:45:26.312" v="2801" actId="20577"/>
        <pc:sldMkLst>
          <pc:docMk/>
          <pc:sldMk cId="0" sldId="268"/>
        </pc:sldMkLst>
        <pc:spChg chg="mod">
          <ac:chgData name="Erik Herb" userId="0f28f5b0af101864" providerId="LiveId" clId="{B89B4A7F-E6AC-4820-B61E-1E3BA66D7C70}" dt="2026-08-04T14:42:24.101" v="2764" actId="20577"/>
          <ac:spMkLst>
            <pc:docMk/>
            <pc:sldMk cId="0" sldId="268"/>
            <ac:spMk id="12" creationId="{00000000-0000-0000-0000-000000000000}"/>
          </ac:spMkLst>
        </pc:spChg>
        <pc:spChg chg="mod">
          <ac:chgData name="Erik Herb" userId="0f28f5b0af101864" providerId="LiveId" clId="{B89B4A7F-E6AC-4820-B61E-1E3BA66D7C70}" dt="2026-08-04T14:45:26.312" v="2801" actId="20577"/>
          <ac:spMkLst>
            <pc:docMk/>
            <pc:sldMk cId="0" sldId="268"/>
            <ac:spMk id="18" creationId="{00000000-0000-0000-0000-000000000000}"/>
          </ac:spMkLst>
        </pc:spChg>
      </pc:sldChg>
      <pc:sldChg chg="modSp mod">
        <pc:chgData name="Erik Herb" userId="0f28f5b0af101864" providerId="LiveId" clId="{B89B4A7F-E6AC-4820-B61E-1E3BA66D7C70}" dt="2026-08-04T15:22:02.760" v="2811" actId="20577"/>
        <pc:sldMkLst>
          <pc:docMk/>
          <pc:sldMk cId="0" sldId="269"/>
        </pc:sldMkLst>
        <pc:spChg chg="mod">
          <ac:chgData name="Erik Herb" userId="0f28f5b0af101864" providerId="LiveId" clId="{B89B4A7F-E6AC-4820-B61E-1E3BA66D7C70}" dt="2026-08-04T15:22:02.760" v="2811" actId="20577"/>
          <ac:spMkLst>
            <pc:docMk/>
            <pc:sldMk cId="0" sldId="269"/>
            <ac:spMk id="17" creationId="{00000000-0000-0000-0000-000000000000}"/>
          </ac:spMkLst>
        </pc:spChg>
      </pc:sldChg>
      <pc:sldChg chg="modSp mod">
        <pc:chgData name="Erik Herb" userId="0f28f5b0af101864" providerId="LiveId" clId="{B89B4A7F-E6AC-4820-B61E-1E3BA66D7C70}" dt="2026-08-04T15:32:30.997" v="2874" actId="20577"/>
        <pc:sldMkLst>
          <pc:docMk/>
          <pc:sldMk cId="0" sldId="271"/>
        </pc:sldMkLst>
        <pc:spChg chg="mod">
          <ac:chgData name="Erik Herb" userId="0f28f5b0af101864" providerId="LiveId" clId="{B89B4A7F-E6AC-4820-B61E-1E3BA66D7C70}" dt="2026-08-04T15:32:30.997" v="2874" actId="20577"/>
          <ac:spMkLst>
            <pc:docMk/>
            <pc:sldMk cId="0" sldId="271"/>
            <ac:spMk id="18" creationId="{00000000-0000-0000-0000-000000000000}"/>
          </ac:spMkLst>
        </pc:spChg>
      </pc:sldChg>
      <pc:sldChg chg="modSp mod modNotesTx">
        <pc:chgData name="Erik Herb" userId="0f28f5b0af101864" providerId="LiveId" clId="{B89B4A7F-E6AC-4820-B61E-1E3BA66D7C70}" dt="2026-08-06T13:05:32.972" v="3690" actId="20577"/>
        <pc:sldMkLst>
          <pc:docMk/>
          <pc:sldMk cId="0" sldId="272"/>
        </pc:sldMkLst>
        <pc:spChg chg="mod">
          <ac:chgData name="Erik Herb" userId="0f28f5b0af101864" providerId="LiveId" clId="{B89B4A7F-E6AC-4820-B61E-1E3BA66D7C70}" dt="2026-08-04T15:52:23.570" v="2884" actId="20577"/>
          <ac:spMkLst>
            <pc:docMk/>
            <pc:sldMk cId="0" sldId="272"/>
            <ac:spMk id="2" creationId="{00000000-0000-0000-0000-000000000000}"/>
          </ac:spMkLst>
        </pc:spChg>
        <pc:spChg chg="mod">
          <ac:chgData name="Erik Herb" userId="0f28f5b0af101864" providerId="LiveId" clId="{B89B4A7F-E6AC-4820-B61E-1E3BA66D7C70}" dt="2026-08-04T16:09:51.963" v="2890" actId="20577"/>
          <ac:spMkLst>
            <pc:docMk/>
            <pc:sldMk cId="0" sldId="272"/>
            <ac:spMk id="8" creationId="{00000000-0000-0000-0000-000000000000}"/>
          </ac:spMkLst>
        </pc:spChg>
        <pc:spChg chg="mod">
          <ac:chgData name="Erik Herb" userId="0f28f5b0af101864" providerId="LiveId" clId="{B89B4A7F-E6AC-4820-B61E-1E3BA66D7C70}" dt="2026-08-04T16:12:05.029" v="2901" actId="20577"/>
          <ac:spMkLst>
            <pc:docMk/>
            <pc:sldMk cId="0" sldId="272"/>
            <ac:spMk id="11" creationId="{00000000-0000-0000-0000-000000000000}"/>
          </ac:spMkLst>
        </pc:spChg>
        <pc:spChg chg="mod">
          <ac:chgData name="Erik Herb" userId="0f28f5b0af101864" providerId="LiveId" clId="{B89B4A7F-E6AC-4820-B61E-1E3BA66D7C70}" dt="2026-08-04T16:54:41.867" v="2983" actId="20577"/>
          <ac:spMkLst>
            <pc:docMk/>
            <pc:sldMk cId="0" sldId="272"/>
            <ac:spMk id="14" creationId="{00000000-0000-0000-0000-000000000000}"/>
          </ac:spMkLst>
        </pc:spChg>
        <pc:spChg chg="mod">
          <ac:chgData name="Erik Herb" userId="0f28f5b0af101864" providerId="LiveId" clId="{B89B4A7F-E6AC-4820-B61E-1E3BA66D7C70}" dt="2026-08-04T16:58:10.322" v="3097" actId="20577"/>
          <ac:spMkLst>
            <pc:docMk/>
            <pc:sldMk cId="0" sldId="272"/>
            <ac:spMk id="17" creationId="{00000000-0000-0000-0000-000000000000}"/>
          </ac:spMkLst>
        </pc:spChg>
      </pc:sldChg>
      <pc:sldChg chg="modSp mod">
        <pc:chgData name="Erik Herb" userId="0f28f5b0af101864" providerId="LiveId" clId="{B89B4A7F-E6AC-4820-B61E-1E3BA66D7C70}" dt="2026-08-06T13:07:37.122" v="3732" actId="20577"/>
        <pc:sldMkLst>
          <pc:docMk/>
          <pc:sldMk cId="0" sldId="273"/>
        </pc:sldMkLst>
        <pc:spChg chg="mod">
          <ac:chgData name="Erik Herb" userId="0f28f5b0af101864" providerId="LiveId" clId="{B89B4A7F-E6AC-4820-B61E-1E3BA66D7C70}" dt="2026-08-06T13:07:37.122" v="3732" actId="20577"/>
          <ac:spMkLst>
            <pc:docMk/>
            <pc:sldMk cId="0" sldId="273"/>
            <ac:spMk id="11" creationId="{00000000-0000-0000-0000-000000000000}"/>
          </ac:spMkLst>
        </pc:spChg>
        <pc:spChg chg="mod">
          <ac:chgData name="Erik Herb" userId="0f28f5b0af101864" providerId="LiveId" clId="{B89B4A7F-E6AC-4820-B61E-1E3BA66D7C70}" dt="2026-08-04T17:00:12.059" v="3108" actId="20577"/>
          <ac:spMkLst>
            <pc:docMk/>
            <pc:sldMk cId="0" sldId="273"/>
            <ac:spMk id="15" creationId="{00000000-0000-0000-0000-000000000000}"/>
          </ac:spMkLst>
        </pc:spChg>
      </pc:sldChg>
      <pc:sldChg chg="modSp mod modNotesTx">
        <pc:chgData name="Erik Herb" userId="0f28f5b0af101864" providerId="LiveId" clId="{B89B4A7F-E6AC-4820-B61E-1E3BA66D7C70}" dt="2026-08-06T17:40:35.661" v="4060" actId="20577"/>
        <pc:sldMkLst>
          <pc:docMk/>
          <pc:sldMk cId="0" sldId="280"/>
        </pc:sldMkLst>
        <pc:spChg chg="mod">
          <ac:chgData name="Erik Herb" userId="0f28f5b0af101864" providerId="LiveId" clId="{B89B4A7F-E6AC-4820-B61E-1E3BA66D7C70}" dt="2026-08-06T17:40:35.661" v="4060" actId="20577"/>
          <ac:spMkLst>
            <pc:docMk/>
            <pc:sldMk cId="0" sldId="280"/>
            <ac:spMk id="11" creationId="{00000000-0000-0000-0000-000000000000}"/>
          </ac:spMkLst>
        </pc:spChg>
      </pc:sldChg>
      <pc:sldChg chg="addSp delSp modSp mod">
        <pc:chgData name="Erik Herb" userId="0f28f5b0af101864" providerId="LiveId" clId="{B89B4A7F-E6AC-4820-B61E-1E3BA66D7C70}" dt="2026-08-06T13:51:38.114" v="3817" actId="21"/>
        <pc:sldMkLst>
          <pc:docMk/>
          <pc:sldMk cId="0" sldId="281"/>
        </pc:sldMkLst>
        <pc:spChg chg="add del mod">
          <ac:chgData name="Erik Herb" userId="0f28f5b0af101864" providerId="LiveId" clId="{B89B4A7F-E6AC-4820-B61E-1E3BA66D7C70}" dt="2026-08-06T13:51:38.114" v="3817" actId="21"/>
          <ac:spMkLst>
            <pc:docMk/>
            <pc:sldMk cId="0" sldId="281"/>
            <ac:spMk id="12" creationId="{C80A2B0C-7628-A538-0DAA-7CC06ED465C6}"/>
          </ac:spMkLst>
        </pc:spChg>
      </pc:sldChg>
      <pc:sldChg chg="modSp mod modNotesTx">
        <pc:chgData name="Erik Herb" userId="0f28f5b0af101864" providerId="LiveId" clId="{B89B4A7F-E6AC-4820-B61E-1E3BA66D7C70}" dt="2026-08-06T22:38:31.033" v="4174" actId="20577"/>
        <pc:sldMkLst>
          <pc:docMk/>
          <pc:sldMk cId="0" sldId="283"/>
        </pc:sldMkLst>
        <pc:spChg chg="mod">
          <ac:chgData name="Erik Herb" userId="0f28f5b0af101864" providerId="LiveId" clId="{B89B4A7F-E6AC-4820-B61E-1E3BA66D7C70}" dt="2026-08-06T14:01:48.235" v="3829" actId="20577"/>
          <ac:spMkLst>
            <pc:docMk/>
            <pc:sldMk cId="0" sldId="283"/>
            <ac:spMk id="16" creationId="{00000000-0000-0000-0000-000000000000}"/>
          </ac:spMkLst>
        </pc:spChg>
        <pc:spChg chg="mod">
          <ac:chgData name="Erik Herb" userId="0f28f5b0af101864" providerId="LiveId" clId="{B89B4A7F-E6AC-4820-B61E-1E3BA66D7C70}" dt="2026-08-06T14:03:46.651" v="3872" actId="20577"/>
          <ac:spMkLst>
            <pc:docMk/>
            <pc:sldMk cId="0" sldId="283"/>
            <ac:spMk id="17" creationId="{00000000-0000-0000-0000-000000000000}"/>
          </ac:spMkLst>
        </pc:spChg>
        <pc:spChg chg="mod">
          <ac:chgData name="Erik Herb" userId="0f28f5b0af101864" providerId="LiveId" clId="{B89B4A7F-E6AC-4820-B61E-1E3BA66D7C70}" dt="2026-08-06T14:02:11.502" v="3843" actId="20577"/>
          <ac:spMkLst>
            <pc:docMk/>
            <pc:sldMk cId="0" sldId="283"/>
            <ac:spMk id="22" creationId="{00000000-0000-0000-0000-000000000000}"/>
          </ac:spMkLst>
        </pc:spChg>
        <pc:spChg chg="mod">
          <ac:chgData name="Erik Herb" userId="0f28f5b0af101864" providerId="LiveId" clId="{B89B4A7F-E6AC-4820-B61E-1E3BA66D7C70}" dt="2026-08-06T14:04:15.546" v="3880" actId="20577"/>
          <ac:spMkLst>
            <pc:docMk/>
            <pc:sldMk cId="0" sldId="283"/>
            <ac:spMk id="2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23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milestone of my capstone. The dataset is the UCI Adult Census Income data from 1994, about 32,500 rows, and the task is predicting whether somebody earns over 50 thousand a year. In the last milestone I built the logistic regression baseline. Today I add XGBoost and a multilayer perceptron, compare all three with statistical tests and not just eyeballed differences, and run a fairness audit across nativity and sex. The short version up front: two of my three hypotheses are supported and one is refuted, and the refuted one is the most interesting result in the project. The shape of the next 25 minutes is setup and methodology first, then the model comparison with the tests behind it, then the fairness audit and the three verdicts, then limitations and what I would do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built around three hypotheses and each one is testable. H1 is a drivers question about education versus hours. H2 is the fairness question. H3 is the model comparison, and I want to flag the reasoning I stated up front, before I saw any results: my EDA found real non-linear structure, curves in age, threshold effects in capital gain, and interactions between education and marital status, which is what boosted trees are good at. And 32,500 rows is small for a neural network. So the dataset size and the shape of the structure both point at XGBoost over either of the other two.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all carried forward, so I will not spend long here. Three columns had gaps and I filled them with Unknown instead of dropping about 2,400 people. I kept every outlier because I measured what dropping them would cost, and the flagged rows are disproportionately the high earners I am trying to find. If anyone asks about the 27.7 percent flag rate on hours, that is the rule and not the data: 46 percent of people work exactly 40 hours, which squeezes the fence down to 32 to 52, so a 55 hour week gets called an outlier. The one thing worth pausing on is the last bullet: the scaler and SMOTE live inside the pipeline, which is what makes leakage hard to cause by accident instead of something I have to remember to avoid.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EDA milestone compressed into the four findings the rest of the project depends on, so I am not repeating the whole thing. Top left is the H1 hint: education spreads the over-fifty-thousand rate by about 0.74 from its lowest level to its highest while hours spreads it by about 0.36, and education climbs steadily while hours flattens above full time. That is one feature at a time, so it is a hint and not a test, and the permutation importance later is the test. Top right and bottom left are the H3 reasoning, and I want to stress I stated it before seeing any model results. The rate by age is a curve a linear model cannot express without an age-squared term, and having any capital gain flips the rate from 0.21 to 0.62 instead of moving it gradually. Curves and thresholds are exactly what tree splits capture, which is why I expected XGBoost to win. Bottom right sets up H2: US-born people earn over fifty thousand at about 24.6 percent against 18.7 percent for foreign-born, and men are higher inside both groups. Those base-rate gaps are real and are what the models learn from, so a recall gap later cannot be blamed entirely on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engineered features, each with a reason and not added for the sake of it. The table on the bottom left is the part I want to point at. I fit the same default logistic regression on the raw feature set and on the engineered one, same split, and the engineered version wins on every metric while using 52 columns instead of 84. That turned an assumption into a measurement. On native_region specifically, the raw column has 42 categories and is 90 percent United States, so encoding it directly would have produced dozens of nearly empty columns. Grouping it gives the models a usable feature and creates the split my fairness audit needs. I did not use PCA, because H1 needs the original features.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in one row across the top. Two things are worth the time. First, the fold indices are generated once and handed to all three models, so every model sees the same five folds. That is what leaves them paired, and at five observations pairing is the difference between a test with some power and one with almost none. Second, the bug on the right. All three pipelines originally pointed at the same scaler object, and because scikit-learn pipelines do not copy their steps, refitting one model later changed the preprocessing of models I had already scored. XGBoost dropped from 0.805 to 0.744 with no error raised.</a:t>
            </a:r>
          </a:p>
          <a:p>
            <a:endParaRPr lang="en-US" dirty="0"/>
          </a:p>
          <a:p>
            <a:r>
              <a:rPr lang="en-US" dirty="0"/>
              <a:t>Stratified cross fold validation indices-row positions —&gt; which rows go in which fold.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pass on the three models, because the guidelines ask how each one actually makes a prediction and not just its name. Logistic regression is a weighted sum through a sigmoid, fully readable, but linear and additive. XGBoost builds trees on the residuals, so it finds thresholds and interactions on its own. The MLP stacks non-linear layers, which can represent interactions too but has to learn them from scratch. One thing on why logistic regression is the baseline and not just something I want to beat: a lender has to explain a decision, and this model gives one signed coefficient per feature. So a small win by a more complex model has to be weighed against losing that. The bar at the bottom is the naive floor: 76 percent accuracy, zero high earners caught.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define the metrics once because every table today reports the same ones. The thing to take away is why PR-AUC leads. It focuses on the positive class directly, it gets no credit for correctly rejecting the easy majority, its no-skill floor is the base rate instead of 0.5, and it is threshold-free so it compares ranking rather than where a cutoff lands. ROC-AUC stays in the tables but I keep it secondary, because on imbalanced data the big easy negative class props all three curves up and hides differences PR-AUC shows clearly. You will see that happen later. And the recall box at the bottom is the one that matters most: precision failures cost the lender review time, recall failures cost a person an opportunity, and the whole fairness audit is built on that second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my professor's feedback is really about. Claims about one model being better than another mean nothing without a test behind them, so here is what I used and why each one fits. The t-test and Wilcoxon work on the fold scores, and they only work because the folds are shared, which is the pairing requirement. McNemar is the right test for two classifiers on one shared test set, because their errors are paired at the row level. And the bootstrap is the workhorse, because it needs no distributional assumption and it lets me take the difference inside each resample, which is important: two overlapping confidence intervals do not actually mean a difference is non-significant, so comparing separate intervals by eye would be wrong.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with library defaults on the validation set. Three things. One, SMOTE lifts recall from 0.60 to 0.85 on the logistic regression. Notice accuracy actually falls, from 0.848 to 0.815, so optimizing accuracy would have meant dropping SMOTE and building a worse model for this use case. Two, XGBoost already leads on PR-AUC and F1 before I tune anything. Three, the untuned MLP lands below the logistic baseline, which is the first evidence for half of my H3 reasoning. To be clear on the baseline, it is the untuned logistic regression with SMOTE, the middle row. Nothing is settled yet, these are validation numbers with no tests behind them.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what each parameter actually controls, which the guidelines ask for. Right side is the before and after that justifies each choice. But the interesting part is the bottom bar. The logistic regression gains nine ten-thousandths, XGBoost gains nineteen, and the MLP gains three hundred and eleven. The logistic regression barely moves because it was already at its ceiling, which I showed with a validation curve last milestone. XGBoost barely moves because its defaults are already good for this kind of data. The MLP is the one that really needed it, and the direction it moved matters: the smallest network with the strongest </a:t>
            </a:r>
            <a:r>
              <a:rPr lang="en-US" dirty="0" err="1"/>
              <a:t>regularisation</a:t>
            </a:r>
            <a:r>
              <a:rPr lang="en-US" dirty="0"/>
              <a:t> won. A model that gets better when you shrink it is telling you it does not have enough data for its capacity.</a:t>
            </a:r>
          </a:p>
          <a:p>
            <a:endParaRPr lang="en-US" dirty="0"/>
          </a:p>
          <a:p>
            <a:r>
              <a:rPr lang="en-US" dirty="0"/>
              <a:t>Weight Penalty Hyperparameter for MLP model: regularization hyperparameter that adds a penalty proportional to the size of the network's weights to the loss function</a:t>
            </a:r>
          </a:p>
          <a:p>
            <a:r>
              <a:rPr lang="en-US" dirty="0"/>
              <a:t>-prevents overfitting by forcing the model to keep weights small (and creates more smoother and general decision boundaries)</a:t>
            </a:r>
          </a:p>
          <a:p>
            <a:r>
              <a:rPr lang="en-US" dirty="0"/>
              <a:t>-can use L1 or L2 regularization weight penalties</a:t>
            </a:r>
          </a:p>
          <a:p>
            <a:r>
              <a:rPr lang="en-US" sz="1200" b="1" u="none" strike="noStrike" kern="1200" dirty="0">
                <a:solidFill>
                  <a:schemeClr val="tx1"/>
                </a:solidFill>
                <a:effectLst/>
                <a:latin typeface="+mn-lt"/>
                <a:ea typeface="+mn-ea"/>
                <a:cs typeface="+mn-cs"/>
              </a:rPr>
              <a:t>Too High (</a:t>
            </a:r>
            <a:r>
              <a:rPr lang="el-GR" sz="1200" b="1" u="none" strike="noStrike" kern="1200" dirty="0">
                <a:solidFill>
                  <a:schemeClr val="tx1"/>
                </a:solidFill>
                <a:effectLst/>
                <a:latin typeface="+mn-lt"/>
                <a:ea typeface="+mn-ea"/>
                <a:cs typeface="+mn-cs"/>
              </a:rPr>
              <a:t>α</a:t>
            </a:r>
            <a:r>
              <a:rPr lang="en-US" sz="1200" b="1" u="none" strike="noStrike" kern="1200" dirty="0">
                <a:solidFill>
                  <a:schemeClr val="tx1"/>
                </a:solidFill>
                <a:effectLst/>
                <a:latin typeface="+mn-lt"/>
                <a:ea typeface="+mn-ea"/>
                <a:cs typeface="+mn-cs"/>
              </a:rPr>
              <a:t> &gt; 0)</a:t>
            </a:r>
            <a:r>
              <a:rPr lang="en-US" dirty="0"/>
              <a:t>: The model becomes overly constrained, leading to high bias and underfitting</a:t>
            </a:r>
          </a:p>
          <a:p>
            <a:r>
              <a:rPr lang="en-US" sz="1200" b="1" u="none" strike="noStrike" kern="1200" dirty="0">
                <a:solidFill>
                  <a:schemeClr val="tx1"/>
                </a:solidFill>
                <a:effectLst/>
                <a:latin typeface="+mn-lt"/>
                <a:ea typeface="+mn-ea"/>
                <a:cs typeface="+mn-cs"/>
              </a:rPr>
              <a:t>Too Low (α → 0)</a:t>
            </a:r>
            <a:r>
              <a:rPr lang="en-US" dirty="0"/>
              <a:t>: The network ignores the penalty, risking high variance and overfitting to the training set.</a:t>
            </a:r>
          </a:p>
          <a:p>
            <a:endParaRPr lang="en-US" dirty="0"/>
          </a:p>
          <a:p>
            <a:r>
              <a:rPr lang="en-US" dirty="0"/>
              <a:t>Subsample hyperparameter for </a:t>
            </a:r>
            <a:r>
              <a:rPr lang="en-US" dirty="0" err="1"/>
              <a:t>xgboost</a:t>
            </a:r>
            <a:r>
              <a:rPr lang="en-US" dirty="0"/>
              <a:t>: controls the fraction of the training data rows used to build each tree</a:t>
            </a:r>
          </a:p>
          <a:p>
            <a:r>
              <a:rPr lang="en-US" dirty="0"/>
              <a:t>Value of 1: all training data rows used for each tree</a:t>
            </a:r>
          </a:p>
          <a:p>
            <a:r>
              <a:rPr lang="en-US" dirty="0"/>
              <a:t>Value of .5: uses 50% of training data rows for each tree being built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stratified folds on the training rows, same folds for all three models. Standard deviations around 0.01 everywhere, so these are stable and not lucky. XGBoost leads on PR-AUC, F1, and accuracy. But look at the recall column: XGBoost is lowest at 0.74 while the other two are at 0.84. It is trading caught high earners for far fewer false alarms, and that comes back in the fairness section. The variance column is worth a look, since the guidelines ask for it. Every model comes in at one to two ten-thousandths, small next to the 0.039 gap between XGBoost and the baseline. That ratio is why the tests on the next slide have any chance of working. One procedural note: this runs on the training rows only. It is a stability check, and the test set is still untouched.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PR-AUC every comparison clears 0.05 by the paired t-test. On F1 the two XGBoost comparisons clear it and the MLP against logistic regression does not. Now, the Wilcoxon column. Every significant row comes back at exactly 0.0625 and that is not a coincidence I should read as weak evidence. With five paired observations there are only thirty-two possible sign patterns, so the most extreme one still leaves one sixteenth of the probability in the tails. The test literally cannot go below 0.05 at this sample size. What it does tell me is that XGBoost won on all five folds with no exceptions. This is why I do not stop at fold tests, and why the next two slides use all 6,508 test rows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directly about the note on confidence intervals. Same difference, same five folds, three confidence levels. The 90 percent interval is narrowest and the 99 percent is widest, and nothing about the data changed between those rows. So a narrow interval only means something if it is narrow at a high confidence level, and the only way to get both is more data. The bottom bar shows that working in my favour: the fold-based intervals rest on five numbers and run 0.026 to 0.035 wide, while the bootstrap interval on the difference uses all 6,508 test rows and is 0.018 wide at the same 95 percent level. In a couple of slides you will see the same principle working against me, on the fairness gap.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 touched once. XGBoost reaches 0.805 PR-AUC and 0.708 F1 against 0.774 and 0.684 for the tuned logistic regression, so it clears the baseline on both metrics H3 names. The ordering from validation held, which matters because a model that led on validation and collapsed on test would mean I had overfit my tuning. Look at the naive row while we are here: 0.759 accuracy, higher than the logistic regression manages, and it catches zero high earners. That is the clearest justification for everything I said about metric choice. One thing I want to plant now: XGBoost has the highest F1 and the lowest recall of the three. It catches fewer high earners but nearly halves the false alarms, so the three models are not sitting at the same operating point. That comes back when I compare their fairness gaps.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top is the precision-recall curve and it is the plot that matters. XGBoost sits above the other two across nearly the whole recall range, meaning at whatever recall I choose to operate at, it flags fewer people wrongly. All three stay well above the no-skill line so all three have real signal. Now compare that with the ROC curves on the right of that image: they are almost on top of each other. That is exactly the flattering behaviour I warned about, the large easy negative class propping all three curves up and hiding a gap that PR-AUC shows clearly. Bottom row is the confusion matrices, showing the same trade in counts.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bootstrap, and the intervals are on the difference, taken inside each resample, not two separate intervals compared by eye. For XGBoost against either model the interval excludes zero and it won a thousand out of a thousand resamples. Right is McNemar: 454 rows XGBoost fixed against 200 it broke, p on the order of ten to the minus twenty-three. Where the tests disagree is the MLP against the logistic regression, and I want to be honest about that: fold t-test significant, McNemar 0.049, bootstrap contains zero. I go with the bootstrap, because it has the most data and fewest assumptions. The neural network bought nothing over a linear model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supported and it is the best evidenced result in the project. Four separate readings agree and XGBoost led on every fold. I want to stress that I stated the reasoning before seeing results, and both halves of it held: the non-linear structure was real, and the dataset really was too small for the neural network, which showed up in the MLP getting better when I made it smaller. The part of H3 I will not claim is the MLP beating the logistic regression, because the bootstrap interval on that difference contains zero. And the verdict includes the cost: compute is cheap, but XGBoost gives up the transparency that matters for a lending decision somebody can be asked to explain.</a:t>
            </a:r>
          </a:p>
          <a:p>
            <a:endParaRPr lang="en-US" dirty="0"/>
          </a:p>
          <a:p>
            <a:r>
              <a:rPr lang="en-US" dirty="0"/>
              <a:t>Surrogate model in Machine Learning: a simpler model type sharing a similar structure to help you improve the complex model's explainability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audit. Foreign-born people are 9 percent of the data and women are 33 percent. I audit on recall for real high earners, not accuracy, and the reason is on the right. Every model looks more accurate on women, which would read as serving them better. It is not. Women have fewer high earners, so predicting under fifty thousand is right more often. Recall shows what is happening: every model misses more female high earners, by ten to fifteen points, and on both axes XGBoost has the largest gap, the opposite of what H2 predicted. Part of that gap is inherited though. The base rates differ, 24.6 against 18.7 percent, so H2 really asks which model handles the pre-existing gap best.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Bottom box lines H2 up against what I can actually show. I predicted XGBoost would have the smallest nativity gap. It has the largest, 0.079 against 0.055 and 0.046, so the direction is the opposite of my prediction and H2 is refuted. But I want to be careful about the second half. I also cannot claim any model is really fairer than another, because every interval on a difference between two models' gaps contains zero. The chart shows why. Top block is sex, where every interval clears zero, so those gaps are real. Bottom block is nativity, where every interval crosses zero. And the grey bars are about three times longer than the navy ones, because they rest on 99 foreign-born high earners instead of 241 women. Same method, less data, no resolution.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of trying to close the gap plus the as-is model. Training on the minority group only is the worst, and it failed in a useful way: the female-only XGBoost drops to 0.375 recall on men. Cutting the data to the group did not fix the gap, it just moved who gets served badly, which answers the question that experiment was designed to ask. Group-balanced oversampling cuts XGBoost's nativity gap from 0.079 to 0.024 for about two thousandths of F1. Group thresholds work best of all, but I would not deploy them, because a threshold that depends on nativity or sex is very likely illegal under fair lending rules no matter how good the intent. So my recommendation is the oversampling, and the thresholds are a diagnostic.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is refuted. XGBoost has the largest gap, not the smallest, on both group axes. But I want to be careful about how strongly I say that, because the more accurate statement is that no model is distinguishable from any other here. Every interval on a difference contains zero. So the hypothesis is not supported and the reverse is not supported either. I also have to name a confound instead of hiding it: the three models sit at different recall levels, so their gaps are not measured at the same operating point. When the group thresholds put all three at about 0.78 recall, XGBoost's nativity gap goes to essentially zero and it still has the best F1. What is genuinely settled is the sex gap, which is real for every model.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is supported on all three models, and the agreement across models is what makes it convincing instead of a quirk of one algorithm. Education is worth two and a half to three times as much as hours to every model, and all three intervals exclude zero by a wide margin. One methodological detail I want to flag, top right: education lives in one column but hours lives in hours_per_week plus the six hours_group dummies I engineered. Shuffling only the raw column would leave the dummies telling the model the answer, so I shuffle the whole hours block together. That gives hours a fair shot instead of handicapping it. And what H1 does not claim: education is not the top feature overall, capital gain and marital status outrank it. H1 is about education against hours specifically.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from the baseline milestone holds for all three models: the high earners they miss look ordinary on the strongest features, with about 95 percent having zero capital gain. XGBoost misses more in total because of its lower recall, but it nearly halves the false alarms, from 905 to 495. The disagreement analysis on the right is where its advantage lives: on the 654 rows where the two models disagree, XGBoost is right on 454, and the rows it fixes have twice the capital gain of the rows it breaks. Bottom table: every model fails on the same kind of person, low education and young. The exception is the over-60 band, only 491 rows, where the logistic regression beats XGBoost 0.897 to 0.607.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plots answering two different questions. The learning curves on top ask whether more rows would help, and all three flatten after a few thousand rows, so none is starved in the ordinary sense. What separates them is the gap between the training and validation lines. The logistic regression's two lines are almost on top of each other, which is a low variance model underfitting if anything. XGBoost shows a clear persistent gap, which is what a 400-tree depth-7 ensemble does. That is not a problem in itself because its validation score is still the highest. The validation curve bottom left is the cleaner picture: training keeps climbing with depth while validation peaks and flattens, and my tuned depth of 7 sits right at that peak.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on the left. The one I would emphasise is that where the tests disagreed I said so instead of picking the test that gave the answer I wanted, and that one of my hypotheses got refuted, which is the sign the setup was honest and not built to confirm what I expected. Limitations on the right, and the first one is the real one: the nativity comparison is underpowered and no amount of modelling would have fixed it. The others are things I would do next: nested cross-validation instead of a single validation split, comparison at a matched threshold, and calibration, which matters because a lender needs probabilities that mean what they say and not just probabilities that rank correctly.</a:t>
            </a:r>
          </a:p>
          <a:p>
            <a:endParaRPr lang="en-US" dirty="0"/>
          </a:p>
          <a:p>
            <a:r>
              <a:rPr lang="en-US" dirty="0"/>
              <a:t>SMOTE interpolates (it takes a weighted average of a minority row and a neighbor, one random weight applied to the whole row. The one-hot block still sums to one, so it reads as a soft membership rather than a broken row, and both the linear models and the trees handle it coherently) between a minority group row and one of its nearest neighbors, and it runs after one-hot encoding, so it has no idea which columns belong together. If the base row is Sales and the neighbor is Exec-managerial, the synthetic row comes out 0.6 Sales and 0.4 Exec. It only affects training folds, never validation or test, so no result I am reporting is measured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first. This is a 1994 census extract, so any model trained on it inherits the labour market of that period, and the fifty thousand dollar threshold is not meaningful today. The sampling is uneven exactly where the audit cares. And the model does perform differently across subgroups, which I measured instead of assumed. On impact, the people affected are applicants who get screened out, and the audit shows those false negatives land more often on women. Two misuses worth naming: treating a prediction as a reason for an adverse decision, and the fairness fix itself, since group-specific thresholds are probably illegal in lending. The last bullet is the one I would leave you with: a report that led with group accuracy would have concluded the opposite of what is actually happening.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The first two are technical lessons I would not have learned any other way. A statistical test can be structurally incapable of returning the answer you are looking for, which is the Wilcoxon floor. And shared mutable objects will silently corrupt your results, which is the scaler bug. That is the one that changed how I work rather than what I know, because of the failure mode: no exception, no warning, just a number quietly wrong. I only caught it because the test result contradicted validation. Three, confidence intervals beat p-values when the honest answer is that you cannot tell. Four and five are the fairness lessons: the most accurate model was not the fairest, and group accuracy and group recall pointed in opposite directions.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H1 supported, education beats hours on every model with intervals excluding zero. H3 supported, XGBoost beats both on PR-AUC and F1 with four tests agreeing. H2 refuted, XGBoost has the largest nativity gap and in any case the comparison is not resolvable at this sample size. The main finding is the one in the box: the most accurate model was not the fairest, and those two questions had to be answered separately. Group-balanced oversampling recovers most of the gap for almost nothing, and that is what I would deploy. Future work on the right, and the top item is the one that matters most: more foreign-born rows is the single change that would do the most for this project.</a:t>
            </a:r>
          </a:p>
          <a:p>
            <a:endParaRPr lang="en-US" dirty="0"/>
          </a:p>
          <a:p>
            <a:r>
              <a:rPr lang="en-US" dirty="0"/>
              <a:t>How to compare different models at different recall instead of specific threshold: Pick a recall you care about, say 0.80, and read each model's precision at that vertical slice of the PR curve. </a:t>
            </a:r>
            <a:r>
              <a:rPr lang="en-US"/>
              <a:t>This is the cleanest answer because it's literally what the PR curve encodes, and it requires no threshold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one seed, a single load path from the database, and the notebook runs top to bottom on a clean environment. Versions are on the right and pinned in requirements.txt. Everything, including the notebook, the earlier milestones, and the database, is in the GitHub repository at the bottom. To close, the three things I would want you to take away. XGBoost is meaningfully better here and I have four independent tests saying so. The fairness question and the accuracy question turned out to be separate questions. And the most useful thing I produced may be a negative result, that this dataset cannot answer H2 at all, and I can tell you exactly how much more data it would take.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flipH="1">
            <a:off x="12188951" y="0"/>
            <a:ext cx="45719" cy="6858000"/>
          </a:xfrm>
          <a:prstGeom prst="rect">
            <a:avLst/>
          </a:prstGeom>
          <a:solidFill>
            <a:srgbClr val="1C1E24"/>
          </a:solidFill>
          <a:ln w="12700">
            <a:solidFill>
              <a:srgbClr val="333333"/>
            </a:solidFill>
            <a:prstDash val="solid"/>
          </a:ln>
        </p:spPr>
        <p:txBody>
          <a:bodyPr/>
          <a:lstStyle/>
          <a:p>
            <a:endParaRPr lang="en-US"/>
          </a:p>
        </p:txBody>
      </p:sp>
      <p:sp>
        <p:nvSpPr>
          <p:cNvPr id="3" name="Text 1"/>
          <p:cNvSpPr/>
          <p:nvPr/>
        </p:nvSpPr>
        <p:spPr>
          <a:xfrm>
            <a:off x="822960" y="1325880"/>
            <a:ext cx="8686800" cy="320040"/>
          </a:xfrm>
          <a:prstGeom prst="rect">
            <a:avLst/>
          </a:prstGeom>
          <a:noFill/>
          <a:ln/>
        </p:spPr>
        <p:txBody>
          <a:bodyPr wrap="square" lIns="0" tIns="0" rIns="0" bIns="0" rtlCol="0" anchor="ctr"/>
          <a:lstStyle/>
          <a:p>
            <a:pPr marL="0" indent="0">
              <a:buNone/>
            </a:pPr>
            <a:r>
              <a:rPr lang="en-US" sz="1250" b="1" kern="0" spc="200" dirty="0">
                <a:solidFill>
                  <a:srgbClr val="E8C15A"/>
                </a:solidFill>
                <a:latin typeface="Verdana" pitchFamily="34" charset="0"/>
                <a:ea typeface="Verdana" pitchFamily="34" charset="-122"/>
                <a:cs typeface="Verdana" pitchFamily="34" charset="-120"/>
              </a:rPr>
              <a:t>DATA SCIENCE CAPSTONE   ·   MSDS640</a:t>
            </a:r>
            <a:endParaRPr lang="en-US" sz="1250" dirty="0"/>
          </a:p>
        </p:txBody>
      </p:sp>
      <p:sp>
        <p:nvSpPr>
          <p:cNvPr id="4" name="Text 2"/>
          <p:cNvSpPr/>
          <p:nvPr/>
        </p:nvSpPr>
        <p:spPr>
          <a:xfrm>
            <a:off x="822960" y="1737360"/>
            <a:ext cx="8778240" cy="914400"/>
          </a:xfrm>
          <a:prstGeom prst="rect">
            <a:avLst/>
          </a:prstGeom>
          <a:noFill/>
          <a:ln/>
        </p:spPr>
        <p:txBody>
          <a:bodyPr wrap="square" lIns="0" tIns="0" rIns="0" bIns="0" rtlCol="0" anchor="ctr"/>
          <a:lstStyle/>
          <a:p>
            <a:pPr marL="0" indent="0">
              <a:buNone/>
            </a:pPr>
            <a:r>
              <a:rPr lang="en-US" sz="4000" b="1" dirty="0">
                <a:solidFill>
                  <a:srgbClr val="F5F7FA"/>
                </a:solidFill>
                <a:latin typeface="Verdana" pitchFamily="34" charset="0"/>
                <a:ea typeface="Verdana" pitchFamily="34" charset="-122"/>
                <a:cs typeface="Verdana" pitchFamily="34" charset="-120"/>
              </a:rPr>
              <a:t>Adult Census Income</a:t>
            </a:r>
            <a:endParaRPr lang="en-US" sz="4000" dirty="0"/>
          </a:p>
        </p:txBody>
      </p:sp>
      <p:sp>
        <p:nvSpPr>
          <p:cNvPr id="5" name="Text 3"/>
          <p:cNvSpPr/>
          <p:nvPr/>
        </p:nvSpPr>
        <p:spPr>
          <a:xfrm>
            <a:off x="822960" y="2743200"/>
            <a:ext cx="8778240" cy="457200"/>
          </a:xfrm>
          <a:prstGeom prst="rect">
            <a:avLst/>
          </a:prstGeom>
          <a:noFill/>
          <a:ln/>
        </p:spPr>
        <p:txBody>
          <a:bodyPr wrap="square" lIns="0" tIns="0" rIns="0" bIns="0" rtlCol="0" anchor="ctr"/>
          <a:lstStyle/>
          <a:p>
            <a:pPr marL="0" indent="0">
              <a:buNone/>
            </a:pPr>
            <a:r>
              <a:rPr lang="en-US" sz="1900" dirty="0">
                <a:solidFill>
                  <a:srgbClr val="6AA0FF"/>
                </a:solidFill>
                <a:latin typeface="Verdana" pitchFamily="34" charset="0"/>
                <a:ea typeface="Verdana" pitchFamily="34" charset="-122"/>
                <a:cs typeface="Verdana" pitchFamily="34" charset="-120"/>
              </a:rPr>
              <a:t>Final Model Comparison and Fairness Audit</a:t>
            </a:r>
            <a:endParaRPr lang="en-US" sz="1900" dirty="0"/>
          </a:p>
        </p:txBody>
      </p:sp>
      <p:sp>
        <p:nvSpPr>
          <p:cNvPr id="6" name="Text 4"/>
          <p:cNvSpPr/>
          <p:nvPr/>
        </p:nvSpPr>
        <p:spPr>
          <a:xfrm>
            <a:off x="822960" y="4114800"/>
            <a:ext cx="5486400" cy="274320"/>
          </a:xfrm>
          <a:prstGeom prst="rect">
            <a:avLst/>
          </a:prstGeom>
          <a:noFill/>
          <a:ln/>
        </p:spPr>
        <p:txBody>
          <a:bodyPr wrap="square" lIns="0" tIns="0" rIns="0" bIns="0" rtlCol="0" anchor="ctr"/>
          <a:lstStyle/>
          <a:p>
            <a:pPr marL="0" indent="0">
              <a:buNone/>
            </a:pPr>
            <a:r>
              <a:rPr lang="en-US" sz="1300" b="1" dirty="0">
                <a:solidFill>
                  <a:srgbClr val="F5F7FA"/>
                </a:solidFill>
                <a:latin typeface="Verdana" pitchFamily="34" charset="0"/>
                <a:ea typeface="Verdana" pitchFamily="34" charset="-122"/>
                <a:cs typeface="Verdana" pitchFamily="34" charset="-120"/>
              </a:rPr>
              <a:t>Erik Herb</a:t>
            </a:r>
            <a:endParaRPr lang="en-US" sz="1300" dirty="0"/>
          </a:p>
        </p:txBody>
      </p:sp>
      <p:sp>
        <p:nvSpPr>
          <p:cNvPr id="7" name="Text 5"/>
          <p:cNvSpPr/>
          <p:nvPr/>
        </p:nvSpPr>
        <p:spPr>
          <a:xfrm>
            <a:off x="822960" y="4434840"/>
            <a:ext cx="7315200" cy="274320"/>
          </a:xfrm>
          <a:prstGeom prst="rect">
            <a:avLst/>
          </a:prstGeom>
          <a:noFill/>
          <a:ln/>
        </p:spPr>
        <p:txBody>
          <a:bodyPr wrap="square" lIns="0" tIns="0" rIns="0" bIns="0" rtlCol="0" anchor="ctr"/>
          <a:lstStyle/>
          <a:p>
            <a:pPr marL="0" indent="0">
              <a:buNone/>
            </a:pPr>
            <a:r>
              <a:rPr lang="en-US" sz="1100" dirty="0">
                <a:solidFill>
                  <a:srgbClr val="9AA7BD"/>
                </a:solidFill>
                <a:latin typeface="Verdana" pitchFamily="34" charset="0"/>
                <a:ea typeface="Verdana" pitchFamily="34" charset="-122"/>
                <a:cs typeface="Verdana" pitchFamily="34" charset="-120"/>
              </a:rPr>
              <a:t>M.S. Data Science   ·   Bryant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problem and the three hypotheses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 lender flagging likely high earners, so recall and fairness matter more than accuracy</a:t>
            </a:r>
            <a:endParaRPr lang="en-US" sz="1200" dirty="0"/>
          </a:p>
        </p:txBody>
      </p:sp>
      <p:sp>
        <p:nvSpPr>
          <p:cNvPr id="6" name="Shape 4"/>
          <p:cNvSpPr/>
          <p:nvPr/>
        </p:nvSpPr>
        <p:spPr>
          <a:xfrm>
            <a:off x="502920" y="1234440"/>
            <a:ext cx="3291840" cy="19659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9260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PREDICTION TASK</a:t>
            </a:r>
            <a:endParaRPr lang="en-US" sz="1050" dirty="0"/>
          </a:p>
        </p:txBody>
      </p:sp>
      <p:sp>
        <p:nvSpPr>
          <p:cNvPr id="8" name="Text 6"/>
          <p:cNvSpPr/>
          <p:nvPr/>
        </p:nvSpPr>
        <p:spPr>
          <a:xfrm>
            <a:off x="685800" y="1691640"/>
            <a:ext cx="2926080"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Predict over-$50K income from demographic, education, and job data.</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Imbalanced target: 24.1% high earners, 75.9% low</a:t>
            </a:r>
            <a:endParaRPr lang="en-US" sz="1100" dirty="0"/>
          </a:p>
        </p:txBody>
      </p:sp>
      <p:sp>
        <p:nvSpPr>
          <p:cNvPr id="9" name="Shape 7"/>
          <p:cNvSpPr/>
          <p:nvPr/>
        </p:nvSpPr>
        <p:spPr>
          <a:xfrm>
            <a:off x="3977640" y="1234440"/>
            <a:ext cx="7726680" cy="196596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4160520" y="1371600"/>
            <a:ext cx="73152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THE FRAMING DECIDES THE METRICS</a:t>
            </a:r>
            <a:endParaRPr lang="en-US" sz="1050" dirty="0"/>
          </a:p>
        </p:txBody>
      </p:sp>
      <p:sp>
        <p:nvSpPr>
          <p:cNvPr id="11" name="Text 9"/>
          <p:cNvSpPr/>
          <p:nvPr/>
        </p:nvSpPr>
        <p:spPr>
          <a:xfrm>
            <a:off x="4160520" y="1691640"/>
            <a:ext cx="7315200" cy="13716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 missed high earner is lost business, and a denied opportunity</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So PR-AUC and recall lead, accuracy is secondary</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More misses in one group means the model works worse for that group</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So fairness is measured alongside accuracy, not after</a:t>
            </a:r>
          </a:p>
          <a:p>
            <a:pPr marL="342900" indent="-342900">
              <a:spcAft>
                <a:spcPts val="700"/>
              </a:spcAft>
              <a:buSzPct val="100000"/>
              <a:buChar char="•"/>
            </a:pPr>
            <a:endParaRPr lang="en-US" sz="1100" dirty="0"/>
          </a:p>
        </p:txBody>
      </p:sp>
      <p:sp>
        <p:nvSpPr>
          <p:cNvPr id="12" name="Shape 10"/>
          <p:cNvSpPr/>
          <p:nvPr/>
        </p:nvSpPr>
        <p:spPr>
          <a:xfrm>
            <a:off x="502920"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H1</a:t>
            </a:r>
            <a:endParaRPr lang="en-US" sz="1700" dirty="0"/>
          </a:p>
        </p:txBody>
      </p:sp>
      <p:sp>
        <p:nvSpPr>
          <p:cNvPr id="14" name="Text 12"/>
          <p:cNvSpPr/>
          <p:nvPr/>
        </p:nvSpPr>
        <p:spPr>
          <a:xfrm>
            <a:off x="1280160"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Education over hours</a:t>
            </a:r>
            <a:endParaRPr lang="en-US" sz="1250" dirty="0"/>
          </a:p>
        </p:txBody>
      </p:sp>
      <p:sp>
        <p:nvSpPr>
          <p:cNvPr id="15" name="Text 13"/>
          <p:cNvSpPr/>
          <p:nvPr/>
        </p:nvSpPr>
        <p:spPr>
          <a:xfrm>
            <a:off x="685800"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Education predicts over-$50K income more strongly than hours worked.</a:t>
            </a:r>
            <a:endParaRPr lang="en-US" sz="1100" dirty="0"/>
          </a:p>
        </p:txBody>
      </p:sp>
      <p:sp>
        <p:nvSpPr>
          <p:cNvPr id="16" name="Text 14"/>
          <p:cNvSpPr/>
          <p:nvPr/>
        </p:nvSpPr>
        <p:spPr>
          <a:xfrm>
            <a:off x="685800"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Permutation importance, with a CI on the difference.</a:t>
            </a:r>
            <a:endParaRPr lang="en-US" sz="950" dirty="0"/>
          </a:p>
        </p:txBody>
      </p:sp>
      <p:sp>
        <p:nvSpPr>
          <p:cNvPr id="17" name="Shape 15"/>
          <p:cNvSpPr/>
          <p:nvPr/>
        </p:nvSpPr>
        <p:spPr>
          <a:xfrm>
            <a:off x="4315968"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18" name="Text 16"/>
          <p:cNvSpPr/>
          <p:nvPr/>
        </p:nvSpPr>
        <p:spPr>
          <a:xfrm>
            <a:off x="4498848"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H2</a:t>
            </a:r>
            <a:endParaRPr lang="en-US" sz="1700" dirty="0"/>
          </a:p>
        </p:txBody>
      </p:sp>
      <p:sp>
        <p:nvSpPr>
          <p:cNvPr id="19" name="Text 17"/>
          <p:cNvSpPr/>
          <p:nvPr/>
        </p:nvSpPr>
        <p:spPr>
          <a:xfrm>
            <a:off x="5093208"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XGBoost is the fairest</a:t>
            </a:r>
            <a:endParaRPr lang="en-US" sz="1250" dirty="0"/>
          </a:p>
        </p:txBody>
      </p:sp>
      <p:sp>
        <p:nvSpPr>
          <p:cNvPr id="20" name="Text 18"/>
          <p:cNvSpPr/>
          <p:nvPr/>
        </p:nvSpPr>
        <p:spPr>
          <a:xfrm>
            <a:off x="4498848"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XGBoost has the smallest US-born vs foreign-born recall gap.</a:t>
            </a:r>
            <a:endParaRPr lang="en-US" sz="1100" dirty="0"/>
          </a:p>
        </p:txBody>
      </p:sp>
      <p:sp>
        <p:nvSpPr>
          <p:cNvPr id="21" name="Text 19"/>
          <p:cNvSpPr/>
          <p:nvPr/>
        </p:nvSpPr>
        <p:spPr>
          <a:xfrm>
            <a:off x="4498848"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Bootstrap CIs on each gap and on the difference.</a:t>
            </a:r>
            <a:endParaRPr lang="en-US" sz="950" dirty="0"/>
          </a:p>
        </p:txBody>
      </p:sp>
      <p:sp>
        <p:nvSpPr>
          <p:cNvPr id="22" name="Shape 20"/>
          <p:cNvSpPr/>
          <p:nvPr/>
        </p:nvSpPr>
        <p:spPr>
          <a:xfrm>
            <a:off x="8129016"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8311896"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H3</a:t>
            </a:r>
            <a:endParaRPr lang="en-US" sz="1700" dirty="0"/>
          </a:p>
        </p:txBody>
      </p:sp>
      <p:sp>
        <p:nvSpPr>
          <p:cNvPr id="24" name="Text 22"/>
          <p:cNvSpPr/>
          <p:nvPr/>
        </p:nvSpPr>
        <p:spPr>
          <a:xfrm>
            <a:off x="8906256"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XGBoost classifies best</a:t>
            </a:r>
            <a:endParaRPr lang="en-US" sz="1250" dirty="0"/>
          </a:p>
        </p:txBody>
      </p:sp>
      <p:sp>
        <p:nvSpPr>
          <p:cNvPr id="25" name="Text 23"/>
          <p:cNvSpPr/>
          <p:nvPr/>
        </p:nvSpPr>
        <p:spPr>
          <a:xfrm>
            <a:off x="8311896"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XGBoost beats both on PR-AUC and F1. The data is non-linear, and 32.5K rows is small for a neural network.</a:t>
            </a:r>
            <a:endParaRPr lang="en-US" sz="1100" dirty="0"/>
          </a:p>
        </p:txBody>
      </p:sp>
      <p:sp>
        <p:nvSpPr>
          <p:cNvPr id="26" name="Text 24"/>
          <p:cNvSpPr/>
          <p:nvPr/>
        </p:nvSpPr>
        <p:spPr>
          <a:xfrm>
            <a:off x="8311896"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Paired t-tests, McNemar, and paired bootstrap.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Data and preprocessing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Carried forward from the earlier milestones</a:t>
            </a:r>
            <a:endParaRPr lang="en-US" sz="1200" dirty="0"/>
          </a:p>
        </p:txBody>
      </p:sp>
      <p:sp>
        <p:nvSpPr>
          <p:cNvPr id="6" name="Shape 4"/>
          <p:cNvSpPr/>
          <p:nvPr/>
        </p:nvSpPr>
        <p:spPr>
          <a:xfrm>
            <a:off x="502920" y="1234440"/>
            <a:ext cx="3566160"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DATASET</a:t>
            </a:r>
            <a:endParaRPr lang="en-US" sz="1050" dirty="0"/>
          </a:p>
        </p:txBody>
      </p:sp>
      <p:sp>
        <p:nvSpPr>
          <p:cNvPr id="8" name="Text 6"/>
          <p:cNvSpPr/>
          <p:nvPr/>
        </p:nvSpPr>
        <p:spPr>
          <a:xfrm>
            <a:off x="685800" y="1691640"/>
            <a:ext cx="3200400" cy="448056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UCI Adult Census Income, 1994 U.S. Census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32,561 rows, 15 columns, one person per row</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One snapshot in time, so no temporal split applies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Public and anonymized</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After cleaning: 32,537 rows, 52 model columns</a:t>
            </a:r>
            <a:endParaRPr lang="en-US" sz="1100" dirty="0"/>
          </a:p>
        </p:txBody>
      </p:sp>
      <p:sp>
        <p:nvSpPr>
          <p:cNvPr id="9" name="Shape 7"/>
          <p:cNvSpPr/>
          <p:nvPr/>
        </p:nvSpPr>
        <p:spPr>
          <a:xfrm>
            <a:off x="4251960" y="1234440"/>
            <a:ext cx="7452360" cy="246888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4434840" y="1371600"/>
            <a:ext cx="70408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DID AND WHY</a:t>
            </a:r>
            <a:endParaRPr lang="en-US" sz="1050" dirty="0"/>
          </a:p>
        </p:txBody>
      </p:sp>
      <p:sp>
        <p:nvSpPr>
          <p:cNvPr id="11" name="Text 9"/>
          <p:cNvSpPr/>
          <p:nvPr/>
        </p:nvSpPr>
        <p:spPr>
          <a:xfrm>
            <a:off x="4434840" y="1691640"/>
            <a:ext cx="7040880" cy="1920240"/>
          </a:xfrm>
          <a:prstGeom prst="rect">
            <a:avLst/>
          </a:prstGeom>
          <a:noFill/>
          <a:ln/>
        </p:spPr>
        <p:txBody>
          <a:bodyPr wrap="square" lIns="0" tIns="0" rIns="0" bIns="0" rtlCol="0" anchor="t"/>
          <a:lstStyle/>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Missing values filled with an Unknown category</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Three columns have missing values, all under 6%</a:t>
            </a:r>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Dropping them loses ~2,400 people, and the missingness is not random</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24 exact duplicates dropped, sampling weight still in the table</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The weight is near-unique per row, so the order mattered</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Every IQR-flagged outlier kept</a:t>
            </a:r>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Dropping them costs 39.7% of the data and 47.2% of all high earners</a:t>
            </a:r>
          </a:p>
        </p:txBody>
      </p:sp>
      <p:sp>
        <p:nvSpPr>
          <p:cNvPr id="12" name="Shape 10"/>
          <p:cNvSpPr/>
          <p:nvPr/>
        </p:nvSpPr>
        <p:spPr>
          <a:xfrm>
            <a:off x="4251960" y="3886200"/>
            <a:ext cx="7452360" cy="246888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4434840" y="4023360"/>
            <a:ext cx="70408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ENCODING, SCALING, AND CLASS IMBALANCE</a:t>
            </a:r>
            <a:endParaRPr lang="en-US" sz="1050" dirty="0"/>
          </a:p>
        </p:txBody>
      </p:sp>
      <p:sp>
        <p:nvSpPr>
          <p:cNvPr id="14" name="Text 12"/>
          <p:cNvSpPr/>
          <p:nvPr/>
        </p:nvSpPr>
        <p:spPr>
          <a:xfrm>
            <a:off x="4434840" y="4343400"/>
            <a:ext cx="7040880" cy="192024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One-hot on the 8 categorical variables, first level dropped: 52 columns to avoid redundancy</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Scaling on the 5 continuous columns only</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SMOTE on training rows only</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Both live inside the pipeline, so they never see a held-out row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EDA findings the hypotheses rest 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Four findings carried forward from the EDA milestone, not the whole thing</a:t>
            </a:r>
            <a:endParaRPr lang="en-US" sz="1200" dirty="0"/>
          </a:p>
        </p:txBody>
      </p:sp>
      <p:sp>
        <p:nvSpPr>
          <p:cNvPr id="6" name="Shape 4"/>
          <p:cNvSpPr/>
          <p:nvPr/>
        </p:nvSpPr>
        <p:spPr>
          <a:xfrm>
            <a:off x="502920" y="1280160"/>
            <a:ext cx="7086600" cy="4454572"/>
          </a:xfrm>
          <a:prstGeom prst="rect">
            <a:avLst/>
          </a:prstGeom>
          <a:solidFill>
            <a:srgbClr val="FFFFFF"/>
          </a:solidFill>
          <a:ln w="12700">
            <a:solidFill>
              <a:srgbClr val="3A3F4A"/>
            </a:solidFill>
            <a:prstDash val="solid"/>
          </a:ln>
        </p:spPr>
        <p:txBody>
          <a:bodyPr/>
          <a:lstStyle/>
          <a:p>
            <a:endParaRPr lang="en-US"/>
          </a:p>
        </p:txBody>
      </p:sp>
      <p:sp>
        <p:nvSpPr>
          <p:cNvPr id="8" name="Text 5"/>
          <p:cNvSpPr/>
          <p:nvPr/>
        </p:nvSpPr>
        <p:spPr>
          <a:xfrm>
            <a:off x="594360" y="5734732"/>
            <a:ext cx="6903720" cy="32004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Over-$50K rate by education and hours, by age, by capital gain, and by group.</a:t>
            </a:r>
            <a:endParaRPr lang="en-US" sz="950" dirty="0"/>
          </a:p>
        </p:txBody>
      </p:sp>
      <p:sp>
        <p:nvSpPr>
          <p:cNvPr id="9" name="Shape 6"/>
          <p:cNvSpPr/>
          <p:nvPr/>
        </p:nvSpPr>
        <p:spPr>
          <a:xfrm>
            <a:off x="7772400" y="1234440"/>
            <a:ext cx="3931920" cy="512064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7955280" y="1371600"/>
            <a:ext cx="35661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EACH PANEL SHOWS</a:t>
            </a:r>
            <a:endParaRPr lang="en-US" sz="1050" dirty="0"/>
          </a:p>
        </p:txBody>
      </p:sp>
      <p:sp>
        <p:nvSpPr>
          <p:cNvPr id="11" name="Text 8"/>
          <p:cNvSpPr/>
          <p:nvPr/>
        </p:nvSpPr>
        <p:spPr>
          <a:xfrm>
            <a:off x="7955280" y="1737360"/>
            <a:ext cx="356616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Education spreads wider than hours</a:t>
            </a:r>
            <a:endParaRPr lang="en-US" sz="1000" dirty="0"/>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Education moves the rate by about 0.74 from its lowest level to its highest, hours by about 0.36.</a:t>
            </a:r>
            <a:endParaRPr lang="en-US" sz="1000" dirty="0">
              <a:solidFill>
                <a:schemeClr val="bg1">
                  <a:lumMod val="7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Age is a curve, not a line</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It rises to about 45 and falls after.</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A linear model cannot follow that without an age-squared term.</a:t>
            </a: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Any capital gain flips the rate</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0.21 with none against 0.62 with any.</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A threshold, which is why I added the binary flag.</a:t>
            </a: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Base rates already differ by group</a:t>
            </a:r>
            <a:endParaRPr lang="en-US" sz="1000" dirty="0"/>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24.6% of US-born earn over $50K against 18.7% of foreign-born</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Men are higher inside both.</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Part of any later gap starts in the data, not in the model.</a:t>
            </a:r>
            <a:endParaRPr lang="en-US" sz="1000" dirty="0">
              <a:solidFill>
                <a:schemeClr val="bg1">
                  <a:lumMod val="75000"/>
                </a:schemeClr>
              </a:solidFill>
              <a:latin typeface="Verdana" panose="020B0604030504040204" pitchFamily="34" charset="0"/>
              <a:ea typeface="Verdana" panose="020B0604030504040204" pitchFamily="34" charset="0"/>
              <a:cs typeface="Verdana" pitchFamily="34" charset="-120"/>
            </a:endParaRPr>
          </a:p>
        </p:txBody>
      </p:sp>
      <p:pic>
        <p:nvPicPr>
          <p:cNvPr id="15" name="Picture 14" descr="nb_cell16.png"/>
          <p:cNvPicPr>
            <a:picLocks noChangeAspect="1"/>
          </p:cNvPicPr>
          <p:nvPr/>
        </p:nvPicPr>
        <p:blipFill>
          <a:blip r:embed="rId3"/>
          <a:stretch>
            <a:fillRect/>
          </a:stretch>
        </p:blipFill>
        <p:spPr>
          <a:xfrm>
            <a:off x="594360" y="1371600"/>
            <a:ext cx="6903720" cy="42259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Feature engineering, and whether it earned its place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Four engineered features, each with a reason</a:t>
            </a:r>
            <a:endParaRPr lang="en-US" sz="1200" dirty="0"/>
          </a:p>
        </p:txBody>
      </p:sp>
      <p:sp>
        <p:nvSpPr>
          <p:cNvPr id="6" name="Shape 4"/>
          <p:cNvSpPr/>
          <p:nvPr/>
        </p:nvSpPr>
        <p:spPr>
          <a:xfrm>
            <a:off x="50292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native_region</a:t>
            </a:r>
            <a:endParaRPr lang="en-US" sz="1250" dirty="0"/>
          </a:p>
        </p:txBody>
      </p:sp>
      <p:sp>
        <p:nvSpPr>
          <p:cNvPr id="8" name="Text 6"/>
          <p:cNvSpPr/>
          <p:nvPr/>
        </p:nvSpPr>
        <p:spPr>
          <a:xfrm>
            <a:off x="68580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US · non-US · Unknown</a:t>
            </a:r>
            <a:endParaRPr lang="en-US" sz="950" dirty="0"/>
          </a:p>
        </p:txBody>
      </p:sp>
      <p:sp>
        <p:nvSpPr>
          <p:cNvPr id="9" name="Text 7"/>
          <p:cNvSpPr/>
          <p:nvPr/>
        </p:nvSpPr>
        <p:spPr>
          <a:xfrm>
            <a:off x="685800" y="1965960"/>
            <a:ext cx="2286000" cy="173736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Groups a 42-category column that is 90% US into the split H2 needs</a:t>
            </a:r>
          </a:p>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Unknown kept separate</a:t>
            </a:r>
            <a:endParaRPr lang="en-US" sz="1050" dirty="0"/>
          </a:p>
        </p:txBody>
      </p:sp>
      <p:sp>
        <p:nvSpPr>
          <p:cNvPr id="10" name="Shape 8"/>
          <p:cNvSpPr/>
          <p:nvPr/>
        </p:nvSpPr>
        <p:spPr>
          <a:xfrm>
            <a:off x="333756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352044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has_capital_gain</a:t>
            </a:r>
            <a:endParaRPr lang="en-US" sz="1250" dirty="0"/>
          </a:p>
        </p:txBody>
      </p:sp>
      <p:sp>
        <p:nvSpPr>
          <p:cNvPr id="12" name="Text 10"/>
          <p:cNvSpPr/>
          <p:nvPr/>
        </p:nvSpPr>
        <p:spPr>
          <a:xfrm>
            <a:off x="352044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binary flag</a:t>
            </a:r>
            <a:endParaRPr lang="en-US" sz="950" dirty="0"/>
          </a:p>
        </p:txBody>
      </p:sp>
      <p:sp>
        <p:nvSpPr>
          <p:cNvPr id="13" name="Text 11"/>
          <p:cNvSpPr/>
          <p:nvPr/>
        </p:nvSpPr>
        <p:spPr>
          <a:xfrm>
            <a:off x="3520440" y="1965960"/>
            <a:ext cx="2286000" cy="173736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Almost always zero, with a few huge values</a:t>
            </a:r>
          </a:p>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Flag is 1/0 for any capital gain</a:t>
            </a:r>
          </a:p>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Keeps the dollar amount from dominating</a:t>
            </a:r>
            <a:endParaRPr lang="en-US" sz="1050" dirty="0"/>
          </a:p>
        </p:txBody>
      </p:sp>
      <p:sp>
        <p:nvSpPr>
          <p:cNvPr id="14" name="Shape 12"/>
          <p:cNvSpPr/>
          <p:nvPr/>
        </p:nvSpPr>
        <p:spPr>
          <a:xfrm>
            <a:off x="617220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635508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has_capital_loss</a:t>
            </a:r>
            <a:endParaRPr lang="en-US" sz="1250" dirty="0"/>
          </a:p>
        </p:txBody>
      </p:sp>
      <p:sp>
        <p:nvSpPr>
          <p:cNvPr id="16" name="Text 14"/>
          <p:cNvSpPr/>
          <p:nvPr/>
        </p:nvSpPr>
        <p:spPr>
          <a:xfrm>
            <a:off x="635508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binary flag</a:t>
            </a:r>
            <a:endParaRPr lang="en-US" sz="950" dirty="0"/>
          </a:p>
        </p:txBody>
      </p:sp>
      <p:sp>
        <p:nvSpPr>
          <p:cNvPr id="17" name="Text 15"/>
          <p:cNvSpPr/>
          <p:nvPr/>
        </p:nvSpPr>
        <p:spPr>
          <a:xfrm>
            <a:off x="6355080" y="1965960"/>
            <a:ext cx="2286000" cy="173736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Same reasoning</a:t>
            </a:r>
          </a:p>
          <a:p>
            <a:pPr marL="171450" indent="-171450">
              <a:spcAft>
                <a:spcPts val="600"/>
              </a:spcAft>
              <a:buFont typeface="Arial" panose="020B0604020202020204" pitchFamily="34" charset="0"/>
              <a:buChar char="•"/>
            </a:pPr>
            <a:r>
              <a:rPr lang="en-US" sz="1050" dirty="0">
                <a:solidFill>
                  <a:srgbClr val="9AA7BD"/>
                </a:solidFill>
                <a:latin typeface="Verdana" pitchFamily="34" charset="0"/>
                <a:ea typeface="Verdana" pitchFamily="34" charset="-122"/>
                <a:cs typeface="Verdana" pitchFamily="34" charset="-120"/>
              </a:rPr>
              <a:t>Gives the linear model a threshold it could not otherwise express</a:t>
            </a:r>
            <a:endParaRPr lang="en-US" sz="1050" dirty="0">
              <a:solidFill>
                <a:schemeClr val="bg1">
                  <a:lumMod val="85000"/>
                </a:schemeClr>
              </a:solidFill>
            </a:endParaRPr>
          </a:p>
        </p:txBody>
      </p:sp>
      <p:sp>
        <p:nvSpPr>
          <p:cNvPr id="18" name="Shape 16"/>
          <p:cNvSpPr/>
          <p:nvPr/>
        </p:nvSpPr>
        <p:spPr>
          <a:xfrm>
            <a:off x="900684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9" name="Text 17"/>
          <p:cNvSpPr/>
          <p:nvPr/>
        </p:nvSpPr>
        <p:spPr>
          <a:xfrm>
            <a:off x="918972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hours_group</a:t>
            </a:r>
            <a:endParaRPr lang="en-US" sz="1250" dirty="0"/>
          </a:p>
        </p:txBody>
      </p:sp>
      <p:sp>
        <p:nvSpPr>
          <p:cNvPr id="20" name="Text 18"/>
          <p:cNvSpPr/>
          <p:nvPr/>
        </p:nvSpPr>
        <p:spPr>
          <a:xfrm>
            <a:off x="918972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6 ranges</a:t>
            </a:r>
            <a:endParaRPr lang="en-US" sz="950" dirty="0"/>
          </a:p>
        </p:txBody>
      </p:sp>
      <p:sp>
        <p:nvSpPr>
          <p:cNvPr id="21" name="Text 19"/>
          <p:cNvSpPr/>
          <p:nvPr/>
        </p:nvSpPr>
        <p:spPr>
          <a:xfrm>
            <a:off x="9189720" y="1965960"/>
            <a:ext cx="2286000" cy="173736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Over-$50K rate climbs with hours, then flattens</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Binning lets the linear model follow that curve</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Hypothesis 1 compares the features, not the encodings</a:t>
            </a:r>
          </a:p>
        </p:txBody>
      </p:sp>
      <p:sp>
        <p:nvSpPr>
          <p:cNvPr id="22" name="Shape 20"/>
          <p:cNvSpPr/>
          <p:nvPr/>
        </p:nvSpPr>
        <p:spPr>
          <a:xfrm>
            <a:off x="502920" y="4023360"/>
            <a:ext cx="6675120" cy="2331720"/>
          </a:xfrm>
          <a:prstGeom prst="rect">
            <a:avLst/>
          </a:prstGeom>
          <a:solidFill>
            <a:srgbClr val="1C1E24"/>
          </a:solidFill>
          <a:ln w="12700">
            <a:solidFill>
              <a:srgbClr val="3A3F4A"/>
            </a:solidFill>
            <a:prstDash val="solid"/>
          </a:ln>
        </p:spPr>
        <p:txBody>
          <a:bodyPr/>
          <a:lstStyle/>
          <a:p>
            <a:endParaRPr lang="en-US"/>
          </a:p>
        </p:txBody>
      </p:sp>
      <p:sp>
        <p:nvSpPr>
          <p:cNvPr id="23" name="Text 21"/>
          <p:cNvSpPr/>
          <p:nvPr/>
        </p:nvSpPr>
        <p:spPr>
          <a:xfrm>
            <a:off x="685800" y="4160520"/>
            <a:ext cx="6309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BEFORE AND AFTER, ON THE VALIDATION SET ON DEFAULT LR</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6309360" cy="768096"/>
        </p:xfrm>
        <a:graphic>
          <a:graphicData uri="http://schemas.openxmlformats.org/drawingml/2006/table">
            <a:tbl>
              <a:tblPr/>
              <a:tblGrid>
                <a:gridCol w="24688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Feature set</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Columns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Raw features only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0.849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With engineered features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52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0.689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bl>
          </a:graphicData>
        </a:graphic>
      </p:graphicFrame>
      <p:sp>
        <p:nvSpPr>
          <p:cNvPr id="25" name="Text 22"/>
          <p:cNvSpPr/>
          <p:nvPr/>
        </p:nvSpPr>
        <p:spPr>
          <a:xfrm>
            <a:off x="685800" y="5577840"/>
            <a:ext cx="6309360" cy="64008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rPr>
              <a:t>Engineered set wins on PR-AUC with 32 fewer columns</a:t>
            </a:r>
          </a:p>
          <a:p>
            <a:pPr marL="171450" indent="-171450">
              <a:spcAft>
                <a:spcPts val="600"/>
              </a:spcAft>
              <a:buFont typeface="Arial" panose="020B0604020202020204" pitchFamily="34" charset="0"/>
              <a:buChar char="•"/>
            </a:pPr>
            <a:r>
              <a:rPr lang="en-US" sz="1050" dirty="0">
                <a:solidFill>
                  <a:srgbClr val="9AA7BD"/>
                </a:solidFill>
              </a:rPr>
              <a:t>Dropped 39 near-empty native country dummies that contained a lot of noise</a:t>
            </a:r>
          </a:p>
        </p:txBody>
      </p:sp>
      <p:sp>
        <p:nvSpPr>
          <p:cNvPr id="26" name="Shape 23"/>
          <p:cNvSpPr/>
          <p:nvPr/>
        </p:nvSpPr>
        <p:spPr>
          <a:xfrm>
            <a:off x="7406640" y="4023360"/>
            <a:ext cx="4297680" cy="2331720"/>
          </a:xfrm>
          <a:prstGeom prst="rect">
            <a:avLst/>
          </a:prstGeom>
          <a:solidFill>
            <a:srgbClr val="1C1E24"/>
          </a:solidFill>
          <a:ln w="12700">
            <a:solidFill>
              <a:srgbClr val="3A3F4A"/>
            </a:solidFill>
            <a:prstDash val="solid"/>
          </a:ln>
        </p:spPr>
        <p:txBody>
          <a:bodyPr/>
          <a:lstStyle/>
          <a:p>
            <a:endParaRPr lang="en-US"/>
          </a:p>
        </p:txBody>
      </p:sp>
      <p:sp>
        <p:nvSpPr>
          <p:cNvPr id="27" name="Text 24"/>
          <p:cNvSpPr/>
          <p:nvPr/>
        </p:nvSpPr>
        <p:spPr>
          <a:xfrm>
            <a:off x="7589520" y="4160520"/>
            <a:ext cx="39319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NO DIMENSIONALITY REDUCTION</a:t>
            </a:r>
            <a:endParaRPr lang="en-US" sz="1050" dirty="0"/>
          </a:p>
        </p:txBody>
      </p:sp>
      <p:sp>
        <p:nvSpPr>
          <p:cNvPr id="28" name="Text 25"/>
          <p:cNvSpPr/>
          <p:nvPr/>
        </p:nvSpPr>
        <p:spPr>
          <a:xfrm>
            <a:off x="7589520" y="4526280"/>
            <a:ext cx="3931920" cy="16916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PCA spread variance evenly</a:t>
            </a:r>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Only 7 numeric features, no strong multicollinearity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Hypothesis 1 needs the original features, which PCA would destroy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experimental pipeline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One pipeline shape for all three models, so any difference comes from the model</a:t>
            </a:r>
            <a:endParaRPr lang="en-US" sz="1200" dirty="0"/>
          </a:p>
        </p:txBody>
      </p:sp>
      <p:sp>
        <p:nvSpPr>
          <p:cNvPr id="6" name="Shape 4"/>
          <p:cNvSpPr/>
          <p:nvPr/>
        </p:nvSpPr>
        <p:spPr>
          <a:xfrm>
            <a:off x="50292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7" name="Text 5"/>
          <p:cNvSpPr/>
          <p:nvPr/>
        </p:nvSpPr>
        <p:spPr>
          <a:xfrm>
            <a:off x="50292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SQLite</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load</a:t>
            </a:r>
            <a:endParaRPr lang="en-US" sz="950" dirty="0"/>
          </a:p>
        </p:txBody>
      </p:sp>
      <p:sp>
        <p:nvSpPr>
          <p:cNvPr id="8" name="Shape 6"/>
          <p:cNvSpPr/>
          <p:nvPr/>
        </p:nvSpPr>
        <p:spPr>
          <a:xfrm>
            <a:off x="162306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9" name="Text 7"/>
          <p:cNvSpPr/>
          <p:nvPr/>
        </p:nvSpPr>
        <p:spPr>
          <a:xfrm>
            <a:off x="162306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Clean</a:t>
            </a:r>
            <a:endParaRPr lang="en-US" sz="950" dirty="0"/>
          </a:p>
        </p:txBody>
      </p:sp>
      <p:sp>
        <p:nvSpPr>
          <p:cNvPr id="10" name="Shape 8"/>
          <p:cNvSpPr/>
          <p:nvPr/>
        </p:nvSpPr>
        <p:spPr>
          <a:xfrm>
            <a:off x="274320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1" name="Text 9"/>
          <p:cNvSpPr/>
          <p:nvPr/>
        </p:nvSpPr>
        <p:spPr>
          <a:xfrm>
            <a:off x="274320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Engineer</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4 features</a:t>
            </a:r>
            <a:endParaRPr lang="en-US" sz="950" dirty="0"/>
          </a:p>
        </p:txBody>
      </p:sp>
      <p:sp>
        <p:nvSpPr>
          <p:cNvPr id="12" name="Shape 10"/>
          <p:cNvSpPr/>
          <p:nvPr/>
        </p:nvSpPr>
        <p:spPr>
          <a:xfrm>
            <a:off x="386334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386334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One-hot</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52 cols</a:t>
            </a:r>
            <a:endParaRPr lang="en-US" sz="950" dirty="0"/>
          </a:p>
        </p:txBody>
      </p:sp>
      <p:sp>
        <p:nvSpPr>
          <p:cNvPr id="14" name="Shape 12"/>
          <p:cNvSpPr/>
          <p:nvPr/>
        </p:nvSpPr>
        <p:spPr>
          <a:xfrm>
            <a:off x="498348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5" name="Text 13"/>
          <p:cNvSpPr/>
          <p:nvPr/>
        </p:nvSpPr>
        <p:spPr>
          <a:xfrm>
            <a:off x="498348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Stratified</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60/20/20</a:t>
            </a:r>
            <a:endParaRPr lang="en-US" sz="950" dirty="0"/>
          </a:p>
        </p:txBody>
      </p:sp>
      <p:sp>
        <p:nvSpPr>
          <p:cNvPr id="16" name="Shape 14"/>
          <p:cNvSpPr/>
          <p:nvPr/>
        </p:nvSpPr>
        <p:spPr>
          <a:xfrm>
            <a:off x="610362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7" name="Text 15"/>
          <p:cNvSpPr/>
          <p:nvPr/>
        </p:nvSpPr>
        <p:spPr>
          <a:xfrm>
            <a:off x="610362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Scale +</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SMOTE</a:t>
            </a:r>
            <a:endParaRPr lang="en-US" sz="950" dirty="0"/>
          </a:p>
        </p:txBody>
      </p:sp>
      <p:sp>
        <p:nvSpPr>
          <p:cNvPr id="18" name="Shape 16"/>
          <p:cNvSpPr/>
          <p:nvPr/>
        </p:nvSpPr>
        <p:spPr>
          <a:xfrm>
            <a:off x="722376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722376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Fit</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model</a:t>
            </a:r>
            <a:endParaRPr lang="en-US" sz="950" dirty="0"/>
          </a:p>
        </p:txBody>
      </p:sp>
      <p:sp>
        <p:nvSpPr>
          <p:cNvPr id="20" name="Shape 18"/>
          <p:cNvSpPr/>
          <p:nvPr/>
        </p:nvSpPr>
        <p:spPr>
          <a:xfrm>
            <a:off x="834390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1" name="Text 19"/>
          <p:cNvSpPr/>
          <p:nvPr/>
        </p:nvSpPr>
        <p:spPr>
          <a:xfrm>
            <a:off x="834390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Tune on</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validation</a:t>
            </a:r>
            <a:endParaRPr lang="en-US" sz="950" dirty="0"/>
          </a:p>
        </p:txBody>
      </p:sp>
      <p:sp>
        <p:nvSpPr>
          <p:cNvPr id="22" name="Shape 20"/>
          <p:cNvSpPr/>
          <p:nvPr/>
        </p:nvSpPr>
        <p:spPr>
          <a:xfrm>
            <a:off x="946404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9464040" y="1280160"/>
            <a:ext cx="982980" cy="868680"/>
          </a:xfrm>
          <a:prstGeom prst="rect">
            <a:avLst/>
          </a:prstGeom>
          <a:noFill/>
          <a:ln/>
        </p:spPr>
        <p:txBody>
          <a:bodyPr wrap="square" lIns="0" tIns="0" rIns="0" bIns="0" rtlCol="0" anchor="ctr"/>
          <a:lstStyle/>
          <a:p>
            <a:pPr marL="0" indent="0" algn="ctr">
              <a:buNone/>
            </a:pPr>
            <a:r>
              <a:rPr lang="en-US" sz="950" b="1" dirty="0">
                <a:solidFill>
                  <a:srgbClr val="E8C15A"/>
                </a:solidFill>
                <a:latin typeface="Verdana" pitchFamily="34" charset="0"/>
                <a:ea typeface="Verdana" pitchFamily="34" charset="-122"/>
                <a:cs typeface="Verdana" pitchFamily="34" charset="-120"/>
              </a:rPr>
              <a:t>5-fold</a:t>
            </a:r>
            <a:endParaRPr lang="en-US" sz="950" dirty="0"/>
          </a:p>
          <a:p>
            <a:pPr marL="0" indent="0" algn="ctr">
              <a:buNone/>
            </a:pPr>
            <a:r>
              <a:rPr lang="en-US" sz="950" b="1" dirty="0">
                <a:solidFill>
                  <a:srgbClr val="E8C15A"/>
                </a:solidFill>
                <a:latin typeface="Verdana" pitchFamily="34" charset="0"/>
                <a:ea typeface="Verdana" pitchFamily="34" charset="-122"/>
                <a:cs typeface="Verdana" pitchFamily="34" charset="-120"/>
              </a:rPr>
              <a:t>paired CV</a:t>
            </a:r>
            <a:endParaRPr lang="en-US" sz="950" dirty="0"/>
          </a:p>
        </p:txBody>
      </p:sp>
      <p:sp>
        <p:nvSpPr>
          <p:cNvPr id="24" name="Shape 22"/>
          <p:cNvSpPr/>
          <p:nvPr/>
        </p:nvSpPr>
        <p:spPr>
          <a:xfrm>
            <a:off x="1058418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5" name="Text 23"/>
          <p:cNvSpPr/>
          <p:nvPr/>
        </p:nvSpPr>
        <p:spPr>
          <a:xfrm>
            <a:off x="10584180" y="1280160"/>
            <a:ext cx="982980" cy="868680"/>
          </a:xfrm>
          <a:prstGeom prst="rect">
            <a:avLst/>
          </a:prstGeom>
          <a:noFill/>
          <a:ln/>
        </p:spPr>
        <p:txBody>
          <a:bodyPr wrap="square" lIns="0" tIns="0" rIns="0" bIns="0" rtlCol="0" anchor="ctr"/>
          <a:lstStyle/>
          <a:p>
            <a:pPr marL="0" indent="0" algn="ctr">
              <a:buNone/>
            </a:pPr>
            <a:r>
              <a:rPr lang="en-US" sz="950" b="1" dirty="0">
                <a:solidFill>
                  <a:srgbClr val="E8C15A"/>
                </a:solidFill>
                <a:latin typeface="Verdana" pitchFamily="34" charset="0"/>
                <a:ea typeface="Verdana" pitchFamily="34" charset="-122"/>
                <a:cs typeface="Verdana" pitchFamily="34" charset="-120"/>
              </a:rPr>
              <a:t>Test +</a:t>
            </a:r>
            <a:endParaRPr lang="en-US" sz="950" dirty="0"/>
          </a:p>
          <a:p>
            <a:pPr marL="0" indent="0" algn="ctr">
              <a:buNone/>
            </a:pPr>
            <a:r>
              <a:rPr lang="en-US" sz="950" b="1" dirty="0">
                <a:solidFill>
                  <a:srgbClr val="E8C15A"/>
                </a:solidFill>
                <a:latin typeface="Verdana" pitchFamily="34" charset="0"/>
                <a:ea typeface="Verdana" pitchFamily="34" charset="-122"/>
                <a:cs typeface="Verdana" pitchFamily="34" charset="-120"/>
              </a:rPr>
              <a:t>stat tests</a:t>
            </a:r>
            <a:endParaRPr lang="en-US" sz="950" dirty="0"/>
          </a:p>
        </p:txBody>
      </p:sp>
      <p:sp>
        <p:nvSpPr>
          <p:cNvPr id="26" name="Shape 24"/>
          <p:cNvSpPr/>
          <p:nvPr/>
        </p:nvSpPr>
        <p:spPr>
          <a:xfrm>
            <a:off x="502920" y="2377440"/>
            <a:ext cx="5623560" cy="3977640"/>
          </a:xfrm>
          <a:prstGeom prst="rect">
            <a:avLst/>
          </a:prstGeom>
          <a:solidFill>
            <a:srgbClr val="1C1E24"/>
          </a:solidFill>
          <a:ln w="12700">
            <a:solidFill>
              <a:srgbClr val="3A3F4A"/>
            </a:solidFill>
            <a:prstDash val="solid"/>
          </a:ln>
        </p:spPr>
        <p:txBody>
          <a:bodyPr/>
          <a:lstStyle/>
          <a:p>
            <a:endParaRPr lang="en-US"/>
          </a:p>
        </p:txBody>
      </p:sp>
      <p:sp>
        <p:nvSpPr>
          <p:cNvPr id="27" name="Text 25"/>
          <p:cNvSpPr/>
          <p:nvPr/>
        </p:nvSpPr>
        <p:spPr>
          <a:xfrm>
            <a:off x="685800" y="2514600"/>
            <a:ext cx="52578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SPLIT STRATEGY</a:t>
            </a:r>
            <a:endParaRPr lang="en-US" sz="1050" dirty="0"/>
          </a:p>
        </p:txBody>
      </p:sp>
      <p:sp>
        <p:nvSpPr>
          <p:cNvPr id="28" name="Text 26"/>
          <p:cNvSpPr/>
          <p:nvPr/>
        </p:nvSpPr>
        <p:spPr>
          <a:xfrm>
            <a:off x="685800" y="2834640"/>
            <a:ext cx="5257800" cy="338328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19,521 train / 6,508 validation / 6,508 test, stratified at 0.241</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Train fits, validation tunes, test is touched once</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How I confirm no leakage</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Scaling and SMOTE sit inside the pipeline, refit every fold</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SMOTE runs after the split, so no synthetic row reaches test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Every hyperparameter and threshold chosen on validation</a:t>
            </a:r>
            <a:endParaRPr lang="en-US" sz="1100" dirty="0"/>
          </a:p>
        </p:txBody>
      </p:sp>
      <p:sp>
        <p:nvSpPr>
          <p:cNvPr id="29" name="Shape 27"/>
          <p:cNvSpPr/>
          <p:nvPr/>
        </p:nvSpPr>
        <p:spPr>
          <a:xfrm>
            <a:off x="6355080" y="2377440"/>
            <a:ext cx="5349240" cy="3977640"/>
          </a:xfrm>
          <a:prstGeom prst="rect">
            <a:avLst/>
          </a:prstGeom>
          <a:solidFill>
            <a:srgbClr val="1C1E24"/>
          </a:solidFill>
          <a:ln w="12700">
            <a:solidFill>
              <a:srgbClr val="3A3F4A"/>
            </a:solidFill>
            <a:prstDash val="solid"/>
          </a:ln>
        </p:spPr>
        <p:txBody>
          <a:bodyPr/>
          <a:lstStyle/>
          <a:p>
            <a:endParaRPr lang="en-US"/>
          </a:p>
        </p:txBody>
      </p:sp>
      <p:sp>
        <p:nvSpPr>
          <p:cNvPr id="30" name="Text 28"/>
          <p:cNvSpPr/>
          <p:nvPr/>
        </p:nvSpPr>
        <p:spPr>
          <a:xfrm>
            <a:off x="6537960" y="2514600"/>
            <a:ext cx="49834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CROSS-VALIDATION AND REPRODUCIBILITY</a:t>
            </a:r>
            <a:endParaRPr lang="en-US" sz="1050" dirty="0"/>
          </a:p>
        </p:txBody>
      </p:sp>
      <p:sp>
        <p:nvSpPr>
          <p:cNvPr id="31" name="Text 29"/>
          <p:cNvSpPr/>
          <p:nvPr/>
        </p:nvSpPr>
        <p:spPr>
          <a:xfrm>
            <a:off x="6537960" y="2834640"/>
            <a:ext cx="4983480" cy="338328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5-fold stratified CV on the training rows</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Fold indices generated once, reused for all three models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That is what makes the scores paired</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Pairing is what gives a t-test power at n = 5</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Each model builds its own StandardScaler</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Pipelines do not copy their steps</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Sharing one silently changed another model’s preprocessing</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One random seed (42) throughout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6</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three models, and how each makes a prediction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Plus the naive floor every one of them has to clear</a:t>
            </a:r>
            <a:endParaRPr lang="en-US" sz="1200" dirty="0"/>
          </a:p>
        </p:txBody>
      </p:sp>
      <p:sp>
        <p:nvSpPr>
          <p:cNvPr id="6" name="Shape 4"/>
          <p:cNvSpPr/>
          <p:nvPr/>
        </p:nvSpPr>
        <p:spPr>
          <a:xfrm>
            <a:off x="502920" y="1234440"/>
            <a:ext cx="3566160" cy="37947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320040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Logistic regression</a:t>
            </a:r>
            <a:endParaRPr lang="en-US" sz="1350" dirty="0"/>
          </a:p>
        </p:txBody>
      </p:sp>
      <p:sp>
        <p:nvSpPr>
          <p:cNvPr id="8" name="Text 6"/>
          <p:cNvSpPr/>
          <p:nvPr/>
        </p:nvSpPr>
        <p:spPr>
          <a:xfrm>
            <a:off x="685800" y="1664208"/>
            <a:ext cx="320040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the interpretable baseline</a:t>
            </a:r>
            <a:endParaRPr lang="en-US" sz="950" dirty="0"/>
          </a:p>
        </p:txBody>
      </p:sp>
      <p:sp>
        <p:nvSpPr>
          <p:cNvPr id="9" name="Text 7"/>
          <p:cNvSpPr/>
          <p:nvPr/>
        </p:nvSpPr>
        <p:spPr>
          <a:xfrm>
            <a:off x="685800" y="1965960"/>
            <a:ext cx="320040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 weighted sum of the features through a sigmoid, then a 0.5 threshold.</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z = b₀ + Σ bⱼ xⱼ,   p̂ = 1 / (1 + e⁻ᶻ)</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One signed coefficient per feature, so it is fully readable.</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Limit: linear and additive, so it misses interactions and curves. That limit is what Hypothesis 3 tests.</a:t>
            </a:r>
            <a:endParaRPr lang="en-US" sz="1050" dirty="0"/>
          </a:p>
        </p:txBody>
      </p:sp>
      <p:sp>
        <p:nvSpPr>
          <p:cNvPr id="10" name="Shape 8"/>
          <p:cNvSpPr/>
          <p:nvPr/>
        </p:nvSpPr>
        <p:spPr>
          <a:xfrm>
            <a:off x="4251960" y="1234440"/>
            <a:ext cx="3566160" cy="379476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4434840" y="1371600"/>
            <a:ext cx="320040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XGBoost</a:t>
            </a:r>
            <a:endParaRPr lang="en-US" sz="1350" dirty="0"/>
          </a:p>
        </p:txBody>
      </p:sp>
      <p:sp>
        <p:nvSpPr>
          <p:cNvPr id="12" name="Text 10"/>
          <p:cNvSpPr/>
          <p:nvPr/>
        </p:nvSpPr>
        <p:spPr>
          <a:xfrm>
            <a:off x="4434840" y="1664208"/>
            <a:ext cx="320040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gradient boosted trees</a:t>
            </a:r>
            <a:endParaRPr lang="en-US" sz="950" dirty="0"/>
          </a:p>
        </p:txBody>
      </p:sp>
      <p:sp>
        <p:nvSpPr>
          <p:cNvPr id="13" name="Text 11"/>
          <p:cNvSpPr/>
          <p:nvPr/>
        </p:nvSpPr>
        <p:spPr>
          <a:xfrm>
            <a:off x="4434840" y="1965960"/>
            <a:ext cx="320040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Builds shallow trees one at a time, each fit to the errors so far.</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ŷ = σ( Σ η · f_k(x) )</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Splits are chosen to most reduce a regularised objective.</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Later trees split inside earlier regions, so it captures thresholds and interactions on its own.</a:t>
            </a:r>
            <a:endParaRPr lang="en-US" sz="1050" dirty="0"/>
          </a:p>
        </p:txBody>
      </p:sp>
      <p:sp>
        <p:nvSpPr>
          <p:cNvPr id="14" name="Shape 12"/>
          <p:cNvSpPr/>
          <p:nvPr/>
        </p:nvSpPr>
        <p:spPr>
          <a:xfrm>
            <a:off x="8001000" y="1234440"/>
            <a:ext cx="3703320" cy="379476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8183880" y="1371600"/>
            <a:ext cx="333756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Multilayer perceptron</a:t>
            </a:r>
            <a:endParaRPr lang="en-US" sz="1350" dirty="0"/>
          </a:p>
        </p:txBody>
      </p:sp>
      <p:sp>
        <p:nvSpPr>
          <p:cNvPr id="16" name="Text 14"/>
          <p:cNvSpPr/>
          <p:nvPr/>
        </p:nvSpPr>
        <p:spPr>
          <a:xfrm>
            <a:off x="8183880" y="1664208"/>
            <a:ext cx="333756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the neural network</a:t>
            </a:r>
            <a:endParaRPr lang="en-US" sz="950" dirty="0"/>
          </a:p>
        </p:txBody>
      </p:sp>
      <p:sp>
        <p:nvSpPr>
          <p:cNvPr id="17" name="Text 15"/>
          <p:cNvSpPr/>
          <p:nvPr/>
        </p:nvSpPr>
        <p:spPr>
          <a:xfrm>
            <a:off x="8183880" y="1965960"/>
            <a:ext cx="333756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Hidden layers of weighted sums with a non-linear activation.</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 = ReLU(W₁x + b₁),   p̂ = σ(W₂h + b₂)</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Can represent interactions too, but with no structural head start.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I expected it to need more rows.</a:t>
            </a:r>
            <a:endParaRPr lang="en-US" sz="1050" dirty="0"/>
          </a:p>
        </p:txBody>
      </p:sp>
      <p:sp>
        <p:nvSpPr>
          <p:cNvPr id="18" name="Shape 16"/>
          <p:cNvSpPr/>
          <p:nvPr/>
        </p:nvSpPr>
        <p:spPr>
          <a:xfrm>
            <a:off x="502920" y="5166360"/>
            <a:ext cx="11201400" cy="118872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685800" y="5285232"/>
            <a:ext cx="27432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NAIVE FLOOR</a:t>
            </a:r>
            <a:endParaRPr lang="en-US" sz="1050" dirty="0"/>
          </a:p>
        </p:txBody>
      </p:sp>
      <p:sp>
        <p:nvSpPr>
          <p:cNvPr id="20" name="Text 18"/>
          <p:cNvSpPr/>
          <p:nvPr/>
        </p:nvSpPr>
        <p:spPr>
          <a:xfrm>
            <a:off x="685800" y="5577840"/>
            <a:ext cx="10835640" cy="685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Labels everyone under $50K. Scores 0.759 accuracy while catching zero high earners, with PR-AUC at the 0.241 base rate. Accuracy in the high 70s means nothing 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7</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Evaluation metrics, and why each one is here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PR-AUC leads because it focuses on the positive class</a:t>
            </a:r>
            <a:endParaRPr lang="en-US" sz="1200" dirty="0"/>
          </a:p>
        </p:txBody>
      </p:sp>
      <p:sp>
        <p:nvSpPr>
          <p:cNvPr id="6" name="Shape 4"/>
          <p:cNvSpPr/>
          <p:nvPr/>
        </p:nvSpPr>
        <p:spPr>
          <a:xfrm>
            <a:off x="502920" y="1234440"/>
            <a:ext cx="5486400" cy="2359152"/>
          </a:xfrm>
          <a:prstGeom prst="rect">
            <a:avLst/>
          </a:prstGeom>
          <a:solidFill>
            <a:srgbClr val="232631"/>
          </a:solidFill>
          <a:ln w="12700">
            <a:solidFill>
              <a:srgbClr val="3A3F4A"/>
            </a:solidFill>
            <a:prstDash val="solid"/>
          </a:ln>
        </p:spPr>
        <p:txBody>
          <a:bodyPr/>
          <a:lstStyle/>
          <a:p>
            <a:endParaRPr lang="en-US"/>
          </a:p>
        </p:txBody>
      </p:sp>
      <p:sp>
        <p:nvSpPr>
          <p:cNvPr id="7" name="Text 5"/>
          <p:cNvSpPr/>
          <p:nvPr/>
        </p:nvSpPr>
        <p:spPr>
          <a:xfrm>
            <a:off x="685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FORMULAS</a:t>
            </a:r>
            <a:endParaRPr lang="en-US" sz="1050" dirty="0"/>
          </a:p>
        </p:txBody>
      </p:sp>
      <p:sp>
        <p:nvSpPr>
          <p:cNvPr id="8" name="Text 6"/>
          <p:cNvSpPr/>
          <p:nvPr/>
        </p:nvSpPr>
        <p:spPr>
          <a:xfrm>
            <a:off x="685800" y="1691640"/>
            <a:ext cx="5120640" cy="1737360"/>
          </a:xfrm>
          <a:prstGeom prst="rect">
            <a:avLst/>
          </a:prstGeom>
          <a:noFill/>
          <a:ln/>
        </p:spPr>
        <p:txBody>
          <a:bodyPr wrap="square" lIns="0" tIns="0" rIns="0" bIns="0" rtlCol="0" anchor="t"/>
          <a:lstStyle/>
          <a:p>
            <a:pPr marL="0" indent="0">
              <a:spcAft>
                <a:spcPts val="600"/>
              </a:spcAft>
              <a:buNone/>
            </a:pPr>
            <a:r>
              <a:rPr lang="en-US" sz="900" dirty="0">
                <a:solidFill>
                  <a:srgbClr val="F5F7FA"/>
                </a:solidFill>
                <a:latin typeface="Verdana" pitchFamily="34" charset="0"/>
                <a:ea typeface="Verdana" pitchFamily="34" charset="-122"/>
                <a:cs typeface="Verdana" pitchFamily="34" charset="-120"/>
              </a:rPr>
              <a:t>Accuracy = (TP + TN) / (TP + TN + FP + FN)</a:t>
            </a:r>
            <a:endParaRPr lang="en-US" sz="900" dirty="0"/>
          </a:p>
          <a:p>
            <a:pPr marL="0" indent="0">
              <a:spcAft>
                <a:spcPts val="600"/>
              </a:spcAft>
              <a:buNone/>
            </a:pPr>
            <a:endParaRPr lang="en-US" sz="900" dirty="0"/>
          </a:p>
          <a:p>
            <a:pPr marL="0" indent="0">
              <a:spcAft>
                <a:spcPts val="600"/>
              </a:spcAft>
              <a:buNone/>
            </a:pPr>
            <a:r>
              <a:rPr lang="en-US" sz="900" dirty="0">
                <a:solidFill>
                  <a:srgbClr val="F5F7FA"/>
                </a:solidFill>
                <a:latin typeface="Verdana" pitchFamily="34" charset="0"/>
                <a:ea typeface="Verdana" pitchFamily="34" charset="-122"/>
                <a:cs typeface="Verdana" pitchFamily="34" charset="-120"/>
              </a:rPr>
              <a:t>Precision = TP / (TP + FP)          Recall = TP / (TP + FN)</a:t>
            </a:r>
            <a:endParaRPr lang="en-US" sz="900" dirty="0"/>
          </a:p>
          <a:p>
            <a:pPr marL="0" indent="0">
              <a:spcAft>
                <a:spcPts val="600"/>
              </a:spcAft>
              <a:buNone/>
            </a:pPr>
            <a:endParaRPr lang="en-US" sz="900" dirty="0"/>
          </a:p>
          <a:p>
            <a:pPr marL="0" indent="0">
              <a:spcAft>
                <a:spcPts val="600"/>
              </a:spcAft>
              <a:buNone/>
            </a:pPr>
            <a:r>
              <a:rPr lang="en-US" sz="900" dirty="0">
                <a:solidFill>
                  <a:srgbClr val="F5F7FA"/>
                </a:solidFill>
                <a:latin typeface="Verdana" pitchFamily="34" charset="0"/>
                <a:ea typeface="Verdana" pitchFamily="34" charset="-122"/>
                <a:cs typeface="Verdana" pitchFamily="34" charset="-120"/>
              </a:rPr>
              <a:t>F1 = 2 × (Precision × Recall) / (Precision + Recall)</a:t>
            </a:r>
            <a:endParaRPr lang="en-US" sz="900" dirty="0"/>
          </a:p>
          <a:p>
            <a:pPr marL="0" indent="0">
              <a:spcAft>
                <a:spcPts val="600"/>
              </a:spcAft>
              <a:buNone/>
            </a:pPr>
            <a:endParaRPr lang="en-US" sz="900" dirty="0"/>
          </a:p>
          <a:p>
            <a:pPr marL="0" indent="0">
              <a:spcAft>
                <a:spcPts val="600"/>
              </a:spcAft>
              <a:buNone/>
            </a:pPr>
            <a:r>
              <a:rPr lang="en-US" sz="900" dirty="0">
                <a:solidFill>
                  <a:srgbClr val="F5F7FA"/>
                </a:solidFill>
                <a:latin typeface="Verdana" pitchFamily="34" charset="0"/>
                <a:ea typeface="Verdana" pitchFamily="34" charset="-122"/>
                <a:cs typeface="Verdana" pitchFamily="34" charset="-120"/>
              </a:rPr>
              <a:t>PR-AUC = area under the precision-recall curve</a:t>
            </a:r>
          </a:p>
          <a:p>
            <a:pPr marL="0" indent="0">
              <a:spcAft>
                <a:spcPts val="600"/>
              </a:spcAft>
              <a:buNone/>
            </a:pPr>
            <a:endParaRPr lang="en-US" sz="900" dirty="0"/>
          </a:p>
          <a:p>
            <a:pPr marL="0" indent="0">
              <a:spcAft>
                <a:spcPts val="600"/>
              </a:spcAft>
              <a:buNone/>
            </a:pPr>
            <a:r>
              <a:rPr lang="en-US" sz="900" dirty="0">
                <a:solidFill>
                  <a:srgbClr val="F5F7FA"/>
                </a:solidFill>
                <a:latin typeface="Verdana" pitchFamily="34" charset="0"/>
                <a:ea typeface="Verdana" pitchFamily="34" charset="-122"/>
                <a:cs typeface="Verdana" pitchFamily="34" charset="-120"/>
              </a:rPr>
              <a:t>ROC-AUC = area under the TPR vs FPR curve</a:t>
            </a:r>
            <a:endParaRPr lang="en-US" sz="900" dirty="0"/>
          </a:p>
        </p:txBody>
      </p:sp>
      <p:sp>
        <p:nvSpPr>
          <p:cNvPr id="9" name="Shape 7"/>
          <p:cNvSpPr/>
          <p:nvPr/>
        </p:nvSpPr>
        <p:spPr>
          <a:xfrm>
            <a:off x="6217920" y="1234440"/>
            <a:ext cx="5486400" cy="2359152"/>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PR-AUC IS THE LEAD METRIC</a:t>
            </a:r>
            <a:endParaRPr lang="en-US" sz="1050" dirty="0"/>
          </a:p>
        </p:txBody>
      </p:sp>
      <p:sp>
        <p:nvSpPr>
          <p:cNvPr id="11" name="Text 9"/>
          <p:cNvSpPr/>
          <p:nvPr/>
        </p:nvSpPr>
        <p:spPr>
          <a:xfrm>
            <a:off x="6400800" y="1691640"/>
            <a:ext cx="5120640" cy="173736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Focuses on the positive class, no credit for the easy majority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No-skill floor is the 0.241 base rate, not 0.5</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Threshold-free, so it compares ranking over all possible thresholds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ROC-AUC stays secondary: the easy negatives prop it up</a:t>
            </a:r>
            <a:endParaRPr lang="en-US" sz="1050" dirty="0"/>
          </a:p>
        </p:txBody>
      </p:sp>
      <p:sp>
        <p:nvSpPr>
          <p:cNvPr id="12" name="Shape 10"/>
          <p:cNvSpPr/>
          <p:nvPr/>
        </p:nvSpPr>
        <p:spPr>
          <a:xfrm>
            <a:off x="502920" y="3703320"/>
            <a:ext cx="11201400" cy="265176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685800" y="38404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EACH METRIC MEANS</a:t>
            </a:r>
            <a:endParaRPr lang="en-US" sz="1050" dirty="0"/>
          </a:p>
        </p:txBody>
      </p:sp>
      <p:sp>
        <p:nvSpPr>
          <p:cNvPr id="14" name="Text 12"/>
          <p:cNvSpPr/>
          <p:nvPr/>
        </p:nvSpPr>
        <p:spPr>
          <a:xfrm>
            <a:off x="68580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Accuracy</a:t>
            </a:r>
            <a:endParaRPr lang="en-US" sz="1250" dirty="0"/>
          </a:p>
        </p:txBody>
      </p:sp>
      <p:sp>
        <p:nvSpPr>
          <p:cNvPr id="15" name="Text 13"/>
          <p:cNvSpPr/>
          <p:nvPr/>
        </p:nvSpPr>
        <p:spPr>
          <a:xfrm>
            <a:off x="68580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How often the model is right. Misleading under class imbalance.</a:t>
            </a:r>
            <a:endParaRPr lang="en-US" sz="1050" dirty="0"/>
          </a:p>
        </p:txBody>
      </p:sp>
      <p:sp>
        <p:nvSpPr>
          <p:cNvPr id="16" name="Text 14"/>
          <p:cNvSpPr/>
          <p:nvPr/>
        </p:nvSpPr>
        <p:spPr>
          <a:xfrm>
            <a:off x="352044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Precision</a:t>
            </a:r>
            <a:endParaRPr lang="en-US" sz="1250" dirty="0"/>
          </a:p>
        </p:txBody>
      </p:sp>
      <p:sp>
        <p:nvSpPr>
          <p:cNvPr id="17" name="Text 15"/>
          <p:cNvSpPr/>
          <p:nvPr/>
        </p:nvSpPr>
        <p:spPr>
          <a:xfrm>
            <a:off x="352044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Of those I call high earners, how many really are.</a:t>
            </a:r>
            <a:endParaRPr lang="en-US" sz="1050" dirty="0"/>
          </a:p>
        </p:txBody>
      </p:sp>
      <p:sp>
        <p:nvSpPr>
          <p:cNvPr id="18" name="Text 16"/>
          <p:cNvSpPr/>
          <p:nvPr/>
        </p:nvSpPr>
        <p:spPr>
          <a:xfrm>
            <a:off x="635508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Recall</a:t>
            </a:r>
            <a:endParaRPr lang="en-US" sz="1250" dirty="0"/>
          </a:p>
        </p:txBody>
      </p:sp>
      <p:sp>
        <p:nvSpPr>
          <p:cNvPr id="19" name="Text 17"/>
          <p:cNvSpPr/>
          <p:nvPr/>
        </p:nvSpPr>
        <p:spPr>
          <a:xfrm>
            <a:off x="635508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Of the real high earners, how many I catch.</a:t>
            </a:r>
            <a:endParaRPr lang="en-US" sz="1050" dirty="0"/>
          </a:p>
        </p:txBody>
      </p:sp>
      <p:sp>
        <p:nvSpPr>
          <p:cNvPr id="20" name="Text 18"/>
          <p:cNvSpPr/>
          <p:nvPr/>
        </p:nvSpPr>
        <p:spPr>
          <a:xfrm>
            <a:off x="918972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F1</a:t>
            </a:r>
            <a:endParaRPr lang="en-US" sz="1250" dirty="0"/>
          </a:p>
        </p:txBody>
      </p:sp>
      <p:sp>
        <p:nvSpPr>
          <p:cNvPr id="21" name="Text 19"/>
          <p:cNvSpPr/>
          <p:nvPr/>
        </p:nvSpPr>
        <p:spPr>
          <a:xfrm>
            <a:off x="9189720" y="4526280"/>
            <a:ext cx="231648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Harmonic mean of the two, low unless both are decent.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8</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statistical toolkit, and why each test fits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 difference in numbers is not a finding until a test says it beats the noise</a:t>
            </a:r>
            <a:endParaRPr lang="en-US" sz="1200" dirty="0"/>
          </a:p>
        </p:txBody>
      </p:sp>
      <p:sp>
        <p:nvSpPr>
          <p:cNvPr id="6" name="Shape 4"/>
          <p:cNvSpPr/>
          <p:nvPr/>
        </p:nvSpPr>
        <p:spPr>
          <a:xfrm>
            <a:off x="502920"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Paired t-test</a:t>
            </a:r>
            <a:endParaRPr lang="en-US" sz="1250" dirty="0"/>
          </a:p>
        </p:txBody>
      </p:sp>
      <p:sp>
        <p:nvSpPr>
          <p:cNvPr id="8" name="Text 6"/>
          <p:cNvSpPr/>
          <p:nvPr/>
        </p:nvSpPr>
        <p:spPr>
          <a:xfrm>
            <a:off x="685800"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5 shared CV fold scores</a:t>
            </a:r>
            <a:endParaRPr lang="en-US" sz="950" dirty="0"/>
          </a:p>
        </p:txBody>
      </p:sp>
      <p:sp>
        <p:nvSpPr>
          <p:cNvPr id="9" name="Text 7"/>
          <p:cNvSpPr/>
          <p:nvPr/>
        </p:nvSpPr>
        <p:spPr>
          <a:xfrm>
            <a:off x="685800" y="2194560"/>
            <a:ext cx="2350008" cy="237744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Compares differences within each fold, not overall averages.</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A hard or easy split cannot bias the comparison.</a:t>
            </a:r>
          </a:p>
          <a:p>
            <a:pPr marL="171450" indent="-171450">
              <a:spcAft>
                <a:spcPts val="600"/>
              </a:spcAft>
              <a:buFont typeface="Arial" panose="020B0604020202020204" pitchFamily="34" charset="0"/>
              <a:buChar char="•"/>
            </a:pPr>
            <a:endParaRPr lang="en-US" sz="1050" dirty="0">
              <a:solidFill>
                <a:schemeClr val="bg1">
                  <a:lumMod val="65000"/>
                </a:schemeClr>
              </a:solidFill>
              <a:latin typeface="Verdana" panose="020B0604030504040204" pitchFamily="34" charset="0"/>
              <a:ea typeface="Verdana" panose="020B0604030504040204" pitchFamily="34" charset="0"/>
            </a:endParaRPr>
          </a:p>
        </p:txBody>
      </p:sp>
      <p:sp>
        <p:nvSpPr>
          <p:cNvPr id="10" name="Shape 8"/>
          <p:cNvSpPr/>
          <p:nvPr/>
        </p:nvSpPr>
        <p:spPr>
          <a:xfrm>
            <a:off x="685800"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11" name="Text 9"/>
          <p:cNvSpPr/>
          <p:nvPr/>
        </p:nvSpPr>
        <p:spPr>
          <a:xfrm>
            <a:off x="822960"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12" name="Text 10"/>
          <p:cNvSpPr/>
          <p:nvPr/>
        </p:nvSpPr>
        <p:spPr>
          <a:xfrm>
            <a:off x="822960" y="4919472"/>
            <a:ext cx="2075688" cy="118872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Per-fold differences are normally distributed</a:t>
            </a:r>
          </a:p>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Folds are independent of each other</a:t>
            </a:r>
          </a:p>
        </p:txBody>
      </p:sp>
      <p:sp>
        <p:nvSpPr>
          <p:cNvPr id="13" name="Shape 11"/>
          <p:cNvSpPr/>
          <p:nvPr/>
        </p:nvSpPr>
        <p:spPr>
          <a:xfrm>
            <a:off x="3401568"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14" name="Text 12"/>
          <p:cNvSpPr/>
          <p:nvPr/>
        </p:nvSpPr>
        <p:spPr>
          <a:xfrm>
            <a:off x="3584448"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Wilcoxon signed-rank</a:t>
            </a:r>
            <a:endParaRPr lang="en-US" sz="1250" dirty="0"/>
          </a:p>
        </p:txBody>
      </p:sp>
      <p:sp>
        <p:nvSpPr>
          <p:cNvPr id="15" name="Text 13"/>
          <p:cNvSpPr/>
          <p:nvPr/>
        </p:nvSpPr>
        <p:spPr>
          <a:xfrm>
            <a:off x="3584448"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the same fold differences</a:t>
            </a:r>
            <a:endParaRPr lang="en-US" sz="950" dirty="0"/>
          </a:p>
        </p:txBody>
      </p:sp>
      <p:sp>
        <p:nvSpPr>
          <p:cNvPr id="16" name="Text 14"/>
          <p:cNvSpPr/>
          <p:nvPr/>
        </p:nvSpPr>
        <p:spPr>
          <a:xfrm>
            <a:off x="3584448" y="2194560"/>
            <a:ext cx="2350008" cy="237744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Used when you do not have a normal distribution: uses signs and ranks, not raw values.</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Run alongside the t-test as a robustness check.</a:t>
            </a:r>
          </a:p>
          <a:p>
            <a:pPr marL="171450" indent="-171450">
              <a:spcAft>
                <a:spcPts val="600"/>
              </a:spcAft>
              <a:buFont typeface="Arial" panose="020B0604020202020204" pitchFamily="34" charset="0"/>
              <a:buChar char="•"/>
            </a:pPr>
            <a:endParaRPr lang="en-US" sz="1050" dirty="0">
              <a:solidFill>
                <a:schemeClr val="bg1">
                  <a:lumMod val="75000"/>
                </a:schemeClr>
              </a:solidFill>
              <a:latin typeface="Verdana" panose="020B0604030504040204" pitchFamily="34" charset="0"/>
              <a:ea typeface="Verdana" panose="020B0604030504040204" pitchFamily="34" charset="0"/>
            </a:endParaRPr>
          </a:p>
        </p:txBody>
      </p:sp>
      <p:sp>
        <p:nvSpPr>
          <p:cNvPr id="17" name="Shape 15"/>
          <p:cNvSpPr/>
          <p:nvPr/>
        </p:nvSpPr>
        <p:spPr>
          <a:xfrm>
            <a:off x="3584448"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18" name="Text 16"/>
          <p:cNvSpPr/>
          <p:nvPr/>
        </p:nvSpPr>
        <p:spPr>
          <a:xfrm>
            <a:off x="3721608"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19" name="Text 17"/>
          <p:cNvSpPr/>
          <p:nvPr/>
        </p:nvSpPr>
        <p:spPr>
          <a:xfrm>
            <a:off x="3721608" y="4919472"/>
            <a:ext cx="2075688" cy="118872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Only needs the per-fold differences symmetric around the median</a:t>
            </a:r>
          </a:p>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Little power at n = 5 since it can’ t produce p ≤ 0.05 with two-sided test, so it is a sanity check</a:t>
            </a:r>
          </a:p>
        </p:txBody>
      </p:sp>
      <p:sp>
        <p:nvSpPr>
          <p:cNvPr id="20" name="Shape 18"/>
          <p:cNvSpPr/>
          <p:nvPr/>
        </p:nvSpPr>
        <p:spPr>
          <a:xfrm>
            <a:off x="6300216"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21" name="Text 19"/>
          <p:cNvSpPr/>
          <p:nvPr/>
        </p:nvSpPr>
        <p:spPr>
          <a:xfrm>
            <a:off x="6483096"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McNemar's exact test</a:t>
            </a:r>
            <a:endParaRPr lang="en-US" sz="1250" dirty="0"/>
          </a:p>
        </p:txBody>
      </p:sp>
      <p:sp>
        <p:nvSpPr>
          <p:cNvPr id="22" name="Text 20"/>
          <p:cNvSpPr/>
          <p:nvPr/>
        </p:nvSpPr>
        <p:spPr>
          <a:xfrm>
            <a:off x="6483096"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6,508 shared test rows</a:t>
            </a:r>
            <a:endParaRPr lang="en-US" sz="950" dirty="0"/>
          </a:p>
        </p:txBody>
      </p:sp>
      <p:sp>
        <p:nvSpPr>
          <p:cNvPr id="23" name="Text 21"/>
          <p:cNvSpPr/>
          <p:nvPr/>
        </p:nvSpPr>
        <p:spPr>
          <a:xfrm>
            <a:off x="6483096" y="2194560"/>
            <a:ext cx="2350008" cy="237744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Compares predictions on the exact same rows, where the two models disagree.</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Tests whether that disagreement splits 50/50.</a:t>
            </a:r>
          </a:p>
        </p:txBody>
      </p:sp>
      <p:sp>
        <p:nvSpPr>
          <p:cNvPr id="24" name="Shape 22"/>
          <p:cNvSpPr/>
          <p:nvPr/>
        </p:nvSpPr>
        <p:spPr>
          <a:xfrm>
            <a:off x="6483096"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25" name="Text 23"/>
          <p:cNvSpPr/>
          <p:nvPr/>
        </p:nvSpPr>
        <p:spPr>
          <a:xfrm>
            <a:off x="6620256"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26" name="Text 24"/>
          <p:cNvSpPr/>
          <p:nvPr/>
        </p:nvSpPr>
        <p:spPr>
          <a:xfrm>
            <a:off x="6620256" y="4919472"/>
            <a:ext cx="2075688" cy="118872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Disagreements on one row are independent of any other row</a:t>
            </a:r>
          </a:p>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Using an exact binomial method means the McNemar's test stays accurate even with very small datasets.</a:t>
            </a:r>
          </a:p>
        </p:txBody>
      </p:sp>
      <p:sp>
        <p:nvSpPr>
          <p:cNvPr id="27" name="Shape 25"/>
          <p:cNvSpPr/>
          <p:nvPr/>
        </p:nvSpPr>
        <p:spPr>
          <a:xfrm>
            <a:off x="9198864"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28" name="Text 26"/>
          <p:cNvSpPr/>
          <p:nvPr/>
        </p:nvSpPr>
        <p:spPr>
          <a:xfrm>
            <a:off x="9381744"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Paired bootstrap CI</a:t>
            </a:r>
            <a:endParaRPr lang="en-US" sz="1250" dirty="0"/>
          </a:p>
        </p:txBody>
      </p:sp>
      <p:sp>
        <p:nvSpPr>
          <p:cNvPr id="29" name="Text 27"/>
          <p:cNvSpPr/>
          <p:nvPr/>
        </p:nvSpPr>
        <p:spPr>
          <a:xfrm>
            <a:off x="9381744"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1,000 resamples of the test set</a:t>
            </a:r>
            <a:endParaRPr lang="en-US" sz="950" dirty="0"/>
          </a:p>
        </p:txBody>
      </p:sp>
      <p:sp>
        <p:nvSpPr>
          <p:cNvPr id="30" name="Text 28"/>
          <p:cNvSpPr/>
          <p:nvPr/>
        </p:nvSpPr>
        <p:spPr>
          <a:xfrm>
            <a:off x="9381744" y="2194560"/>
            <a:ext cx="2350008" cy="237744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All models scored on the same resamples, with the difference taken inside each.</a:t>
            </a:r>
          </a:p>
          <a:p>
            <a:pPr marL="171450" indent="-171450">
              <a:spcAft>
                <a:spcPts val="600"/>
              </a:spcAft>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Gives a CI directly on the difference.</a:t>
            </a:r>
          </a:p>
        </p:txBody>
      </p:sp>
      <p:sp>
        <p:nvSpPr>
          <p:cNvPr id="31" name="Shape 29"/>
          <p:cNvSpPr/>
          <p:nvPr/>
        </p:nvSpPr>
        <p:spPr>
          <a:xfrm>
            <a:off x="9381744"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32" name="Text 30"/>
          <p:cNvSpPr/>
          <p:nvPr/>
        </p:nvSpPr>
        <p:spPr>
          <a:xfrm>
            <a:off x="9518904"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33" name="Text 31"/>
          <p:cNvSpPr/>
          <p:nvPr/>
        </p:nvSpPr>
        <p:spPr>
          <a:xfrm>
            <a:off x="9518904" y="4919472"/>
            <a:ext cx="2075688" cy="1188720"/>
          </a:xfrm>
          <a:prstGeom prst="rect">
            <a:avLst/>
          </a:prstGeom>
          <a:noFill/>
          <a:ln/>
        </p:spPr>
        <p:txBody>
          <a:bodyPr wrap="square" lIns="0" tIns="0" rIns="0" bIns="0" rtlCol="0" anchor="t"/>
          <a:lstStyle/>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No distributional assumptions at all</a:t>
            </a:r>
          </a:p>
          <a:p>
            <a:pPr marL="171450" indent="-171450">
              <a:spcAft>
                <a:spcPts val="600"/>
              </a:spcAft>
              <a:buFont typeface="Arial" panose="020B0604020202020204" pitchFamily="34" charset="0"/>
              <a:buChar char="•"/>
            </a:pPr>
            <a:r>
              <a:rPr lang="en-US" sz="950" dirty="0">
                <a:solidFill>
                  <a:srgbClr val="9AA7BD"/>
                </a:solidFill>
                <a:latin typeface="Verdana" panose="020B0604030504040204" pitchFamily="34" charset="0"/>
                <a:ea typeface="Verdana" panose="020B0604030504040204" pitchFamily="34" charset="0"/>
              </a:rPr>
              <a:t>Handles skewed or bounded metrics like PR-AUC and fairness gaps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9</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Untuned models on the validation set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before state, and the baseline</a:t>
            </a:r>
            <a:endParaRPr lang="en-US" sz="1200" dirty="0"/>
          </a:p>
        </p:txBody>
      </p:sp>
      <p:sp>
        <p:nvSpPr>
          <p:cNvPr id="6" name="Shape 4"/>
          <p:cNvSpPr/>
          <p:nvPr/>
        </p:nvSpPr>
        <p:spPr>
          <a:xfrm>
            <a:off x="502920" y="1234440"/>
            <a:ext cx="11201400" cy="25146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LIBRARY DEFAULTS, SAME PIPELINE, SAME VALIDATION ROWS</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3461400780"/>
              </p:ext>
            </p:extLst>
          </p:nvPr>
        </p:nvGraphicFramePr>
        <p:xfrm>
          <a:off x="685800" y="1737360"/>
          <a:ext cx="10835640" cy="1536192"/>
        </p:xfrm>
        <a:graphic>
          <a:graphicData uri="http://schemas.openxmlformats.org/drawingml/2006/table">
            <a:tbl>
              <a:tblPr/>
              <a:tblGrid>
                <a:gridCol w="2880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Accuracy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Precision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ROC-AUC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Naive (majority class)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0.241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raw imbalance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0.848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2D050"/>
                          </a:solidFill>
                          <a:latin typeface="Verdana" pitchFamily="34" charset="0"/>
                          <a:ea typeface="Verdana" pitchFamily="34" charset="-122"/>
                          <a:cs typeface="Verdana" pitchFamily="34" charset="-120"/>
                        </a:rPr>
                        <a:t>0.722</a:t>
                      </a:r>
                      <a:endParaRPr lang="en-US" sz="1050" dirty="0">
                        <a:solidFill>
                          <a:srgbClr val="92D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0.603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0.657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 SMOTE  (the baseline)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2D050"/>
                          </a:solidFill>
                          <a:latin typeface="Verdana" pitchFamily="34" charset="0"/>
                          <a:ea typeface="Verdana" pitchFamily="34" charset="-122"/>
                          <a:cs typeface="Verdana" pitchFamily="34" charset="-120"/>
                        </a:rPr>
                        <a:t>0.856</a:t>
                      </a:r>
                      <a:endParaRPr lang="en-US" sz="1050" dirty="0">
                        <a:solidFill>
                          <a:srgbClr val="92D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0.690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0.730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0.922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0.594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0.793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0.679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0.744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0.893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
        <p:nvSpPr>
          <p:cNvPr id="9" name="Shape 6"/>
          <p:cNvSpPr/>
          <p:nvPr/>
        </p:nvSpPr>
        <p:spPr>
          <a:xfrm>
            <a:off x="502920" y="3931920"/>
            <a:ext cx="3566160" cy="2423160"/>
          </a:xfrm>
          <a:prstGeom prst="rect">
            <a:avLst/>
          </a:prstGeom>
          <a:solidFill>
            <a:srgbClr val="232631"/>
          </a:solidFill>
          <a:ln w="12700">
            <a:solidFill>
              <a:srgbClr val="3A3F4A"/>
            </a:solidFill>
            <a:prstDash val="solid"/>
          </a:ln>
        </p:spPr>
        <p:txBody>
          <a:bodyPr/>
          <a:lstStyle/>
          <a:p>
            <a:endParaRPr lang="en-US"/>
          </a:p>
        </p:txBody>
      </p:sp>
      <p:sp>
        <p:nvSpPr>
          <p:cNvPr id="8" name="Text 7"/>
          <p:cNvSpPr/>
          <p:nvPr/>
        </p:nvSpPr>
        <p:spPr>
          <a:xfrm>
            <a:off x="685800" y="406908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SMOTE DOES WHAT I WANTED</a:t>
            </a:r>
            <a:endParaRPr lang="en-US" sz="1050" dirty="0"/>
          </a:p>
        </p:txBody>
      </p:sp>
      <p:sp>
        <p:nvSpPr>
          <p:cNvPr id="11" name="Text 8"/>
          <p:cNvSpPr/>
          <p:nvPr/>
        </p:nvSpPr>
        <p:spPr>
          <a:xfrm>
            <a:off x="685800" y="4389120"/>
            <a:ext cx="320040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Recall goes from 0.603 to 0.850, paid for in precision for LR due to more false positives.</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The right trade for a lender that would rather review a borderline case.</a:t>
            </a:r>
            <a:endParaRPr lang="en-US" sz="1100" dirty="0"/>
          </a:p>
        </p:txBody>
      </p:sp>
      <p:sp>
        <p:nvSpPr>
          <p:cNvPr id="12" name="Shape 9"/>
          <p:cNvSpPr/>
          <p:nvPr/>
        </p:nvSpPr>
        <p:spPr>
          <a:xfrm>
            <a:off x="4251960" y="3931920"/>
            <a:ext cx="3566160" cy="242316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4434840" y="406908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XGBOOST ALREADY LEADS</a:t>
            </a:r>
            <a:endParaRPr lang="en-US" sz="1050" dirty="0"/>
          </a:p>
        </p:txBody>
      </p:sp>
      <p:sp>
        <p:nvSpPr>
          <p:cNvPr id="14" name="Text 11"/>
          <p:cNvSpPr/>
          <p:nvPr/>
        </p:nvSpPr>
        <p:spPr>
          <a:xfrm>
            <a:off x="4434840" y="4389120"/>
            <a:ext cx="320040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0.809 PR-AUC against 0.773 for the baseline, untuned.</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It trades recall for precision, which is where its higher F1 comes from.</a:t>
            </a:r>
            <a:endParaRPr lang="en-US" sz="1100" dirty="0"/>
          </a:p>
        </p:txBody>
      </p:sp>
      <p:sp>
        <p:nvSpPr>
          <p:cNvPr id="15" name="Shape 12"/>
          <p:cNvSpPr/>
          <p:nvPr/>
        </p:nvSpPr>
        <p:spPr>
          <a:xfrm>
            <a:off x="8001000" y="3931920"/>
            <a:ext cx="3703320" cy="2423160"/>
          </a:xfrm>
          <a:prstGeom prst="rect">
            <a:avLst/>
          </a:prstGeom>
          <a:solidFill>
            <a:srgbClr val="232631"/>
          </a:solidFill>
          <a:ln w="12700">
            <a:solidFill>
              <a:srgbClr val="3A3F4A"/>
            </a:solidFill>
            <a:prstDash val="solid"/>
          </a:ln>
        </p:spPr>
        <p:txBody>
          <a:bodyPr/>
          <a:lstStyle/>
          <a:p>
            <a:endParaRPr lang="en-US"/>
          </a:p>
        </p:txBody>
      </p:sp>
      <p:sp>
        <p:nvSpPr>
          <p:cNvPr id="16" name="Text 13"/>
          <p:cNvSpPr/>
          <p:nvPr/>
        </p:nvSpPr>
        <p:spPr>
          <a:xfrm>
            <a:off x="8183880" y="4069080"/>
            <a:ext cx="3337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MLP BELOW THE BASELINE</a:t>
            </a:r>
            <a:endParaRPr lang="en-US" sz="1050" dirty="0"/>
          </a:p>
        </p:txBody>
      </p:sp>
      <p:sp>
        <p:nvSpPr>
          <p:cNvPr id="17" name="Text 14"/>
          <p:cNvSpPr/>
          <p:nvPr/>
        </p:nvSpPr>
        <p:spPr>
          <a:xfrm>
            <a:off x="8183880" y="4389120"/>
            <a:ext cx="333756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0.744 PR-AUC, under the logistic regression’s 0.773.</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First sign the dataset is too small for the neural network.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10</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Hyperparameter tuning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Grid search: fit on train, score on validation, keep the best. The test set is not involved</a:t>
            </a:r>
            <a:endParaRPr lang="en-US" sz="1200" dirty="0"/>
          </a:p>
        </p:txBody>
      </p:sp>
      <p:sp>
        <p:nvSpPr>
          <p:cNvPr id="6" name="Shape 4"/>
          <p:cNvSpPr/>
          <p:nvPr/>
        </p:nvSpPr>
        <p:spPr>
          <a:xfrm>
            <a:off x="502920" y="1234440"/>
            <a:ext cx="5532120" cy="30632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EACH KNOB CONTROLS AND WHY IT MATTERS</a:t>
            </a:r>
            <a:endParaRPr lang="en-US" sz="1050" dirty="0"/>
          </a:p>
        </p:txBody>
      </p:sp>
      <p:sp>
        <p:nvSpPr>
          <p:cNvPr id="8" name="Text 6"/>
          <p:cNvSpPr/>
          <p:nvPr/>
        </p:nvSpPr>
        <p:spPr>
          <a:xfrm>
            <a:off x="685800" y="1691640"/>
            <a:ext cx="5166360" cy="2514600"/>
          </a:xfrm>
          <a:prstGeom prst="rect">
            <a:avLst/>
          </a:prstGeom>
          <a:noFill/>
          <a:ln/>
        </p:spPr>
        <p:txBody>
          <a:bodyPr wrap="square" lIns="0" tIns="0" rIns="0" bIns="0" rtlCol="0" anchor="t"/>
          <a:lstStyle/>
          <a:p>
            <a:pPr marL="342900" indent="-342900">
              <a:spcAft>
                <a:spcPts val="700"/>
              </a:spcAft>
              <a:buSzPct val="100000"/>
              <a:buChar char="•"/>
            </a:pPr>
            <a:r>
              <a:rPr lang="en-US" sz="850" b="1" dirty="0">
                <a:solidFill>
                  <a:srgbClr val="F5F7FA"/>
                </a:solidFill>
                <a:latin typeface="Verdana" pitchFamily="34" charset="0"/>
                <a:ea typeface="Verdana" pitchFamily="34" charset="-122"/>
                <a:cs typeface="Verdana" pitchFamily="34" charset="-120"/>
              </a:rPr>
              <a:t>LR · C   {0.01, 0.1, 1, 10}</a:t>
            </a:r>
            <a:endParaRPr lang="en-US" sz="850" dirty="0"/>
          </a:p>
          <a:p>
            <a:pPr marL="342900" indent="-342900">
              <a:spcAft>
                <a:spcPts val="700"/>
              </a:spcAft>
              <a:buSzPct val="100000"/>
              <a:buChar char="•"/>
            </a:pPr>
            <a:r>
              <a:rPr lang="en-US" sz="850" dirty="0">
                <a:solidFill>
                  <a:srgbClr val="9AA7BD"/>
                </a:solidFill>
                <a:latin typeface="Verdana" pitchFamily="34" charset="0"/>
                <a:ea typeface="Verdana" pitchFamily="34" charset="-122"/>
                <a:cs typeface="Verdana" pitchFamily="34" charset="-120"/>
              </a:rPr>
              <a:t>Inverse regularization strength. Small underfits, large overfits.</a:t>
            </a:r>
            <a:endParaRPr lang="en-US" sz="850" dirty="0"/>
          </a:p>
          <a:p>
            <a:pPr marL="342900" indent="-342900">
              <a:spcAft>
                <a:spcPts val="700"/>
              </a:spcAft>
              <a:buSzPct val="100000"/>
              <a:buChar char="•"/>
            </a:pPr>
            <a:r>
              <a:rPr lang="en-US" sz="850" b="1" dirty="0">
                <a:solidFill>
                  <a:srgbClr val="F5F7FA"/>
                </a:solidFill>
                <a:latin typeface="Verdana" pitchFamily="34" charset="0"/>
                <a:ea typeface="Verdana" pitchFamily="34" charset="-122"/>
                <a:cs typeface="Verdana" pitchFamily="34" charset="-120"/>
              </a:rPr>
              <a:t>LR · penalty   {L1, L2}</a:t>
            </a:r>
            <a:endParaRPr lang="en-US" sz="850" dirty="0"/>
          </a:p>
          <a:p>
            <a:pPr marL="342900" indent="-342900">
              <a:spcAft>
                <a:spcPts val="700"/>
              </a:spcAft>
              <a:buSzPct val="100000"/>
              <a:buChar char="•"/>
            </a:pPr>
            <a:r>
              <a:rPr lang="en-US" sz="850" dirty="0">
                <a:solidFill>
                  <a:srgbClr val="9AA7BD"/>
                </a:solidFill>
                <a:latin typeface="Verdana" pitchFamily="34" charset="0"/>
                <a:ea typeface="Verdana" pitchFamily="34" charset="-122"/>
                <a:cs typeface="Verdana" pitchFamily="34" charset="-120"/>
              </a:rPr>
              <a:t>L2 shrinks coefficients towards 0, L1 can zero them out.</a:t>
            </a:r>
            <a:endParaRPr lang="en-US" sz="850" dirty="0"/>
          </a:p>
          <a:p>
            <a:pPr marL="342900" indent="-342900">
              <a:spcAft>
                <a:spcPts val="700"/>
              </a:spcAft>
              <a:buSzPct val="100000"/>
              <a:buChar char="•"/>
            </a:pPr>
            <a:r>
              <a:rPr lang="en-US" sz="850" b="1" dirty="0">
                <a:solidFill>
                  <a:srgbClr val="F5F7FA"/>
                </a:solidFill>
                <a:latin typeface="Verdana" pitchFamily="34" charset="0"/>
                <a:ea typeface="Verdana" pitchFamily="34" charset="-122"/>
                <a:cs typeface="Verdana" pitchFamily="34" charset="-120"/>
              </a:rPr>
              <a:t>XGB · max_depth   {3, 5, 7}</a:t>
            </a:r>
            <a:endParaRPr lang="en-US" sz="850" dirty="0"/>
          </a:p>
          <a:p>
            <a:pPr marL="342900" indent="-342900">
              <a:spcAft>
                <a:spcPts val="700"/>
              </a:spcAft>
              <a:buSzPct val="100000"/>
              <a:buChar char="•"/>
            </a:pPr>
            <a:r>
              <a:rPr lang="en-US" sz="850" dirty="0">
                <a:solidFill>
                  <a:srgbClr val="9AA7BD"/>
                </a:solidFill>
                <a:latin typeface="Verdana" pitchFamily="34" charset="0"/>
                <a:ea typeface="Verdana" pitchFamily="34" charset="-122"/>
                <a:cs typeface="Verdana" pitchFamily="34" charset="-120"/>
              </a:rPr>
              <a:t>Tree depth. Deeper expresses more interactions, memorizes noise.</a:t>
            </a:r>
            <a:endParaRPr lang="en-US" sz="850" dirty="0"/>
          </a:p>
          <a:p>
            <a:pPr marL="342900" indent="-342900">
              <a:spcAft>
                <a:spcPts val="700"/>
              </a:spcAft>
              <a:buSzPct val="100000"/>
              <a:buChar char="•"/>
            </a:pPr>
            <a:r>
              <a:rPr lang="en-US" sz="850" b="1" dirty="0">
                <a:solidFill>
                  <a:srgbClr val="F5F7FA"/>
                </a:solidFill>
                <a:latin typeface="Verdana" pitchFamily="34" charset="0"/>
                <a:ea typeface="Verdana" pitchFamily="34" charset="-122"/>
                <a:cs typeface="Verdana" pitchFamily="34" charset="-120"/>
              </a:rPr>
              <a:t>XGB · learning_rate {0.05, 0.1} · n_estimators {200, 400}</a:t>
            </a:r>
            <a:endParaRPr lang="en-US" sz="850" dirty="0"/>
          </a:p>
          <a:p>
            <a:pPr marL="342900" indent="-342900">
              <a:spcAft>
                <a:spcPts val="700"/>
              </a:spcAft>
              <a:buSzPct val="100000"/>
              <a:buChar char="•"/>
            </a:pPr>
            <a:r>
              <a:rPr lang="en-US" sz="850" dirty="0">
                <a:solidFill>
                  <a:srgbClr val="9AA7BD"/>
                </a:solidFill>
                <a:latin typeface="Verdana" pitchFamily="34" charset="0"/>
                <a:ea typeface="Verdana" pitchFamily="34" charset="-122"/>
                <a:cs typeface="Verdana" pitchFamily="34" charset="-120"/>
              </a:rPr>
              <a:t>Contribution per tree on final model, and how many trees. These trade off.</a:t>
            </a:r>
            <a:endParaRPr lang="en-US" sz="850" dirty="0"/>
          </a:p>
          <a:p>
            <a:pPr marL="342900" indent="-342900">
              <a:spcAft>
                <a:spcPts val="700"/>
              </a:spcAft>
              <a:buSzPct val="100000"/>
              <a:buChar char="•"/>
            </a:pPr>
            <a:r>
              <a:rPr lang="en-US" sz="850" b="1" dirty="0">
                <a:solidFill>
                  <a:srgbClr val="F5F7FA"/>
                </a:solidFill>
                <a:latin typeface="Verdana" pitchFamily="34" charset="0"/>
                <a:ea typeface="Verdana" pitchFamily="34" charset="-122"/>
                <a:cs typeface="Verdana" pitchFamily="34" charset="-120"/>
              </a:rPr>
              <a:t>MLP · hidden_layer_sizes {(50), (100), (64,32)} · alpha {0.0001, 0.01}</a:t>
            </a:r>
            <a:endParaRPr lang="en-US" sz="850" dirty="0"/>
          </a:p>
          <a:p>
            <a:pPr marL="342900" indent="-342900">
              <a:spcAft>
                <a:spcPts val="700"/>
              </a:spcAft>
              <a:buSzPct val="100000"/>
              <a:buChar char="•"/>
            </a:pPr>
            <a:r>
              <a:rPr lang="en-US" sz="850" dirty="0">
                <a:solidFill>
                  <a:srgbClr val="9AA7BD"/>
                </a:solidFill>
                <a:latin typeface="Verdana" pitchFamily="34" charset="0"/>
                <a:ea typeface="Verdana" pitchFamily="34" charset="-122"/>
                <a:cs typeface="Verdana" pitchFamily="34" charset="-120"/>
              </a:rPr>
              <a:t>Capacity (model complexity) and weight penalty. More capacity needs more data.</a:t>
            </a:r>
            <a:endParaRPr lang="en-US" sz="850" dirty="0"/>
          </a:p>
        </p:txBody>
      </p:sp>
      <p:sp>
        <p:nvSpPr>
          <p:cNvPr id="9" name="Shape 7"/>
          <p:cNvSpPr/>
          <p:nvPr/>
        </p:nvSpPr>
        <p:spPr>
          <a:xfrm>
            <a:off x="6217920" y="1234440"/>
            <a:ext cx="5486400" cy="30632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CHOSEN VALUES, JUSTIFIED WITH BEFORE AND AFTER</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0" y="1737360"/>
          <a:ext cx="5120640" cy="1149096"/>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Chosen values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Untuned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Δ</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C=10, L1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0.7728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0.7737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depth 7, lr 0.05,</a:t>
                      </a:r>
                      <a:endParaRPr lang="en-US" sz="950" dirty="0">
                        <a:latin typeface="Verdana" charset="0"/>
                        <a:ea typeface="Verdana" charset="0"/>
                        <a:cs typeface="Verdana" charset="0"/>
                      </a:endParaRPr>
                    </a:p>
                    <a:p>
                      <a:pPr marL="0" indent="0" algn="ctr">
                        <a:buNone/>
                      </a:pPr>
                      <a:r>
                        <a:rPr lang="en-US" sz="950" dirty="0">
                          <a:solidFill>
                            <a:srgbClr val="9AA7BD"/>
                          </a:solidFill>
                          <a:latin typeface="Verdana" pitchFamily="34" charset="0"/>
                          <a:ea typeface="Verdana" pitchFamily="34" charset="-122"/>
                          <a:cs typeface="Verdana" pitchFamily="34" charset="-120"/>
                        </a:rPr>
                        <a:t>400 trees, subsample 0.8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0.8091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0.8110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+0.0019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(50,), alpha 0.01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0.7435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+0.0311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9"/>
          <p:cNvSpPr/>
          <p:nvPr/>
        </p:nvSpPr>
        <p:spPr>
          <a:xfrm>
            <a:off x="6400800" y="3886200"/>
            <a:ext cx="5120640" cy="2743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Validation PR-AUC before and after tuning. 26 settings swept in total.</a:t>
            </a:r>
            <a:endParaRPr lang="en-US" sz="950" dirty="0"/>
          </a:p>
        </p:txBody>
      </p:sp>
      <p:sp>
        <p:nvSpPr>
          <p:cNvPr id="13" name="Shape 10"/>
          <p:cNvSpPr/>
          <p:nvPr/>
        </p:nvSpPr>
        <p:spPr>
          <a:xfrm>
            <a:off x="502920" y="4480560"/>
            <a:ext cx="11201400" cy="1874520"/>
          </a:xfrm>
          <a:prstGeom prst="rect">
            <a:avLst/>
          </a:prstGeom>
          <a:solidFill>
            <a:srgbClr val="232631"/>
          </a:solidFill>
          <a:ln w="12700">
            <a:solidFill>
              <a:srgbClr val="3A3F4A"/>
            </a:solidFill>
            <a:prstDash val="solid"/>
          </a:ln>
        </p:spPr>
        <p:txBody>
          <a:bodyPr/>
          <a:lstStyle/>
          <a:p>
            <a:endParaRPr lang="en-US"/>
          </a:p>
        </p:txBody>
      </p:sp>
      <p:sp>
        <p:nvSpPr>
          <p:cNvPr id="14" name="Text 11"/>
          <p:cNvSpPr/>
          <p:nvPr/>
        </p:nvSpPr>
        <p:spPr>
          <a:xfrm>
            <a:off x="685800" y="4599432"/>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THE THREE NUMBERS DIFFER SO MUCH</a:t>
            </a:r>
            <a:endParaRPr lang="en-US" sz="1050" dirty="0"/>
          </a:p>
        </p:txBody>
      </p:sp>
      <p:sp>
        <p:nvSpPr>
          <p:cNvPr id="15" name="Text 12"/>
          <p:cNvSpPr/>
          <p:nvPr/>
        </p:nvSpPr>
        <p:spPr>
          <a:xfrm>
            <a:off x="68580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Logistic regression barely moves</a:t>
            </a:r>
            <a:endParaRPr lang="en-US" sz="1100" dirty="0"/>
          </a:p>
        </p:txBody>
      </p:sp>
      <p:sp>
        <p:nvSpPr>
          <p:cNvPr id="16" name="Text 13"/>
          <p:cNvSpPr/>
          <p:nvPr/>
        </p:nvSpPr>
        <p:spPr>
          <a:xfrm>
            <a:off x="68580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Already flat by C = 1. It was near its ceiling before I started.</a:t>
            </a:r>
            <a:endParaRPr lang="en-US" sz="950" dirty="0"/>
          </a:p>
        </p:txBody>
      </p:sp>
      <p:sp>
        <p:nvSpPr>
          <p:cNvPr id="17" name="Text 14"/>
          <p:cNvSpPr/>
          <p:nvPr/>
        </p:nvSpPr>
        <p:spPr>
          <a:xfrm>
            <a:off x="443484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XGBoost barely moves either</a:t>
            </a:r>
            <a:endParaRPr lang="en-US" sz="1100" dirty="0"/>
          </a:p>
        </p:txBody>
      </p:sp>
      <p:sp>
        <p:nvSpPr>
          <p:cNvPr id="18" name="Text 15"/>
          <p:cNvSpPr/>
          <p:nvPr/>
        </p:nvSpPr>
        <p:spPr>
          <a:xfrm>
            <a:off x="443484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Default hyperparameter values are already sensible for tabular data this size.</a:t>
            </a:r>
            <a:endParaRPr lang="en-US" sz="950" dirty="0"/>
          </a:p>
        </p:txBody>
      </p:sp>
      <p:sp>
        <p:nvSpPr>
          <p:cNvPr id="19" name="Text 16"/>
          <p:cNvSpPr/>
          <p:nvPr/>
        </p:nvSpPr>
        <p:spPr>
          <a:xfrm>
            <a:off x="818388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The MLP needed tuning most</a:t>
            </a:r>
            <a:endParaRPr lang="en-US" sz="1100" dirty="0"/>
          </a:p>
        </p:txBody>
      </p:sp>
      <p:sp>
        <p:nvSpPr>
          <p:cNvPr id="20" name="Text 17"/>
          <p:cNvSpPr/>
          <p:nvPr/>
        </p:nvSpPr>
        <p:spPr>
          <a:xfrm>
            <a:off x="818388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The smallest network with the strongest penalty won. It lacks data for its capacity.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Cross-validation on identical folds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Mean, standard deviation, and variance across five stratified folds</a:t>
            </a:r>
            <a:endParaRPr lang="en-US" sz="1200" dirty="0"/>
          </a:p>
        </p:txBody>
      </p:sp>
      <p:sp>
        <p:nvSpPr>
          <p:cNvPr id="6" name="Shape 4"/>
          <p:cNvSpPr/>
          <p:nvPr/>
        </p:nvSpPr>
        <p:spPr>
          <a:xfrm>
            <a:off x="502920" y="1234440"/>
            <a:ext cx="11201400" cy="22860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ALL THREE MODELS SCORED ON THE SAME FIVE FOLDS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1164336"/>
        </p:xfrm>
        <a:graphic>
          <a:graphicData uri="http://schemas.openxmlformats.org/drawingml/2006/table">
            <a:tbl>
              <a:tblPr/>
              <a:tblGrid>
                <a:gridCol w="2331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1234440">
                  <a:extLst>
                    <a:ext uri="{9D8B030D-6E8A-4147-A177-3AD203B41FA5}">
                      <a16:colId xmlns:a16="http://schemas.microsoft.com/office/drawing/2014/main" val="20007"/>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Model</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std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var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F1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F1 std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Recall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Accuracy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Logistic regression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0.6876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0.8371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0.8168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0.7878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0.0143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0.6905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0.8348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0.8186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0.0114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0.7198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0.7385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0.8615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Shape 6"/>
          <p:cNvSpPr/>
          <p:nvPr/>
        </p:nvSpPr>
        <p:spPr>
          <a:xfrm>
            <a:off x="502920" y="3703320"/>
            <a:ext cx="5532120" cy="265176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685800" y="384048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THE SPREAD TELLS ME</a:t>
            </a:r>
            <a:endParaRPr lang="en-US" sz="1050" dirty="0"/>
          </a:p>
        </p:txBody>
      </p:sp>
      <p:sp>
        <p:nvSpPr>
          <p:cNvPr id="11" name="Text 8"/>
          <p:cNvSpPr/>
          <p:nvPr/>
        </p:nvSpPr>
        <p:spPr>
          <a:xfrm>
            <a:off x="685800" y="4160520"/>
            <a:ext cx="5166360" cy="20574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Standard deviations near 0.01, so no model rides on a lucky split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Variance is small next to the 0.039 PR-AUC gap between XGBoost and the baseline</a:t>
            </a:r>
          </a:p>
          <a:p>
            <a:pPr marL="342900" indent="-342900">
              <a:spcAft>
                <a:spcPts val="700"/>
              </a:spcAft>
              <a:buSzPct val="100000"/>
              <a:buChar char="•"/>
            </a:pPr>
            <a:r>
              <a:rPr lang="en-US" sz="1100" dirty="0" err="1">
                <a:solidFill>
                  <a:srgbClr val="9AA7BD"/>
                </a:solidFill>
                <a:latin typeface="Verdana" pitchFamily="34" charset="0"/>
                <a:ea typeface="Verdana" pitchFamily="34" charset="-122"/>
                <a:cs typeface="Verdana" pitchFamily="34" charset="-120"/>
              </a:rPr>
              <a:t>XGBoost</a:t>
            </a:r>
            <a:r>
              <a:rPr lang="en-US" sz="1100" dirty="0">
                <a:solidFill>
                  <a:srgbClr val="9AA7BD"/>
                </a:solidFill>
                <a:latin typeface="Verdana" pitchFamily="34" charset="0"/>
                <a:ea typeface="Verdana" pitchFamily="34" charset="-122"/>
                <a:cs typeface="Verdana" pitchFamily="34" charset="-120"/>
              </a:rPr>
              <a:t> leads everywhere but recall: where it acts more conservatively</a:t>
            </a:r>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So the models are not compared at the same recall later due to different spread of probabilities for each model for high earners</a:t>
            </a:r>
            <a:endParaRPr lang="en-US" sz="1100" dirty="0"/>
          </a:p>
        </p:txBody>
      </p:sp>
      <p:sp>
        <p:nvSpPr>
          <p:cNvPr id="8" name="Shape 9"/>
          <p:cNvSpPr/>
          <p:nvPr/>
        </p:nvSpPr>
        <p:spPr>
          <a:xfrm>
            <a:off x="6217920" y="3703320"/>
            <a:ext cx="5486400" cy="265176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6400800" y="384048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95% CI ON CROSS-VALIDATED PR-AUC</a:t>
            </a:r>
            <a:endParaRPr lang="en-US" sz="10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00800" y="4206240"/>
          <a:ext cx="5120640" cy="1024128"/>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Model</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95% CI</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Width</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0.7667 – 0.7927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0.0260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0.7878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0.7701 – 0.8055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0.0354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0.8186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0.8044 – 0.8328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0.0284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5" name="Text 11"/>
          <p:cNvSpPr/>
          <p:nvPr/>
        </p:nvSpPr>
        <p:spPr>
          <a:xfrm>
            <a:off x="6400800" y="5532120"/>
            <a:ext cx="5120640" cy="73152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Built from five fold scores, so wider than the bootstrap intervals later.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Paired tests on the same five folds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Both tests run on the per-fold differences</a:t>
            </a:r>
            <a:endParaRPr lang="en-US" sz="1200" dirty="0"/>
          </a:p>
        </p:txBody>
      </p:sp>
      <p:sp>
        <p:nvSpPr>
          <p:cNvPr id="6" name="Shape 4"/>
          <p:cNvSpPr/>
          <p:nvPr/>
        </p:nvSpPr>
        <p:spPr>
          <a:xfrm>
            <a:off x="502920" y="1234440"/>
            <a:ext cx="6949440" cy="31089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65836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PAIRED T-TEST AND WILCOXON SIGNED-RANK</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6583680" cy="1792224"/>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Metric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Comparison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Mean diff</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 p-value</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Wilcoxon 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0.0389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12.99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0.0308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7.72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0.0015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0.0081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4.34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0.0123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0.0322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7.12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0.0021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0.0293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10.51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1.41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E07A5F"/>
                          </a:solidFill>
                          <a:latin typeface="Verdana" pitchFamily="34" charset="0"/>
                          <a:ea typeface="Verdana" pitchFamily="34" charset="-122"/>
                          <a:cs typeface="Verdana" pitchFamily="34" charset="-120"/>
                        </a:rPr>
                        <a:t>0.2317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0.1875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7635240" y="1234440"/>
            <a:ext cx="4069080" cy="310896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7818120" y="1371600"/>
            <a:ext cx="37033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EVERY WILCOXON P IS 0.0625</a:t>
            </a:r>
            <a:endParaRPr lang="en-US" sz="1050" dirty="0"/>
          </a:p>
        </p:txBody>
      </p:sp>
      <p:sp>
        <p:nvSpPr>
          <p:cNvPr id="11" name="Text 8"/>
          <p:cNvSpPr/>
          <p:nvPr/>
        </p:nvSpPr>
        <p:spPr>
          <a:xfrm>
            <a:off x="7818120" y="1691640"/>
            <a:ext cx="3703320" cy="246888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Wilcoxon counts which model won each fold, not by how much</a:t>
            </a:r>
          </a:p>
          <a:p>
            <a:endParaRPr lang="en-US" sz="1050" dirty="0">
              <a:solidFill>
                <a:schemeClr val="bg1">
                  <a:lumMod val="75000"/>
                </a:schemeClr>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Winning all 5 folds is the most lopsided result possible: p = 0.0625</a:t>
            </a:r>
          </a:p>
          <a:p>
            <a:endParaRPr lang="en-US" sz="1050" dirty="0">
              <a:solidFill>
                <a:schemeClr val="bg1">
                  <a:lumMod val="75000"/>
                </a:schemeClr>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So 0.0625 is its floor at n = 5, not weak evidence</a:t>
            </a:r>
          </a:p>
          <a:p>
            <a:endParaRPr lang="en-US" sz="1050" dirty="0">
              <a:solidFill>
                <a:schemeClr val="bg1">
                  <a:lumMod val="75000"/>
                </a:schemeClr>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MLP won 4 of 5 folds on F1, giving p = 0.1875</a:t>
            </a:r>
          </a:p>
          <a:p>
            <a:pPr marL="0" indent="0">
              <a:spcAft>
                <a:spcPts val="600"/>
              </a:spcAft>
              <a:buNone/>
            </a:pPr>
            <a:endParaRPr lang="en-US" sz="1050" dirty="0">
              <a:solidFill>
                <a:schemeClr val="bg1">
                  <a:lumMod val="75000"/>
                </a:schemeClr>
              </a:solidFill>
              <a:latin typeface="Verdana" panose="020B0604030504040204" pitchFamily="34" charset="0"/>
              <a:ea typeface="Verdana" panose="020B0604030504040204" pitchFamily="34" charset="0"/>
            </a:endParaRPr>
          </a:p>
        </p:txBody>
      </p:sp>
      <p:sp>
        <p:nvSpPr>
          <p:cNvPr id="12" name="Shape 9"/>
          <p:cNvSpPr/>
          <p:nvPr/>
        </p:nvSpPr>
        <p:spPr>
          <a:xfrm>
            <a:off x="502920" y="4572000"/>
            <a:ext cx="11201400" cy="868680"/>
          </a:xfrm>
          <a:prstGeom prst="rect">
            <a:avLst/>
          </a:prstGeom>
          <a:solidFill>
            <a:srgbClr val="20242E"/>
          </a:solidFill>
          <a:ln w="12700">
            <a:solidFill>
              <a:srgbClr val="E8C15A"/>
            </a:solidFill>
            <a:prstDash val="solid"/>
          </a:ln>
        </p:spPr>
        <p:txBody>
          <a:bodyPr/>
          <a:lstStyle/>
          <a:p>
            <a:endParaRPr lang="en-US"/>
          </a:p>
        </p:txBody>
      </p:sp>
      <p:sp>
        <p:nvSpPr>
          <p:cNvPr id="8" name="Text 10"/>
          <p:cNvSpPr/>
          <p:nvPr/>
        </p:nvSpPr>
        <p:spPr>
          <a:xfrm>
            <a:off x="777240" y="4617720"/>
            <a:ext cx="10652760" cy="777240"/>
          </a:xfrm>
          <a:prstGeom prst="rect">
            <a:avLst/>
          </a:prstGeom>
          <a:noFill/>
          <a:ln/>
        </p:spPr>
        <p:txBody>
          <a:bodyPr wrap="square" lIns="0" tIns="0" rIns="0" bIns="0" rtlCol="0" anchor="ctr"/>
          <a:lstStyle/>
          <a:p>
            <a:pPr marL="0" indent="0" algn="ctr">
              <a:buNone/>
            </a:pPr>
            <a:r>
              <a:rPr lang="en-US" sz="1150" dirty="0">
                <a:solidFill>
                  <a:srgbClr val="E8C15A"/>
                </a:solidFill>
                <a:latin typeface="Verdana" pitchFamily="34" charset="0"/>
                <a:ea typeface="Verdana" pitchFamily="34" charset="-122"/>
                <a:cs typeface="Verdana" pitchFamily="34" charset="-120"/>
              </a:rPr>
              <a:t>The 0.0625 says XGBoost won all five folds.</a:t>
            </a:r>
            <a:endParaRPr lang="en-US" sz="1150" dirty="0"/>
          </a:p>
        </p:txBody>
      </p:sp>
      <p:sp>
        <p:nvSpPr>
          <p:cNvPr id="14" name="Shape 11"/>
          <p:cNvSpPr/>
          <p:nvPr/>
        </p:nvSpPr>
        <p:spPr>
          <a:xfrm>
            <a:off x="502920" y="5623560"/>
            <a:ext cx="11201400" cy="731520"/>
          </a:xfrm>
          <a:prstGeom prst="rect">
            <a:avLst/>
          </a:prstGeom>
          <a:solidFill>
            <a:srgbClr val="232631"/>
          </a:solidFill>
          <a:ln w="12700">
            <a:solidFill>
              <a:srgbClr val="3A3F4A"/>
            </a:solidFill>
            <a:prstDash val="solid"/>
          </a:ln>
        </p:spPr>
        <p:txBody>
          <a:bodyPr/>
          <a:lstStyle/>
          <a:p>
            <a:endParaRPr lang="en-US"/>
          </a:p>
        </p:txBody>
      </p:sp>
      <p:sp>
        <p:nvSpPr>
          <p:cNvPr id="15" name="Text 12"/>
          <p:cNvSpPr/>
          <p:nvPr/>
        </p:nvSpPr>
        <p:spPr>
          <a:xfrm>
            <a:off x="777240" y="5806440"/>
            <a:ext cx="10652760" cy="4572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Every PR-AUC comparison is significant. On F1, both XGBoost comparisons are, and MLP against the baseline is not, at p = 0.23.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Confidence level, interval width, and sample size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same difference, the same five folds, three confidence levels</a:t>
            </a:r>
            <a:endParaRPr lang="en-US" sz="1200" dirty="0"/>
          </a:p>
        </p:txBody>
      </p:sp>
      <p:sp>
        <p:nvSpPr>
          <p:cNvPr id="6" name="Shape 4"/>
          <p:cNvSpPr/>
          <p:nvPr/>
        </p:nvSpPr>
        <p:spPr>
          <a:xfrm>
            <a:off x="502920" y="1234440"/>
            <a:ext cx="5532120" cy="27432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CI ON THE XGBOOST MINUS LR PR-AUC DIFFERENCE</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166360" cy="1024128"/>
        </p:xfrm>
        <a:graphic>
          <a:graphicData uri="http://schemas.openxmlformats.org/drawingml/2006/table">
            <a:tbl>
              <a:tblPr/>
              <a:tblGrid>
                <a:gridCol w="914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Level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Interval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Width</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Excludes 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0.0325 – 0.0453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0.0128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0.0306 – 0.0472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0.0166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0.0251 – 0.0527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0.0276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3154680"/>
            <a:ext cx="5166360" cy="7315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Higher confidence means a wider net. The data did not change.</a:t>
            </a:r>
            <a:endParaRPr lang="en-US" sz="1050" dirty="0"/>
          </a:p>
        </p:txBody>
      </p:sp>
      <p:sp>
        <p:nvSpPr>
          <p:cNvPr id="10" name="Shape 7"/>
          <p:cNvSpPr/>
          <p:nvPr/>
        </p:nvSpPr>
        <p:spPr>
          <a:xfrm>
            <a:off x="6217920" y="1234440"/>
            <a:ext cx="5486400" cy="2743200"/>
          </a:xfrm>
          <a:prstGeom prst="rect">
            <a:avLst/>
          </a:prstGeom>
          <a:solidFill>
            <a:srgbClr val="232631"/>
          </a:solidFill>
          <a:ln w="12700">
            <a:solidFill>
              <a:srgbClr val="3A3F4A"/>
            </a:solidFill>
            <a:prstDash val="solid"/>
          </a:ln>
        </p:spPr>
        <p:txBody>
          <a:bodyPr/>
          <a:lstStyle/>
          <a:p>
            <a:endParaRPr lang="en-US"/>
          </a:p>
        </p:txBody>
      </p:sp>
      <p:sp>
        <p:nvSpPr>
          <p:cNvPr id="11"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COUNTS AS A GOOD INTERVAL</a:t>
            </a:r>
            <a:endParaRPr lang="en-US" sz="1050" dirty="0"/>
          </a:p>
        </p:txBody>
      </p:sp>
      <p:sp>
        <p:nvSpPr>
          <p:cNvPr id="12" name="Text 9"/>
          <p:cNvSpPr/>
          <p:nvPr/>
        </p:nvSpPr>
        <p:spPr>
          <a:xfrm>
            <a:off x="6400800" y="1691640"/>
            <a:ext cx="512064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narrow interval at low confidence is bought by lowering the bar</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What I want is narrow at high confidence</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Only more data gives both, and width shrinks with √n</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An interval containing zero means the difference between the models is not statistically significant</a:t>
            </a:r>
            <a:endParaRPr lang="en-US" sz="1050" dirty="0"/>
          </a:p>
        </p:txBody>
      </p:sp>
      <p:sp>
        <p:nvSpPr>
          <p:cNvPr id="13" name="Shape 10"/>
          <p:cNvSpPr/>
          <p:nvPr/>
        </p:nvSpPr>
        <p:spPr>
          <a:xfrm>
            <a:off x="502920" y="4160520"/>
            <a:ext cx="11201400" cy="2194560"/>
          </a:xfrm>
          <a:prstGeom prst="rect">
            <a:avLst/>
          </a:prstGeom>
          <a:solidFill>
            <a:srgbClr val="1C1E24"/>
          </a:solidFill>
          <a:ln w="12700">
            <a:solidFill>
              <a:srgbClr val="3A3F4A"/>
            </a:solidFill>
            <a:prstDash val="solid"/>
          </a:ln>
        </p:spPr>
        <p:txBody>
          <a:bodyPr/>
          <a:lstStyle/>
          <a:p>
            <a:endParaRPr lang="en-US"/>
          </a:p>
        </p:txBody>
      </p:sp>
      <p:sp>
        <p:nvSpPr>
          <p:cNvPr id="8" name="Text 11"/>
          <p:cNvSpPr/>
          <p:nvPr/>
        </p:nvSpPr>
        <p:spPr>
          <a:xfrm>
            <a:off x="685800" y="42976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MORE DATA HELPS ME</a:t>
            </a:r>
            <a:endParaRPr lang="en-US" sz="1050" dirty="0"/>
          </a:p>
        </p:txBody>
      </p:sp>
      <p:sp>
        <p:nvSpPr>
          <p:cNvPr id="15" name="Text 12"/>
          <p:cNvSpPr/>
          <p:nvPr/>
        </p:nvSpPr>
        <p:spPr>
          <a:xfrm>
            <a:off x="685800" y="4617720"/>
            <a:ext cx="5303520" cy="274320"/>
          </a:xfrm>
          <a:prstGeom prst="rect">
            <a:avLst/>
          </a:prstGeom>
          <a:noFill/>
          <a:ln/>
        </p:spPr>
        <p:txBody>
          <a:bodyPr wrap="square" lIns="0" tIns="0" rIns="0" bIns="0" rtlCol="0" anchor="ctr"/>
          <a:lstStyle/>
          <a:p>
            <a:pPr marL="0" indent="0">
              <a:buNone/>
            </a:pPr>
            <a:r>
              <a:rPr lang="en-US" sz="1250" b="1" dirty="0">
                <a:solidFill>
                  <a:srgbClr val="9AA7BD"/>
                </a:solidFill>
                <a:latin typeface="Verdana" pitchFamily="34" charset="0"/>
                <a:ea typeface="Verdana" pitchFamily="34" charset="-122"/>
                <a:cs typeface="Verdana" pitchFamily="34" charset="-120"/>
              </a:rPr>
              <a:t>Five fold scores on 19,521 training rows</a:t>
            </a:r>
            <a:endParaRPr lang="en-US" sz="1250" dirty="0"/>
          </a:p>
        </p:txBody>
      </p:sp>
      <p:sp>
        <p:nvSpPr>
          <p:cNvPr id="16" name="Text 13"/>
          <p:cNvSpPr/>
          <p:nvPr/>
        </p:nvSpPr>
        <p:spPr>
          <a:xfrm>
            <a:off x="685800" y="4937760"/>
            <a:ext cx="5303520" cy="118872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95% CI on cross-validated PR-AUC, from five numbers:</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LR 0.0260 wide   ·   MLP 0.0354 wide   ·   XGBoost 0.0284 wide</a:t>
            </a:r>
          </a:p>
          <a:p>
            <a:pPr marL="0" indent="0">
              <a:spcAft>
                <a:spcPts val="600"/>
              </a:spcAft>
              <a:buNone/>
            </a:pPr>
            <a:endParaRPr lang="en-US" sz="1100" dirty="0">
              <a:solidFill>
                <a:srgbClr val="9AA7BD"/>
              </a:solidFill>
              <a:latin typeface="Verdana" pitchFamily="34" charset="0"/>
              <a:ea typeface="Verdana" pitchFamily="34" charset="-122"/>
            </a:endParaRPr>
          </a:p>
          <a:p>
            <a:pPr marL="171450" indent="-171450">
              <a:spcAft>
                <a:spcPts val="600"/>
              </a:spcAft>
              <a:buFont typeface="Arial" panose="020B0604020202020204" pitchFamily="34" charset="0"/>
              <a:buChar char="•"/>
            </a:pPr>
            <a:r>
              <a:rPr lang="en-US" sz="1100" dirty="0">
                <a:solidFill>
                  <a:srgbClr val="9AA7BD"/>
                </a:solidFill>
                <a:latin typeface="Verdana" panose="020B0604030504040204" pitchFamily="34" charset="0"/>
                <a:ea typeface="Verdana" panose="020B0604030504040204" pitchFamily="34" charset="0"/>
              </a:rPr>
              <a:t>Per-model intervals are wide because I estimate them from five numbers</a:t>
            </a:r>
          </a:p>
        </p:txBody>
      </p:sp>
      <p:sp>
        <p:nvSpPr>
          <p:cNvPr id="17" name="Text 14"/>
          <p:cNvSpPr/>
          <p:nvPr/>
        </p:nvSpPr>
        <p:spPr>
          <a:xfrm>
            <a:off x="6309360" y="4617720"/>
            <a:ext cx="530352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6,508 test rows resampled 1000 times (bootstrap)</a:t>
            </a:r>
            <a:endParaRPr lang="en-US" sz="1250" dirty="0"/>
          </a:p>
        </p:txBody>
      </p:sp>
      <p:sp>
        <p:nvSpPr>
          <p:cNvPr id="18" name="Text 15"/>
          <p:cNvSpPr/>
          <p:nvPr/>
        </p:nvSpPr>
        <p:spPr>
          <a:xfrm>
            <a:off x="6309360" y="4937760"/>
            <a:ext cx="5303520" cy="118872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95% CI on the difference, from every test row:</a:t>
            </a:r>
            <a:endParaRPr lang="en-US" sz="1100" dirty="0"/>
          </a:p>
          <a:p>
            <a:pPr marL="0" indent="0">
              <a:spcAft>
                <a:spcPts val="600"/>
              </a:spcAft>
              <a:buNone/>
            </a:pPr>
            <a:endParaRPr lang="en-US" sz="1100" dirty="0"/>
          </a:p>
          <a:p>
            <a:pPr marL="0" indent="0">
              <a:spcAft>
                <a:spcPts val="600"/>
              </a:spcAft>
              <a:buNone/>
            </a:pPr>
            <a:r>
              <a:rPr lang="en-US" sz="1100" dirty="0" err="1">
                <a:solidFill>
                  <a:srgbClr val="9AA7BD"/>
                </a:solidFill>
                <a:latin typeface="Verdana" pitchFamily="34" charset="0"/>
                <a:ea typeface="Verdana" pitchFamily="34" charset="-122"/>
                <a:cs typeface="Verdana" pitchFamily="34" charset="-120"/>
              </a:rPr>
              <a:t>XGBoost</a:t>
            </a:r>
            <a:r>
              <a:rPr lang="en-US" sz="1100" dirty="0">
                <a:solidFill>
                  <a:srgbClr val="9AA7BD"/>
                </a:solidFill>
                <a:latin typeface="Verdana" pitchFamily="34" charset="0"/>
                <a:ea typeface="Verdana" pitchFamily="34" charset="-122"/>
                <a:cs typeface="Verdana" pitchFamily="34" charset="-120"/>
              </a:rPr>
              <a:t> advantage over LR:  0.0218 to 0.0402, only 0.0184 wide</a:t>
            </a:r>
          </a:p>
          <a:p>
            <a:pPr marL="0" indent="0">
              <a:spcAft>
                <a:spcPts val="600"/>
              </a:spcAft>
              <a:buNone/>
            </a:pPr>
            <a:endParaRPr lang="en-US" sz="1100" dirty="0">
              <a:solidFill>
                <a:srgbClr val="9AA7BD"/>
              </a:solidFill>
              <a:latin typeface="Verdana" pitchFamily="34" charset="0"/>
              <a:ea typeface="Verdana" pitchFamily="34" charset="-122"/>
            </a:endParaRPr>
          </a:p>
          <a:p>
            <a:pPr marL="171450" indent="-171450">
              <a:spcAft>
                <a:spcPts val="600"/>
              </a:spcAft>
              <a:buFont typeface="Arial" panose="020B0604020202020204" pitchFamily="34" charset="0"/>
              <a:buChar char="•"/>
            </a:pPr>
            <a:r>
              <a:rPr lang="en-US" sz="1100" dirty="0">
                <a:solidFill>
                  <a:srgbClr val="9AA7BD"/>
                </a:solidFill>
                <a:latin typeface="Verdana" panose="020B0604030504040204" pitchFamily="34" charset="0"/>
                <a:ea typeface="Verdana" panose="020B0604030504040204" pitchFamily="34" charset="0"/>
              </a:rPr>
              <a:t>Interval on the gap is narrow because pairing cancels the noise the two models share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Final results on the held-out test set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Touched once, at the end. Every tuning decision was made on validation</a:t>
            </a:r>
            <a:endParaRPr lang="en-US" sz="1200" dirty="0"/>
          </a:p>
        </p:txBody>
      </p:sp>
      <p:sp>
        <p:nvSpPr>
          <p:cNvPr id="6" name="Shape 4"/>
          <p:cNvSpPr/>
          <p:nvPr/>
        </p:nvSpPr>
        <p:spPr>
          <a:xfrm>
            <a:off x="502920" y="1234440"/>
            <a:ext cx="1120140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ALL MODELS AGAINST THE NAIVE FLOOR AND THE UNTUNED BASELINE</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1536192"/>
        </p:xfrm>
        <a:graphic>
          <a:graphicData uri="http://schemas.openxmlformats.org/drawingml/2006/table">
            <a:tbl>
              <a:tblPr/>
              <a:tblGrid>
                <a:gridCol w="2880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Accuracy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Precision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ROC-AUC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Naive (majority class)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0.241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untuned (the baseline)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0.820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0.825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0.695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0.721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0.708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0.805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0.915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
        <p:nvSpPr>
          <p:cNvPr id="9" name="Shape 6"/>
          <p:cNvSpPr/>
          <p:nvPr/>
        </p:nvSpPr>
        <p:spPr>
          <a:xfrm>
            <a:off x="502920" y="3794760"/>
            <a:ext cx="3657600" cy="256032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685800" y="3931920"/>
            <a:ext cx="3291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ORDERING HELD</a:t>
            </a:r>
            <a:endParaRPr lang="en-US" sz="1050" dirty="0"/>
          </a:p>
        </p:txBody>
      </p:sp>
      <p:sp>
        <p:nvSpPr>
          <p:cNvPr id="11" name="Text 8"/>
          <p:cNvSpPr/>
          <p:nvPr/>
        </p:nvSpPr>
        <p:spPr>
          <a:xfrm>
            <a:off x="685800" y="4251960"/>
            <a:ext cx="32918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XGBoost led on validation and on test, so the tuning did not overfit.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Tuned LR barely moves from untuned, 0.774 against 0.773.</a:t>
            </a:r>
            <a:endParaRPr lang="en-US" sz="1050" dirty="0"/>
          </a:p>
        </p:txBody>
      </p:sp>
      <p:sp>
        <p:nvSpPr>
          <p:cNvPr id="12" name="Shape 9"/>
          <p:cNvSpPr/>
          <p:nvPr/>
        </p:nvSpPr>
        <p:spPr>
          <a:xfrm>
            <a:off x="4343400" y="3794760"/>
            <a:ext cx="3657600" cy="256032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4526280" y="3931920"/>
            <a:ext cx="3291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BUT LOOK AT RECALL</a:t>
            </a:r>
            <a:endParaRPr lang="en-US" sz="1050" dirty="0"/>
          </a:p>
        </p:txBody>
      </p:sp>
      <p:sp>
        <p:nvSpPr>
          <p:cNvPr id="14" name="Text 11"/>
          <p:cNvSpPr/>
          <p:nvPr/>
        </p:nvSpPr>
        <p:spPr>
          <a:xfrm>
            <a:off x="4526280" y="4251960"/>
            <a:ext cx="32918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XGBoost has the highest F1 and the lowest recall, 0.721 against 0.820.</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It trades catches for far fewer false alarms, 495 against 905.</a:t>
            </a:r>
            <a:endParaRPr lang="en-US" sz="1050" dirty="0"/>
          </a:p>
        </p:txBody>
      </p:sp>
      <p:sp>
        <p:nvSpPr>
          <p:cNvPr id="8" name="Shape 12"/>
          <p:cNvSpPr/>
          <p:nvPr/>
        </p:nvSpPr>
        <p:spPr>
          <a:xfrm>
            <a:off x="8183880" y="3794760"/>
            <a:ext cx="3520440" cy="2560320"/>
          </a:xfrm>
          <a:prstGeom prst="rect">
            <a:avLst/>
          </a:prstGeom>
          <a:solidFill>
            <a:srgbClr val="232631"/>
          </a:solidFill>
          <a:ln w="12700">
            <a:solidFill>
              <a:srgbClr val="3A3F4A"/>
            </a:solidFill>
            <a:prstDash val="solid"/>
          </a:ln>
        </p:spPr>
        <p:txBody>
          <a:bodyPr/>
          <a:lstStyle/>
          <a:p>
            <a:endParaRPr lang="en-US"/>
          </a:p>
        </p:txBody>
      </p:sp>
      <p:sp>
        <p:nvSpPr>
          <p:cNvPr id="16" name="Text 13"/>
          <p:cNvSpPr/>
          <p:nvPr/>
        </p:nvSpPr>
        <p:spPr>
          <a:xfrm>
            <a:off x="8366760" y="3931920"/>
            <a:ext cx="31546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THAT MATTERS NEXT</a:t>
            </a:r>
            <a:endParaRPr lang="en-US" sz="1050" dirty="0"/>
          </a:p>
        </p:txBody>
      </p:sp>
      <p:sp>
        <p:nvSpPr>
          <p:cNvPr id="17" name="Text 14"/>
          <p:cNvSpPr/>
          <p:nvPr/>
        </p:nvSpPr>
        <p:spPr>
          <a:xfrm>
            <a:off x="8366760" y="4251960"/>
            <a:ext cx="315468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three models are not at the same operating point.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their fairness gaps are measured at different recall levels due to different probabilities for each model at the 0.5 threshold. I return to this in Hypothesis 2.</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Precision-recall and ROC curves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plot that shows the difference, next to the plot that hides it</a:t>
            </a:r>
            <a:endParaRPr lang="en-US" sz="1200" dirty="0"/>
          </a:p>
        </p:txBody>
      </p:sp>
      <p:sp>
        <p:nvSpPr>
          <p:cNvPr id="6" name="Shape 4"/>
          <p:cNvSpPr/>
          <p:nvPr/>
        </p:nvSpPr>
        <p:spPr>
          <a:xfrm>
            <a:off x="594360" y="1234440"/>
            <a:ext cx="7863840" cy="2980944"/>
          </a:xfrm>
          <a:prstGeom prst="rect">
            <a:avLst/>
          </a:prstGeom>
          <a:solidFill>
            <a:srgbClr val="FFFFFF"/>
          </a:solidFill>
          <a:ln w="12700">
            <a:solidFill>
              <a:srgbClr val="3A3F4A"/>
            </a:solidFill>
            <a:prstDash val="solid"/>
          </a:ln>
        </p:spPr>
        <p:txBody>
          <a:bodyPr/>
          <a:lstStyle/>
          <a:p>
            <a:endParaRPr lang="en-US"/>
          </a:p>
        </p:txBody>
      </p:sp>
      <p:pic>
        <p:nvPicPr>
          <p:cNvPr id="7" name="Image 0" descr="figs/fig3_cell57.png"/>
          <p:cNvPicPr>
            <a:picLocks noChangeAspect="1"/>
          </p:cNvPicPr>
          <p:nvPr/>
        </p:nvPicPr>
        <p:blipFill>
          <a:blip r:embed="rId3"/>
          <a:stretch>
            <a:fillRect/>
          </a:stretch>
        </p:blipFill>
        <p:spPr>
          <a:xfrm>
            <a:off x="685800" y="1325880"/>
            <a:ext cx="7680960" cy="2798064"/>
          </a:xfrm>
          <a:prstGeom prst="rect">
            <a:avLst/>
          </a:prstGeom>
        </p:spPr>
      </p:pic>
      <p:sp>
        <p:nvSpPr>
          <p:cNvPr id="8" name="Shape 5"/>
          <p:cNvSpPr/>
          <p:nvPr/>
        </p:nvSpPr>
        <p:spPr>
          <a:xfrm>
            <a:off x="8778240" y="1234440"/>
            <a:ext cx="2926080" cy="5120640"/>
          </a:xfrm>
          <a:prstGeom prst="rect">
            <a:avLst/>
          </a:prstGeom>
          <a:solidFill>
            <a:srgbClr val="1C1E24"/>
          </a:solidFill>
          <a:ln w="12700">
            <a:solidFill>
              <a:srgbClr val="3A3F4A"/>
            </a:solidFill>
            <a:prstDash val="solid"/>
          </a:ln>
        </p:spPr>
        <p:txBody>
          <a:bodyPr/>
          <a:lstStyle/>
          <a:p>
            <a:endParaRPr lang="en-US"/>
          </a:p>
        </p:txBody>
      </p:sp>
      <p:sp>
        <p:nvSpPr>
          <p:cNvPr id="9" name="Text 6"/>
          <p:cNvSpPr/>
          <p:nvPr/>
        </p:nvSpPr>
        <p:spPr>
          <a:xfrm>
            <a:off x="8961120" y="1371600"/>
            <a:ext cx="25603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THESE SHOW</a:t>
            </a:r>
            <a:endParaRPr lang="en-US" sz="1050" dirty="0"/>
          </a:p>
        </p:txBody>
      </p:sp>
      <p:sp>
        <p:nvSpPr>
          <p:cNvPr id="10" name="Text 7"/>
          <p:cNvSpPr/>
          <p:nvPr/>
        </p:nvSpPr>
        <p:spPr>
          <a:xfrm>
            <a:off x="8961120" y="1691640"/>
            <a:ext cx="2560320" cy="44805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XGBoost sits above the other two across nearly the whole recall range</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All three clear the 0.241 no-skill line, so all three have real signal</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The ROC curves nearly overlap: the easy negatives prop them up</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That is why PR-AUC leads and ROC-AUC does not</a:t>
            </a:r>
            <a:endParaRPr lang="en-US" sz="1000" dirty="0"/>
          </a:p>
        </p:txBody>
      </p:sp>
      <p:sp>
        <p:nvSpPr>
          <p:cNvPr id="11" name="Shape 8"/>
          <p:cNvSpPr/>
          <p:nvPr/>
        </p:nvSpPr>
        <p:spPr>
          <a:xfrm>
            <a:off x="594360" y="4251960"/>
            <a:ext cx="7863840" cy="2029968"/>
          </a:xfrm>
          <a:prstGeom prst="rect">
            <a:avLst/>
          </a:prstGeom>
          <a:solidFill>
            <a:srgbClr val="FFFFFF"/>
          </a:solidFill>
          <a:ln w="12700">
            <a:solidFill>
              <a:srgbClr val="3A3F4A"/>
            </a:solidFill>
            <a:prstDash val="solid"/>
          </a:ln>
        </p:spPr>
        <p:txBody>
          <a:bodyPr/>
          <a:lstStyle/>
          <a:p>
            <a:endParaRPr lang="en-US"/>
          </a:p>
        </p:txBody>
      </p:sp>
      <p:pic>
        <p:nvPicPr>
          <p:cNvPr id="12" name="Image 1" descr="figs/fig2_cell55.png"/>
          <p:cNvPicPr>
            <a:picLocks noChangeAspect="1"/>
          </p:cNvPicPr>
          <p:nvPr/>
        </p:nvPicPr>
        <p:blipFill>
          <a:blip r:embed="rId4"/>
          <a:stretch>
            <a:fillRect/>
          </a:stretch>
        </p:blipFill>
        <p:spPr>
          <a:xfrm>
            <a:off x="670560" y="4306824"/>
            <a:ext cx="7787640" cy="1883664"/>
          </a:xfrm>
          <a:prstGeom prst="rect">
            <a:avLst/>
          </a:prstGeom>
        </p:spPr>
      </p:pic>
      <p:sp>
        <p:nvSpPr>
          <p:cNvPr id="13" name="Text 9"/>
          <p:cNvSpPr/>
          <p:nvPr/>
        </p:nvSpPr>
        <p:spPr>
          <a:xfrm>
            <a:off x="685800" y="6309360"/>
            <a:ext cx="7680960" cy="457200"/>
          </a:xfrm>
          <a:prstGeom prst="rect">
            <a:avLst/>
          </a:prstGeom>
          <a:noFill/>
          <a:ln/>
        </p:spPr>
        <p:txBody>
          <a:bodyPr wrap="square" lIns="0" tIns="0" rIns="0" bIns="0" rtlCol="0" anchor="t"/>
          <a:lstStyle/>
          <a:p>
            <a:pPr marL="0" indent="0">
              <a:spcAft>
                <a:spcPts val="600"/>
              </a:spcAft>
              <a:buNone/>
            </a:pPr>
            <a:r>
              <a:rPr lang="en-US" sz="900" dirty="0">
                <a:solidFill>
                  <a:srgbClr val="9AA7BD"/>
                </a:solidFill>
                <a:latin typeface="Verdana" pitchFamily="34" charset="0"/>
                <a:ea typeface="Verdana" pitchFamily="34" charset="-122"/>
                <a:cs typeface="Verdana" pitchFamily="34" charset="-120"/>
              </a:rPr>
              <a:t>Confusion matrices: LR catches the most high earners but pays with 905 false alarms. XGBoost trades some catches for far fewer.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16</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Bootstrap intervals and McNemar's test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1,000 paired resamples, and the 6,508 rows every model predicted on</a:t>
            </a:r>
            <a:endParaRPr lang="en-US" sz="1200" dirty="0"/>
          </a:p>
        </p:txBody>
      </p:sp>
      <p:sp>
        <p:nvSpPr>
          <p:cNvPr id="6" name="Shape 4"/>
          <p:cNvSpPr/>
          <p:nvPr/>
        </p:nvSpPr>
        <p:spPr>
          <a:xfrm>
            <a:off x="502920" y="1234440"/>
            <a:ext cx="5989320" cy="278892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PAIRED BOOTSTRAP CI ON THE DIFFERENCE BETWEEN MODELS</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623560" cy="1917192"/>
        </p:xfrm>
        <a:graphic>
          <a:graphicData uri="http://schemas.openxmlformats.org/drawingml/2006/table">
            <a:tbl>
              <a:tblPr/>
              <a:tblGrid>
                <a:gridCol w="8229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Metric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Comparison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Diff</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95% CI</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Excl. 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Win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0.0218 – 0.0402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0.0221 – 0.0378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−0.0071 – 0.0090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0.0101 – 0.0368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0.0240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0.0123 – 0.0367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−0.0103 – 0.0105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6675120" y="1234440"/>
            <a:ext cx="5029200" cy="278892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6858000" y="13716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MCNEMAR'S EXACT TEST, DISCORDANT ROWS ONLY</a:t>
            </a:r>
            <a:endParaRPr lang="en-US" sz="10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858000" y="1737360"/>
          <a:ext cx="4663440" cy="1024128"/>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Comparison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First only</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Second only</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p-value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vs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454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1.2e−23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vs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373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164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9.6e−20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vs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272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227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0.049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8"/>
          <p:cNvSpPr/>
          <p:nvPr/>
        </p:nvSpPr>
        <p:spPr>
          <a:xfrm>
            <a:off x="6858000" y="3063240"/>
            <a:ext cx="4663440" cy="54864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Rows only the first got right, against rows only the second got right.</a:t>
            </a:r>
            <a:endParaRPr lang="en-US" sz="950" dirty="0"/>
          </a:p>
        </p:txBody>
      </p:sp>
      <p:sp>
        <p:nvSpPr>
          <p:cNvPr id="13" name="Shape 9"/>
          <p:cNvSpPr/>
          <p:nvPr/>
        </p:nvSpPr>
        <p:spPr>
          <a:xfrm>
            <a:off x="502920" y="4206240"/>
            <a:ext cx="5989320" cy="2148840"/>
          </a:xfrm>
          <a:prstGeom prst="rect">
            <a:avLst/>
          </a:prstGeom>
          <a:solidFill>
            <a:srgbClr val="232631"/>
          </a:solidFill>
          <a:ln w="12700">
            <a:solidFill>
              <a:srgbClr val="3A3F4A"/>
            </a:solidFill>
            <a:prstDash val="solid"/>
          </a:ln>
        </p:spPr>
        <p:txBody>
          <a:bodyPr/>
          <a:lstStyle/>
          <a:p>
            <a:endParaRPr lang="en-US"/>
          </a:p>
        </p:txBody>
      </p:sp>
      <p:sp>
        <p:nvSpPr>
          <p:cNvPr id="14" name="Text 10"/>
          <p:cNvSpPr/>
          <p:nvPr/>
        </p:nvSpPr>
        <p:spPr>
          <a:xfrm>
            <a:off x="685800" y="4343400"/>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THE FOUR TESTS AGREE</a:t>
            </a:r>
            <a:endParaRPr lang="en-US" sz="1050" dirty="0"/>
          </a:p>
        </p:txBody>
      </p:sp>
      <p:sp>
        <p:nvSpPr>
          <p:cNvPr id="15" name="Text 11"/>
          <p:cNvSpPr/>
          <p:nvPr/>
        </p:nvSpPr>
        <p:spPr>
          <a:xfrm>
            <a:off x="685800" y="4663440"/>
            <a:ext cx="5623560" cy="1554480"/>
          </a:xfrm>
          <a:prstGeom prst="rect">
            <a:avLst/>
          </a:prstGeom>
          <a:noFill/>
          <a:ln/>
        </p:spPr>
        <p:txBody>
          <a:bodyPr wrap="square" lIns="0" tIns="0" rIns="0" bIns="0" rtlCol="0" anchor="t"/>
          <a:lstStyle/>
          <a:p>
            <a:pPr lvl="0"/>
            <a:r>
              <a:rPr lang="en-US" sz="1050" b="0" dirty="0" err="1">
                <a:solidFill>
                  <a:srgbClr val="9AA7BD"/>
                </a:solidFill>
                <a:latin typeface="Verdana" panose="020B0604030504040204" pitchFamily="34" charset="0"/>
                <a:ea typeface="Verdana" panose="020B0604030504040204" pitchFamily="34" charset="0"/>
              </a:rPr>
              <a:t>XGBoost</a:t>
            </a:r>
            <a:r>
              <a:rPr lang="en-US" sz="1050" b="0" dirty="0">
                <a:solidFill>
                  <a:srgbClr val="9AA7BD"/>
                </a:solidFill>
                <a:latin typeface="Verdana" panose="020B0604030504040204" pitchFamily="34" charset="0"/>
                <a:ea typeface="Verdana" panose="020B0604030504040204" pitchFamily="34" charset="0"/>
              </a:rPr>
              <a:t> vs LR on PR-AUC: t-test p = 0.0002</a:t>
            </a:r>
          </a:p>
          <a:p>
            <a:pPr lvl="0"/>
            <a:endParaRPr lang="en-US" sz="1050" b="1" dirty="0">
              <a:solidFill>
                <a:schemeClr val="bg1">
                  <a:lumMod val="65000"/>
                </a:schemeClr>
              </a:solidFill>
              <a:latin typeface="Verdana" panose="020B0604030504040204" pitchFamily="34" charset="0"/>
              <a:ea typeface="Verdana" panose="020B0604030504040204" pitchFamily="34" charset="0"/>
            </a:endParaRPr>
          </a:p>
          <a:p>
            <a:pPr lvl="0"/>
            <a:r>
              <a:rPr lang="en-US" sz="1050" b="0" dirty="0">
                <a:solidFill>
                  <a:srgbClr val="9AA7BD"/>
                </a:solidFill>
                <a:latin typeface="Verdana" panose="020B0604030504040204" pitchFamily="34" charset="0"/>
                <a:ea typeface="Verdana" panose="020B0604030504040204" pitchFamily="34" charset="0"/>
              </a:rPr>
              <a:t>Bootstrap CI from 0.022 to 0.040 excluding zero</a:t>
            </a:r>
          </a:p>
          <a:p>
            <a:pPr lvl="0"/>
            <a:endParaRPr lang="en-US" sz="1050" b="1" dirty="0">
              <a:solidFill>
                <a:schemeClr val="bg1">
                  <a:lumMod val="65000"/>
                </a:schemeClr>
              </a:solidFill>
              <a:latin typeface="Verdana" panose="020B0604030504040204" pitchFamily="34" charset="0"/>
              <a:ea typeface="Verdana" panose="020B0604030504040204" pitchFamily="34" charset="0"/>
            </a:endParaRPr>
          </a:p>
          <a:p>
            <a:pPr lvl="0"/>
            <a:r>
              <a:rPr lang="en-US" sz="1050" b="0" dirty="0" err="1">
                <a:solidFill>
                  <a:srgbClr val="9AA7BD"/>
                </a:solidFill>
                <a:latin typeface="Verdana" panose="020B0604030504040204" pitchFamily="34" charset="0"/>
                <a:ea typeface="Verdana" panose="020B0604030504040204" pitchFamily="34" charset="0"/>
              </a:rPr>
              <a:t>XGBoost</a:t>
            </a:r>
            <a:r>
              <a:rPr lang="en-US" sz="1050" b="0" dirty="0">
                <a:solidFill>
                  <a:srgbClr val="9AA7BD"/>
                </a:solidFill>
                <a:latin typeface="Verdana" panose="020B0604030504040204" pitchFamily="34" charset="0"/>
                <a:ea typeface="Verdana" panose="020B0604030504040204" pitchFamily="34" charset="0"/>
              </a:rPr>
              <a:t> ahead in 1000 of 1000 resamples</a:t>
            </a:r>
          </a:p>
          <a:p>
            <a:pPr lvl="0"/>
            <a:endParaRPr lang="en-US" sz="1050" b="1" dirty="0">
              <a:solidFill>
                <a:schemeClr val="bg1">
                  <a:lumMod val="65000"/>
                </a:schemeClr>
              </a:solidFill>
              <a:latin typeface="Verdana" panose="020B0604030504040204" pitchFamily="34" charset="0"/>
              <a:ea typeface="Verdana" panose="020B0604030504040204" pitchFamily="34" charset="0"/>
            </a:endParaRPr>
          </a:p>
          <a:p>
            <a:pPr lvl="0"/>
            <a:r>
              <a:rPr lang="en-US" sz="1050" b="0" dirty="0">
                <a:solidFill>
                  <a:srgbClr val="9AA7BD"/>
                </a:solidFill>
                <a:latin typeface="Verdana" panose="020B0604030504040204" pitchFamily="34" charset="0"/>
                <a:ea typeface="Verdana" panose="020B0604030504040204" pitchFamily="34" charset="0"/>
              </a:rPr>
              <a:t>McNemar p = 1.2e−23</a:t>
            </a:r>
          </a:p>
          <a:p>
            <a:pPr lvl="0"/>
            <a:endParaRPr lang="en-US" sz="1050" dirty="0">
              <a:solidFill>
                <a:schemeClr val="bg1">
                  <a:lumMod val="65000"/>
                </a:schemeClr>
              </a:solidFill>
              <a:latin typeface="Verdana" panose="020B0604030504040204" pitchFamily="34" charset="0"/>
              <a:ea typeface="Verdana" panose="020B0604030504040204" pitchFamily="34" charset="0"/>
            </a:endParaRPr>
          </a:p>
          <a:p>
            <a:pPr lvl="0"/>
            <a:r>
              <a:rPr lang="en-US" sz="1050" b="0" dirty="0">
                <a:solidFill>
                  <a:srgbClr val="9AA7BD"/>
                </a:solidFill>
                <a:latin typeface="Verdana" panose="020B0604030504040204" pitchFamily="34" charset="0"/>
                <a:ea typeface="Verdana" panose="020B0604030504040204" pitchFamily="34" charset="0"/>
              </a:rPr>
              <a:t>Four methods with different assumptions, all agreeing.</a:t>
            </a:r>
            <a:endParaRPr lang="en-US" sz="1050" dirty="0">
              <a:solidFill>
                <a:schemeClr val="bg1">
                  <a:lumMod val="65000"/>
                </a:schemeClr>
              </a:solidFill>
              <a:latin typeface="Verdana" panose="020B0604030504040204" pitchFamily="34" charset="0"/>
              <a:ea typeface="Verdana" panose="020B0604030504040204" pitchFamily="34" charset="0"/>
            </a:endParaRPr>
          </a:p>
          <a:p>
            <a:pPr marL="0" indent="0">
              <a:spcAft>
                <a:spcPts val="600"/>
              </a:spcAft>
              <a:buNone/>
            </a:pPr>
            <a:endParaRPr lang="en-US" sz="1050" dirty="0"/>
          </a:p>
          <a:p>
            <a:pPr marL="0" indent="0">
              <a:spcAft>
                <a:spcPts val="600"/>
              </a:spcAft>
              <a:buNone/>
            </a:pPr>
            <a:endParaRPr lang="en-US" sz="1050" dirty="0"/>
          </a:p>
        </p:txBody>
      </p:sp>
      <p:sp>
        <p:nvSpPr>
          <p:cNvPr id="16" name="Shape 12"/>
          <p:cNvSpPr/>
          <p:nvPr/>
        </p:nvSpPr>
        <p:spPr>
          <a:xfrm>
            <a:off x="6675120" y="4206240"/>
            <a:ext cx="5029200" cy="2148840"/>
          </a:xfrm>
          <a:prstGeom prst="rect">
            <a:avLst/>
          </a:prstGeom>
          <a:solidFill>
            <a:srgbClr val="232631"/>
          </a:solidFill>
          <a:ln w="12700">
            <a:solidFill>
              <a:srgbClr val="3A3F4A"/>
            </a:solidFill>
            <a:prstDash val="solid"/>
          </a:ln>
        </p:spPr>
        <p:txBody>
          <a:bodyPr/>
          <a:lstStyle/>
          <a:p>
            <a:endParaRPr lang="en-US"/>
          </a:p>
        </p:txBody>
      </p:sp>
      <p:sp>
        <p:nvSpPr>
          <p:cNvPr id="8" name="Text 13"/>
          <p:cNvSpPr/>
          <p:nvPr/>
        </p:nvSpPr>
        <p:spPr>
          <a:xfrm>
            <a:off x="6858000" y="43434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THEY DISAGREE, AND WHAT I DID</a:t>
            </a:r>
            <a:endParaRPr lang="en-US" sz="1050" dirty="0"/>
          </a:p>
        </p:txBody>
      </p:sp>
      <p:sp>
        <p:nvSpPr>
          <p:cNvPr id="18" name="Text 14"/>
          <p:cNvSpPr/>
          <p:nvPr/>
        </p:nvSpPr>
        <p:spPr>
          <a:xfrm>
            <a:off x="6858000" y="4663440"/>
            <a:ext cx="4663440" cy="1554480"/>
          </a:xfrm>
          <a:prstGeom prst="rect">
            <a:avLst/>
          </a:prstGeom>
          <a:noFill/>
          <a:ln/>
        </p:spPr>
        <p:txBody>
          <a:bodyPr wrap="square" lIns="0" tIns="0" rIns="0" bIns="0" rtlCol="0" anchor="t"/>
          <a:lstStyle/>
          <a:p>
            <a:r>
              <a:rPr lang="en-US" sz="1050" dirty="0">
                <a:solidFill>
                  <a:srgbClr val="9AA7BD"/>
                </a:solidFill>
                <a:latin typeface="Verdana" panose="020B0604030504040204" pitchFamily="34" charset="0"/>
                <a:ea typeface="Verdana" panose="020B0604030504040204" pitchFamily="34" charset="0"/>
              </a:rPr>
              <a:t>Where </a:t>
            </a: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disagrees with LR or MLP, it is the one that is right about 70% of the time</a:t>
            </a:r>
          </a:p>
          <a:p>
            <a:endParaRPr lang="en-US" sz="1050" dirty="0">
              <a:solidFill>
                <a:schemeClr val="bg1">
                  <a:lumMod val="75000"/>
                </a:schemeClr>
              </a:solidFill>
              <a:latin typeface="Verdana" panose="020B0604030504040204" pitchFamily="34" charset="0"/>
              <a:ea typeface="Verdana" panose="020B0604030504040204" pitchFamily="34" charset="0"/>
            </a:endParaRPr>
          </a:p>
          <a:p>
            <a:r>
              <a:rPr lang="en-US" sz="1050" dirty="0">
                <a:solidFill>
                  <a:srgbClr val="9AA7BD"/>
                </a:solidFill>
                <a:latin typeface="Verdana" panose="020B0604030504040204" pitchFamily="34" charset="0"/>
                <a:ea typeface="Verdana" panose="020B0604030504040204" pitchFamily="34" charset="0"/>
              </a:rPr>
              <a:t>MLP vs LR: both significant results are borderline, McNemar at 0.049</a:t>
            </a:r>
          </a:p>
          <a:p>
            <a:endParaRPr lang="en-US" sz="1050" dirty="0">
              <a:solidFill>
                <a:schemeClr val="bg1">
                  <a:lumMod val="75000"/>
                </a:schemeClr>
              </a:solidFill>
              <a:latin typeface="Verdana" panose="020B0604030504040204" pitchFamily="34" charset="0"/>
              <a:ea typeface="Verdana" panose="020B0604030504040204" pitchFamily="34" charset="0"/>
            </a:endParaRPr>
          </a:p>
          <a:p>
            <a:r>
              <a:rPr lang="en-US" sz="1050" dirty="0">
                <a:solidFill>
                  <a:srgbClr val="9AA7BD"/>
                </a:solidFill>
                <a:latin typeface="Verdana" panose="020B0604030504040204" pitchFamily="34" charset="0"/>
                <a:ea typeface="Verdana" panose="020B0604030504040204" pitchFamily="34" charset="0"/>
              </a:rPr>
              <a:t>The bootstrap interval runs −0.007 to +0.009, including zero</a:t>
            </a:r>
          </a:p>
          <a:p>
            <a:endParaRPr lang="en-US" sz="1050" dirty="0">
              <a:solidFill>
                <a:schemeClr val="bg1">
                  <a:lumMod val="75000"/>
                </a:schemeClr>
              </a:solidFill>
              <a:latin typeface="Verdana" panose="020B0604030504040204" pitchFamily="34" charset="0"/>
              <a:ea typeface="Verdana" panose="020B0604030504040204" pitchFamily="34" charset="0"/>
            </a:endParaRPr>
          </a:p>
          <a:p>
            <a:r>
              <a:rPr lang="en-US" sz="1050" dirty="0">
                <a:solidFill>
                  <a:srgbClr val="9AA7BD"/>
                </a:solidFill>
                <a:latin typeface="Verdana" panose="020B0604030504040204" pitchFamily="34" charset="0"/>
                <a:ea typeface="Verdana" panose="020B0604030504040204" pitchFamily="34" charset="0"/>
              </a:rPr>
              <a:t>I trust the bootstrap: the MLP bought nothing over a linear model</a:t>
            </a:r>
          </a:p>
          <a:p>
            <a:pPr marL="0" indent="0">
              <a:spcAft>
                <a:spcPts val="600"/>
              </a:spcAft>
              <a:buNone/>
            </a:pPr>
            <a:endParaRPr lang="en-US" sz="1050" dirty="0">
              <a:solidFill>
                <a:schemeClr val="bg1">
                  <a:lumMod val="75000"/>
                </a:schemeClr>
              </a:solidFill>
              <a:latin typeface="Verdana" panose="020B0604030504040204" pitchFamily="34" charset="0"/>
              <a:ea typeface="Verdan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Hypothesis 3 verdict: supported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XGBoost beats the logistic baseline and the MLP on PR-AUC and F1</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5FBF8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5FBF8F"/>
                </a:solidFill>
                <a:latin typeface="Verdana" pitchFamily="34" charset="0"/>
                <a:ea typeface="Verdana" pitchFamily="34" charset="-122"/>
                <a:cs typeface="Verdana" pitchFamily="34" charset="-120"/>
              </a:rPr>
              <a:t>SUPPORTED</a:t>
            </a:r>
            <a:endParaRPr lang="en-US" sz="1050" dirty="0"/>
          </a:p>
        </p:txBody>
      </p:sp>
      <p:sp>
        <p:nvSpPr>
          <p:cNvPr id="6" name="Shape 4"/>
          <p:cNvSpPr/>
          <p:nvPr/>
        </p:nvSpPr>
        <p:spPr>
          <a:xfrm>
            <a:off x="502920" y="1280160"/>
            <a:ext cx="5532120" cy="24688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EVIDENCE</a:t>
            </a:r>
            <a:endParaRPr lang="en-US" sz="1050" dirty="0"/>
          </a:p>
        </p:txBody>
      </p:sp>
      <p:sp>
        <p:nvSpPr>
          <p:cNvPr id="8" name="Text 6"/>
          <p:cNvSpPr/>
          <p:nvPr/>
        </p:nvSpPr>
        <p:spPr>
          <a:xfrm>
            <a:off x="685800" y="1737360"/>
            <a:ext cx="5166360" cy="1920240"/>
          </a:xfrm>
          <a:prstGeom prst="rect">
            <a:avLst/>
          </a:prstGeom>
          <a:noFill/>
          <a:ln/>
        </p:spPr>
        <p:txBody>
          <a:bodyPr wrap="square" lIns="0" tIns="0" rIns="0" bIns="0" rtlCol="0" anchor="t"/>
          <a:lstStyle/>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Test set: 0.805 PR-AUC and 0.708 F1, against 0.774 for LR and 0.775 for MLP PR-AUC, 0.684 F1 for both</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Paired t-test on PR-AUC: p = 0.0002 vs LR, p = 0.0015 vs MLP</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Paired bootstrap on PR-AUC vs LR: 0.022 to 0.040, excluding zero, 1000 of 1000</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McNemar: p = 1.2e−23 vs LR, 9.6e−20 vs MLP</a:t>
            </a:r>
          </a:p>
          <a:p>
            <a:pPr marL="171450" lvl="0" indent="-171450">
              <a:buFont typeface="Arial" panose="020B0604020202020204" pitchFamily="34" charset="0"/>
              <a:buChar char="•"/>
            </a:pP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led on all five folds</a:t>
            </a:r>
          </a:p>
          <a:p>
            <a:pPr marL="342900" indent="-342900">
              <a:spcAft>
                <a:spcPts val="700"/>
              </a:spcAft>
              <a:buSzPct val="100000"/>
              <a:buChar char="•"/>
            </a:pPr>
            <a:endParaRPr lang="en-US" sz="1050" dirty="0">
              <a:solidFill>
                <a:schemeClr val="bg1">
                  <a:lumMod val="65000"/>
                </a:schemeClr>
              </a:solidFill>
              <a:latin typeface="Verdana" panose="020B0604030504040204" pitchFamily="34" charset="0"/>
              <a:ea typeface="Verdana" panose="020B0604030504040204" pitchFamily="34" charset="0"/>
            </a:endParaRPr>
          </a:p>
        </p:txBody>
      </p:sp>
      <p:sp>
        <p:nvSpPr>
          <p:cNvPr id="9" name="Shape 7"/>
          <p:cNvSpPr/>
          <p:nvPr/>
        </p:nvSpPr>
        <p:spPr>
          <a:xfrm>
            <a:off x="6217920" y="1280160"/>
            <a:ext cx="5486400" cy="246888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41732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BOTH HALVES OF THE REASONING HELD</a:t>
            </a:r>
            <a:endParaRPr lang="en-US" sz="1050" dirty="0"/>
          </a:p>
        </p:txBody>
      </p:sp>
      <p:sp>
        <p:nvSpPr>
          <p:cNvPr id="11" name="Text 9"/>
          <p:cNvSpPr/>
          <p:nvPr/>
        </p:nvSpPr>
        <p:spPr>
          <a:xfrm>
            <a:off x="6400800" y="1737360"/>
            <a:ext cx="5120640" cy="1920240"/>
          </a:xfrm>
          <a:prstGeom prst="rect">
            <a:avLst/>
          </a:prstGeom>
          <a:noFill/>
          <a:ln/>
        </p:spPr>
        <p:txBody>
          <a:bodyPr wrap="square" lIns="0" tIns="0" rIns="0" bIns="0" rtlCol="0" anchor="t"/>
          <a:lstStyle/>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Non-linear structure was real</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Age curves, capital-gain thresholds, and education-by-marital-status interactions</a:t>
            </a:r>
            <a:endParaRPr lang="en-US" sz="1050" dirty="0"/>
          </a:p>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The dataset was too small for the MLP</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 improved when I shrank it to one 50-neuron layer</a:t>
            </a:r>
            <a:endParaRPr lang="en-US" sz="1050" dirty="0"/>
          </a:p>
        </p:txBody>
      </p:sp>
      <p:sp>
        <p:nvSpPr>
          <p:cNvPr id="12" name="Shape 10"/>
          <p:cNvSpPr/>
          <p:nvPr/>
        </p:nvSpPr>
        <p:spPr>
          <a:xfrm>
            <a:off x="502920" y="3931920"/>
            <a:ext cx="5532120" cy="242316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406908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WOULD NOT CLAIM</a:t>
            </a:r>
            <a:endParaRPr lang="en-US" sz="1050" dirty="0"/>
          </a:p>
        </p:txBody>
      </p:sp>
      <p:sp>
        <p:nvSpPr>
          <p:cNvPr id="14" name="Text 12"/>
          <p:cNvSpPr/>
          <p:nvPr/>
        </p:nvSpPr>
        <p:spPr>
          <a:xfrm>
            <a:off x="685800" y="4389120"/>
            <a:ext cx="516636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The MLP beating logistic regression. That bootstrap interval contains zero, so the neural network bought no significant gain over a linear model.</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A finding, not a failure, and the second half of my Hypothesis 3 reasoning.</a:t>
            </a:r>
            <a:endParaRPr lang="en-US" sz="1100" dirty="0"/>
          </a:p>
        </p:txBody>
      </p:sp>
      <p:sp>
        <p:nvSpPr>
          <p:cNvPr id="15" name="Shape 13"/>
          <p:cNvSpPr/>
          <p:nvPr/>
        </p:nvSpPr>
        <p:spPr>
          <a:xfrm>
            <a:off x="6217920" y="3931920"/>
            <a:ext cx="5486400" cy="2423160"/>
          </a:xfrm>
          <a:prstGeom prst="rect">
            <a:avLst/>
          </a:prstGeom>
          <a:solidFill>
            <a:srgbClr val="232631"/>
          </a:solidFill>
          <a:ln w="12700">
            <a:solidFill>
              <a:srgbClr val="3A3F4A"/>
            </a:solidFill>
            <a:prstDash val="solid"/>
          </a:ln>
        </p:spPr>
        <p:txBody>
          <a:bodyPr/>
          <a:lstStyle/>
          <a:p>
            <a:endParaRPr lang="en-US"/>
          </a:p>
        </p:txBody>
      </p:sp>
      <p:sp>
        <p:nvSpPr>
          <p:cNvPr id="16" name="Text 14"/>
          <p:cNvSpPr/>
          <p:nvPr/>
        </p:nvSpPr>
        <p:spPr>
          <a:xfrm>
            <a:off x="6400800" y="406908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COST SIDE OF THE VERDICT</a:t>
            </a:r>
            <a:endParaRPr lang="en-US" sz="1050" dirty="0"/>
          </a:p>
        </p:txBody>
      </p:sp>
      <p:sp>
        <p:nvSpPr>
          <p:cNvPr id="17" name="Text 15"/>
          <p:cNvSpPr/>
          <p:nvPr/>
        </p:nvSpPr>
        <p:spPr>
          <a:xfrm>
            <a:off x="6400800" y="4389120"/>
            <a:ext cx="512064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Compute is not the issue:</a:t>
            </a:r>
          </a:p>
          <a:p>
            <a:pPr marL="171450" indent="-171450">
              <a:spcAft>
                <a:spcPts val="600"/>
              </a:spcAft>
              <a:buFont typeface="Arial" panose="020B0604020202020204" pitchFamily="34" charset="0"/>
              <a:buChar char="•"/>
            </a:pPr>
            <a:r>
              <a:rPr lang="en-US" sz="1100" dirty="0">
                <a:solidFill>
                  <a:srgbClr val="9AA7BD"/>
                </a:solidFill>
                <a:latin typeface="Verdana" pitchFamily="34" charset="0"/>
                <a:ea typeface="Verdana" pitchFamily="34" charset="-122"/>
                <a:cs typeface="Verdana" pitchFamily="34" charset="-120"/>
              </a:rPr>
              <a:t>Fit time: a few seconds per model, MLP slowest</a:t>
            </a:r>
          </a:p>
          <a:p>
            <a:pPr marL="171450" indent="-171450">
              <a:spcAft>
                <a:spcPts val="600"/>
              </a:spcAft>
              <a:buFont typeface="Arial" panose="020B0604020202020204" pitchFamily="34" charset="0"/>
              <a:buChar char="•"/>
            </a:pPr>
            <a:r>
              <a:rPr lang="en-US" sz="1100" dirty="0">
                <a:solidFill>
                  <a:srgbClr val="9AA7BD"/>
                </a:solidFill>
                <a:latin typeface="Verdana" pitchFamily="34" charset="0"/>
                <a:ea typeface="Verdana" pitchFamily="34" charset="-122"/>
                <a:cs typeface="Verdana" pitchFamily="34" charset="-120"/>
              </a:rPr>
              <a:t>All three predict on 6,508 rows in under 0.1s</a:t>
            </a:r>
          </a:p>
          <a:p>
            <a:pPr marL="171450" indent="-171450">
              <a:spcAft>
                <a:spcPts val="600"/>
              </a:spcAft>
              <a:buFont typeface="Arial" panose="020B0604020202020204" pitchFamily="34" charset="0"/>
              <a:buChar char="•"/>
            </a:pPr>
            <a:r>
              <a:rPr lang="en-US" sz="1100" dirty="0">
                <a:solidFill>
                  <a:srgbClr val="9AA7BD"/>
                </a:solidFill>
                <a:latin typeface="Verdana" pitchFamily="34" charset="0"/>
                <a:ea typeface="Verdana" pitchFamily="34" charset="-122"/>
                <a:cs typeface="Verdana" pitchFamily="34" charset="-120"/>
              </a:rPr>
              <a:t>The real cost is interpretability. LR gives one signed coefficient per feature. XGBoost has 400 trees and needs a surrogate to explain at all.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17</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Fairness audit: performance split by group</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Recall on real high earners, the error that hurts the applicant</a:t>
            </a:r>
            <a:endParaRPr lang="en-US" sz="1200" dirty="0"/>
          </a:p>
        </p:txBody>
      </p:sp>
      <p:sp>
        <p:nvSpPr>
          <p:cNvPr id="6" name="Shape 4"/>
          <p:cNvSpPr/>
          <p:nvPr/>
        </p:nvSpPr>
        <p:spPr>
          <a:xfrm>
            <a:off x="502920" y="1234440"/>
            <a:ext cx="4572000" cy="22860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42062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TWO GROUP IMBALANCES</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4206240" cy="1405128"/>
        </p:xfrm>
        <a:graphic>
          <a:graphicData uri="http://schemas.openxmlformats.org/drawingml/2006/table">
            <a:tbl>
              <a:tblPr/>
              <a:tblGrid>
                <a:gridCol w="11887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Group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Test rows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Share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&gt;50K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High earners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US-born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5,819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89.4%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0.247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1,436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Foreign-born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576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0.172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99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4,335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66.6%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0.306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1,327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2,173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33.4%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241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bl>
          </a:graphicData>
        </a:graphic>
      </p:graphicFrame>
      <p:sp>
        <p:nvSpPr>
          <p:cNvPr id="9" name="Shape 6"/>
          <p:cNvSpPr/>
          <p:nvPr/>
        </p:nvSpPr>
        <p:spPr>
          <a:xfrm>
            <a:off x="5257800" y="1234440"/>
            <a:ext cx="6446520" cy="228600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5440680" y="1371600"/>
            <a:ext cx="60807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RECALL AND NOT ACCURACY</a:t>
            </a:r>
            <a:endParaRPr lang="en-US" sz="1050" dirty="0"/>
          </a:p>
        </p:txBody>
      </p:sp>
      <p:sp>
        <p:nvSpPr>
          <p:cNvPr id="11" name="Text 8"/>
          <p:cNvSpPr/>
          <p:nvPr/>
        </p:nvSpPr>
        <p:spPr>
          <a:xfrm>
            <a:off x="5440680" y="1737360"/>
            <a:ext cx="6080760" cy="16916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missed high earner qualifies but is not flagged in a case such as lending</a:t>
            </a:r>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More misses in one group means worse service for that group</a:t>
            </a:r>
            <a:endParaRPr lang="en-US" sz="1050" dirty="0"/>
          </a:p>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Group accuracy is misleading</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Every model looks more accurate on women and on the foreign-born group</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Minority groups have fewer high earners, so predicting under $50K is right more often</a:t>
            </a:r>
            <a:endParaRPr lang="en-US" sz="1050" dirty="0"/>
          </a:p>
        </p:txBody>
      </p:sp>
      <p:sp>
        <p:nvSpPr>
          <p:cNvPr id="12" name="Shape 9"/>
          <p:cNvSpPr/>
          <p:nvPr/>
        </p:nvSpPr>
        <p:spPr>
          <a:xfrm>
            <a:off x="502920" y="3657600"/>
            <a:ext cx="5532120" cy="2697480"/>
          </a:xfrm>
          <a:prstGeom prst="rect">
            <a:avLst/>
          </a:prstGeom>
          <a:solidFill>
            <a:srgbClr val="1C1E24"/>
          </a:solidFill>
          <a:ln w="12700">
            <a:solidFill>
              <a:srgbClr val="3A3F4A"/>
            </a:solidFill>
            <a:prstDash val="solid"/>
          </a:ln>
        </p:spPr>
        <p:txBody>
          <a:bodyPr/>
          <a:lstStyle/>
          <a:p>
            <a:endParaRPr lang="en-US"/>
          </a:p>
        </p:txBody>
      </p:sp>
      <p:sp>
        <p:nvSpPr>
          <p:cNvPr id="13" name="Text 10"/>
          <p:cNvSpPr/>
          <p:nvPr/>
        </p:nvSpPr>
        <p:spPr>
          <a:xfrm>
            <a:off x="685800" y="379476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AND ACCURACY BY NATIVITY</a:t>
            </a:r>
            <a:endParaRPr lang="en-US" sz="1050" dirty="0"/>
          </a:p>
        </p:txBody>
      </p:sp>
      <p:sp>
        <p:nvSpPr>
          <p:cNvPr id="15" name="Text 11"/>
          <p:cNvSpPr/>
          <p:nvPr/>
        </p:nvSpPr>
        <p:spPr>
          <a:xfrm>
            <a:off x="685800" y="5486400"/>
            <a:ext cx="5166360" cy="36576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Hypothesis 2 predicted XGBoost would have the smallest gap. It has the largest.</a:t>
            </a:r>
            <a:endParaRPr lang="en-US" sz="1050" dirty="0"/>
          </a:p>
        </p:txBody>
      </p:sp>
      <p:sp>
        <p:nvSpPr>
          <p:cNvPr id="16" name="Shape 12"/>
          <p:cNvSpPr/>
          <p:nvPr/>
        </p:nvSpPr>
        <p:spPr>
          <a:xfrm>
            <a:off x="6217920" y="3657600"/>
            <a:ext cx="5486400" cy="2697480"/>
          </a:xfrm>
          <a:prstGeom prst="rect">
            <a:avLst/>
          </a:prstGeom>
          <a:solidFill>
            <a:srgbClr val="1C1E24"/>
          </a:solidFill>
          <a:ln w="12700">
            <a:solidFill>
              <a:srgbClr val="3A3F4A"/>
            </a:solidFill>
            <a:prstDash val="solid"/>
          </a:ln>
        </p:spPr>
        <p:txBody>
          <a:bodyPr/>
          <a:lstStyle/>
          <a:p>
            <a:endParaRPr lang="en-US"/>
          </a:p>
        </p:txBody>
      </p:sp>
      <p:sp>
        <p:nvSpPr>
          <p:cNvPr id="17" name="Text 13"/>
          <p:cNvSpPr/>
          <p:nvPr/>
        </p:nvSpPr>
        <p:spPr>
          <a:xfrm>
            <a:off x="6400800" y="379476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AND ACCURACY BY SEX</a:t>
            </a:r>
            <a:endParaRPr lang="en-US" sz="1050" dirty="0"/>
          </a:p>
        </p:txBody>
      </p:sp>
      <p:sp>
        <p:nvSpPr>
          <p:cNvPr id="8" name="Text 14"/>
          <p:cNvSpPr/>
          <p:nvPr/>
        </p:nvSpPr>
        <p:spPr>
          <a:xfrm>
            <a:off x="6400800" y="5486400"/>
            <a:ext cx="5120640" cy="36576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Same ordering, larger gaps. Every model finds male high earners more reliably.</a:t>
            </a:r>
            <a:endParaRPr lang="en-US" sz="1050" dirty="0"/>
          </a:p>
        </p:txBody>
      </p:sp>
      <p:graphicFrame>
        <p:nvGraphicFramePr>
          <p:cNvPr id="56" name="Table 55"/>
          <p:cNvGraphicFramePr>
            <a:graphicFrameLocks noGrp="1"/>
          </p:cNvGraphicFramePr>
          <p:nvPr/>
        </p:nvGraphicFramePr>
        <p:xfrm>
          <a:off x="685800" y="4160520"/>
          <a:ext cx="5166357" cy="1103376"/>
        </p:xfrm>
        <a:graphic>
          <a:graphicData uri="http://schemas.openxmlformats.org/drawingml/2006/table">
            <a:tbl>
              <a:tblPr>
                <a:tableStyleId>{5C22544A-7EE6-4342-B048-85BDC9FD1C3A}</a:tableStyleId>
              </a:tblPr>
              <a:tblGrid>
                <a:gridCol w="1214094">
                  <a:extLst>
                    <a:ext uri="{9D8B030D-6E8A-4147-A177-3AD203B41FA5}">
                      <a16:colId xmlns:a16="http://schemas.microsoft.com/office/drawing/2014/main" val="20000"/>
                    </a:ext>
                  </a:extLst>
                </a:gridCol>
                <a:gridCol w="800785">
                  <a:extLst>
                    <a:ext uri="{9D8B030D-6E8A-4147-A177-3AD203B41FA5}">
                      <a16:colId xmlns:a16="http://schemas.microsoft.com/office/drawing/2014/main" val="20001"/>
                    </a:ext>
                  </a:extLst>
                </a:gridCol>
                <a:gridCol w="955776">
                  <a:extLst>
                    <a:ext uri="{9D8B030D-6E8A-4147-A177-3AD203B41FA5}">
                      <a16:colId xmlns:a16="http://schemas.microsoft.com/office/drawing/2014/main" val="20002"/>
                    </a:ext>
                  </a:extLst>
                </a:gridCol>
                <a:gridCol w="645795">
                  <a:extLst>
                    <a:ext uri="{9D8B030D-6E8A-4147-A177-3AD203B41FA5}">
                      <a16:colId xmlns:a16="http://schemas.microsoft.com/office/drawing/2014/main" val="20003"/>
                    </a:ext>
                  </a:extLst>
                </a:gridCol>
                <a:gridCol w="697458">
                  <a:extLst>
                    <a:ext uri="{9D8B030D-6E8A-4147-A177-3AD203B41FA5}">
                      <a16:colId xmlns:a16="http://schemas.microsoft.com/office/drawing/2014/main" val="20004"/>
                    </a:ext>
                  </a:extLst>
                </a:gridCol>
                <a:gridCol w="852449">
                  <a:extLst>
                    <a:ext uri="{9D8B030D-6E8A-4147-A177-3AD203B41FA5}">
                      <a16:colId xmlns:a16="http://schemas.microsoft.com/office/drawing/2014/main" val="20005"/>
                    </a:ext>
                  </a:extLst>
                </a:gridCol>
              </a:tblGrid>
              <a:tr h="274320">
                <a:tc>
                  <a:txBody>
                    <a:bodyPr/>
                    <a:lstStyle/>
                    <a:p>
                      <a:pPr algn="ctr"/>
                      <a:r>
                        <a:rPr sz="800" b="1">
                          <a:solidFill>
                            <a:srgbClr val="E8C15A"/>
                          </a:solidFill>
                          <a:latin typeface="Verdana"/>
                        </a:rPr>
                        <a:t>Model</a:t>
                      </a:r>
                    </a:p>
                  </a:txBody>
                  <a:tcPr marL="36576" marR="36576" marT="18288" marB="18288" anchor="ctr">
                    <a:solidFill>
                      <a:srgbClr val="20242E"/>
                    </a:solidFill>
                  </a:tcPr>
                </a:tc>
                <a:tc>
                  <a:txBody>
                    <a:bodyPr/>
                    <a:lstStyle/>
                    <a:p>
                      <a:pPr algn="ctr"/>
                      <a:r>
                        <a:rPr sz="800" b="1">
                          <a:solidFill>
                            <a:srgbClr val="E8C15A"/>
                          </a:solidFill>
                          <a:latin typeface="Verdana"/>
                        </a:rPr>
                        <a:t>Recall US</a:t>
                      </a:r>
                    </a:p>
                  </a:txBody>
                  <a:tcPr marL="36576" marR="36576" marT="18288" marB="18288" anchor="ctr">
                    <a:solidFill>
                      <a:srgbClr val="20242E"/>
                    </a:solidFill>
                  </a:tcPr>
                </a:tc>
                <a:tc>
                  <a:txBody>
                    <a:bodyPr/>
                    <a:lstStyle/>
                    <a:p>
                      <a:pPr algn="ctr"/>
                      <a:r>
                        <a:rPr sz="800" b="1">
                          <a:solidFill>
                            <a:srgbClr val="E8C15A"/>
                          </a:solidFill>
                          <a:latin typeface="Verdana"/>
                        </a:rPr>
                        <a:t>Recall non-US</a:t>
                      </a:r>
                    </a:p>
                  </a:txBody>
                  <a:tcPr marL="36576" marR="36576" marT="18288" marB="18288" anchor="ctr">
                    <a:solidFill>
                      <a:srgbClr val="20242E"/>
                    </a:solidFill>
                  </a:tcPr>
                </a:tc>
                <a:tc>
                  <a:txBody>
                    <a:bodyPr/>
                    <a:lstStyle/>
                    <a:p>
                      <a:pPr algn="ctr"/>
                      <a:r>
                        <a:rPr sz="800" b="1">
                          <a:solidFill>
                            <a:srgbClr val="E8C15A"/>
                          </a:solidFill>
                          <a:latin typeface="Verdana"/>
                        </a:rPr>
                        <a:t>Recall gap</a:t>
                      </a:r>
                    </a:p>
                  </a:txBody>
                  <a:tcPr marL="36576" marR="36576" marT="18288" marB="18288" anchor="ctr">
                    <a:solidFill>
                      <a:srgbClr val="20242E"/>
                    </a:solidFill>
                  </a:tcPr>
                </a:tc>
                <a:tc>
                  <a:txBody>
                    <a:bodyPr/>
                    <a:lstStyle/>
                    <a:p>
                      <a:pPr algn="ctr"/>
                      <a:r>
                        <a:rPr sz="800" b="1">
                          <a:solidFill>
                            <a:srgbClr val="E8C15A"/>
                          </a:solidFill>
                          <a:latin typeface="Verdana"/>
                        </a:rPr>
                        <a:t>Acc US</a:t>
                      </a:r>
                    </a:p>
                  </a:txBody>
                  <a:tcPr marL="36576" marR="36576" marT="18288" marB="18288" anchor="ctr">
                    <a:solidFill>
                      <a:srgbClr val="20242E"/>
                    </a:solidFill>
                  </a:tcPr>
                </a:tc>
                <a:tc>
                  <a:txBody>
                    <a:bodyPr/>
                    <a:lstStyle/>
                    <a:p>
                      <a:pPr algn="ctr"/>
                      <a:r>
                        <a:rPr sz="800" b="1">
                          <a:solidFill>
                            <a:srgbClr val="E8C15A"/>
                          </a:solidFill>
                          <a:latin typeface="Verdana"/>
                        </a:rPr>
                        <a:t>Acc non-US</a:t>
                      </a:r>
                    </a:p>
                  </a:txBody>
                  <a:tcPr marL="36576" marR="36576" marT="18288" marB="18288" anchor="ctr">
                    <a:solidFill>
                      <a:srgbClr val="20242E"/>
                    </a:solidFill>
                  </a:tcPr>
                </a:tc>
                <a:extLst>
                  <a:ext uri="{0D108BD9-81ED-4DB2-BD59-A6C34878D82A}">
                    <a16:rowId xmlns:a16="http://schemas.microsoft.com/office/drawing/2014/main" val="10000"/>
                  </a:ext>
                </a:extLst>
              </a:tr>
              <a:tr h="274320">
                <a:tc>
                  <a:txBody>
                    <a:bodyPr/>
                    <a:lstStyle/>
                    <a:p>
                      <a:pPr algn="l"/>
                      <a:r>
                        <a:rPr sz="850" b="1">
                          <a:solidFill>
                            <a:srgbClr val="F5F7FA"/>
                          </a:solidFill>
                          <a:latin typeface="Verdana"/>
                        </a:rPr>
                        <a:t>LR tuned</a:t>
                      </a:r>
                    </a:p>
                  </a:txBody>
                  <a:tcPr marL="36576" marR="36576" marT="18288" marB="18288" anchor="ctr">
                    <a:solidFill>
                      <a:srgbClr val="232631"/>
                    </a:solidFill>
                  </a:tcPr>
                </a:tc>
                <a:tc>
                  <a:txBody>
                    <a:bodyPr/>
                    <a:lstStyle/>
                    <a:p>
                      <a:pPr algn="ctr"/>
                      <a:r>
                        <a:rPr sz="850" b="0">
                          <a:solidFill>
                            <a:srgbClr val="9AA7BD"/>
                          </a:solidFill>
                          <a:latin typeface="Verdana"/>
                        </a:rPr>
                        <a:t>0.823</a:t>
                      </a:r>
                    </a:p>
                  </a:txBody>
                  <a:tcPr marL="36576" marR="36576" marT="18288" marB="18288" anchor="ctr">
                    <a:solidFill>
                      <a:srgbClr val="232631"/>
                    </a:solidFill>
                  </a:tcPr>
                </a:tc>
                <a:tc>
                  <a:txBody>
                    <a:bodyPr/>
                    <a:lstStyle/>
                    <a:p>
                      <a:pPr algn="ctr"/>
                      <a:r>
                        <a:rPr sz="850" b="0">
                          <a:solidFill>
                            <a:srgbClr val="9AA7BD"/>
                          </a:solidFill>
                          <a:latin typeface="Verdana"/>
                        </a:rPr>
                        <a:t>0.768</a:t>
                      </a:r>
                    </a:p>
                  </a:txBody>
                  <a:tcPr marL="36576" marR="36576" marT="18288" marB="18288" anchor="ctr">
                    <a:solidFill>
                      <a:srgbClr val="232631"/>
                    </a:solidFill>
                  </a:tcPr>
                </a:tc>
                <a:tc>
                  <a:txBody>
                    <a:bodyPr/>
                    <a:lstStyle/>
                    <a:p>
                      <a:pPr algn="ctr"/>
                      <a:r>
                        <a:rPr sz="850" b="0">
                          <a:solidFill>
                            <a:srgbClr val="9AA7BD"/>
                          </a:solidFill>
                          <a:latin typeface="Verdana"/>
                        </a:rPr>
                        <a:t>0.055</a:t>
                      </a:r>
                    </a:p>
                  </a:txBody>
                  <a:tcPr marL="36576" marR="36576" marT="18288" marB="18288" anchor="ctr">
                    <a:solidFill>
                      <a:srgbClr val="232631"/>
                    </a:solidFill>
                  </a:tcPr>
                </a:tc>
                <a:tc>
                  <a:txBody>
                    <a:bodyPr/>
                    <a:lstStyle/>
                    <a:p>
                      <a:pPr algn="ctr"/>
                      <a:r>
                        <a:rPr sz="850" b="0">
                          <a:solidFill>
                            <a:srgbClr val="9AA7BD"/>
                          </a:solidFill>
                          <a:latin typeface="Verdana"/>
                        </a:rPr>
                        <a:t>0.816</a:t>
                      </a:r>
                    </a:p>
                  </a:txBody>
                  <a:tcPr marL="36576" marR="36576" marT="18288" marB="18288" anchor="ctr">
                    <a:solidFill>
                      <a:srgbClr val="232631"/>
                    </a:solidFill>
                  </a:tcPr>
                </a:tc>
                <a:tc>
                  <a:txBody>
                    <a:bodyPr/>
                    <a:lstStyle/>
                    <a:p>
                      <a:pPr algn="ctr"/>
                      <a:r>
                        <a:rPr sz="850" b="0">
                          <a:solidFill>
                            <a:srgbClr val="9AA7BD"/>
                          </a:solidFill>
                          <a:latin typeface="Verdana"/>
                        </a:rPr>
                        <a:t>0.844</a:t>
                      </a:r>
                    </a:p>
                  </a:txBody>
                  <a:tcPr marL="36576" marR="36576" marT="18288" marB="18288" anchor="ctr">
                    <a:solidFill>
                      <a:srgbClr val="232631"/>
                    </a:solidFill>
                  </a:tcPr>
                </a:tc>
                <a:extLst>
                  <a:ext uri="{0D108BD9-81ED-4DB2-BD59-A6C34878D82A}">
                    <a16:rowId xmlns:a16="http://schemas.microsoft.com/office/drawing/2014/main" val="10001"/>
                  </a:ext>
                </a:extLst>
              </a:tr>
              <a:tr h="274320">
                <a:tc>
                  <a:txBody>
                    <a:bodyPr/>
                    <a:lstStyle/>
                    <a:p>
                      <a:pPr algn="l"/>
                      <a:r>
                        <a:rPr sz="850" b="1">
                          <a:solidFill>
                            <a:srgbClr val="F5F7FA"/>
                          </a:solidFill>
                          <a:latin typeface="Verdana"/>
                        </a:rPr>
                        <a:t>MLP tuned</a:t>
                      </a:r>
                    </a:p>
                  </a:txBody>
                  <a:tcPr marL="36576" marR="36576" marT="18288" marB="18288" anchor="ctr">
                    <a:solidFill>
                      <a:srgbClr val="232631"/>
                    </a:solidFill>
                  </a:tcPr>
                </a:tc>
                <a:tc>
                  <a:txBody>
                    <a:bodyPr/>
                    <a:lstStyle/>
                    <a:p>
                      <a:pPr algn="ctr"/>
                      <a:r>
                        <a:rPr sz="850" b="0">
                          <a:solidFill>
                            <a:srgbClr val="9AA7BD"/>
                          </a:solidFill>
                          <a:latin typeface="Verdana"/>
                        </a:rPr>
                        <a:t>0.793</a:t>
                      </a:r>
                    </a:p>
                  </a:txBody>
                  <a:tcPr marL="36576" marR="36576" marT="18288" marB="18288" anchor="ctr">
                    <a:solidFill>
                      <a:srgbClr val="232631"/>
                    </a:solidFill>
                  </a:tcPr>
                </a:tc>
                <a:tc>
                  <a:txBody>
                    <a:bodyPr/>
                    <a:lstStyle/>
                    <a:p>
                      <a:pPr algn="ctr"/>
                      <a:r>
                        <a:rPr sz="850" b="0">
                          <a:solidFill>
                            <a:srgbClr val="9AA7BD"/>
                          </a:solidFill>
                          <a:latin typeface="Verdana"/>
                        </a:rPr>
                        <a:t>0.747</a:t>
                      </a:r>
                    </a:p>
                  </a:txBody>
                  <a:tcPr marL="36576" marR="36576" marT="18288" marB="18288" anchor="ctr">
                    <a:solidFill>
                      <a:srgbClr val="232631"/>
                    </a:solidFill>
                  </a:tcPr>
                </a:tc>
                <a:tc>
                  <a:txBody>
                    <a:bodyPr/>
                    <a:lstStyle/>
                    <a:p>
                      <a:pPr algn="ctr"/>
                      <a:r>
                        <a:rPr sz="850" b="0">
                          <a:solidFill>
                            <a:srgbClr val="5FBF8F"/>
                          </a:solidFill>
                          <a:latin typeface="Verdana"/>
                        </a:rPr>
                        <a:t>0.046</a:t>
                      </a:r>
                    </a:p>
                  </a:txBody>
                  <a:tcPr marL="36576" marR="36576" marT="18288" marB="18288" anchor="ctr">
                    <a:solidFill>
                      <a:srgbClr val="232631"/>
                    </a:solidFill>
                  </a:tcPr>
                </a:tc>
                <a:tc>
                  <a:txBody>
                    <a:bodyPr/>
                    <a:lstStyle/>
                    <a:p>
                      <a:pPr algn="ctr"/>
                      <a:r>
                        <a:rPr sz="850" b="0">
                          <a:solidFill>
                            <a:srgbClr val="9AA7BD"/>
                          </a:solidFill>
                          <a:latin typeface="Verdana"/>
                        </a:rPr>
                        <a:t>0.823</a:t>
                      </a:r>
                    </a:p>
                  </a:txBody>
                  <a:tcPr marL="36576" marR="36576" marT="18288" marB="18288" anchor="ctr">
                    <a:solidFill>
                      <a:srgbClr val="232631"/>
                    </a:solidFill>
                  </a:tcPr>
                </a:tc>
                <a:tc>
                  <a:txBody>
                    <a:bodyPr/>
                    <a:lstStyle/>
                    <a:p>
                      <a:pPr algn="ctr"/>
                      <a:r>
                        <a:rPr sz="850" b="0">
                          <a:solidFill>
                            <a:srgbClr val="9AA7BD"/>
                          </a:solidFill>
                          <a:latin typeface="Verdana"/>
                        </a:rPr>
                        <a:t>0.851</a:t>
                      </a:r>
                    </a:p>
                  </a:txBody>
                  <a:tcPr marL="36576" marR="36576" marT="18288" marB="18288" anchor="ctr">
                    <a:solidFill>
                      <a:srgbClr val="232631"/>
                    </a:solidFill>
                  </a:tcPr>
                </a:tc>
                <a:extLst>
                  <a:ext uri="{0D108BD9-81ED-4DB2-BD59-A6C34878D82A}">
                    <a16:rowId xmlns:a16="http://schemas.microsoft.com/office/drawing/2014/main" val="10002"/>
                  </a:ext>
                </a:extLst>
              </a:tr>
              <a:tr h="274320">
                <a:tc>
                  <a:txBody>
                    <a:bodyPr/>
                    <a:lstStyle/>
                    <a:p>
                      <a:pPr algn="l"/>
                      <a:r>
                        <a:rPr sz="850" b="1">
                          <a:solidFill>
                            <a:srgbClr val="F5F7FA"/>
                          </a:solidFill>
                          <a:latin typeface="Verdana"/>
                        </a:rPr>
                        <a:t>XGBoost tuned</a:t>
                      </a:r>
                    </a:p>
                  </a:txBody>
                  <a:tcPr marL="36576" marR="36576" marT="18288" marB="18288" anchor="ctr">
                    <a:solidFill>
                      <a:srgbClr val="232631"/>
                    </a:solidFill>
                  </a:tcPr>
                </a:tc>
                <a:tc>
                  <a:txBody>
                    <a:bodyPr/>
                    <a:lstStyle/>
                    <a:p>
                      <a:pPr algn="ctr"/>
                      <a:r>
                        <a:rPr sz="850" b="0">
                          <a:solidFill>
                            <a:srgbClr val="9AA7BD"/>
                          </a:solidFill>
                          <a:latin typeface="Verdana"/>
                        </a:rPr>
                        <a:t>0.726</a:t>
                      </a:r>
                    </a:p>
                  </a:txBody>
                  <a:tcPr marL="36576" marR="36576" marT="18288" marB="18288" anchor="ctr">
                    <a:solidFill>
                      <a:srgbClr val="232631"/>
                    </a:solidFill>
                  </a:tcPr>
                </a:tc>
                <a:tc>
                  <a:txBody>
                    <a:bodyPr/>
                    <a:lstStyle/>
                    <a:p>
                      <a:pPr algn="ctr"/>
                      <a:r>
                        <a:rPr sz="850" b="0">
                          <a:solidFill>
                            <a:srgbClr val="9AA7BD"/>
                          </a:solidFill>
                          <a:latin typeface="Verdana"/>
                        </a:rPr>
                        <a:t>0.646</a:t>
                      </a:r>
                    </a:p>
                  </a:txBody>
                  <a:tcPr marL="36576" marR="36576" marT="18288" marB="18288" anchor="ctr">
                    <a:solidFill>
                      <a:srgbClr val="232631"/>
                    </a:solidFill>
                  </a:tcPr>
                </a:tc>
                <a:tc>
                  <a:txBody>
                    <a:bodyPr/>
                    <a:lstStyle/>
                    <a:p>
                      <a:pPr algn="ctr"/>
                      <a:r>
                        <a:rPr sz="850" b="0">
                          <a:solidFill>
                            <a:srgbClr val="E07A5F"/>
                          </a:solidFill>
                          <a:latin typeface="Verdana"/>
                        </a:rPr>
                        <a:t>0.079</a:t>
                      </a:r>
                    </a:p>
                  </a:txBody>
                  <a:tcPr marL="36576" marR="36576" marT="18288" marB="18288" anchor="ctr">
                    <a:solidFill>
                      <a:srgbClr val="232631"/>
                    </a:solidFill>
                  </a:tcPr>
                </a:tc>
                <a:tc>
                  <a:txBody>
                    <a:bodyPr/>
                    <a:lstStyle/>
                    <a:p>
                      <a:pPr algn="ctr"/>
                      <a:r>
                        <a:rPr sz="850" b="0">
                          <a:solidFill>
                            <a:srgbClr val="9AA7BD"/>
                          </a:solidFill>
                          <a:latin typeface="Verdana"/>
                        </a:rPr>
                        <a:t>0.855</a:t>
                      </a:r>
                    </a:p>
                  </a:txBody>
                  <a:tcPr marL="36576" marR="36576" marT="18288" marB="18288" anchor="ctr">
                    <a:solidFill>
                      <a:srgbClr val="232631"/>
                    </a:solidFill>
                  </a:tcPr>
                </a:tc>
                <a:tc>
                  <a:txBody>
                    <a:bodyPr/>
                    <a:lstStyle/>
                    <a:p>
                      <a:pPr algn="ctr"/>
                      <a:r>
                        <a:rPr sz="850" b="0">
                          <a:solidFill>
                            <a:srgbClr val="9AA7BD"/>
                          </a:solidFill>
                          <a:latin typeface="Verdana"/>
                        </a:rPr>
                        <a:t>0.882</a:t>
                      </a:r>
                    </a:p>
                  </a:txBody>
                  <a:tcPr marL="36576" marR="36576" marT="18288" marB="18288" anchor="ctr">
                    <a:solidFill>
                      <a:srgbClr val="232631"/>
                    </a:solidFill>
                  </a:tcPr>
                </a:tc>
                <a:extLst>
                  <a:ext uri="{0D108BD9-81ED-4DB2-BD59-A6C34878D82A}">
                    <a16:rowId xmlns:a16="http://schemas.microsoft.com/office/drawing/2014/main" val="10003"/>
                  </a:ext>
                </a:extLst>
              </a:tr>
            </a:tbl>
          </a:graphicData>
        </a:graphic>
      </p:graphicFrame>
      <p:graphicFrame>
        <p:nvGraphicFramePr>
          <p:cNvPr id="57" name="Table 56"/>
          <p:cNvGraphicFramePr>
            <a:graphicFrameLocks noGrp="1"/>
          </p:cNvGraphicFramePr>
          <p:nvPr>
            <p:extLst>
              <p:ext uri="{D42A27DB-BD31-4B8C-83A1-F6EECF244321}">
                <p14:modId xmlns:p14="http://schemas.microsoft.com/office/powerpoint/2010/main" val="2920122110"/>
              </p:ext>
            </p:extLst>
          </p:nvPr>
        </p:nvGraphicFramePr>
        <p:xfrm>
          <a:off x="6400800" y="4160520"/>
          <a:ext cx="5120638" cy="1103376"/>
        </p:xfrm>
        <a:graphic>
          <a:graphicData uri="http://schemas.openxmlformats.org/drawingml/2006/table">
            <a:tbl>
              <a:tblPr>
                <a:tableStyleId>{5C22544A-7EE6-4342-B048-85BDC9FD1C3A}</a:tableStyleId>
              </a:tblPr>
              <a:tblGrid>
                <a:gridCol w="1203350">
                  <a:extLst>
                    <a:ext uri="{9D8B030D-6E8A-4147-A177-3AD203B41FA5}">
                      <a16:colId xmlns:a16="http://schemas.microsoft.com/office/drawing/2014/main" val="20000"/>
                    </a:ext>
                  </a:extLst>
                </a:gridCol>
                <a:gridCol w="793699">
                  <a:extLst>
                    <a:ext uri="{9D8B030D-6E8A-4147-A177-3AD203B41FA5}">
                      <a16:colId xmlns:a16="http://schemas.microsoft.com/office/drawing/2014/main" val="20001"/>
                    </a:ext>
                  </a:extLst>
                </a:gridCol>
                <a:gridCol w="947318">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91286">
                  <a:extLst>
                    <a:ext uri="{9D8B030D-6E8A-4147-A177-3AD203B41FA5}">
                      <a16:colId xmlns:a16="http://schemas.microsoft.com/office/drawing/2014/main" val="20004"/>
                    </a:ext>
                  </a:extLst>
                </a:gridCol>
                <a:gridCol w="844905">
                  <a:extLst>
                    <a:ext uri="{9D8B030D-6E8A-4147-A177-3AD203B41FA5}">
                      <a16:colId xmlns:a16="http://schemas.microsoft.com/office/drawing/2014/main" val="20005"/>
                    </a:ext>
                  </a:extLst>
                </a:gridCol>
              </a:tblGrid>
              <a:tr h="274320">
                <a:tc>
                  <a:txBody>
                    <a:bodyPr/>
                    <a:lstStyle/>
                    <a:p>
                      <a:pPr algn="ctr"/>
                      <a:r>
                        <a:rPr sz="800" b="1">
                          <a:solidFill>
                            <a:srgbClr val="E8C15A"/>
                          </a:solidFill>
                          <a:latin typeface="Verdana"/>
                        </a:rPr>
                        <a:t>Model</a:t>
                      </a:r>
                    </a:p>
                  </a:txBody>
                  <a:tcPr marL="36576" marR="36576" marT="18288" marB="18288" anchor="ctr">
                    <a:solidFill>
                      <a:srgbClr val="20242E"/>
                    </a:solidFill>
                  </a:tcPr>
                </a:tc>
                <a:tc>
                  <a:txBody>
                    <a:bodyPr/>
                    <a:lstStyle/>
                    <a:p>
                      <a:pPr algn="ctr"/>
                      <a:r>
                        <a:rPr sz="800" b="1">
                          <a:solidFill>
                            <a:srgbClr val="E8C15A"/>
                          </a:solidFill>
                          <a:latin typeface="Verdana"/>
                        </a:rPr>
                        <a:t>Recall Male</a:t>
                      </a:r>
                    </a:p>
                  </a:txBody>
                  <a:tcPr marL="36576" marR="36576" marT="18288" marB="18288" anchor="ctr">
                    <a:solidFill>
                      <a:srgbClr val="20242E"/>
                    </a:solidFill>
                  </a:tcPr>
                </a:tc>
                <a:tc>
                  <a:txBody>
                    <a:bodyPr/>
                    <a:lstStyle/>
                    <a:p>
                      <a:pPr algn="ctr"/>
                      <a:r>
                        <a:rPr sz="800" b="1">
                          <a:solidFill>
                            <a:srgbClr val="E8C15A"/>
                          </a:solidFill>
                          <a:latin typeface="Verdana"/>
                        </a:rPr>
                        <a:t>Recall Female</a:t>
                      </a:r>
                    </a:p>
                  </a:txBody>
                  <a:tcPr marL="36576" marR="36576" marT="18288" marB="18288" anchor="ctr">
                    <a:solidFill>
                      <a:srgbClr val="20242E"/>
                    </a:solidFill>
                  </a:tcPr>
                </a:tc>
                <a:tc>
                  <a:txBody>
                    <a:bodyPr/>
                    <a:lstStyle/>
                    <a:p>
                      <a:pPr algn="ctr"/>
                      <a:r>
                        <a:rPr sz="800" b="1">
                          <a:solidFill>
                            <a:srgbClr val="E8C15A"/>
                          </a:solidFill>
                          <a:latin typeface="Verdana"/>
                        </a:rPr>
                        <a:t>Recall gap</a:t>
                      </a:r>
                    </a:p>
                  </a:txBody>
                  <a:tcPr marL="36576" marR="36576" marT="18288" marB="18288" anchor="ctr">
                    <a:solidFill>
                      <a:srgbClr val="20242E"/>
                    </a:solidFill>
                  </a:tcPr>
                </a:tc>
                <a:tc>
                  <a:txBody>
                    <a:bodyPr/>
                    <a:lstStyle/>
                    <a:p>
                      <a:pPr algn="ctr"/>
                      <a:r>
                        <a:rPr sz="800" b="1">
                          <a:solidFill>
                            <a:srgbClr val="E8C15A"/>
                          </a:solidFill>
                          <a:latin typeface="Verdana"/>
                        </a:rPr>
                        <a:t>Acc Male</a:t>
                      </a:r>
                    </a:p>
                  </a:txBody>
                  <a:tcPr marL="36576" marR="36576" marT="18288" marB="18288" anchor="ctr">
                    <a:solidFill>
                      <a:srgbClr val="20242E"/>
                    </a:solidFill>
                  </a:tcPr>
                </a:tc>
                <a:tc>
                  <a:txBody>
                    <a:bodyPr/>
                    <a:lstStyle/>
                    <a:p>
                      <a:pPr algn="ctr"/>
                      <a:r>
                        <a:rPr sz="800" b="1">
                          <a:solidFill>
                            <a:srgbClr val="E8C15A"/>
                          </a:solidFill>
                          <a:latin typeface="Verdana"/>
                        </a:rPr>
                        <a:t>Acc Female</a:t>
                      </a:r>
                    </a:p>
                  </a:txBody>
                  <a:tcPr marL="36576" marR="36576" marT="18288" marB="18288" anchor="ctr">
                    <a:solidFill>
                      <a:srgbClr val="20242E"/>
                    </a:solidFill>
                  </a:tcPr>
                </a:tc>
                <a:extLst>
                  <a:ext uri="{0D108BD9-81ED-4DB2-BD59-A6C34878D82A}">
                    <a16:rowId xmlns:a16="http://schemas.microsoft.com/office/drawing/2014/main" val="10000"/>
                  </a:ext>
                </a:extLst>
              </a:tr>
              <a:tr h="274320">
                <a:tc>
                  <a:txBody>
                    <a:bodyPr/>
                    <a:lstStyle/>
                    <a:p>
                      <a:pPr algn="l"/>
                      <a:r>
                        <a:rPr sz="850" b="1">
                          <a:solidFill>
                            <a:srgbClr val="F5F7FA"/>
                          </a:solidFill>
                          <a:latin typeface="Verdana"/>
                        </a:rPr>
                        <a:t>LR tuned</a:t>
                      </a:r>
                    </a:p>
                  </a:txBody>
                  <a:tcPr marL="36576" marR="36576" marT="18288" marB="18288" anchor="ctr">
                    <a:solidFill>
                      <a:srgbClr val="232631"/>
                    </a:solidFill>
                  </a:tcPr>
                </a:tc>
                <a:tc>
                  <a:txBody>
                    <a:bodyPr/>
                    <a:lstStyle/>
                    <a:p>
                      <a:pPr algn="ctr"/>
                      <a:r>
                        <a:rPr sz="850" b="0">
                          <a:solidFill>
                            <a:srgbClr val="9AA7BD"/>
                          </a:solidFill>
                          <a:latin typeface="Verdana"/>
                        </a:rPr>
                        <a:t>0.836</a:t>
                      </a:r>
                    </a:p>
                  </a:txBody>
                  <a:tcPr marL="36576" marR="36576" marT="18288" marB="18288" anchor="ctr">
                    <a:solidFill>
                      <a:srgbClr val="232631"/>
                    </a:solidFill>
                  </a:tcPr>
                </a:tc>
                <a:tc>
                  <a:txBody>
                    <a:bodyPr/>
                    <a:lstStyle/>
                    <a:p>
                      <a:pPr algn="ctr"/>
                      <a:r>
                        <a:rPr sz="850" b="0">
                          <a:solidFill>
                            <a:srgbClr val="9AA7BD"/>
                          </a:solidFill>
                          <a:latin typeface="Verdana"/>
                        </a:rPr>
                        <a:t>0.730</a:t>
                      </a:r>
                    </a:p>
                  </a:txBody>
                  <a:tcPr marL="36576" marR="36576" marT="18288" marB="18288" anchor="ctr">
                    <a:solidFill>
                      <a:srgbClr val="232631"/>
                    </a:solidFill>
                  </a:tcPr>
                </a:tc>
                <a:tc>
                  <a:txBody>
                    <a:bodyPr/>
                    <a:lstStyle/>
                    <a:p>
                      <a:pPr algn="ctr"/>
                      <a:r>
                        <a:rPr sz="850" b="0" dirty="0">
                          <a:solidFill>
                            <a:srgbClr val="00B050"/>
                          </a:solidFill>
                          <a:latin typeface="Verdana"/>
                        </a:rPr>
                        <a:t>0.106</a:t>
                      </a:r>
                    </a:p>
                  </a:txBody>
                  <a:tcPr marL="36576" marR="36576" marT="18288" marB="18288" anchor="ctr">
                    <a:solidFill>
                      <a:srgbClr val="232631"/>
                    </a:solidFill>
                  </a:tcPr>
                </a:tc>
                <a:tc>
                  <a:txBody>
                    <a:bodyPr/>
                    <a:lstStyle/>
                    <a:p>
                      <a:pPr algn="ctr"/>
                      <a:r>
                        <a:rPr sz="850" b="0">
                          <a:solidFill>
                            <a:srgbClr val="9AA7BD"/>
                          </a:solidFill>
                          <a:latin typeface="Verdana"/>
                        </a:rPr>
                        <a:t>0.766</a:t>
                      </a:r>
                    </a:p>
                  </a:txBody>
                  <a:tcPr marL="36576" marR="36576" marT="18288" marB="18288" anchor="ctr">
                    <a:solidFill>
                      <a:srgbClr val="232631"/>
                    </a:solidFill>
                  </a:tcPr>
                </a:tc>
                <a:tc>
                  <a:txBody>
                    <a:bodyPr/>
                    <a:lstStyle/>
                    <a:p>
                      <a:pPr algn="ctr"/>
                      <a:r>
                        <a:rPr sz="850" b="0">
                          <a:solidFill>
                            <a:srgbClr val="9AA7BD"/>
                          </a:solidFill>
                          <a:latin typeface="Verdana"/>
                        </a:rPr>
                        <a:t>0.920</a:t>
                      </a:r>
                    </a:p>
                  </a:txBody>
                  <a:tcPr marL="36576" marR="36576" marT="18288" marB="18288" anchor="ctr">
                    <a:solidFill>
                      <a:srgbClr val="232631"/>
                    </a:solidFill>
                  </a:tcPr>
                </a:tc>
                <a:extLst>
                  <a:ext uri="{0D108BD9-81ED-4DB2-BD59-A6C34878D82A}">
                    <a16:rowId xmlns:a16="http://schemas.microsoft.com/office/drawing/2014/main" val="10001"/>
                  </a:ext>
                </a:extLst>
              </a:tr>
              <a:tr h="274320">
                <a:tc>
                  <a:txBody>
                    <a:bodyPr/>
                    <a:lstStyle/>
                    <a:p>
                      <a:pPr algn="l"/>
                      <a:r>
                        <a:rPr sz="850" b="1">
                          <a:solidFill>
                            <a:srgbClr val="F5F7FA"/>
                          </a:solidFill>
                          <a:latin typeface="Verdana"/>
                        </a:rPr>
                        <a:t>MLP tuned</a:t>
                      </a:r>
                    </a:p>
                  </a:txBody>
                  <a:tcPr marL="36576" marR="36576" marT="18288" marB="18288" anchor="ctr">
                    <a:solidFill>
                      <a:srgbClr val="232631"/>
                    </a:solidFill>
                  </a:tcPr>
                </a:tc>
                <a:tc>
                  <a:txBody>
                    <a:bodyPr/>
                    <a:lstStyle/>
                    <a:p>
                      <a:pPr algn="ctr"/>
                      <a:r>
                        <a:rPr sz="850" b="0">
                          <a:solidFill>
                            <a:srgbClr val="9AA7BD"/>
                          </a:solidFill>
                          <a:latin typeface="Verdana"/>
                        </a:rPr>
                        <a:t>0.806</a:t>
                      </a:r>
                    </a:p>
                  </a:txBody>
                  <a:tcPr marL="36576" marR="36576" marT="18288" marB="18288" anchor="ctr">
                    <a:solidFill>
                      <a:srgbClr val="232631"/>
                    </a:solidFill>
                  </a:tcPr>
                </a:tc>
                <a:tc>
                  <a:txBody>
                    <a:bodyPr/>
                    <a:lstStyle/>
                    <a:p>
                      <a:pPr algn="ctr"/>
                      <a:r>
                        <a:rPr sz="850" b="0">
                          <a:solidFill>
                            <a:srgbClr val="9AA7BD"/>
                          </a:solidFill>
                          <a:latin typeface="Verdana"/>
                        </a:rPr>
                        <a:t>0.697</a:t>
                      </a:r>
                    </a:p>
                  </a:txBody>
                  <a:tcPr marL="36576" marR="36576" marT="18288" marB="18288" anchor="ctr">
                    <a:solidFill>
                      <a:srgbClr val="232631"/>
                    </a:solidFill>
                  </a:tcPr>
                </a:tc>
                <a:tc>
                  <a:txBody>
                    <a:bodyPr/>
                    <a:lstStyle/>
                    <a:p>
                      <a:pPr algn="ctr"/>
                      <a:r>
                        <a:rPr sz="850" b="0">
                          <a:solidFill>
                            <a:srgbClr val="9AA7BD"/>
                          </a:solidFill>
                          <a:latin typeface="Verdana"/>
                        </a:rPr>
                        <a:t>0.108</a:t>
                      </a:r>
                    </a:p>
                  </a:txBody>
                  <a:tcPr marL="36576" marR="36576" marT="18288" marB="18288" anchor="ctr">
                    <a:solidFill>
                      <a:srgbClr val="232631"/>
                    </a:solidFill>
                  </a:tcPr>
                </a:tc>
                <a:tc>
                  <a:txBody>
                    <a:bodyPr/>
                    <a:lstStyle/>
                    <a:p>
                      <a:pPr algn="ctr"/>
                      <a:r>
                        <a:rPr sz="850" b="0">
                          <a:solidFill>
                            <a:srgbClr val="9AA7BD"/>
                          </a:solidFill>
                          <a:latin typeface="Verdana"/>
                        </a:rPr>
                        <a:t>0.775</a:t>
                      </a:r>
                    </a:p>
                  </a:txBody>
                  <a:tcPr marL="36576" marR="36576" marT="18288" marB="18288" anchor="ctr">
                    <a:solidFill>
                      <a:srgbClr val="232631"/>
                    </a:solidFill>
                  </a:tcPr>
                </a:tc>
                <a:tc>
                  <a:txBody>
                    <a:bodyPr/>
                    <a:lstStyle/>
                    <a:p>
                      <a:pPr algn="ctr"/>
                      <a:r>
                        <a:rPr sz="850" b="0">
                          <a:solidFill>
                            <a:srgbClr val="9AA7BD"/>
                          </a:solidFill>
                          <a:latin typeface="Verdana"/>
                        </a:rPr>
                        <a:t>0.924</a:t>
                      </a:r>
                    </a:p>
                  </a:txBody>
                  <a:tcPr marL="36576" marR="36576" marT="18288" marB="18288" anchor="ctr">
                    <a:solidFill>
                      <a:srgbClr val="232631"/>
                    </a:solidFill>
                  </a:tcPr>
                </a:tc>
                <a:extLst>
                  <a:ext uri="{0D108BD9-81ED-4DB2-BD59-A6C34878D82A}">
                    <a16:rowId xmlns:a16="http://schemas.microsoft.com/office/drawing/2014/main" val="10002"/>
                  </a:ext>
                </a:extLst>
              </a:tr>
              <a:tr h="274320">
                <a:tc>
                  <a:txBody>
                    <a:bodyPr/>
                    <a:lstStyle/>
                    <a:p>
                      <a:pPr algn="l"/>
                      <a:r>
                        <a:rPr sz="850" b="1">
                          <a:solidFill>
                            <a:srgbClr val="F5F7FA"/>
                          </a:solidFill>
                          <a:latin typeface="Verdana"/>
                        </a:rPr>
                        <a:t>XGBoost tuned</a:t>
                      </a:r>
                    </a:p>
                  </a:txBody>
                  <a:tcPr marL="36576" marR="36576" marT="18288" marB="18288" anchor="ctr">
                    <a:solidFill>
                      <a:srgbClr val="232631"/>
                    </a:solidFill>
                  </a:tcPr>
                </a:tc>
                <a:tc>
                  <a:txBody>
                    <a:bodyPr/>
                    <a:lstStyle/>
                    <a:p>
                      <a:pPr algn="ctr"/>
                      <a:r>
                        <a:rPr sz="850" b="0">
                          <a:solidFill>
                            <a:srgbClr val="9AA7BD"/>
                          </a:solidFill>
                          <a:latin typeface="Verdana"/>
                        </a:rPr>
                        <a:t>0.743</a:t>
                      </a:r>
                    </a:p>
                  </a:txBody>
                  <a:tcPr marL="36576" marR="36576" marT="18288" marB="18288" anchor="ctr">
                    <a:solidFill>
                      <a:srgbClr val="232631"/>
                    </a:solidFill>
                  </a:tcPr>
                </a:tc>
                <a:tc>
                  <a:txBody>
                    <a:bodyPr/>
                    <a:lstStyle/>
                    <a:p>
                      <a:pPr algn="ctr"/>
                      <a:r>
                        <a:rPr sz="850" b="0">
                          <a:solidFill>
                            <a:srgbClr val="9AA7BD"/>
                          </a:solidFill>
                          <a:latin typeface="Verdana"/>
                        </a:rPr>
                        <a:t>0.598</a:t>
                      </a:r>
                    </a:p>
                  </a:txBody>
                  <a:tcPr marL="36576" marR="36576" marT="18288" marB="18288" anchor="ctr">
                    <a:solidFill>
                      <a:srgbClr val="232631"/>
                    </a:solidFill>
                  </a:tcPr>
                </a:tc>
                <a:tc>
                  <a:txBody>
                    <a:bodyPr/>
                    <a:lstStyle/>
                    <a:p>
                      <a:pPr algn="ctr"/>
                      <a:r>
                        <a:rPr sz="850" b="0">
                          <a:solidFill>
                            <a:srgbClr val="E07A5F"/>
                          </a:solidFill>
                          <a:latin typeface="Verdana"/>
                        </a:rPr>
                        <a:t>0.146</a:t>
                      </a:r>
                    </a:p>
                  </a:txBody>
                  <a:tcPr marL="36576" marR="36576" marT="18288" marB="18288" anchor="ctr">
                    <a:solidFill>
                      <a:srgbClr val="232631"/>
                    </a:solidFill>
                  </a:tcPr>
                </a:tc>
                <a:tc>
                  <a:txBody>
                    <a:bodyPr/>
                    <a:lstStyle/>
                    <a:p>
                      <a:pPr algn="ctr"/>
                      <a:r>
                        <a:rPr sz="850" b="0">
                          <a:solidFill>
                            <a:srgbClr val="9AA7BD"/>
                          </a:solidFill>
                          <a:latin typeface="Verdana"/>
                        </a:rPr>
                        <a:t>0.818</a:t>
                      </a:r>
                    </a:p>
                  </a:txBody>
                  <a:tcPr marL="36576" marR="36576" marT="18288" marB="18288" anchor="ctr">
                    <a:solidFill>
                      <a:srgbClr val="232631"/>
                    </a:solidFill>
                  </a:tcPr>
                </a:tc>
                <a:tc>
                  <a:txBody>
                    <a:bodyPr/>
                    <a:lstStyle/>
                    <a:p>
                      <a:pPr algn="ctr"/>
                      <a:r>
                        <a:rPr sz="850" b="0" dirty="0">
                          <a:solidFill>
                            <a:srgbClr val="9AA7BD"/>
                          </a:solidFill>
                          <a:latin typeface="Verdana"/>
                        </a:rPr>
                        <a:t>0.935</a:t>
                      </a:r>
                    </a:p>
                  </a:txBody>
                  <a:tcPr marL="36576" marR="36576" marT="18288" marB="18288" anchor="ctr">
                    <a:solidFill>
                      <a:srgbClr val="23263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18</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Putting intervals on the gaps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This is where the sample size problem becomes the finding</a:t>
            </a:r>
            <a:endParaRPr lang="en-US" sz="1200" dirty="0"/>
          </a:p>
        </p:txBody>
      </p:sp>
      <p:sp>
        <p:nvSpPr>
          <p:cNvPr id="6" name="Shape 4"/>
          <p:cNvSpPr/>
          <p:nvPr/>
        </p:nvSpPr>
        <p:spPr>
          <a:xfrm>
            <a:off x="502920" y="1234440"/>
            <a:ext cx="5760720" cy="28803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3949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BOOTSTRAP 95% CI ON EACH MODEL'S RECALL GAP</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394960" cy="1792224"/>
        </p:xfrm>
        <a:graphic>
          <a:graphicData uri="http://schemas.openxmlformats.org/drawingml/2006/table">
            <a:tbl>
              <a:tblPr/>
              <a:tblGrid>
                <a:gridCol w="13258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Gap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Estimate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95% CI</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Real?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−0.037 – 0.111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−0.023 – 0.129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−0.025 – 0.146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0.106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 – 0.163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 – 0.171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0.081 – 0.213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6446520" y="1234440"/>
            <a:ext cx="5257800" cy="288036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6629400" y="1371600"/>
            <a:ext cx="48920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HOW MUCH MORE DATA WOULD SETTLE IT</a:t>
            </a:r>
            <a:endParaRPr lang="en-US" sz="1050" dirty="0"/>
          </a:p>
        </p:txBody>
      </p:sp>
      <p:sp>
        <p:nvSpPr>
          <p:cNvPr id="11" name="Text 8"/>
          <p:cNvSpPr/>
          <p:nvPr/>
        </p:nvSpPr>
        <p:spPr>
          <a:xfrm>
            <a:off x="6629400" y="1691640"/>
            <a:ext cx="4892040" cy="685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nativity gap rests on 99 foreign-born high earners. The interval spans 0.171.</a:t>
            </a:r>
            <a:endParaRPr lang="en-US" sz="1050" dirty="0"/>
          </a:p>
        </p:txBody>
      </p:sp>
      <p:graphicFrame>
        <p:nvGraphicFramePr>
          <p:cNvPr id="39" name="Table 1"/>
          <p:cNvGraphicFramePr>
            <a:graphicFrameLocks noGrp="1"/>
          </p:cNvGraphicFramePr>
          <p:nvPr>
            <p:extLst>
              <p:ext uri="{D42A27DB-BD31-4B8C-83A1-F6EECF244321}">
                <p14:modId xmlns:p14="http://schemas.microsoft.com/office/powerpoint/2010/main" val="4146103898"/>
              </p:ext>
            </p:extLst>
          </p:nvPr>
        </p:nvGraphicFramePr>
        <p:xfrm>
          <a:off x="6629400" y="2468880"/>
          <a:ext cx="4892040" cy="768096"/>
        </p:xfrm>
        <a:graphic>
          <a:graphicData uri="http://schemas.openxmlformats.org/drawingml/2006/table">
            <a:tbl>
              <a:tblPr/>
              <a:tblGrid>
                <a:gridCol w="14630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Target CI width</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Multiple needed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High earners needed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0.05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1,153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7,208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bl>
          </a:graphicData>
        </a:graphic>
      </p:graphicFrame>
      <p:sp>
        <p:nvSpPr>
          <p:cNvPr id="13" name="Text 9"/>
          <p:cNvSpPr/>
          <p:nvPr/>
        </p:nvSpPr>
        <p:spPr>
          <a:xfrm>
            <a:off x="6629400" y="3520440"/>
            <a:ext cx="4892040" cy="45720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Wide because the non-US group is small, not because the models are unstable.</a:t>
            </a:r>
            <a:endParaRPr lang="en-US" sz="1050" dirty="0"/>
          </a:p>
        </p:txBody>
      </p:sp>
      <p:sp>
        <p:nvSpPr>
          <p:cNvPr id="14" name="Shape 10"/>
          <p:cNvSpPr/>
          <p:nvPr/>
        </p:nvSpPr>
        <p:spPr>
          <a:xfrm>
            <a:off x="502920" y="4297680"/>
            <a:ext cx="11201400" cy="2057400"/>
          </a:xfrm>
          <a:prstGeom prst="rect">
            <a:avLst/>
          </a:prstGeom>
          <a:solidFill>
            <a:srgbClr val="1C1E24"/>
          </a:solidFill>
          <a:ln w="12700">
            <a:solidFill>
              <a:srgbClr val="3A3F4A"/>
            </a:solidFill>
            <a:prstDash val="solid"/>
          </a:ln>
        </p:spPr>
        <p:txBody>
          <a:bodyPr/>
          <a:lstStyle/>
          <a:p>
            <a:endParaRPr lang="en-US"/>
          </a:p>
        </p:txBody>
      </p:sp>
      <p:sp>
        <p:nvSpPr>
          <p:cNvPr id="15" name="Text 11"/>
          <p:cNvSpPr/>
          <p:nvPr/>
        </p:nvSpPr>
        <p:spPr>
          <a:xfrm>
            <a:off x="685800" y="443484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HYPOTHESIS 2, SET AGAINST WHAT THE INTERVALS CAN SHOW</a:t>
            </a:r>
            <a:endParaRPr lang="en-US" sz="1050" dirty="0"/>
          </a:p>
        </p:txBody>
      </p:sp>
      <p:sp>
        <p:nvSpPr>
          <p:cNvPr id="48" name="Rectangle 47"/>
          <p:cNvSpPr/>
          <p:nvPr/>
        </p:nvSpPr>
        <p:spPr>
          <a:xfrm>
            <a:off x="630936" y="4663440"/>
            <a:ext cx="7927848" cy="1682496"/>
          </a:xfrm>
          <a:prstGeom prst="rect">
            <a:avLst/>
          </a:prstGeom>
          <a:solidFill>
            <a:srgbClr val="FFFFFF"/>
          </a:solidFill>
          <a:ln w="12700">
            <a:solidFill>
              <a:srgbClr val="3A3F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732520" y="4754880"/>
            <a:ext cx="2834640" cy="173736"/>
          </a:xfrm>
          <a:prstGeom prst="rect">
            <a:avLst/>
          </a:prstGeom>
          <a:noFill/>
        </p:spPr>
        <p:txBody>
          <a:bodyPr wrap="square" lIns="0" tIns="0" rIns="0" bIns="0">
            <a:spAutoFit/>
          </a:bodyPr>
          <a:lstStyle/>
          <a:p>
            <a:r>
              <a:rPr sz="900" b="1">
                <a:solidFill>
                  <a:srgbClr val="E8C15A"/>
                </a:solidFill>
                <a:latin typeface="Verdana"/>
              </a:rPr>
              <a:t>What I predicted</a:t>
            </a:r>
          </a:p>
        </p:txBody>
      </p:sp>
      <p:sp>
        <p:nvSpPr>
          <p:cNvPr id="51" name="TextBox 50"/>
          <p:cNvSpPr txBox="1"/>
          <p:nvPr/>
        </p:nvSpPr>
        <p:spPr>
          <a:xfrm>
            <a:off x="8732520" y="4928616"/>
            <a:ext cx="2834640" cy="347472"/>
          </a:xfrm>
          <a:prstGeom prst="rect">
            <a:avLst/>
          </a:prstGeom>
          <a:noFill/>
        </p:spPr>
        <p:txBody>
          <a:bodyPr wrap="square" lIns="0" tIns="0" rIns="0" bIns="0">
            <a:spAutoFit/>
          </a:bodyPr>
          <a:lstStyle/>
          <a:p>
            <a:r>
              <a:rPr sz="780" b="0">
                <a:solidFill>
                  <a:srgbClr val="9AA7BD"/>
                </a:solidFill>
                <a:latin typeface="Verdana"/>
              </a:rPr>
              <a:t>XGBoost would have the smallest nativity recall gap.</a:t>
            </a:r>
          </a:p>
        </p:txBody>
      </p:sp>
      <p:sp>
        <p:nvSpPr>
          <p:cNvPr id="52" name="TextBox 51"/>
          <p:cNvSpPr txBox="1"/>
          <p:nvPr/>
        </p:nvSpPr>
        <p:spPr>
          <a:xfrm>
            <a:off x="8732520" y="5276088"/>
            <a:ext cx="2834640" cy="173736"/>
          </a:xfrm>
          <a:prstGeom prst="rect">
            <a:avLst/>
          </a:prstGeom>
          <a:noFill/>
        </p:spPr>
        <p:txBody>
          <a:bodyPr wrap="square" lIns="0" tIns="0" rIns="0" bIns="0">
            <a:spAutoFit/>
          </a:bodyPr>
          <a:lstStyle/>
          <a:p>
            <a:r>
              <a:rPr sz="900" b="1">
                <a:solidFill>
                  <a:srgbClr val="E8C15A"/>
                </a:solidFill>
                <a:latin typeface="Verdana"/>
              </a:rPr>
              <a:t>What I found</a:t>
            </a:r>
          </a:p>
        </p:txBody>
      </p:sp>
      <p:sp>
        <p:nvSpPr>
          <p:cNvPr id="53" name="TextBox 52"/>
          <p:cNvSpPr txBox="1"/>
          <p:nvPr/>
        </p:nvSpPr>
        <p:spPr>
          <a:xfrm>
            <a:off x="8732520" y="5449824"/>
            <a:ext cx="2834640" cy="240066"/>
          </a:xfrm>
          <a:prstGeom prst="rect">
            <a:avLst/>
          </a:prstGeom>
          <a:noFill/>
        </p:spPr>
        <p:txBody>
          <a:bodyPr wrap="square" lIns="0" tIns="0" rIns="0" bIns="0">
            <a:spAutoFit/>
          </a:bodyPr>
          <a:lstStyle/>
          <a:p>
            <a:r>
              <a:rPr sz="780" b="0" dirty="0">
                <a:solidFill>
                  <a:srgbClr val="9AA7BD"/>
                </a:solidFill>
                <a:latin typeface="Verdana"/>
              </a:rPr>
              <a:t>It has the largest: 0.079 against 0.055 </a:t>
            </a:r>
            <a:r>
              <a:rPr lang="en-US" sz="780" b="0" dirty="0">
                <a:solidFill>
                  <a:srgbClr val="9AA7BD"/>
                </a:solidFill>
                <a:latin typeface="Verdana"/>
              </a:rPr>
              <a:t>for LR </a:t>
            </a:r>
            <a:r>
              <a:rPr sz="780" b="0" dirty="0">
                <a:solidFill>
                  <a:srgbClr val="9AA7BD"/>
                </a:solidFill>
                <a:latin typeface="Verdana"/>
              </a:rPr>
              <a:t>and 0.046</a:t>
            </a:r>
            <a:r>
              <a:rPr lang="en-US" sz="780" b="0" dirty="0">
                <a:solidFill>
                  <a:srgbClr val="9AA7BD"/>
                </a:solidFill>
                <a:latin typeface="Verdana"/>
              </a:rPr>
              <a:t> for MLP</a:t>
            </a:r>
            <a:r>
              <a:rPr sz="780" b="0" dirty="0">
                <a:solidFill>
                  <a:srgbClr val="9AA7BD"/>
                </a:solidFill>
                <a:latin typeface="Verdana"/>
              </a:rPr>
              <a:t>. Refuted.</a:t>
            </a:r>
          </a:p>
        </p:txBody>
      </p:sp>
      <p:sp>
        <p:nvSpPr>
          <p:cNvPr id="54" name="TextBox 53"/>
          <p:cNvSpPr txBox="1"/>
          <p:nvPr/>
        </p:nvSpPr>
        <p:spPr>
          <a:xfrm>
            <a:off x="8732520" y="5797296"/>
            <a:ext cx="2834640" cy="173736"/>
          </a:xfrm>
          <a:prstGeom prst="rect">
            <a:avLst/>
          </a:prstGeom>
          <a:noFill/>
        </p:spPr>
        <p:txBody>
          <a:bodyPr wrap="square" lIns="0" tIns="0" rIns="0" bIns="0">
            <a:spAutoFit/>
          </a:bodyPr>
          <a:lstStyle/>
          <a:p>
            <a:r>
              <a:rPr sz="900" b="1">
                <a:solidFill>
                  <a:srgbClr val="E8C15A"/>
                </a:solidFill>
                <a:latin typeface="Verdana"/>
              </a:rPr>
              <a:t>What I cannot claim</a:t>
            </a:r>
          </a:p>
        </p:txBody>
      </p:sp>
      <p:sp>
        <p:nvSpPr>
          <p:cNvPr id="55" name="TextBox 54"/>
          <p:cNvSpPr txBox="1"/>
          <p:nvPr/>
        </p:nvSpPr>
        <p:spPr>
          <a:xfrm>
            <a:off x="8732520" y="5971032"/>
            <a:ext cx="2834640" cy="240066"/>
          </a:xfrm>
          <a:prstGeom prst="rect">
            <a:avLst/>
          </a:prstGeom>
          <a:noFill/>
        </p:spPr>
        <p:txBody>
          <a:bodyPr wrap="square" lIns="0" tIns="0" rIns="0" bIns="0">
            <a:spAutoFit/>
          </a:bodyPr>
          <a:lstStyle/>
          <a:p>
            <a:r>
              <a:rPr sz="780" b="0" dirty="0">
                <a:solidFill>
                  <a:srgbClr val="9AA7BD"/>
                </a:solidFill>
                <a:latin typeface="Verdana"/>
              </a:rPr>
              <a:t>That any model is really fairer. No difference clears zero.</a:t>
            </a:r>
          </a:p>
        </p:txBody>
      </p:sp>
      <p:pic>
        <p:nvPicPr>
          <p:cNvPr id="56" name="Picture 55" descr="forest_new.png"/>
          <p:cNvPicPr>
            <a:picLocks noChangeAspect="1"/>
          </p:cNvPicPr>
          <p:nvPr/>
        </p:nvPicPr>
        <p:blipFill>
          <a:blip r:embed="rId3"/>
          <a:stretch>
            <a:fillRect/>
          </a:stretch>
        </p:blipFill>
        <p:spPr>
          <a:xfrm>
            <a:off x="874039" y="4718304"/>
            <a:ext cx="7441642" cy="1572768"/>
          </a:xfrm>
          <a:prstGeom prst="rect">
            <a:avLst/>
          </a:prstGeom>
        </p:spPr>
      </p:pic>
      <p:sp>
        <p:nvSpPr>
          <p:cNvPr id="8" name="TextBox 7">
            <a:extLst>
              <a:ext uri="{FF2B5EF4-FFF2-40B4-BE49-F238E27FC236}">
                <a16:creationId xmlns:a16="http://schemas.microsoft.com/office/drawing/2014/main" id="{31FBC105-913F-E1B9-2EB3-5ED4823AA72F}"/>
              </a:ext>
            </a:extLst>
          </p:cNvPr>
          <p:cNvSpPr txBox="1"/>
          <p:nvPr/>
        </p:nvSpPr>
        <p:spPr>
          <a:xfrm>
            <a:off x="802433" y="3529584"/>
            <a:ext cx="5308809" cy="646331"/>
          </a:xfrm>
          <a:prstGeom prst="rect">
            <a:avLst/>
          </a:prstGeom>
          <a:noFill/>
        </p:spPr>
        <p:txBody>
          <a:bodyPr wrap="square" rtlCol="0">
            <a:spAutoFit/>
          </a:bodyPr>
          <a:lstStyle/>
          <a:p>
            <a:pPr lvl="0"/>
            <a:endParaRPr lang="en-US" sz="900" b="1" dirty="0">
              <a:solidFill>
                <a:schemeClr val="bg1">
                  <a:lumMod val="65000"/>
                </a:schemeClr>
              </a:solidFill>
              <a:latin typeface="Verdana" panose="020B0604030504040204" pitchFamily="34" charset="0"/>
              <a:ea typeface="Verdana" panose="020B0604030504040204" pitchFamily="34" charset="0"/>
            </a:endParaRPr>
          </a:p>
          <a:p>
            <a:pPr marL="171450" lvl="0" indent="-171450">
              <a:buFont typeface="Arial" panose="020B0604020202020204" pitchFamily="34" charset="0"/>
              <a:buChar char="•"/>
            </a:pPr>
            <a:r>
              <a:rPr lang="en-US" sz="950" b="0" dirty="0">
                <a:solidFill>
                  <a:srgbClr val="9AA7BD"/>
                </a:solidFill>
                <a:latin typeface="Verdana" panose="020B0604030504040204" pitchFamily="34" charset="0"/>
                <a:ea typeface="Verdana" panose="020B0604030504040204" pitchFamily="34" charset="0"/>
              </a:rPr>
              <a:t>No model has a statistically significant nativity recall gap</a:t>
            </a:r>
            <a:endParaRPr lang="en-US" sz="900" dirty="0">
              <a:solidFill>
                <a:schemeClr val="bg1">
                  <a:lumMod val="65000"/>
                </a:schemeClr>
              </a:solidFill>
              <a:latin typeface="Verdana" panose="020B0604030504040204" pitchFamily="34" charset="0"/>
              <a:ea typeface="Verdana" panose="020B0604030504040204" pitchFamily="34" charset="0"/>
            </a:endParaRPr>
          </a:p>
          <a:p>
            <a:pPr marL="171450" lvl="0" indent="-171450">
              <a:buFont typeface="Arial" panose="020B0604020202020204" pitchFamily="34" charset="0"/>
              <a:buChar char="•"/>
            </a:pPr>
            <a:r>
              <a:rPr lang="en-US" sz="950" b="0" dirty="0">
                <a:solidFill>
                  <a:srgbClr val="9AA7BD"/>
                </a:solidFill>
                <a:latin typeface="Verdana" panose="020B0604030504040204" pitchFamily="34" charset="0"/>
                <a:ea typeface="Verdana" panose="020B0604030504040204" pitchFamily="34" charset="0"/>
              </a:rPr>
              <a:t>Every model has a statistically significant sex recall gap</a:t>
            </a:r>
            <a:endParaRPr lang="en-US" sz="900" dirty="0">
              <a:solidFill>
                <a:schemeClr val="bg1">
                  <a:lumMod val="65000"/>
                </a:schemeClr>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endParaRPr lang="en-US" sz="900" dirty="0">
              <a:solidFill>
                <a:schemeClr val="bg1">
                  <a:lumMod val="65000"/>
                </a:schemeClr>
              </a:solidFill>
              <a:latin typeface="Verdana" panose="020B0604030504040204" pitchFamily="34" charset="0"/>
              <a:ea typeface="Verdana" panose="020B060403050404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19</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Handling the group imbalance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Finding a gap is half the job. Closing it and pricing that is the other half</a:t>
            </a:r>
            <a:endParaRPr lang="en-US" sz="1200" dirty="0"/>
          </a:p>
        </p:txBody>
      </p:sp>
      <p:sp>
        <p:nvSpPr>
          <p:cNvPr id="6" name="Shape 4"/>
          <p:cNvSpPr/>
          <p:nvPr/>
        </p:nvSpPr>
        <p:spPr>
          <a:xfrm>
            <a:off x="594360" y="1280160"/>
            <a:ext cx="5760720" cy="2651760"/>
          </a:xfrm>
          <a:prstGeom prst="rect">
            <a:avLst/>
          </a:prstGeom>
          <a:solidFill>
            <a:srgbClr val="FFFFFF"/>
          </a:solidFill>
          <a:ln w="12700">
            <a:solidFill>
              <a:srgbClr val="3A3F4A"/>
            </a:solidFill>
            <a:prstDash val="solid"/>
          </a:ln>
        </p:spPr>
        <p:txBody>
          <a:bodyPr/>
          <a:lstStyle/>
          <a:p>
            <a:endParaRPr lang="en-US"/>
          </a:p>
        </p:txBody>
      </p:sp>
      <p:pic>
        <p:nvPicPr>
          <p:cNvPr id="7" name="Image 0" descr="figs/fig4_cell77.png"/>
          <p:cNvPicPr>
            <a:picLocks noChangeAspect="1"/>
          </p:cNvPicPr>
          <p:nvPr/>
        </p:nvPicPr>
        <p:blipFill>
          <a:blip r:embed="rId3"/>
          <a:stretch>
            <a:fillRect/>
          </a:stretch>
        </p:blipFill>
        <p:spPr>
          <a:xfrm>
            <a:off x="685800" y="1371600"/>
            <a:ext cx="5577840" cy="2468880"/>
          </a:xfrm>
          <a:prstGeom prst="rect">
            <a:avLst/>
          </a:prstGeom>
        </p:spPr>
      </p:pic>
      <p:sp>
        <p:nvSpPr>
          <p:cNvPr id="8" name="Text 5"/>
          <p:cNvSpPr/>
          <p:nvPr/>
        </p:nvSpPr>
        <p:spPr>
          <a:xfrm>
            <a:off x="685800" y="4023360"/>
            <a:ext cx="5577840" cy="32004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Nativity recall gap by model and strategy. Lower is fairer, zero is parity.</a:t>
            </a:r>
            <a:endParaRPr lang="en-US" sz="950" dirty="0"/>
          </a:p>
        </p:txBody>
      </p:sp>
      <p:sp>
        <p:nvSpPr>
          <p:cNvPr id="10" name="Text 7"/>
          <p:cNvSpPr/>
          <p:nvPr/>
        </p:nvSpPr>
        <p:spPr>
          <a:xfrm>
            <a:off x="6858000" y="13716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FOUR STRATEGIES, AND WHAT EACH ONE SHOWED</a:t>
            </a:r>
            <a:endParaRPr lang="en-US" sz="1050" dirty="0"/>
          </a:p>
        </p:txBody>
      </p:sp>
      <p:sp>
        <p:nvSpPr>
          <p:cNvPr id="11" name="Text 8"/>
          <p:cNvSpPr/>
          <p:nvPr/>
        </p:nvSpPr>
        <p:spPr>
          <a:xfrm>
            <a:off x="6858000" y="1737360"/>
            <a:ext cx="46634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Train on the minority group only</a:t>
            </a:r>
            <a:endParaRPr lang="en-US" sz="1000" dirty="0"/>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Only 1,680 training rows</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The female-only XGBoost drops to 0.375 recall on men</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It moved who gets served badly.</a:t>
            </a:r>
            <a:endParaRPr lang="en-US" sz="1000" dirty="0">
              <a:solidFill>
                <a:schemeClr val="bg1">
                  <a:lumMod val="7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Group-balanced oversampling</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Duplicate minority rows until balanced</a:t>
            </a:r>
          </a:p>
          <a:p>
            <a:pPr marL="342900" indent="-342900">
              <a:spcAft>
                <a:spcPts val="700"/>
              </a:spcAft>
              <a:buSzPct val="100000"/>
              <a:buChar char="•"/>
            </a:pPr>
            <a:r>
              <a:rPr lang="en-US" sz="1000" dirty="0" err="1">
                <a:solidFill>
                  <a:srgbClr val="9AA7BD"/>
                </a:solidFill>
                <a:latin typeface="Verdana" panose="020B0604030504040204" pitchFamily="34" charset="0"/>
                <a:ea typeface="Verdana" panose="020B0604030504040204" pitchFamily="34" charset="0"/>
              </a:rPr>
              <a:t>XGBoost</a:t>
            </a:r>
            <a:r>
              <a:rPr lang="en-US" sz="1000" dirty="0">
                <a:solidFill>
                  <a:srgbClr val="9AA7BD"/>
                </a:solidFill>
                <a:latin typeface="Verdana" panose="020B0604030504040204" pitchFamily="34" charset="0"/>
                <a:ea typeface="Verdana" panose="020B0604030504040204" pitchFamily="34" charset="0"/>
              </a:rPr>
              <a:t> nativity recall gap drops from  0.079 to 0.024, for 0.005 decline of F1</a:t>
            </a:r>
          </a:p>
          <a:p>
            <a:pPr marL="342900" indent="-342900">
              <a:spcAft>
                <a:spcPts val="700"/>
              </a:spcAft>
              <a:buSzPct val="100000"/>
              <a:buChar char="•"/>
            </a:pPr>
            <a:r>
              <a:rPr lang="en-US" sz="1000" dirty="0" err="1">
                <a:solidFill>
                  <a:srgbClr val="9AA7BD"/>
                </a:solidFill>
                <a:latin typeface="Verdana" panose="020B0604030504040204" pitchFamily="34" charset="0"/>
                <a:ea typeface="Verdana" panose="020B0604030504040204" pitchFamily="34" charset="0"/>
              </a:rPr>
              <a:t>XGBoost</a:t>
            </a:r>
            <a:r>
              <a:rPr lang="en-US" sz="1000" dirty="0">
                <a:solidFill>
                  <a:srgbClr val="9AA7BD"/>
                </a:solidFill>
                <a:latin typeface="Verdana" panose="020B0604030504040204" pitchFamily="34" charset="0"/>
                <a:ea typeface="Verdana" panose="020B0604030504040204" pitchFamily="34" charset="0"/>
              </a:rPr>
              <a:t> sex recall gap drops from 0.146 to 0.099, for 0.002 decline of F1.</a:t>
            </a: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Group-specific thresholds</a:t>
            </a:r>
          </a:p>
          <a:p>
            <a:pPr marL="171450" lvl="0" indent="-171450">
              <a:buFont typeface="Arial" panose="020B0604020202020204" pitchFamily="34" charset="0"/>
              <a:buChar char="•"/>
            </a:pPr>
            <a:r>
              <a:rPr lang="en-US" sz="1000" dirty="0">
                <a:solidFill>
                  <a:srgbClr val="9AA7BD"/>
                </a:solidFill>
                <a:latin typeface="Verdana" panose="020B0604030504040204" pitchFamily="34" charset="0"/>
                <a:ea typeface="Verdana" panose="020B0604030504040204" pitchFamily="34" charset="0"/>
              </a:rPr>
              <a:t>A different probability cutoff per group, 0.43 US-born and 0.32 foreign-born</a:t>
            </a:r>
          </a:p>
          <a:p>
            <a:pPr marL="171450" lvl="0" indent="-171450">
              <a:buFont typeface="Arial" panose="020B0604020202020204" pitchFamily="34" charset="0"/>
              <a:buChar char="•"/>
            </a:pPr>
            <a:r>
              <a:rPr lang="en-US" sz="1000" dirty="0" err="1">
                <a:solidFill>
                  <a:srgbClr val="9AA7BD"/>
                </a:solidFill>
                <a:latin typeface="Verdana" panose="020B0604030504040204" pitchFamily="34" charset="0"/>
                <a:ea typeface="Verdana" panose="020B0604030504040204" pitchFamily="34" charset="0"/>
              </a:rPr>
              <a:t>XGBoost</a:t>
            </a:r>
            <a:r>
              <a:rPr lang="en-US" sz="1000" dirty="0">
                <a:solidFill>
                  <a:srgbClr val="9AA7BD"/>
                </a:solidFill>
                <a:latin typeface="Verdana" panose="020B0604030504040204" pitchFamily="34" charset="0"/>
                <a:ea typeface="Verdana" panose="020B0604030504040204" pitchFamily="34" charset="0"/>
              </a:rPr>
              <a:t> nativity recall gap drops from 0.079 to −0.011, for 0.012 drop of F1</a:t>
            </a:r>
          </a:p>
          <a:p>
            <a:pPr marL="171450" indent="-171450">
              <a:buFont typeface="Arial" panose="020B0604020202020204" pitchFamily="34" charset="0"/>
              <a:buChar char="•"/>
            </a:pPr>
            <a:r>
              <a:rPr lang="en-US" sz="1000" dirty="0" err="1">
                <a:solidFill>
                  <a:srgbClr val="9AA7BD"/>
                </a:solidFill>
                <a:latin typeface="Verdana" panose="020B0604030504040204" pitchFamily="34" charset="0"/>
                <a:ea typeface="Verdana" panose="020B0604030504040204" pitchFamily="34" charset="0"/>
              </a:rPr>
              <a:t>XGBoost's</a:t>
            </a:r>
            <a:r>
              <a:rPr lang="en-US" sz="1000" dirty="0">
                <a:solidFill>
                  <a:srgbClr val="9AA7BD"/>
                </a:solidFill>
                <a:latin typeface="Verdana" panose="020B0604030504040204" pitchFamily="34" charset="0"/>
                <a:ea typeface="Verdana" panose="020B0604030504040204" pitchFamily="34" charset="0"/>
              </a:rPr>
              <a:t> cutoffs are 0.45 for men and 0.24 for women</a:t>
            </a:r>
          </a:p>
          <a:p>
            <a:pPr marL="171450" indent="-171450">
              <a:buFont typeface="Arial" panose="020B0604020202020204" pitchFamily="34" charset="0"/>
              <a:buChar char="•"/>
            </a:pPr>
            <a:r>
              <a:rPr lang="en-US" sz="1000" dirty="0" err="1">
                <a:solidFill>
                  <a:srgbClr val="9AA7BD"/>
                </a:solidFill>
                <a:latin typeface="Verdana" panose="020B0604030504040204" pitchFamily="34" charset="0"/>
                <a:ea typeface="Verdana" panose="020B0604030504040204" pitchFamily="34" charset="0"/>
              </a:rPr>
              <a:t>XGBoost</a:t>
            </a:r>
            <a:r>
              <a:rPr lang="en-US" sz="1000" dirty="0">
                <a:solidFill>
                  <a:srgbClr val="9AA7BD"/>
                </a:solidFill>
                <a:latin typeface="Verdana" panose="020B0604030504040204" pitchFamily="34" charset="0"/>
                <a:ea typeface="Verdana" panose="020B0604030504040204" pitchFamily="34" charset="0"/>
              </a:rPr>
              <a:t> sex recall gap drops from 0.146 to −0.023, for 0.007 drop of F1</a:t>
            </a:r>
          </a:p>
          <a:p>
            <a:pPr marL="171450" lvl="0" indent="-171450">
              <a:buFont typeface="Arial" panose="020B0604020202020204" pitchFamily="34" charset="0"/>
              <a:buChar char="•"/>
            </a:pPr>
            <a:endParaRPr lang="en-US" sz="1000" dirty="0">
              <a:solidFill>
                <a:schemeClr val="bg1">
                  <a:lumMod val="65000"/>
                </a:schemeClr>
              </a:solidFill>
              <a:latin typeface="Verdana" panose="020B0604030504040204" pitchFamily="34" charset="0"/>
              <a:ea typeface="Verdana" panose="020B0604030504040204" pitchFamily="34" charset="0"/>
            </a:endParaRPr>
          </a:p>
          <a:p>
            <a:pPr>
              <a:spcAft>
                <a:spcPts val="700"/>
              </a:spcAft>
              <a:buSzPct val="100000"/>
            </a:pPr>
            <a:endParaRPr lang="en-US" sz="1000" b="1" dirty="0">
              <a:solidFill>
                <a:srgbClr val="F5F7FA"/>
              </a:solidFill>
              <a:latin typeface="Verdana" pitchFamily="34" charset="0"/>
              <a:ea typeface="Verdana" pitchFamily="34" charset="-122"/>
              <a:cs typeface="Verdana" pitchFamily="34" charset="-120"/>
            </a:endParaRPr>
          </a:p>
          <a:p>
            <a:pPr marL="342900" indent="-342900">
              <a:spcAft>
                <a:spcPts val="700"/>
              </a:spcAft>
              <a:buSzPct val="100000"/>
              <a:buChar char="•"/>
            </a:pPr>
            <a:endParaRPr lang="en-US" sz="1000" b="1" dirty="0">
              <a:solidFill>
                <a:srgbClr val="F5F7FA"/>
              </a:solidFill>
              <a:latin typeface="Verdana" pitchFamily="34" charset="0"/>
              <a:ea typeface="Verdana" pitchFamily="34" charset="-122"/>
              <a:cs typeface="Verdana" pitchFamily="34" charset="-120"/>
            </a:endParaRPr>
          </a:p>
        </p:txBody>
      </p:sp>
      <p:sp>
        <p:nvSpPr>
          <p:cNvPr id="12" name="Shape 9"/>
          <p:cNvSpPr/>
          <p:nvPr/>
        </p:nvSpPr>
        <p:spPr>
          <a:xfrm>
            <a:off x="502920" y="4480560"/>
            <a:ext cx="5989320" cy="187452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685800" y="4599432"/>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WOULD ACTUALLY DEPLOY</a:t>
            </a:r>
            <a:endParaRPr lang="en-US" sz="1050" dirty="0"/>
          </a:p>
        </p:txBody>
      </p:sp>
      <p:sp>
        <p:nvSpPr>
          <p:cNvPr id="14" name="Text 11"/>
          <p:cNvSpPr/>
          <p:nvPr/>
        </p:nvSpPr>
        <p:spPr>
          <a:xfrm>
            <a:off x="685800" y="4892040"/>
            <a:ext cx="5623560" cy="13716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Group thresholds work best, but they use nativity or sex to decide an outcome, which is very likely illegal in lending.</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I would deploy group-balanced oversampling.</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H2 verdict: refuted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XGBoost does not have the smallest US-born vs foreign-born recall gap</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E07A5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E07A5F"/>
                </a:solidFill>
                <a:latin typeface="Verdana" pitchFamily="34" charset="0"/>
                <a:ea typeface="Verdana" pitchFamily="34" charset="-122"/>
                <a:cs typeface="Verdana" pitchFamily="34" charset="-120"/>
              </a:rPr>
              <a:t>REFUTED</a:t>
            </a:r>
            <a:endParaRPr lang="en-US" sz="1050" dirty="0"/>
          </a:p>
        </p:txBody>
      </p:sp>
      <p:sp>
        <p:nvSpPr>
          <p:cNvPr id="6" name="Shape 4"/>
          <p:cNvSpPr/>
          <p:nvPr/>
        </p:nvSpPr>
        <p:spPr>
          <a:xfrm>
            <a:off x="502920" y="1280160"/>
            <a:ext cx="553212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POINT ESTIMATES GO THE OTHER WAY</a:t>
            </a:r>
            <a:endParaRPr lang="en-US" sz="1050" dirty="0"/>
          </a:p>
        </p:txBody>
      </p:sp>
      <p:sp>
        <p:nvSpPr>
          <p:cNvPr id="8" name="Text 6"/>
          <p:cNvSpPr/>
          <p:nvPr/>
        </p:nvSpPr>
        <p:spPr>
          <a:xfrm>
            <a:off x="685800" y="1737360"/>
            <a:ext cx="5166360" cy="18288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Largest raw nativity recall gap at 0.079, against 0.055 for LR and 0.046 for MLP</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Same ordering on sex recall gap: 0.146 for </a:t>
            </a:r>
            <a:r>
              <a:rPr lang="en-US" sz="1100" dirty="0" err="1">
                <a:solidFill>
                  <a:srgbClr val="9AA7BD"/>
                </a:solidFill>
                <a:latin typeface="Verdana" pitchFamily="34" charset="0"/>
                <a:ea typeface="Verdana" pitchFamily="34" charset="-122"/>
                <a:cs typeface="Verdana" pitchFamily="34" charset="-120"/>
              </a:rPr>
              <a:t>XGBoost</a:t>
            </a:r>
            <a:r>
              <a:rPr lang="en-US" sz="1100" dirty="0">
                <a:solidFill>
                  <a:srgbClr val="9AA7BD"/>
                </a:solidFill>
                <a:latin typeface="Verdana" pitchFamily="34" charset="0"/>
                <a:ea typeface="Verdana" pitchFamily="34" charset="-122"/>
                <a:cs typeface="Verdana" pitchFamily="34" charset="-120"/>
              </a:rPr>
              <a:t> against 0.106 for LR and 0.108 for MLP</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The hypothesis predicted the opposite direction</a:t>
            </a:r>
            <a:endParaRPr lang="en-US" sz="1100" dirty="0"/>
          </a:p>
        </p:txBody>
      </p:sp>
      <p:sp>
        <p:nvSpPr>
          <p:cNvPr id="9" name="Shape 7"/>
          <p:cNvSpPr/>
          <p:nvPr/>
        </p:nvSpPr>
        <p:spPr>
          <a:xfrm>
            <a:off x="6217920" y="1280160"/>
            <a:ext cx="5486400" cy="23774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41732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MORE CAREFUL STATEMENT</a:t>
            </a:r>
            <a:endParaRPr lang="en-US" sz="1050" dirty="0"/>
          </a:p>
        </p:txBody>
      </p:sp>
      <p:sp>
        <p:nvSpPr>
          <p:cNvPr id="11" name="Text 9"/>
          <p:cNvSpPr/>
          <p:nvPr/>
        </p:nvSpPr>
        <p:spPr>
          <a:xfrm>
            <a:off x="6400800" y="1737360"/>
            <a:ext cx="5120640" cy="18288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No model is statistically distinguishable from any other on the nativity recall gap</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Every interval on a difference contains zero, fold tests give p = 0.13 to 0.99</a:t>
            </a:r>
          </a:p>
          <a:p>
            <a:pPr marL="342900" indent="-342900">
              <a:spcAft>
                <a:spcPts val="700"/>
              </a:spcAft>
              <a:buSzPct val="100000"/>
              <a:buChar char="•"/>
            </a:pPr>
            <a:r>
              <a:rPr lang="en-US" sz="1100" dirty="0">
                <a:solidFill>
                  <a:srgbClr val="9AA7BD"/>
                </a:solidFill>
                <a:latin typeface="Verdana" panose="020B0604030504040204" pitchFamily="34" charset="0"/>
                <a:ea typeface="Verdana" panose="020B0604030504040204" pitchFamily="34" charset="0"/>
              </a:rPr>
              <a:t>99 foreign-born high earners cannot resolve differences this small between models</a:t>
            </a:r>
            <a:endParaRPr lang="en-US" sz="1100" dirty="0">
              <a:solidFill>
                <a:schemeClr val="bg1">
                  <a:lumMod val="65000"/>
                </a:schemeClr>
              </a:solidFill>
              <a:latin typeface="Verdana" panose="020B0604030504040204" pitchFamily="34" charset="0"/>
              <a:ea typeface="Verdana" panose="020B0604030504040204" pitchFamily="34" charset="0"/>
              <a:cs typeface="Verdana" pitchFamily="34" charset="-120"/>
            </a:endParaRPr>
          </a:p>
        </p:txBody>
      </p:sp>
      <p:sp>
        <p:nvSpPr>
          <p:cNvPr id="12" name="Shape 10"/>
          <p:cNvSpPr/>
          <p:nvPr/>
        </p:nvSpPr>
        <p:spPr>
          <a:xfrm>
            <a:off x="502920" y="3840480"/>
            <a:ext cx="5532120" cy="251460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397764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 CONFOUND I HAVE TO NAME</a:t>
            </a:r>
            <a:endParaRPr lang="en-US" sz="1050" dirty="0"/>
          </a:p>
        </p:txBody>
      </p:sp>
      <p:sp>
        <p:nvSpPr>
          <p:cNvPr id="14" name="Text 12"/>
          <p:cNvSpPr/>
          <p:nvPr/>
        </p:nvSpPr>
        <p:spPr>
          <a:xfrm>
            <a:off x="685800" y="4297680"/>
            <a:ext cx="516636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models sit at different recall levels, 0.72 for XGBoost against 0.82 for LR.</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At matched thresholds, about 0.78 recall, its gap becomes −0.011 and it still has the highest F1.</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part of the raw gap is where its threshold lands.</a:t>
            </a:r>
            <a:endParaRPr lang="en-US" sz="1050" dirty="0"/>
          </a:p>
        </p:txBody>
      </p:sp>
      <p:sp>
        <p:nvSpPr>
          <p:cNvPr id="15" name="Shape 13"/>
          <p:cNvSpPr/>
          <p:nvPr/>
        </p:nvSpPr>
        <p:spPr>
          <a:xfrm>
            <a:off x="6217920" y="3840480"/>
            <a:ext cx="5486400" cy="2514600"/>
          </a:xfrm>
          <a:prstGeom prst="rect">
            <a:avLst/>
          </a:prstGeom>
          <a:solidFill>
            <a:srgbClr val="232631"/>
          </a:solidFill>
          <a:ln w="12700">
            <a:solidFill>
              <a:srgbClr val="3A3F4A"/>
            </a:solidFill>
            <a:prstDash val="solid"/>
          </a:ln>
        </p:spPr>
        <p:txBody>
          <a:bodyPr/>
          <a:lstStyle/>
          <a:p>
            <a:endParaRPr lang="en-US"/>
          </a:p>
        </p:txBody>
      </p:sp>
      <p:sp>
        <p:nvSpPr>
          <p:cNvPr id="16" name="Text 14"/>
          <p:cNvSpPr/>
          <p:nvPr/>
        </p:nvSpPr>
        <p:spPr>
          <a:xfrm>
            <a:off x="6400800" y="397764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IS SETTLED</a:t>
            </a:r>
            <a:endParaRPr lang="en-US" sz="1050" dirty="0"/>
          </a:p>
        </p:txBody>
      </p:sp>
      <p:sp>
        <p:nvSpPr>
          <p:cNvPr id="17" name="Text 15"/>
          <p:cNvSpPr/>
          <p:nvPr/>
        </p:nvSpPr>
        <p:spPr>
          <a:xfrm>
            <a:off x="6400800" y="4297680"/>
            <a:ext cx="51206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All three models miss female high earners by 11 to 15 points more, every interval excluding zero.</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Base rates differ too, 24.6% US-born against 18.7% non-US born, so some gap is inherited from the data.</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H1 verdict: supported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Education drives the over-$50K prediction more than hours worked, on all three models</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5FBF8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5FBF8F"/>
                </a:solidFill>
                <a:latin typeface="Verdana" pitchFamily="34" charset="0"/>
                <a:ea typeface="Verdana" pitchFamily="34" charset="-122"/>
                <a:cs typeface="Verdana" pitchFamily="34" charset="-120"/>
              </a:rPr>
              <a:t>SUPPORTED</a:t>
            </a:r>
            <a:endParaRPr lang="en-US" sz="1050" dirty="0"/>
          </a:p>
        </p:txBody>
      </p:sp>
      <p:sp>
        <p:nvSpPr>
          <p:cNvPr id="6" name="Shape 4"/>
          <p:cNvSpPr/>
          <p:nvPr/>
        </p:nvSpPr>
        <p:spPr>
          <a:xfrm>
            <a:off x="502920" y="1280160"/>
            <a:ext cx="6492240" cy="24688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61264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PERMUTATION IMPORTANCE ON PR-AUC, TEST SET, 20 REPEATS EACH</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126480" cy="1024128"/>
        </p:xfrm>
        <a:graphic>
          <a:graphicData uri="http://schemas.openxmlformats.org/drawingml/2006/table">
            <a:tbl>
              <a:tblPr/>
              <a:tblGrid>
                <a:gridCol w="15087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256032">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Model</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Edu. drop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Hrs drop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Diff</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95% CI</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Wins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Logistic regression</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0.0729</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0.0288</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0.0441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0.0415 – 0.0467</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XGBoost</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0.0588</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0.0196</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0.0392</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0.0374 – 0.0411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MLP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0.0692</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0.0251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0.0441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0.0415 – 0.0467</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3127248"/>
            <a:ext cx="6126480" cy="5486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Education is worth 2.5 to 3× as much as hours to every model, all intervals excluding zero.</a:t>
            </a:r>
            <a:endParaRPr lang="en-US" sz="1050" dirty="0"/>
          </a:p>
        </p:txBody>
      </p:sp>
      <p:sp>
        <p:nvSpPr>
          <p:cNvPr id="10" name="Shape 7"/>
          <p:cNvSpPr/>
          <p:nvPr/>
        </p:nvSpPr>
        <p:spPr>
          <a:xfrm>
            <a:off x="7178040" y="1280160"/>
            <a:ext cx="4526280" cy="2468880"/>
          </a:xfrm>
          <a:prstGeom prst="rect">
            <a:avLst/>
          </a:prstGeom>
          <a:solidFill>
            <a:srgbClr val="232631"/>
          </a:solidFill>
          <a:ln w="12700">
            <a:solidFill>
              <a:srgbClr val="3A3F4A"/>
            </a:solidFill>
            <a:prstDash val="solid"/>
          </a:ln>
        </p:spPr>
        <p:txBody>
          <a:bodyPr/>
          <a:lstStyle/>
          <a:p>
            <a:endParaRPr lang="en-US"/>
          </a:p>
        </p:txBody>
      </p:sp>
      <p:sp>
        <p:nvSpPr>
          <p:cNvPr id="11" name="Text 8"/>
          <p:cNvSpPr/>
          <p:nvPr/>
        </p:nvSpPr>
        <p:spPr>
          <a:xfrm>
            <a:off x="7360920" y="1417320"/>
            <a:ext cx="41605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ONE METHODOLOGICAL DETAIL</a:t>
            </a:r>
            <a:endParaRPr lang="en-US" sz="1050" dirty="0"/>
          </a:p>
        </p:txBody>
      </p:sp>
      <p:sp>
        <p:nvSpPr>
          <p:cNvPr id="12" name="Text 9"/>
          <p:cNvSpPr/>
          <p:nvPr/>
        </p:nvSpPr>
        <p:spPr>
          <a:xfrm>
            <a:off x="7360920" y="1737360"/>
            <a:ext cx="4160520" cy="1920240"/>
          </a:xfrm>
          <a:prstGeom prst="rect">
            <a:avLst/>
          </a:prstGeom>
          <a:noFill/>
          <a:ln/>
        </p:spPr>
        <p:txBody>
          <a:bodyPr wrap="square" lIns="0" tIns="0" rIns="0" bIns="0" rtlCol="0" anchor="t"/>
          <a:lstStyle/>
          <a:p>
            <a:pPr lvl="0"/>
            <a:r>
              <a:rPr lang="en-US" sz="1050" dirty="0">
                <a:solidFill>
                  <a:srgbClr val="9AA7BD"/>
                </a:solidFill>
                <a:latin typeface="Verdana" panose="020B0604030504040204" pitchFamily="34" charset="0"/>
                <a:ea typeface="Verdana" panose="020B0604030504040204" pitchFamily="34" charset="0"/>
              </a:rPr>
              <a:t>Education is one column, </a:t>
            </a:r>
            <a:r>
              <a:rPr lang="en-US" sz="1050" dirty="0" err="1">
                <a:solidFill>
                  <a:srgbClr val="9AA7BD"/>
                </a:solidFill>
                <a:latin typeface="Verdana" panose="020B0604030504040204" pitchFamily="34" charset="0"/>
                <a:ea typeface="Verdana" panose="020B0604030504040204" pitchFamily="34" charset="0"/>
              </a:rPr>
              <a:t>education_num</a:t>
            </a:r>
            <a:r>
              <a:rPr lang="en-US" sz="1050" dirty="0">
                <a:solidFill>
                  <a:srgbClr val="9AA7BD"/>
                </a:solidFill>
                <a:latin typeface="Verdana" panose="020B0604030504040204" pitchFamily="34" charset="0"/>
                <a:ea typeface="Verdana" panose="020B0604030504040204" pitchFamily="34" charset="0"/>
              </a:rPr>
              <a:t>. Hours is six: </a:t>
            </a:r>
            <a:r>
              <a:rPr lang="en-US" sz="1050" dirty="0" err="1">
                <a:solidFill>
                  <a:srgbClr val="9AA7BD"/>
                </a:solidFill>
                <a:latin typeface="Verdana" panose="020B0604030504040204" pitchFamily="34" charset="0"/>
                <a:ea typeface="Verdana" panose="020B0604030504040204" pitchFamily="34" charset="0"/>
              </a:rPr>
              <a:t>hours_per_week</a:t>
            </a:r>
            <a:r>
              <a:rPr lang="en-US" sz="1050" dirty="0">
                <a:solidFill>
                  <a:srgbClr val="9AA7BD"/>
                </a:solidFill>
                <a:latin typeface="Verdana" panose="020B0604030504040204" pitchFamily="34" charset="0"/>
                <a:ea typeface="Verdana" panose="020B0604030504040204" pitchFamily="34" charset="0"/>
              </a:rPr>
              <a:t> plus five bin dummy variables.</a:t>
            </a:r>
          </a:p>
          <a:p>
            <a:pPr lvl="0"/>
            <a:endParaRPr lang="en-US" sz="1050" dirty="0">
              <a:solidFill>
                <a:schemeClr val="bg1">
                  <a:lumMod val="65000"/>
                </a:schemeClr>
              </a:solidFill>
              <a:latin typeface="Verdana" panose="020B0604030504040204" pitchFamily="34" charset="0"/>
              <a:ea typeface="Verdana" panose="020B0604030504040204" pitchFamily="34" charset="0"/>
            </a:endParaRPr>
          </a:p>
          <a:p>
            <a:pPr lvl="0"/>
            <a:r>
              <a:rPr lang="en-US" sz="1050" dirty="0">
                <a:solidFill>
                  <a:srgbClr val="9AA7BD"/>
                </a:solidFill>
                <a:latin typeface="Verdana" panose="020B0604030504040204" pitchFamily="34" charset="0"/>
                <a:ea typeface="Verdana" panose="020B0604030504040204" pitchFamily="34" charset="0"/>
              </a:rPr>
              <a:t>Shuffling just one of them leaves the other five still carrying hours, so hours would look useless.</a:t>
            </a:r>
          </a:p>
          <a:p>
            <a:pPr lvl="0"/>
            <a:endParaRPr lang="en-US" sz="1050" dirty="0">
              <a:solidFill>
                <a:schemeClr val="bg1">
                  <a:lumMod val="65000"/>
                </a:schemeClr>
              </a:solidFill>
              <a:latin typeface="Verdana" panose="020B0604030504040204" pitchFamily="34" charset="0"/>
              <a:ea typeface="Verdana" panose="020B0604030504040204" pitchFamily="34" charset="0"/>
            </a:endParaRPr>
          </a:p>
          <a:p>
            <a:pPr lvl="0"/>
            <a:r>
              <a:rPr lang="en-US" sz="1050" dirty="0">
                <a:solidFill>
                  <a:srgbClr val="9AA7BD"/>
                </a:solidFill>
                <a:latin typeface="Verdana" panose="020B0604030504040204" pitchFamily="34" charset="0"/>
                <a:ea typeface="Verdana" panose="020B0604030504040204" pitchFamily="34" charset="0"/>
              </a:rPr>
              <a:t>So I shuffle all six together, moving each row's hours values as a unit.</a:t>
            </a:r>
          </a:p>
          <a:p>
            <a:pPr marL="0" indent="0">
              <a:spcAft>
                <a:spcPts val="600"/>
              </a:spcAft>
              <a:buNone/>
            </a:pPr>
            <a:endParaRPr lang="en-US" sz="1050" dirty="0">
              <a:solidFill>
                <a:schemeClr val="bg1">
                  <a:lumMod val="65000"/>
                </a:schemeClr>
              </a:solidFill>
              <a:latin typeface="Verdana" panose="020B0604030504040204" pitchFamily="34" charset="0"/>
              <a:ea typeface="Verdana" panose="020B0604030504040204" pitchFamily="34" charset="0"/>
            </a:endParaRPr>
          </a:p>
        </p:txBody>
      </p:sp>
      <p:pic>
        <p:nvPicPr>
          <p:cNvPr id="14" name="Image 0" descr="figs/fig5_cell83.png"/>
          <p:cNvPicPr>
            <a:picLocks noChangeAspect="1"/>
          </p:cNvPicPr>
          <p:nvPr/>
        </p:nvPicPr>
        <p:blipFill>
          <a:blip r:embed="rId3"/>
          <a:stretch>
            <a:fillRect/>
          </a:stretch>
        </p:blipFill>
        <p:spPr>
          <a:xfrm>
            <a:off x="502920" y="3931920"/>
            <a:ext cx="6492240" cy="2120719"/>
          </a:xfrm>
          <a:prstGeom prst="rect">
            <a:avLst/>
          </a:prstGeom>
        </p:spPr>
      </p:pic>
      <p:sp>
        <p:nvSpPr>
          <p:cNvPr id="15" name="Shape 11"/>
          <p:cNvSpPr/>
          <p:nvPr/>
        </p:nvSpPr>
        <p:spPr>
          <a:xfrm>
            <a:off x="7178040" y="3931920"/>
            <a:ext cx="4526280" cy="2423160"/>
          </a:xfrm>
          <a:prstGeom prst="rect">
            <a:avLst/>
          </a:prstGeom>
          <a:solidFill>
            <a:srgbClr val="232631"/>
          </a:solidFill>
          <a:ln w="12700">
            <a:solidFill>
              <a:srgbClr val="3A3F4A"/>
            </a:solidFill>
            <a:prstDash val="solid"/>
          </a:ln>
        </p:spPr>
        <p:txBody>
          <a:bodyPr/>
          <a:lstStyle/>
          <a:p>
            <a:endParaRPr lang="en-US"/>
          </a:p>
        </p:txBody>
      </p:sp>
      <p:sp>
        <p:nvSpPr>
          <p:cNvPr id="16" name="Text 12"/>
          <p:cNvSpPr/>
          <p:nvPr/>
        </p:nvSpPr>
        <p:spPr>
          <a:xfrm>
            <a:off x="7360920" y="4069080"/>
            <a:ext cx="41605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HYPOTHESIS 1 DOES NOT CLAIM</a:t>
            </a:r>
            <a:endParaRPr lang="en-US" sz="1050" dirty="0"/>
          </a:p>
        </p:txBody>
      </p:sp>
      <p:sp>
        <p:nvSpPr>
          <p:cNvPr id="17" name="Text 13"/>
          <p:cNvSpPr/>
          <p:nvPr/>
        </p:nvSpPr>
        <p:spPr>
          <a:xfrm>
            <a:off x="7360920" y="4389120"/>
            <a:ext cx="4160520" cy="182880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It does not claim education is the top feature overall. Capital gain and marital status outrank it.</a:t>
            </a:r>
            <a:endParaRPr lang="en-US" sz="1000" dirty="0"/>
          </a:p>
          <a:p>
            <a:pPr marL="0" indent="0">
              <a:spcAft>
                <a:spcPts val="600"/>
              </a:spcAft>
              <a:buNone/>
            </a:pPr>
            <a:endParaRPr lang="en-US" sz="1000" dirty="0"/>
          </a:p>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Hypothesis 1 is about education against hours specifically.</a:t>
            </a:r>
            <a:endParaRPr lang="en-US" sz="1000" dirty="0"/>
          </a:p>
          <a:p>
            <a:pPr marL="0" indent="0">
              <a:spcAft>
                <a:spcPts val="600"/>
              </a:spcAft>
              <a:buNone/>
            </a:pPr>
            <a:endParaRPr lang="en-US" sz="1000" dirty="0"/>
          </a:p>
          <a:p>
            <a:pPr>
              <a:spcAft>
                <a:spcPts val="600"/>
              </a:spcAft>
            </a:pPr>
            <a:r>
              <a:rPr lang="en-US" sz="1000" dirty="0">
                <a:solidFill>
                  <a:srgbClr val="9AA7BD"/>
                </a:solidFill>
                <a:latin typeface="Verdana" panose="020B0604030504040204" pitchFamily="34" charset="0"/>
                <a:ea typeface="Verdana" panose="020B0604030504040204" pitchFamily="34" charset="0"/>
              </a:rPr>
              <a:t>Three EDA methods already said this: rate spread, a decision tree, and Cohen's d. This is the fourth to say the same.</a:t>
            </a:r>
          </a:p>
        </p:txBody>
      </p:sp>
      <p:sp>
        <p:nvSpPr>
          <p:cNvPr id="8" name="TextBox 7">
            <a:extLst>
              <a:ext uri="{FF2B5EF4-FFF2-40B4-BE49-F238E27FC236}">
                <a16:creationId xmlns:a16="http://schemas.microsoft.com/office/drawing/2014/main" id="{ACD0602B-729A-D8E7-E49E-C46E4CC7D487}"/>
              </a:ext>
            </a:extLst>
          </p:cNvPr>
          <p:cNvSpPr txBox="1"/>
          <p:nvPr/>
        </p:nvSpPr>
        <p:spPr>
          <a:xfrm>
            <a:off x="7269480" y="6355080"/>
            <a:ext cx="4347132" cy="400110"/>
          </a:xfrm>
          <a:prstGeom prst="rect">
            <a:avLst/>
          </a:prstGeom>
          <a:noFill/>
        </p:spPr>
        <p:txBody>
          <a:bodyPr wrap="square" rtlCol="0">
            <a:spAutoFit/>
          </a:bodyPr>
          <a:lstStyle/>
          <a:p>
            <a:r>
              <a:rPr lang="en-US" sz="1000" dirty="0">
                <a:solidFill>
                  <a:srgbClr val="9AA7BD"/>
                </a:solidFill>
              </a:rPr>
              <a:t>*Cohen’s d: the difference between two group means, in standard deviations</a:t>
            </a:r>
          </a:p>
        </p:txBody>
      </p:sp>
      <p:sp>
        <p:nvSpPr>
          <p:cNvPr id="13" name="TextBox 7">
            <a:extLst>
              <a:ext uri="{FF2B5EF4-FFF2-40B4-BE49-F238E27FC236}">
                <a16:creationId xmlns:a16="http://schemas.microsoft.com/office/drawing/2014/main" id="{ACD0602B-729A-D8E7-E49E-C46E4CC7D487}"/>
              </a:ext>
            </a:extLst>
          </p:cNvPr>
          <p:cNvSpPr txBox="1"/>
          <p:nvPr/>
        </p:nvSpPr>
        <p:spPr>
          <a:xfrm>
            <a:off x="502920" y="6144079"/>
            <a:ext cx="6492240" cy="274320"/>
          </a:xfrm>
          <a:prstGeom prst="rect">
            <a:avLst/>
          </a:prstGeom>
          <a:noFill/>
        </p:spPr>
        <p:txBody>
          <a:bodyPr wrap="square" rtlCol="0">
            <a:spAutoFit/>
          </a:bodyPr>
          <a:lstStyle/>
          <a:p>
            <a:r>
              <a:rPr lang="en-US" sz="1000" dirty="0">
                <a:solidFill>
                  <a:srgbClr val="9AA7BD"/>
                </a:solidFill>
              </a:rPr>
              <a:t>Each model with its own native importance measure: signed coefficients, gain, and permutation drop in PR-AUC.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20</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Error analysis: who each model gets wrong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And whether XGBoost’s advantage comes from fixing the baseline’s weakness</a:t>
            </a:r>
            <a:endParaRPr lang="en-US" sz="1200" dirty="0"/>
          </a:p>
        </p:txBody>
      </p:sp>
      <p:sp>
        <p:nvSpPr>
          <p:cNvPr id="6" name="Shape 4"/>
          <p:cNvSpPr/>
          <p:nvPr/>
        </p:nvSpPr>
        <p:spPr>
          <a:xfrm>
            <a:off x="502920" y="1234440"/>
            <a:ext cx="5532120" cy="25146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ERROR COUNTS AND THE MISSED-EARNER PROFILE</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166360" cy="1293876"/>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Missed &gt;50K</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Caught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False alarms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Missed with $0 cap. gain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282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1,286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905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331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1,237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1,130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495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96.6%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3140964"/>
            <a:ext cx="5166360" cy="562356"/>
          </a:xfrm>
          <a:prstGeom prst="rect">
            <a:avLst/>
          </a:prstGeom>
          <a:noFill/>
          <a:ln/>
        </p:spPr>
        <p:txBody>
          <a:bodyPr wrap="square" lIns="0" tIns="0" rIns="0" bIns="0" rtlCol="0" anchor="t"/>
          <a:lstStyle/>
          <a:p>
            <a:pPr marL="0" indent="0">
              <a:spcAft>
                <a:spcPts val="600"/>
              </a:spcAft>
              <a:buNone/>
            </a:pPr>
            <a:r>
              <a:rPr lang="en-US" sz="800" dirty="0">
                <a:solidFill>
                  <a:srgbClr val="9AA7BD"/>
                </a:solidFill>
                <a:latin typeface="Verdana" pitchFamily="34" charset="0"/>
                <a:ea typeface="Verdana" pitchFamily="34" charset="-122"/>
                <a:cs typeface="Verdana" pitchFamily="34" charset="-120"/>
              </a:rPr>
              <a:t>The high earners every model misses look ordinary: almost no capital gain, younger, less educated.</a:t>
            </a:r>
            <a:endParaRPr lang="en-US" sz="800" dirty="0"/>
          </a:p>
        </p:txBody>
      </p:sp>
      <p:sp>
        <p:nvSpPr>
          <p:cNvPr id="10" name="Shape 7"/>
          <p:cNvSpPr/>
          <p:nvPr/>
        </p:nvSpPr>
        <p:spPr>
          <a:xfrm>
            <a:off x="6217920" y="1234440"/>
            <a:ext cx="5486400" cy="2514600"/>
          </a:xfrm>
          <a:prstGeom prst="rect">
            <a:avLst/>
          </a:prstGeom>
          <a:solidFill>
            <a:srgbClr val="1C1E24"/>
          </a:solidFill>
          <a:ln w="12700">
            <a:solidFill>
              <a:srgbClr val="3A3F4A"/>
            </a:solidFill>
            <a:prstDash val="solid"/>
          </a:ln>
        </p:spPr>
        <p:txBody>
          <a:bodyPr/>
          <a:lstStyle/>
          <a:p>
            <a:endParaRPr lang="en-US"/>
          </a:p>
        </p:txBody>
      </p:sp>
      <p:sp>
        <p:nvSpPr>
          <p:cNvPr id="11"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XGBOOST'S ADVANTAGE ACTUALLY LIVES</a:t>
            </a:r>
            <a:endParaRPr lang="en-US" sz="1050" dirty="0"/>
          </a:p>
        </p:txBody>
      </p:sp>
      <p:sp>
        <p:nvSpPr>
          <p:cNvPr id="12" name="Text 9"/>
          <p:cNvSpPr/>
          <p:nvPr/>
        </p:nvSpPr>
        <p:spPr>
          <a:xfrm>
            <a:off x="6400800" y="1737360"/>
            <a:ext cx="5120640" cy="1920240"/>
          </a:xfrm>
          <a:prstGeom prst="rect">
            <a:avLst/>
          </a:prstGeom>
          <a:noFill/>
          <a:ln/>
        </p:spPr>
        <p:txBody>
          <a:bodyPr wrap="square" lIns="0" tIns="0" rIns="0" bIns="0" rtlCol="0" anchor="t"/>
          <a:lstStyle/>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On the 654 rows where </a:t>
            </a: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and LR disagree, </a:t>
            </a: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is right on 454</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Those wins average $460 of capital gain, against $254 on the 200 it loses</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Capital gain acts as a threshold rather than a slope, which is where the models differ</a:t>
            </a:r>
          </a:p>
          <a:p>
            <a:pPr marL="171450" lvl="0" indent="-171450">
              <a:buFont typeface="Arial" panose="020B0604020202020204" pitchFamily="34" charset="0"/>
              <a:buChar char="•"/>
            </a:pP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can split again inside a capital-gain region.</a:t>
            </a:r>
          </a:p>
          <a:p>
            <a:pPr marL="171450" lvl="0" indent="-171450">
              <a:buFont typeface="Arial" panose="020B0604020202020204" pitchFamily="34" charset="0"/>
              <a:buChar char="•"/>
            </a:pPr>
            <a:r>
              <a:rPr lang="en-US" sz="1050" dirty="0">
                <a:solidFill>
                  <a:srgbClr val="9AA7BD"/>
                </a:solidFill>
                <a:latin typeface="Verdana" panose="020B0604030504040204" pitchFamily="34" charset="0"/>
                <a:ea typeface="Verdana" panose="020B0604030504040204" pitchFamily="34" charset="0"/>
              </a:rPr>
              <a:t>LR gives it one coefficient for everybody.</a:t>
            </a:r>
          </a:p>
          <a:p>
            <a:pPr marL="171450" lvl="0" indent="-171450">
              <a:buFont typeface="Arial" panose="020B0604020202020204" pitchFamily="34" charset="0"/>
              <a:buChar char="•"/>
            </a:pPr>
            <a:endParaRPr lang="en-US" sz="1050" dirty="0">
              <a:solidFill>
                <a:schemeClr val="bg1">
                  <a:lumMod val="65000"/>
                </a:schemeClr>
              </a:solidFill>
              <a:latin typeface="Verdana" panose="020B0604030504040204" pitchFamily="34" charset="0"/>
              <a:ea typeface="Verdana" panose="020B0604030504040204" pitchFamily="34" charset="0"/>
            </a:endParaRPr>
          </a:p>
        </p:txBody>
      </p:sp>
      <p:sp>
        <p:nvSpPr>
          <p:cNvPr id="13" name="Shape 10"/>
          <p:cNvSpPr/>
          <p:nvPr/>
        </p:nvSpPr>
        <p:spPr>
          <a:xfrm>
            <a:off x="502920" y="3931920"/>
            <a:ext cx="11201400" cy="2423160"/>
          </a:xfrm>
          <a:prstGeom prst="rect">
            <a:avLst/>
          </a:prstGeom>
          <a:solidFill>
            <a:srgbClr val="1C1E24"/>
          </a:solidFill>
          <a:ln w="12700">
            <a:solidFill>
              <a:srgbClr val="3A3F4A"/>
            </a:solidFill>
            <a:prstDash val="solid"/>
          </a:ln>
        </p:spPr>
        <p:txBody>
          <a:bodyPr/>
          <a:lstStyle/>
          <a:p>
            <a:endParaRPr lang="en-US"/>
          </a:p>
        </p:txBody>
      </p:sp>
      <p:sp>
        <p:nvSpPr>
          <p:cNvPr id="14" name="Text 11"/>
          <p:cNvSpPr/>
          <p:nvPr/>
        </p:nvSpPr>
        <p:spPr>
          <a:xfrm>
            <a:off x="685800" y="40690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BY SUBGROUP: EVERY MODEL FAILS ON THE SAME KIND OF PERSON</a:t>
            </a:r>
            <a:endParaRPr lang="en-US" sz="1050" dirty="0"/>
          </a:p>
        </p:txBody>
      </p:sp>
      <p:graphicFrame>
        <p:nvGraphicFramePr>
          <p:cNvPr id="47" name="Table 1"/>
          <p:cNvGraphicFramePr>
            <a:graphicFrameLocks noGrp="1"/>
          </p:cNvGraphicFramePr>
          <p:nvPr>
            <p:extLst>
              <p:ext uri="{D42A27DB-BD31-4B8C-83A1-F6EECF244321}">
                <p14:modId xmlns:p14="http://schemas.microsoft.com/office/powerpoint/2010/main" val="2846122435"/>
              </p:ext>
            </p:extLst>
          </p:nvPr>
        </p:nvGraphicFramePr>
        <p:xfrm>
          <a:off x="685800" y="4434840"/>
          <a:ext cx="10835640" cy="1536192"/>
        </p:xfrm>
        <a:graphic>
          <a:graphicData uri="http://schemas.openxmlformats.org/drawingml/2006/table">
            <a:tbl>
              <a:tblPr/>
              <a:tblGrid>
                <a:gridCol w="2788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Subgroup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Rows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True &gt;50K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LR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MLP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XGBoost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 9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2,946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0.133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00B050"/>
                          </a:solidFill>
                          <a:latin typeface="Verdana" pitchFamily="34" charset="0"/>
                          <a:ea typeface="Verdana" pitchFamily="34" charset="-122"/>
                          <a:cs typeface="Verdana" pitchFamily="34" charset="-120"/>
                        </a:rPr>
                        <a:t>0.647</a:t>
                      </a:r>
                      <a:endParaRPr lang="en-US" sz="950" dirty="0">
                        <a:solidFill>
                          <a:srgbClr val="00B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0.578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0.488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10–12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1,931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0.199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00B050"/>
                          </a:solidFill>
                          <a:latin typeface="Verdana" pitchFamily="34" charset="0"/>
                          <a:ea typeface="Verdana" pitchFamily="34" charset="-122"/>
                          <a:cs typeface="Verdana" pitchFamily="34" charset="-120"/>
                        </a:rPr>
                        <a:t>0.795</a:t>
                      </a:r>
                      <a:endParaRPr lang="en-US" sz="950" dirty="0">
                        <a:solidFill>
                          <a:srgbClr val="00B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0.761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chemeClr val="accent2">
                              <a:lumMod val="75000"/>
                            </a:schemeClr>
                          </a:solidFill>
                          <a:latin typeface="Verdana" pitchFamily="34" charset="0"/>
                          <a:ea typeface="Verdana" pitchFamily="34" charset="-122"/>
                          <a:cs typeface="Verdana" pitchFamily="34" charset="-120"/>
                        </a:rPr>
                        <a:t>0.668</a:t>
                      </a:r>
                      <a:endParaRPr lang="en-US" sz="950" dirty="0">
                        <a:solidFill>
                          <a:schemeClr val="accent2">
                            <a:lumMod val="75000"/>
                          </a:schemeClr>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13+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1,631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0.486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00B050"/>
                          </a:solidFill>
                          <a:latin typeface="Verdana" pitchFamily="34" charset="0"/>
                          <a:ea typeface="Verdana" pitchFamily="34" charset="-122"/>
                          <a:cs typeface="Verdana" pitchFamily="34" charset="-120"/>
                        </a:rPr>
                        <a:t>0.918</a:t>
                      </a:r>
                      <a:endParaRPr lang="en-US" sz="950" dirty="0">
                        <a:solidFill>
                          <a:srgbClr val="00B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0.907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chemeClr val="accent2">
                              <a:lumMod val="75000"/>
                            </a:schemeClr>
                          </a:solidFill>
                          <a:latin typeface="Verdana" pitchFamily="34" charset="0"/>
                          <a:ea typeface="Verdana" pitchFamily="34" charset="-122"/>
                          <a:cs typeface="Verdana" pitchFamily="34" charset="-120"/>
                        </a:rPr>
                        <a:t>0.861</a:t>
                      </a:r>
                      <a:endParaRPr lang="en-US" sz="950" dirty="0">
                        <a:solidFill>
                          <a:schemeClr val="accent2">
                            <a:lumMod val="75000"/>
                          </a:schemeClr>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Age 17–30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2,038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0.069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00B050"/>
                          </a:solidFill>
                          <a:latin typeface="Verdana" pitchFamily="34" charset="0"/>
                          <a:ea typeface="Verdana" pitchFamily="34" charset="-122"/>
                          <a:cs typeface="Verdana" pitchFamily="34" charset="-120"/>
                        </a:rPr>
                        <a:t>0.603</a:t>
                      </a:r>
                      <a:endParaRPr lang="en-US" sz="950" dirty="0">
                        <a:solidFill>
                          <a:srgbClr val="00B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0.475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0.433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Age 60+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491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0.238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00B050"/>
                          </a:solidFill>
                          <a:latin typeface="Verdana" pitchFamily="34" charset="0"/>
                          <a:ea typeface="Verdana" pitchFamily="34" charset="-122"/>
                          <a:cs typeface="Verdana" pitchFamily="34" charset="-120"/>
                        </a:rPr>
                        <a:t>0.897</a:t>
                      </a:r>
                      <a:endParaRPr lang="en-US" sz="950" dirty="0">
                        <a:solidFill>
                          <a:srgbClr val="00B050"/>
                        </a:solidFill>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0.701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0.607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Overfitting, underfitting, and generalization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Two plots, two different questions</a:t>
            </a:r>
            <a:endParaRPr lang="en-US" sz="1200" dirty="0"/>
          </a:p>
        </p:txBody>
      </p:sp>
      <p:sp>
        <p:nvSpPr>
          <p:cNvPr id="6" name="Shape 4"/>
          <p:cNvSpPr/>
          <p:nvPr/>
        </p:nvSpPr>
        <p:spPr>
          <a:xfrm>
            <a:off x="594360" y="1280160"/>
            <a:ext cx="7498080" cy="2194560"/>
          </a:xfrm>
          <a:prstGeom prst="rect">
            <a:avLst/>
          </a:prstGeom>
          <a:solidFill>
            <a:srgbClr val="FFFFFF"/>
          </a:solidFill>
          <a:ln w="12700">
            <a:solidFill>
              <a:srgbClr val="3A3F4A"/>
            </a:solidFill>
            <a:prstDash val="solid"/>
          </a:ln>
        </p:spPr>
        <p:txBody>
          <a:bodyPr/>
          <a:lstStyle/>
          <a:p>
            <a:endParaRPr lang="en-US"/>
          </a:p>
        </p:txBody>
      </p:sp>
      <p:pic>
        <p:nvPicPr>
          <p:cNvPr id="7" name="Image 0" descr="figs/fig6_cell93.png"/>
          <p:cNvPicPr>
            <a:picLocks noChangeAspect="1"/>
          </p:cNvPicPr>
          <p:nvPr/>
        </p:nvPicPr>
        <p:blipFill>
          <a:blip r:embed="rId3"/>
          <a:stretch>
            <a:fillRect/>
          </a:stretch>
        </p:blipFill>
        <p:spPr>
          <a:xfrm>
            <a:off x="685800" y="1371600"/>
            <a:ext cx="7315200" cy="2011680"/>
          </a:xfrm>
          <a:prstGeom prst="rect">
            <a:avLst/>
          </a:prstGeom>
        </p:spPr>
      </p:pic>
      <p:sp>
        <p:nvSpPr>
          <p:cNvPr id="8" name="Text 5"/>
          <p:cNvSpPr/>
          <p:nvPr/>
        </p:nvSpPr>
        <p:spPr>
          <a:xfrm>
            <a:off x="685800" y="3520440"/>
            <a:ext cx="7315200" cy="3657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Learning curves ask whether more rows would help. All three flatten early.</a:t>
            </a:r>
            <a:endParaRPr lang="en-US" sz="950" dirty="0"/>
          </a:p>
        </p:txBody>
      </p:sp>
      <p:sp>
        <p:nvSpPr>
          <p:cNvPr id="9" name="Shape 6"/>
          <p:cNvSpPr/>
          <p:nvPr/>
        </p:nvSpPr>
        <p:spPr>
          <a:xfrm>
            <a:off x="594360" y="4023360"/>
            <a:ext cx="4023360" cy="2359152"/>
          </a:xfrm>
          <a:prstGeom prst="rect">
            <a:avLst/>
          </a:prstGeom>
          <a:solidFill>
            <a:srgbClr val="FFFFFF"/>
          </a:solidFill>
          <a:ln w="12700">
            <a:solidFill>
              <a:srgbClr val="3A3F4A"/>
            </a:solidFill>
            <a:prstDash val="solid"/>
          </a:ln>
        </p:spPr>
        <p:txBody>
          <a:bodyPr/>
          <a:lstStyle/>
          <a:p>
            <a:endParaRPr lang="en-US"/>
          </a:p>
        </p:txBody>
      </p:sp>
      <p:pic>
        <p:nvPicPr>
          <p:cNvPr id="10" name="Image 1" descr="figs/fig7_cell94.png"/>
          <p:cNvPicPr>
            <a:picLocks noChangeAspect="1"/>
          </p:cNvPicPr>
          <p:nvPr/>
        </p:nvPicPr>
        <p:blipFill>
          <a:blip r:embed="rId4"/>
          <a:stretch>
            <a:fillRect/>
          </a:stretch>
        </p:blipFill>
        <p:spPr>
          <a:xfrm>
            <a:off x="685800" y="4114800"/>
            <a:ext cx="3840480" cy="2176272"/>
          </a:xfrm>
          <a:prstGeom prst="rect">
            <a:avLst/>
          </a:prstGeom>
        </p:spPr>
      </p:pic>
      <p:sp>
        <p:nvSpPr>
          <p:cNvPr id="11" name="Text 7"/>
          <p:cNvSpPr/>
          <p:nvPr/>
        </p:nvSpPr>
        <p:spPr>
          <a:xfrm>
            <a:off x="4846320" y="4206240"/>
            <a:ext cx="4069080" cy="201168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The validation curve asks whether the model fits too hard.</a:t>
            </a:r>
          </a:p>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Training keeps climbing with depth while validation flattens. The tuned depth of 7 sits at that peak.</a:t>
            </a:r>
            <a:endParaRPr lang="en-US" sz="1000" dirty="0"/>
          </a:p>
        </p:txBody>
      </p:sp>
      <p:sp>
        <p:nvSpPr>
          <p:cNvPr id="12" name="Shape 8"/>
          <p:cNvSpPr/>
          <p:nvPr/>
        </p:nvSpPr>
        <p:spPr>
          <a:xfrm>
            <a:off x="9189720" y="1234440"/>
            <a:ext cx="2514600" cy="5120640"/>
          </a:xfrm>
          <a:prstGeom prst="rect">
            <a:avLst/>
          </a:prstGeom>
          <a:solidFill>
            <a:srgbClr val="1C1E24"/>
          </a:solidFill>
          <a:ln w="12700">
            <a:solidFill>
              <a:srgbClr val="3A3F4A"/>
            </a:solidFill>
            <a:prstDash val="solid"/>
          </a:ln>
        </p:spPr>
        <p:txBody>
          <a:bodyPr/>
          <a:lstStyle/>
          <a:p>
            <a:endParaRPr lang="en-US"/>
          </a:p>
        </p:txBody>
      </p:sp>
      <p:sp>
        <p:nvSpPr>
          <p:cNvPr id="13" name="Text 9"/>
          <p:cNvSpPr/>
          <p:nvPr/>
        </p:nvSpPr>
        <p:spPr>
          <a:xfrm>
            <a:off x="9372600" y="1371600"/>
            <a:ext cx="2148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SEPARATES THEM</a:t>
            </a:r>
            <a:endParaRPr lang="en-US" sz="1050" dirty="0"/>
          </a:p>
        </p:txBody>
      </p:sp>
      <p:sp>
        <p:nvSpPr>
          <p:cNvPr id="14" name="Text 10"/>
          <p:cNvSpPr/>
          <p:nvPr/>
        </p:nvSpPr>
        <p:spPr>
          <a:xfrm>
            <a:off x="9372600" y="1691640"/>
            <a:ext cx="2148840" cy="4480560"/>
          </a:xfrm>
          <a:prstGeom prst="rect">
            <a:avLst/>
          </a:prstGeom>
          <a:noFill/>
          <a:ln/>
        </p:spPr>
        <p:txBody>
          <a:bodyPr wrap="square" lIns="0" tIns="0" rIns="0" bIns="0" rtlCol="0" anchor="t"/>
          <a:lstStyle/>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Logistic regression</a:t>
            </a:r>
            <a:endParaRPr lang="en-US" sz="950" dirty="0"/>
          </a:p>
          <a:p>
            <a:pPr marL="342900" indent="-342900">
              <a:spcAft>
                <a:spcPts val="700"/>
              </a:spcAft>
              <a:buSzPct val="100000"/>
              <a:buChar char="•"/>
            </a:pPr>
            <a:r>
              <a:rPr lang="en-US" sz="950" dirty="0">
                <a:solidFill>
                  <a:srgbClr val="9AA7BD"/>
                </a:solidFill>
                <a:latin typeface="Verdana" pitchFamily="34" charset="0"/>
                <a:ea typeface="Verdana" pitchFamily="34" charset="-122"/>
                <a:cs typeface="Verdana" pitchFamily="34" charset="-120"/>
              </a:rPr>
              <a:t>Low variance between training and validation sets. The model has hit its ceiling.</a:t>
            </a:r>
            <a:endParaRPr lang="en-US" sz="950" dirty="0"/>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XGBoost</a:t>
            </a:r>
            <a:endParaRPr lang="en-US" sz="950" dirty="0"/>
          </a:p>
          <a:p>
            <a:pPr marL="342900" indent="-342900">
              <a:spcAft>
                <a:spcPts val="700"/>
              </a:spcAft>
              <a:buSzPct val="100000"/>
              <a:buChar char="•"/>
            </a:pPr>
            <a:r>
              <a:rPr lang="en-US" sz="950" dirty="0">
                <a:solidFill>
                  <a:srgbClr val="9AA7BD"/>
                </a:solidFill>
                <a:latin typeface="Verdana" panose="020B0604030504040204" pitchFamily="34" charset="0"/>
                <a:ea typeface="Verdana" panose="020B0604030504040204" pitchFamily="34" charset="0"/>
              </a:rPr>
              <a:t>Gap narrows from 0.19 to 0.07 with more rows, but never closes. Still the highest validation score of any model.</a:t>
            </a:r>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MLP</a:t>
            </a:r>
          </a:p>
          <a:p>
            <a:pPr marL="342900" indent="-342900">
              <a:spcAft>
                <a:spcPts val="700"/>
              </a:spcAft>
              <a:buSzPct val="100000"/>
              <a:buChar char="•"/>
            </a:pPr>
            <a:r>
              <a:rPr lang="en-US" sz="950" dirty="0">
                <a:solidFill>
                  <a:srgbClr val="9AA7BD"/>
                </a:solidFill>
                <a:latin typeface="Verdana" panose="020B0604030504040204" pitchFamily="34" charset="0"/>
                <a:ea typeface="Verdana" panose="020B0604030504040204" pitchFamily="34" charset="0"/>
              </a:rPr>
              <a:t>Starts lowest, flattens where LR lands. Capable of non-linear structure, but 19,521 rows was not enough to learn it.</a:t>
            </a:r>
            <a:endParaRPr lang="en-US" sz="950" b="1" dirty="0">
              <a:solidFill>
                <a:schemeClr val="bg1">
                  <a:lumMod val="6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Verdict</a:t>
            </a:r>
          </a:p>
          <a:p>
            <a:pPr marL="342900" indent="-342900">
              <a:spcAft>
                <a:spcPts val="700"/>
              </a:spcAft>
              <a:buSzPct val="100000"/>
              <a:buChar char="•"/>
            </a:pPr>
            <a:r>
              <a:rPr lang="en-US" sz="950" dirty="0" err="1">
                <a:solidFill>
                  <a:srgbClr val="9AA7BD"/>
                </a:solidFill>
                <a:latin typeface="Verdana" panose="020B0604030504040204" pitchFamily="34" charset="0"/>
                <a:ea typeface="Verdana" panose="020B0604030504040204" pitchFamily="34" charset="0"/>
              </a:rPr>
              <a:t>XGBoost</a:t>
            </a:r>
            <a:r>
              <a:rPr lang="en-US" sz="950" dirty="0">
                <a:solidFill>
                  <a:srgbClr val="9AA7BD"/>
                </a:solidFill>
                <a:latin typeface="Verdana" panose="020B0604030504040204" pitchFamily="34" charset="0"/>
                <a:ea typeface="Verdana" panose="020B0604030504040204" pitchFamily="34" charset="0"/>
              </a:rPr>
              <a:t> does overfit as tree depth increases, but its win shows up on held-out rows and on every fold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Strengths and limitations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What the methodology did well, and where it specifically falls short</a:t>
            </a:r>
            <a:endParaRPr lang="en-US" sz="1200" dirty="0"/>
          </a:p>
        </p:txBody>
      </p:sp>
      <p:sp>
        <p:nvSpPr>
          <p:cNvPr id="6" name="Shape 4"/>
          <p:cNvSpPr/>
          <p:nvPr/>
        </p:nvSpPr>
        <p:spPr>
          <a:xfrm>
            <a:off x="441960" y="1234440"/>
            <a:ext cx="5654039"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STRENGTHS</a:t>
            </a:r>
            <a:endParaRPr lang="en-US" sz="1050" dirty="0"/>
          </a:p>
        </p:txBody>
      </p:sp>
      <p:sp>
        <p:nvSpPr>
          <p:cNvPr id="8" name="Text 6"/>
          <p:cNvSpPr/>
          <p:nvPr/>
        </p:nvSpPr>
        <p:spPr>
          <a:xfrm>
            <a:off x="685800" y="1737360"/>
            <a:ext cx="516636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Every comparison is backed by a test with an interval</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Where the tests disagreed, I reported the disagreement</a:t>
            </a: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cross-validation is properly paired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All three models saw the same five folds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Leakage is structurally difficult</a:t>
            </a:r>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Scaler and SMOTE refit inside every fold, and each model has its own</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fairness work goes past reporting a gap</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Measured it, put a CI on it, tested three fixes, and checked each one in F1 drop</a:t>
            </a: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hypotheses could be refuted, and one was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Stated with their reasoning before I saw any results</a:t>
            </a:r>
            <a:endParaRPr lang="en-US" sz="1000" dirty="0"/>
          </a:p>
        </p:txBody>
      </p:sp>
      <p:sp>
        <p:nvSpPr>
          <p:cNvPr id="9" name="Shape 7"/>
          <p:cNvSpPr/>
          <p:nvPr/>
        </p:nvSpPr>
        <p:spPr>
          <a:xfrm>
            <a:off x="6217920" y="1234440"/>
            <a:ext cx="5486400" cy="51206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LIMITATIONS</a:t>
            </a:r>
            <a:endParaRPr lang="en-US" sz="1050" dirty="0"/>
          </a:p>
        </p:txBody>
      </p:sp>
      <p:sp>
        <p:nvSpPr>
          <p:cNvPr id="11" name="Text 9"/>
          <p:cNvSpPr/>
          <p:nvPr/>
        </p:nvSpPr>
        <p:spPr>
          <a:xfrm>
            <a:off x="6400800" y="1737360"/>
            <a:ext cx="51206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nativity comparison is underpowered and I could not fix it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99 foreign-born high earners makes the interval too wide to be useful</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Grid search on one validation split, not nested CV</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Best of 26 hyperparameter settings on one fixed set of rows, so the winning validation score is optimistic</a:t>
            </a:r>
            <a:endParaRPr lang="en-US" sz="1000" b="1" dirty="0">
              <a:solidFill>
                <a:schemeClr val="bg1">
                  <a:lumMod val="6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models are compared at the default 0.5 threshold</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They sit at different recall levels, so each model's gap is measured at its own operating point</a:t>
            </a:r>
            <a:endParaRPr lang="en-US" sz="1000" b="1" dirty="0">
              <a:solidFill>
                <a:schemeClr val="bg1">
                  <a:lumMod val="6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No calibration analysis</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All three models overpredict, averaging 0.27 to 0.35 for mean predicted probability against a true rate of 0.241, because SMOTE balanced the training data</a:t>
            </a:r>
            <a:endParaRPr lang="en-US" sz="1000" b="1" dirty="0">
              <a:solidFill>
                <a:schemeClr val="bg1">
                  <a:lumMod val="6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SMOTE on one-hot columns is questionable</a:t>
            </a:r>
          </a:p>
          <a:p>
            <a:pPr marL="342900" indent="-342900">
              <a:spcAft>
                <a:spcPts val="700"/>
              </a:spcAft>
              <a:buSzPct val="100000"/>
              <a:buChar char="•"/>
            </a:pPr>
            <a:r>
              <a:rPr lang="en-US" sz="1000" dirty="0">
                <a:solidFill>
                  <a:schemeClr val="bg1">
                    <a:lumMod val="65000"/>
                  </a:schemeClr>
                </a:solidFill>
                <a:latin typeface="Verdana" panose="020B0604030504040204" pitchFamily="34" charset="0"/>
                <a:ea typeface="Verdana" panose="020B0604030504040204" pitchFamily="34" charset="0"/>
              </a:rPr>
              <a:t>SMOTE blends rows together as weighted average without </a:t>
            </a:r>
            <a:r>
              <a:rPr lang="en-US" sz="1000">
                <a:solidFill>
                  <a:schemeClr val="bg1">
                    <a:lumMod val="65000"/>
                  </a:schemeClr>
                </a:solidFill>
                <a:latin typeface="Verdana" panose="020B0604030504040204" pitchFamily="34" charset="0"/>
                <a:ea typeface="Verdana" panose="020B0604030504040204" pitchFamily="34" charset="0"/>
              </a:rPr>
              <a:t>knowing one-hot </a:t>
            </a:r>
            <a:r>
              <a:rPr lang="en-US" sz="1000" dirty="0">
                <a:solidFill>
                  <a:schemeClr val="bg1">
                    <a:lumMod val="65000"/>
                  </a:schemeClr>
                </a:solidFill>
                <a:latin typeface="Verdana" panose="020B0604030504040204" pitchFamily="34" charset="0"/>
                <a:ea typeface="Verdana" panose="020B0604030504040204" pitchFamily="34" charset="0"/>
              </a:rPr>
              <a:t>columns belong together, so a category can land at 0.4</a:t>
            </a:r>
            <a:endParaRPr lang="en-US" sz="1000" b="1" dirty="0">
              <a:solidFill>
                <a:schemeClr val="bg1">
                  <a:lumMod val="65000"/>
                </a:schemeClr>
              </a:solidFill>
              <a:latin typeface="Verdana" panose="020B0604030504040204" pitchFamily="34" charset="0"/>
              <a:ea typeface="Verdana" panose="020B0604030504040204" pitchFamily="34" charset="0"/>
              <a:cs typeface="Verdana"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Bias and broader societal impact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Who is affected if this is deployed, and how it could cause harm</a:t>
            </a:r>
            <a:endParaRPr lang="en-US" sz="1200" dirty="0"/>
          </a:p>
        </p:txBody>
      </p:sp>
      <p:sp>
        <p:nvSpPr>
          <p:cNvPr id="6" name="Shape 4"/>
          <p:cNvSpPr/>
          <p:nvPr/>
        </p:nvSpPr>
        <p:spPr>
          <a:xfrm>
            <a:off x="502920" y="1234440"/>
            <a:ext cx="5532120"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BIASES IN THE DATA, THE LABEL, AND THE SAMPLING</a:t>
            </a:r>
            <a:endParaRPr lang="en-US" sz="1050" dirty="0"/>
          </a:p>
        </p:txBody>
      </p:sp>
      <p:sp>
        <p:nvSpPr>
          <p:cNvPr id="8" name="Text 6"/>
          <p:cNvSpPr/>
          <p:nvPr/>
        </p:nvSpPr>
        <p:spPr>
          <a:xfrm>
            <a:off x="685800" y="1737360"/>
            <a:ext cx="516636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data is a 1994 census extract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It inherits that period’s wage and education gaps, and is three decades old</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label is itself a bias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$50K meant something in 1994, about $105K today, and income is a rough proxy for creditworthiness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sampling is uneven where it matters most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Foreign-born people are 9% of the data and women are 33%</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model does perform differently across subgroups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Female recall score is 11 to 15 points lower than Male.</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Missingness is not random</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Workclass and occupation go missing together, so Unknown carries meaning</a:t>
            </a:r>
            <a:endParaRPr lang="en-US" sz="1000" dirty="0"/>
          </a:p>
        </p:txBody>
      </p:sp>
      <p:sp>
        <p:nvSpPr>
          <p:cNvPr id="9" name="Shape 7"/>
          <p:cNvSpPr/>
          <p:nvPr/>
        </p:nvSpPr>
        <p:spPr>
          <a:xfrm>
            <a:off x="6217920" y="1234440"/>
            <a:ext cx="5486400" cy="51206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IF THIS WERE DEPLOYED</a:t>
            </a:r>
            <a:endParaRPr lang="en-US" sz="1050" dirty="0"/>
          </a:p>
        </p:txBody>
      </p:sp>
      <p:sp>
        <p:nvSpPr>
          <p:cNvPr id="11" name="Text 9"/>
          <p:cNvSpPr/>
          <p:nvPr/>
        </p:nvSpPr>
        <p:spPr>
          <a:xfrm>
            <a:off x="6400800" y="1737360"/>
            <a:ext cx="51206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Who is affected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Applicants screened out. Those false negatives land more often on women</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obvious misuse</a:t>
            </a:r>
          </a:p>
          <a:p>
            <a:pPr marL="342900" indent="-342900">
              <a:spcAft>
                <a:spcPts val="700"/>
              </a:spcAft>
              <a:buSzPct val="100000"/>
              <a:buFontTx/>
              <a:buChar char="•"/>
            </a:pPr>
            <a:r>
              <a:rPr lang="en-US" sz="1000" dirty="0">
                <a:solidFill>
                  <a:srgbClr val="9AA7BD"/>
                </a:solidFill>
                <a:latin typeface="Verdana" panose="020B0604030504040204" pitchFamily="34" charset="0"/>
                <a:ea typeface="Verdana" panose="020B0604030504040204" pitchFamily="34" charset="0"/>
              </a:rPr>
              <a:t>Using a prediction as the stated reason for a denial. Correlations from 1994 are not reasons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A second misuse: the fairness fix itself</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They use nativity or sex at prediction time, very likely illegal in lending</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deeper problem</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 model can be fair on one metric and unfair on another. Group accuracy would have said the opposite</a:t>
            </a:r>
          </a:p>
          <a:p>
            <a:pPr marL="342900" indent="-342900">
              <a:spcAft>
                <a:spcPts val="700"/>
              </a:spcAft>
              <a:buSzPct val="100000"/>
              <a:buChar char="•"/>
            </a:pPr>
            <a:r>
              <a:rPr lang="en-US" sz="1000" dirty="0" err="1">
                <a:solidFill>
                  <a:srgbClr val="9AA7BD"/>
                </a:solidFill>
                <a:latin typeface="Verdana" panose="020B0604030504040204" pitchFamily="34" charset="0"/>
                <a:ea typeface="Verdana" panose="020B0604030504040204" pitchFamily="34" charset="0"/>
              </a:rPr>
              <a:t>XGBoost</a:t>
            </a:r>
            <a:r>
              <a:rPr lang="en-US" sz="1000" dirty="0">
                <a:solidFill>
                  <a:srgbClr val="9AA7BD"/>
                </a:solidFill>
                <a:latin typeface="Verdana" panose="020B0604030504040204" pitchFamily="34" charset="0"/>
                <a:ea typeface="Verdana" panose="020B0604030504040204" pitchFamily="34" charset="0"/>
              </a:rPr>
              <a:t> is 93.5% accurate on women against 81.8% on men, and catches 59.8% of female high earners against 74.3% of male ones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Takeaway lessons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Technical and process, from doing the project</a:t>
            </a:r>
            <a:endParaRPr lang="en-US" sz="1200" dirty="0"/>
          </a:p>
        </p:txBody>
      </p:sp>
      <p:sp>
        <p:nvSpPr>
          <p:cNvPr id="6" name="Shape 4"/>
          <p:cNvSpPr/>
          <p:nvPr/>
        </p:nvSpPr>
        <p:spPr>
          <a:xfrm>
            <a:off x="502920" y="1234440"/>
            <a:ext cx="365760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1</a:t>
            </a:r>
            <a:endParaRPr lang="en-US" sz="1400" dirty="0"/>
          </a:p>
        </p:txBody>
      </p:sp>
      <p:sp>
        <p:nvSpPr>
          <p:cNvPr id="8" name="Text 6"/>
          <p:cNvSpPr/>
          <p:nvPr/>
        </p:nvSpPr>
        <p:spPr>
          <a:xfrm>
            <a:off x="1051560" y="1371600"/>
            <a:ext cx="29260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A test can be structurally incapable of answering</a:t>
            </a:r>
            <a:endParaRPr lang="en-US" sz="1200" dirty="0"/>
          </a:p>
        </p:txBody>
      </p:sp>
      <p:sp>
        <p:nvSpPr>
          <p:cNvPr id="9" name="Text 7"/>
          <p:cNvSpPr/>
          <p:nvPr/>
        </p:nvSpPr>
        <p:spPr>
          <a:xfrm>
            <a:off x="685800" y="2148840"/>
            <a:ext cx="3291840" cy="13258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Wilcoxon returned exactly 0.0625 on every clean result because that is its floor at five folds.</a:t>
            </a:r>
            <a:endParaRPr lang="en-US" sz="1050" dirty="0"/>
          </a:p>
        </p:txBody>
      </p:sp>
      <p:sp>
        <p:nvSpPr>
          <p:cNvPr id="10" name="Shape 8"/>
          <p:cNvSpPr/>
          <p:nvPr/>
        </p:nvSpPr>
        <p:spPr>
          <a:xfrm>
            <a:off x="4343400" y="1234440"/>
            <a:ext cx="3657600" cy="237744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452628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2</a:t>
            </a:r>
            <a:endParaRPr lang="en-US" sz="1400" dirty="0"/>
          </a:p>
        </p:txBody>
      </p:sp>
      <p:sp>
        <p:nvSpPr>
          <p:cNvPr id="12" name="Text 10"/>
          <p:cNvSpPr/>
          <p:nvPr/>
        </p:nvSpPr>
        <p:spPr>
          <a:xfrm>
            <a:off x="4892040" y="1371600"/>
            <a:ext cx="29260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Shared mutable objects silently corrupt results</a:t>
            </a:r>
            <a:endParaRPr lang="en-US" sz="1200" dirty="0"/>
          </a:p>
        </p:txBody>
      </p:sp>
      <p:sp>
        <p:nvSpPr>
          <p:cNvPr id="13" name="Text 11"/>
          <p:cNvSpPr/>
          <p:nvPr/>
        </p:nvSpPr>
        <p:spPr>
          <a:xfrm>
            <a:off x="4526280" y="2148840"/>
            <a:ext cx="3291840" cy="1325880"/>
          </a:xfrm>
          <a:prstGeom prst="rect">
            <a:avLst/>
          </a:prstGeom>
          <a:noFill/>
          <a:ln/>
        </p:spPr>
        <p:txBody>
          <a:bodyPr wrap="square" lIns="0" tIns="0" rIns="0" bIns="0" rtlCol="0" anchor="t"/>
          <a:lstStyle/>
          <a:p>
            <a:pPr>
              <a:spcAft>
                <a:spcPts val="600"/>
              </a:spcAft>
            </a:pPr>
            <a:r>
              <a:rPr lang="en-US" sz="1050" dirty="0">
                <a:solidFill>
                  <a:srgbClr val="9AA7BD"/>
                </a:solidFill>
                <a:latin typeface="Verdana" panose="020B0604030504040204" pitchFamily="34" charset="0"/>
                <a:ea typeface="Verdana" panose="020B0604030504040204" pitchFamily="34" charset="0"/>
              </a:rPr>
              <a:t>They originally shared one scaler object. Fitting one pipeline refit that shared scaler, changing the other two, and </a:t>
            </a:r>
            <a:r>
              <a:rPr lang="en-US" sz="1050" dirty="0" err="1">
                <a:solidFill>
                  <a:srgbClr val="9AA7BD"/>
                </a:solidFill>
                <a:latin typeface="Verdana" panose="020B0604030504040204" pitchFamily="34" charset="0"/>
                <a:ea typeface="Verdana" panose="020B0604030504040204" pitchFamily="34" charset="0"/>
              </a:rPr>
              <a:t>XGBoost's</a:t>
            </a:r>
            <a:r>
              <a:rPr lang="en-US" sz="1050" dirty="0">
                <a:solidFill>
                  <a:srgbClr val="9AA7BD"/>
                </a:solidFill>
                <a:latin typeface="Verdana" panose="020B0604030504040204" pitchFamily="34" charset="0"/>
                <a:ea typeface="Verdana" panose="020B0604030504040204" pitchFamily="34" charset="0"/>
              </a:rPr>
              <a:t> PR-AUC read 0.744 instead of 0.805 with no error raised.</a:t>
            </a:r>
          </a:p>
        </p:txBody>
      </p:sp>
      <p:sp>
        <p:nvSpPr>
          <p:cNvPr id="14" name="Shape 12"/>
          <p:cNvSpPr/>
          <p:nvPr/>
        </p:nvSpPr>
        <p:spPr>
          <a:xfrm>
            <a:off x="8183880" y="1234440"/>
            <a:ext cx="3520440" cy="237744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836676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3</a:t>
            </a:r>
            <a:endParaRPr lang="en-US" sz="1400" dirty="0"/>
          </a:p>
        </p:txBody>
      </p:sp>
      <p:sp>
        <p:nvSpPr>
          <p:cNvPr id="16" name="Text 14"/>
          <p:cNvSpPr/>
          <p:nvPr/>
        </p:nvSpPr>
        <p:spPr>
          <a:xfrm>
            <a:off x="8732520" y="1371600"/>
            <a:ext cx="278892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Confidence intervals beat p-values when the answer is 'you cannot tell'</a:t>
            </a:r>
            <a:endParaRPr lang="en-US" sz="1200" dirty="0"/>
          </a:p>
        </p:txBody>
      </p:sp>
      <p:sp>
        <p:nvSpPr>
          <p:cNvPr id="17" name="Text 15"/>
          <p:cNvSpPr/>
          <p:nvPr/>
        </p:nvSpPr>
        <p:spPr>
          <a:xfrm>
            <a:off x="8366760" y="2148840"/>
            <a:ext cx="3154680" cy="13258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finding is not that the models are equal. It is that 99 people cannot distinguish them.</a:t>
            </a:r>
            <a:endParaRPr lang="en-US" sz="1050" dirty="0"/>
          </a:p>
        </p:txBody>
      </p:sp>
      <p:sp>
        <p:nvSpPr>
          <p:cNvPr id="18" name="Shape 16"/>
          <p:cNvSpPr/>
          <p:nvPr/>
        </p:nvSpPr>
        <p:spPr>
          <a:xfrm>
            <a:off x="502920" y="3840480"/>
            <a:ext cx="5532120" cy="251460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685800" y="397764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4</a:t>
            </a:r>
            <a:endParaRPr lang="en-US" sz="1400" dirty="0"/>
          </a:p>
        </p:txBody>
      </p:sp>
      <p:sp>
        <p:nvSpPr>
          <p:cNvPr id="20" name="Text 18"/>
          <p:cNvSpPr/>
          <p:nvPr/>
        </p:nvSpPr>
        <p:spPr>
          <a:xfrm>
            <a:off x="1051560" y="3977640"/>
            <a:ext cx="480060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The most accurate model is not automatically the fairest</a:t>
            </a:r>
            <a:endParaRPr lang="en-US" sz="1200" dirty="0"/>
          </a:p>
        </p:txBody>
      </p:sp>
      <p:sp>
        <p:nvSpPr>
          <p:cNvPr id="21" name="Text 19"/>
          <p:cNvSpPr/>
          <p:nvPr/>
        </p:nvSpPr>
        <p:spPr>
          <a:xfrm>
            <a:off x="685800" y="4754880"/>
            <a:ext cx="5166360" cy="1463040"/>
          </a:xfrm>
          <a:prstGeom prst="rect">
            <a:avLst/>
          </a:prstGeom>
          <a:noFill/>
          <a:ln/>
        </p:spPr>
        <p:txBody>
          <a:bodyPr wrap="square" lIns="0" tIns="0" rIns="0" bIns="0" rtlCol="0" anchor="t"/>
          <a:lstStyle/>
          <a:p>
            <a:pPr>
              <a:spcAft>
                <a:spcPts val="600"/>
              </a:spcAft>
            </a:pPr>
            <a:r>
              <a:rPr lang="en-US" sz="1050" dirty="0" err="1">
                <a:solidFill>
                  <a:srgbClr val="9AA7BD"/>
                </a:solidFill>
                <a:latin typeface="Verdana" panose="020B0604030504040204" pitchFamily="34" charset="0"/>
                <a:ea typeface="Verdana" panose="020B0604030504040204" pitchFamily="34" charset="0"/>
              </a:rPr>
              <a:t>XGBoost</a:t>
            </a:r>
            <a:r>
              <a:rPr lang="en-US" sz="1050" dirty="0">
                <a:solidFill>
                  <a:srgbClr val="9AA7BD"/>
                </a:solidFill>
                <a:latin typeface="Verdana" panose="020B0604030504040204" pitchFamily="34" charset="0"/>
                <a:ea typeface="Verdana" panose="020B0604030504040204" pitchFamily="34" charset="0"/>
              </a:rPr>
              <a:t> won on PR-AUC and had the largest recall gaps on both axes, 0.079 by nativity and 0.146 by sex. Auditing inside the comparison is what showed it.</a:t>
            </a:r>
          </a:p>
        </p:txBody>
      </p:sp>
      <p:sp>
        <p:nvSpPr>
          <p:cNvPr id="22" name="Shape 20"/>
          <p:cNvSpPr/>
          <p:nvPr/>
        </p:nvSpPr>
        <p:spPr>
          <a:xfrm>
            <a:off x="6217920" y="3840480"/>
            <a:ext cx="5486400" cy="251460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6400800" y="397764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5</a:t>
            </a:r>
            <a:endParaRPr lang="en-US" sz="1400" dirty="0"/>
          </a:p>
        </p:txBody>
      </p:sp>
      <p:sp>
        <p:nvSpPr>
          <p:cNvPr id="24" name="Text 22"/>
          <p:cNvSpPr/>
          <p:nvPr/>
        </p:nvSpPr>
        <p:spPr>
          <a:xfrm>
            <a:off x="6766560" y="3977640"/>
            <a:ext cx="47548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Group accuracy and group recall can point in opposite directions</a:t>
            </a:r>
            <a:endParaRPr lang="en-US" sz="1200" dirty="0"/>
          </a:p>
        </p:txBody>
      </p:sp>
      <p:sp>
        <p:nvSpPr>
          <p:cNvPr id="25" name="Text 23"/>
          <p:cNvSpPr/>
          <p:nvPr/>
        </p:nvSpPr>
        <p:spPr>
          <a:xfrm>
            <a:off x="6400800" y="4754880"/>
            <a:ext cx="5120640" cy="1463040"/>
          </a:xfrm>
          <a:prstGeom prst="rect">
            <a:avLst/>
          </a:prstGeom>
          <a:noFill/>
          <a:ln/>
        </p:spPr>
        <p:txBody>
          <a:bodyPr wrap="square" lIns="0" tIns="0" rIns="0" bIns="0" rtlCol="0" anchor="t"/>
          <a:lstStyle/>
          <a:p>
            <a:pPr>
              <a:spcAft>
                <a:spcPts val="600"/>
              </a:spcAft>
            </a:pPr>
            <a:r>
              <a:rPr lang="en-US" sz="1050" dirty="0" err="1">
                <a:solidFill>
                  <a:srgbClr val="9AA7BD"/>
                </a:solidFill>
                <a:latin typeface="Verdana" panose="020B0604030504040204" pitchFamily="34" charset="0"/>
                <a:ea typeface="Verdana" panose="020B0604030504040204" pitchFamily="34" charset="0"/>
              </a:rPr>
              <a:t>XGBoost is 93.5% accurate on women and catches 59.8% of the women who earn over $50K. Accuracy is the wrong metric to read here.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Conclusion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Restating the research questions and the verdicts</a:t>
            </a:r>
            <a:endParaRPr lang="en-US" sz="1200" dirty="0"/>
          </a:p>
        </p:txBody>
      </p:sp>
      <p:sp>
        <p:nvSpPr>
          <p:cNvPr id="6" name="Shape 4"/>
          <p:cNvSpPr/>
          <p:nvPr/>
        </p:nvSpPr>
        <p:spPr>
          <a:xfrm>
            <a:off x="502920" y="1234440"/>
            <a:ext cx="7863840" cy="10972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4416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H1</a:t>
            </a:r>
            <a:endParaRPr lang="en-US" sz="1500" dirty="0"/>
          </a:p>
        </p:txBody>
      </p:sp>
      <p:sp>
        <p:nvSpPr>
          <p:cNvPr id="8" name="Shape 6"/>
          <p:cNvSpPr/>
          <p:nvPr/>
        </p:nvSpPr>
        <p:spPr>
          <a:xfrm>
            <a:off x="658368" y="1783080"/>
            <a:ext cx="1051560" cy="310896"/>
          </a:xfrm>
          <a:prstGeom prst="rect">
            <a:avLst/>
          </a:prstGeom>
          <a:solidFill>
            <a:srgbClr val="20242E"/>
          </a:solidFill>
          <a:ln w="12700">
            <a:solidFill>
              <a:srgbClr val="5FBF8F"/>
            </a:solidFill>
            <a:prstDash val="solid"/>
          </a:ln>
        </p:spPr>
        <p:txBody>
          <a:bodyPr/>
          <a:lstStyle/>
          <a:p>
            <a:endParaRPr lang="en-US"/>
          </a:p>
        </p:txBody>
      </p:sp>
      <p:sp>
        <p:nvSpPr>
          <p:cNvPr id="9" name="Text 7"/>
          <p:cNvSpPr/>
          <p:nvPr/>
        </p:nvSpPr>
        <p:spPr>
          <a:xfrm>
            <a:off x="658368" y="1783080"/>
            <a:ext cx="1051560" cy="310896"/>
          </a:xfrm>
          <a:prstGeom prst="rect">
            <a:avLst/>
          </a:prstGeom>
          <a:noFill/>
          <a:ln/>
        </p:spPr>
        <p:txBody>
          <a:bodyPr wrap="square" lIns="0" tIns="0" rIns="0" bIns="0" rtlCol="0" anchor="ctr"/>
          <a:lstStyle/>
          <a:p>
            <a:pPr marL="0" indent="0" algn="ctr">
              <a:buNone/>
            </a:pPr>
            <a:r>
              <a:rPr lang="en-US" sz="800" b="1" dirty="0">
                <a:solidFill>
                  <a:srgbClr val="5FBF8F"/>
                </a:solidFill>
                <a:latin typeface="Verdana" pitchFamily="34" charset="0"/>
                <a:ea typeface="Verdana" pitchFamily="34" charset="-122"/>
                <a:cs typeface="Verdana" pitchFamily="34" charset="-120"/>
              </a:rPr>
              <a:t>SUPPORTED</a:t>
            </a:r>
            <a:endParaRPr lang="en-US" sz="800" dirty="0"/>
          </a:p>
        </p:txBody>
      </p:sp>
      <p:sp>
        <p:nvSpPr>
          <p:cNvPr id="10" name="Text 8"/>
          <p:cNvSpPr/>
          <p:nvPr/>
        </p:nvSpPr>
        <p:spPr>
          <a:xfrm>
            <a:off x="1874520" y="1325880"/>
            <a:ext cx="6309360" cy="274320"/>
          </a:xfrm>
          <a:prstGeom prst="rect">
            <a:avLst/>
          </a:prstGeom>
          <a:noFill/>
          <a:ln/>
        </p:spPr>
        <p:txBody>
          <a:bodyPr wrap="square" lIns="0" tIns="0" rIns="0" bIns="0" rtlCol="0" anchor="ctr"/>
          <a:lstStyle/>
          <a:p>
            <a:pPr marL="0" indent="0">
              <a:buNone/>
            </a:pPr>
            <a:r>
              <a:rPr lang="en-US" sz="1100" b="1" dirty="0">
                <a:solidFill>
                  <a:srgbClr val="F5F7FA"/>
                </a:solidFill>
                <a:latin typeface="Verdana" pitchFamily="34" charset="0"/>
                <a:ea typeface="Verdana" pitchFamily="34" charset="-122"/>
                <a:cs typeface="Verdana" pitchFamily="34" charset="-120"/>
              </a:rPr>
              <a:t>Which feature drives the prediction more, education or hours worked?</a:t>
            </a:r>
            <a:endParaRPr lang="en-US" sz="1100" dirty="0"/>
          </a:p>
        </p:txBody>
      </p:sp>
      <p:sp>
        <p:nvSpPr>
          <p:cNvPr id="11" name="Text 9"/>
          <p:cNvSpPr/>
          <p:nvPr/>
        </p:nvSpPr>
        <p:spPr>
          <a:xfrm>
            <a:off x="1874520" y="161848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Education is worth 2.5 to 3× as much as hours worked on every model, with all three CIs excluding zero.</a:t>
            </a:r>
            <a:endParaRPr lang="en-US" sz="950" dirty="0"/>
          </a:p>
        </p:txBody>
      </p:sp>
      <p:sp>
        <p:nvSpPr>
          <p:cNvPr id="12" name="Shape 10"/>
          <p:cNvSpPr/>
          <p:nvPr/>
        </p:nvSpPr>
        <p:spPr>
          <a:xfrm>
            <a:off x="502920" y="2468880"/>
            <a:ext cx="7863840" cy="109728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685800" y="257860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H2</a:t>
            </a:r>
            <a:endParaRPr lang="en-US" sz="1500" dirty="0"/>
          </a:p>
        </p:txBody>
      </p:sp>
      <p:sp>
        <p:nvSpPr>
          <p:cNvPr id="14" name="Shape 12"/>
          <p:cNvSpPr/>
          <p:nvPr/>
        </p:nvSpPr>
        <p:spPr>
          <a:xfrm>
            <a:off x="658368" y="3017520"/>
            <a:ext cx="1051560" cy="310896"/>
          </a:xfrm>
          <a:prstGeom prst="rect">
            <a:avLst/>
          </a:prstGeom>
          <a:solidFill>
            <a:srgbClr val="20242E"/>
          </a:solidFill>
          <a:ln w="12700">
            <a:solidFill>
              <a:srgbClr val="E07A5F"/>
            </a:solidFill>
            <a:prstDash val="solid"/>
          </a:ln>
        </p:spPr>
        <p:txBody>
          <a:bodyPr/>
          <a:lstStyle/>
          <a:p>
            <a:endParaRPr lang="en-US"/>
          </a:p>
        </p:txBody>
      </p:sp>
      <p:sp>
        <p:nvSpPr>
          <p:cNvPr id="15" name="Text 13"/>
          <p:cNvSpPr/>
          <p:nvPr/>
        </p:nvSpPr>
        <p:spPr>
          <a:xfrm>
            <a:off x="658368" y="3017520"/>
            <a:ext cx="1051560" cy="310896"/>
          </a:xfrm>
          <a:prstGeom prst="rect">
            <a:avLst/>
          </a:prstGeom>
          <a:noFill/>
          <a:ln/>
        </p:spPr>
        <p:txBody>
          <a:bodyPr wrap="square" lIns="0" tIns="0" rIns="0" bIns="0" rtlCol="0" anchor="ctr"/>
          <a:lstStyle/>
          <a:p>
            <a:pPr marL="0" indent="0" algn="ctr">
              <a:buNone/>
            </a:pPr>
            <a:r>
              <a:rPr lang="en-US" sz="800" b="1" dirty="0">
                <a:solidFill>
                  <a:srgbClr val="E07A5F"/>
                </a:solidFill>
                <a:latin typeface="Verdana" pitchFamily="34" charset="0"/>
                <a:ea typeface="Verdana" pitchFamily="34" charset="-122"/>
                <a:cs typeface="Verdana" pitchFamily="34" charset="-120"/>
              </a:rPr>
              <a:t>REFUTED</a:t>
            </a:r>
            <a:endParaRPr lang="en-US" sz="800" dirty="0"/>
          </a:p>
        </p:txBody>
      </p:sp>
      <p:sp>
        <p:nvSpPr>
          <p:cNvPr id="16" name="Text 14"/>
          <p:cNvSpPr/>
          <p:nvPr/>
        </p:nvSpPr>
        <p:spPr>
          <a:xfrm>
            <a:off x="1874520" y="2560320"/>
            <a:ext cx="6309360" cy="274320"/>
          </a:xfrm>
          <a:prstGeom prst="rect">
            <a:avLst/>
          </a:prstGeom>
          <a:noFill/>
          <a:ln/>
        </p:spPr>
        <p:txBody>
          <a:bodyPr wrap="square" lIns="0" tIns="0" rIns="0" bIns="0" rtlCol="0" anchor="ctr"/>
          <a:lstStyle/>
          <a:p>
            <a:pPr marL="0" indent="0">
              <a:buNone/>
            </a:pPr>
            <a:r>
              <a:rPr lang="en-US" sz="1100" b="1" dirty="0" err="1">
                <a:solidFill>
                  <a:srgbClr val="F5F7FA"/>
                </a:solidFill>
                <a:latin typeface="Verdana" pitchFamily="34" charset="0"/>
                <a:ea typeface="Verdana" pitchFamily="34" charset="-122"/>
                <a:cs typeface="Verdana" pitchFamily="34" charset="-120"/>
              </a:rPr>
              <a:t>XGBoost</a:t>
            </a:r>
            <a:r>
              <a:rPr lang="en-US" sz="1100" b="1" dirty="0">
                <a:solidFill>
                  <a:srgbClr val="F5F7FA"/>
                </a:solidFill>
                <a:latin typeface="Verdana" pitchFamily="34" charset="0"/>
                <a:ea typeface="Verdana" pitchFamily="34" charset="-122"/>
                <a:cs typeface="Verdana" pitchFamily="34" charset="-120"/>
              </a:rPr>
              <a:t> model has the smallest US-born vs foreign-born recall gap?</a:t>
            </a:r>
            <a:endParaRPr lang="en-US" sz="1100" dirty="0"/>
          </a:p>
        </p:txBody>
      </p:sp>
      <p:sp>
        <p:nvSpPr>
          <p:cNvPr id="17" name="Text 15"/>
          <p:cNvSpPr/>
          <p:nvPr/>
        </p:nvSpPr>
        <p:spPr>
          <a:xfrm>
            <a:off x="1874520" y="285292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XGBoost has the largest gap, not the smallest, and no model is statistically distinguishable. MLP had smallest recall gap. What is measurable: all three models miss female high earners 11 to 15 points more often.</a:t>
            </a:r>
            <a:endParaRPr lang="en-US" sz="950" dirty="0"/>
          </a:p>
        </p:txBody>
      </p:sp>
      <p:sp>
        <p:nvSpPr>
          <p:cNvPr id="18" name="Shape 16"/>
          <p:cNvSpPr/>
          <p:nvPr/>
        </p:nvSpPr>
        <p:spPr>
          <a:xfrm>
            <a:off x="502920" y="3703320"/>
            <a:ext cx="7863840" cy="1097280"/>
          </a:xfrm>
          <a:prstGeom prst="rect">
            <a:avLst/>
          </a:prstGeom>
          <a:solidFill>
            <a:srgbClr val="1C1E24"/>
          </a:solidFill>
          <a:ln w="12700">
            <a:solidFill>
              <a:srgbClr val="3A3F4A"/>
            </a:solidFill>
            <a:prstDash val="solid"/>
          </a:ln>
        </p:spPr>
        <p:txBody>
          <a:bodyPr/>
          <a:lstStyle/>
          <a:p>
            <a:endParaRPr lang="en-US"/>
          </a:p>
        </p:txBody>
      </p:sp>
      <p:sp>
        <p:nvSpPr>
          <p:cNvPr id="19" name="Text 17"/>
          <p:cNvSpPr/>
          <p:nvPr/>
        </p:nvSpPr>
        <p:spPr>
          <a:xfrm>
            <a:off x="685800" y="381304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H3</a:t>
            </a:r>
            <a:endParaRPr lang="en-US" sz="1500" dirty="0"/>
          </a:p>
        </p:txBody>
      </p:sp>
      <p:sp>
        <p:nvSpPr>
          <p:cNvPr id="20" name="Shape 18"/>
          <p:cNvSpPr/>
          <p:nvPr/>
        </p:nvSpPr>
        <p:spPr>
          <a:xfrm>
            <a:off x="658368" y="4251960"/>
            <a:ext cx="1051560" cy="310896"/>
          </a:xfrm>
          <a:prstGeom prst="rect">
            <a:avLst/>
          </a:prstGeom>
          <a:solidFill>
            <a:srgbClr val="20242E"/>
          </a:solidFill>
          <a:ln w="12700">
            <a:solidFill>
              <a:srgbClr val="5FBF8F"/>
            </a:solidFill>
            <a:prstDash val="solid"/>
          </a:ln>
        </p:spPr>
        <p:txBody>
          <a:bodyPr/>
          <a:lstStyle/>
          <a:p>
            <a:endParaRPr lang="en-US"/>
          </a:p>
        </p:txBody>
      </p:sp>
      <p:sp>
        <p:nvSpPr>
          <p:cNvPr id="21" name="Text 19"/>
          <p:cNvSpPr/>
          <p:nvPr/>
        </p:nvSpPr>
        <p:spPr>
          <a:xfrm>
            <a:off x="658368" y="4251960"/>
            <a:ext cx="1051560" cy="310896"/>
          </a:xfrm>
          <a:prstGeom prst="rect">
            <a:avLst/>
          </a:prstGeom>
          <a:noFill/>
          <a:ln/>
        </p:spPr>
        <p:txBody>
          <a:bodyPr wrap="square" lIns="0" tIns="0" rIns="0" bIns="0" rtlCol="0" anchor="ctr"/>
          <a:lstStyle/>
          <a:p>
            <a:pPr marL="0" indent="0" algn="ctr">
              <a:buNone/>
            </a:pPr>
            <a:r>
              <a:rPr lang="en-US" sz="800" b="1" dirty="0">
                <a:solidFill>
                  <a:srgbClr val="5FBF8F"/>
                </a:solidFill>
                <a:latin typeface="Verdana" pitchFamily="34" charset="0"/>
                <a:ea typeface="Verdana" pitchFamily="34" charset="-122"/>
                <a:cs typeface="Verdana" pitchFamily="34" charset="-120"/>
              </a:rPr>
              <a:t>SUPPORTED</a:t>
            </a:r>
            <a:endParaRPr lang="en-US" sz="800" dirty="0"/>
          </a:p>
        </p:txBody>
      </p:sp>
      <p:sp>
        <p:nvSpPr>
          <p:cNvPr id="22" name="Text 20"/>
          <p:cNvSpPr/>
          <p:nvPr/>
        </p:nvSpPr>
        <p:spPr>
          <a:xfrm>
            <a:off x="1874520" y="3794760"/>
            <a:ext cx="6309360" cy="274320"/>
          </a:xfrm>
          <a:prstGeom prst="rect">
            <a:avLst/>
          </a:prstGeom>
          <a:noFill/>
          <a:ln/>
        </p:spPr>
        <p:txBody>
          <a:bodyPr wrap="square" lIns="0" tIns="0" rIns="0" bIns="0" rtlCol="0" anchor="ctr"/>
          <a:lstStyle/>
          <a:p>
            <a:pPr marL="0" indent="0">
              <a:buNone/>
            </a:pPr>
            <a:r>
              <a:rPr lang="en-US" sz="1100" b="1" dirty="0" err="1">
                <a:solidFill>
                  <a:srgbClr val="F5F7FA"/>
                </a:solidFill>
                <a:latin typeface="Verdana" pitchFamily="34" charset="0"/>
                <a:ea typeface="Verdana" pitchFamily="34" charset="-122"/>
                <a:cs typeface="Verdana" pitchFamily="34" charset="-120"/>
              </a:rPr>
              <a:t>XGBoost</a:t>
            </a:r>
            <a:r>
              <a:rPr lang="en-US" sz="1100" b="1" dirty="0">
                <a:solidFill>
                  <a:srgbClr val="F5F7FA"/>
                </a:solidFill>
                <a:latin typeface="Verdana" pitchFamily="34" charset="0"/>
                <a:ea typeface="Verdana" pitchFamily="34" charset="-122"/>
                <a:cs typeface="Verdana" pitchFamily="34" charset="-120"/>
              </a:rPr>
              <a:t> model classifies best on held-out PR-AUC and F1?</a:t>
            </a:r>
            <a:endParaRPr lang="en-US" sz="1100" dirty="0"/>
          </a:p>
        </p:txBody>
      </p:sp>
      <p:sp>
        <p:nvSpPr>
          <p:cNvPr id="23" name="Text 21"/>
          <p:cNvSpPr/>
          <p:nvPr/>
        </p:nvSpPr>
        <p:spPr>
          <a:xfrm>
            <a:off x="1874520" y="408736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XGBoost reaches 0.805 PR-AUC and 0.708 F1 against 0.774 and 0.684, winning every fold and every resample.</a:t>
            </a:r>
            <a:endParaRPr lang="en-US" sz="950" dirty="0"/>
          </a:p>
        </p:txBody>
      </p:sp>
      <p:sp>
        <p:nvSpPr>
          <p:cNvPr id="24" name="Shape 22"/>
          <p:cNvSpPr/>
          <p:nvPr/>
        </p:nvSpPr>
        <p:spPr>
          <a:xfrm>
            <a:off x="502920" y="4937760"/>
            <a:ext cx="7863840" cy="1417320"/>
          </a:xfrm>
          <a:prstGeom prst="rect">
            <a:avLst/>
          </a:prstGeom>
          <a:solidFill>
            <a:srgbClr val="232631"/>
          </a:solidFill>
          <a:ln w="12700">
            <a:solidFill>
              <a:srgbClr val="3A3F4A"/>
            </a:solidFill>
            <a:prstDash val="solid"/>
          </a:ln>
        </p:spPr>
        <p:txBody>
          <a:bodyPr/>
          <a:lstStyle/>
          <a:p>
            <a:endParaRPr lang="en-US"/>
          </a:p>
        </p:txBody>
      </p:sp>
      <p:sp>
        <p:nvSpPr>
          <p:cNvPr id="25" name="Text 23"/>
          <p:cNvSpPr/>
          <p:nvPr/>
        </p:nvSpPr>
        <p:spPr>
          <a:xfrm>
            <a:off x="685800" y="5056632"/>
            <a:ext cx="74980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MAIN FINDING, AND I DID NOT EXPECT IT</a:t>
            </a:r>
            <a:endParaRPr lang="en-US" sz="1050" dirty="0"/>
          </a:p>
        </p:txBody>
      </p:sp>
      <p:sp>
        <p:nvSpPr>
          <p:cNvPr id="26" name="Text 24"/>
          <p:cNvSpPr/>
          <p:nvPr/>
        </p:nvSpPr>
        <p:spPr>
          <a:xfrm>
            <a:off x="685800" y="5394960"/>
            <a:ext cx="7498080" cy="868680"/>
          </a:xfrm>
          <a:prstGeom prst="rect">
            <a:avLst/>
          </a:prstGeom>
          <a:noFill/>
          <a:ln/>
        </p:spPr>
        <p:txBody>
          <a:bodyPr wrap="square" lIns="0" tIns="0" rIns="0" bIns="0" rtlCol="0" anchor="t"/>
          <a:lstStyle/>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The most accurate model was not the fairest, and the two questions had to be answered separately. Group-balanced oversampling recovers most of the gap at almost no cost to F1.</a:t>
            </a:r>
            <a:endParaRPr lang="en-US" sz="1100" dirty="0"/>
          </a:p>
        </p:txBody>
      </p:sp>
      <p:sp>
        <p:nvSpPr>
          <p:cNvPr id="27" name="Shape 25"/>
          <p:cNvSpPr/>
          <p:nvPr/>
        </p:nvSpPr>
        <p:spPr>
          <a:xfrm>
            <a:off x="8549640" y="1234440"/>
            <a:ext cx="3154680" cy="5120640"/>
          </a:xfrm>
          <a:prstGeom prst="rect">
            <a:avLst/>
          </a:prstGeom>
          <a:solidFill>
            <a:srgbClr val="1C1E24"/>
          </a:solidFill>
          <a:ln w="12700">
            <a:solidFill>
              <a:srgbClr val="3A3F4A"/>
            </a:solidFill>
            <a:prstDash val="solid"/>
          </a:ln>
        </p:spPr>
        <p:txBody>
          <a:bodyPr/>
          <a:lstStyle/>
          <a:p>
            <a:endParaRPr lang="en-US"/>
          </a:p>
        </p:txBody>
      </p:sp>
      <p:sp>
        <p:nvSpPr>
          <p:cNvPr id="28" name="Text 26"/>
          <p:cNvSpPr/>
          <p:nvPr/>
        </p:nvSpPr>
        <p:spPr>
          <a:xfrm>
            <a:off x="8732520" y="1371600"/>
            <a:ext cx="27889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FUTURE WORK</a:t>
            </a:r>
            <a:endParaRPr lang="en-US" sz="1050" dirty="0"/>
          </a:p>
        </p:txBody>
      </p:sp>
      <p:sp>
        <p:nvSpPr>
          <p:cNvPr id="29" name="Text 27"/>
          <p:cNvSpPr/>
          <p:nvPr/>
        </p:nvSpPr>
        <p:spPr>
          <a:xfrm>
            <a:off x="8732520" y="1737360"/>
            <a:ext cx="2788920" cy="44805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More foreign-born rows, or a recent census extract.</a:t>
            </a:r>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Compare the models at a matched recall instead of 0.5</a:t>
            </a:r>
            <a:endParaRPr lang="en-US" sz="1000" dirty="0"/>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Calibration curves and Brier scores. All three overpredict on average, and calibrated probabilities would let me set a threshold on cost rather than defaulting to 0.5</a:t>
            </a:r>
          </a:p>
          <a:p>
            <a:pPr marL="342900" indent="-342900">
              <a:spcAft>
                <a:spcPts val="700"/>
              </a:spcAft>
              <a:buSzPct val="100000"/>
              <a:buChar char="•"/>
            </a:pPr>
            <a:r>
              <a:rPr lang="en-US" sz="1000" dirty="0">
                <a:solidFill>
                  <a:srgbClr val="9AA7BD"/>
                </a:solidFill>
                <a:latin typeface="Verdana" panose="020B0604030504040204" pitchFamily="34" charset="0"/>
                <a:ea typeface="Verdana" panose="020B0604030504040204" pitchFamily="34" charset="0"/>
              </a:rPr>
              <a:t>Nested cross-validation, so the reported score includes the cost of hyperparameter tuning rather than the best of 26 tries</a:t>
            </a:r>
            <a:endParaRPr lang="en-US" sz="1000" dirty="0">
              <a:solidFill>
                <a:schemeClr val="bg1">
                  <a:lumMod val="65000"/>
                </a:schemeClr>
              </a:solidFill>
              <a:latin typeface="Verdana" panose="020B0604030504040204" pitchFamily="34" charset="0"/>
              <a:ea typeface="Verdana" panose="020B0604030504040204" pitchFamily="34" charset="0"/>
              <a:cs typeface="Verdana" pitchFamily="34" charset="-120"/>
            </a:endParaRPr>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Fairness-aware training, compared against the group oversampling I used</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26</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Reproducibility and references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Everything needed to rerun this to the same numbers</a:t>
            </a:r>
            <a:endParaRPr lang="en-US" sz="1200" dirty="0"/>
          </a:p>
        </p:txBody>
      </p:sp>
      <p:sp>
        <p:nvSpPr>
          <p:cNvPr id="6" name="Shape 4"/>
          <p:cNvSpPr/>
          <p:nvPr/>
        </p:nvSpPr>
        <p:spPr>
          <a:xfrm>
            <a:off x="502920" y="1234440"/>
            <a:ext cx="5532120" cy="26060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REPRODUCIBILITY</a:t>
            </a:r>
            <a:endParaRPr lang="en-US" sz="1050" dirty="0"/>
          </a:p>
        </p:txBody>
      </p:sp>
      <p:sp>
        <p:nvSpPr>
          <p:cNvPr id="8" name="Text 6"/>
          <p:cNvSpPr/>
          <p:nvPr/>
        </p:nvSpPr>
        <p:spPr>
          <a:xfrm>
            <a:off x="685800" y="1737360"/>
            <a:ext cx="5166360" cy="201168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One fixed seed (42) throughout</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single load path from the database</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The notebook runs top to bottom, no manual steps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Pipeline factories build every model the same way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requirements.txt pins the versions</a:t>
            </a:r>
            <a:endParaRPr lang="en-US" sz="1050" dirty="0"/>
          </a:p>
        </p:txBody>
      </p:sp>
      <p:sp>
        <p:nvSpPr>
          <p:cNvPr id="9" name="Shape 7"/>
          <p:cNvSpPr/>
          <p:nvPr/>
        </p:nvSpPr>
        <p:spPr>
          <a:xfrm>
            <a:off x="6217920" y="1234440"/>
            <a:ext cx="5486400" cy="2606040"/>
          </a:xfrm>
          <a:prstGeom prst="rect">
            <a:avLst/>
          </a:prstGeom>
          <a:solidFill>
            <a:srgbClr val="232631"/>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ENVIRONMENT</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0" y="1783080"/>
          <a:ext cx="5120640" cy="1024128"/>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Library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Version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Library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Version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numpy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2.4.4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imbalanced-learn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0.14.2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pandas</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3.0.2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3.3.0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scikit-learn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1.8.0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scipy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1.17.1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9"/>
          <p:cNvSpPr/>
          <p:nvPr/>
        </p:nvSpPr>
        <p:spPr>
          <a:xfrm>
            <a:off x="6400800" y="3200400"/>
            <a:ext cx="5120640" cy="54864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Fit time: a few seconds per model, MLP slowest. Prediction under 0.1s for all three.</a:t>
            </a:r>
            <a:endParaRPr lang="en-US" sz="1000" dirty="0"/>
          </a:p>
        </p:txBody>
      </p:sp>
      <p:sp>
        <p:nvSpPr>
          <p:cNvPr id="13" name="Shape 10"/>
          <p:cNvSpPr/>
          <p:nvPr/>
        </p:nvSpPr>
        <p:spPr>
          <a:xfrm>
            <a:off x="502920" y="4023360"/>
            <a:ext cx="11201400" cy="2331720"/>
          </a:xfrm>
          <a:prstGeom prst="rect">
            <a:avLst/>
          </a:prstGeom>
          <a:solidFill>
            <a:srgbClr val="1C1E24"/>
          </a:solidFill>
          <a:ln w="12700">
            <a:solidFill>
              <a:srgbClr val="3A3F4A"/>
            </a:solidFill>
            <a:prstDash val="solid"/>
          </a:ln>
        </p:spPr>
        <p:txBody>
          <a:bodyPr/>
          <a:lstStyle/>
          <a:p>
            <a:endParaRPr lang="en-US"/>
          </a:p>
        </p:txBody>
      </p:sp>
      <p:sp>
        <p:nvSpPr>
          <p:cNvPr id="14" name="Text 11"/>
          <p:cNvSpPr/>
          <p:nvPr/>
        </p:nvSpPr>
        <p:spPr>
          <a:xfrm>
            <a:off x="685800" y="416052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REFERENCES</a:t>
            </a:r>
            <a:endParaRPr lang="en-US" sz="1050" dirty="0"/>
          </a:p>
        </p:txBody>
      </p:sp>
      <p:sp>
        <p:nvSpPr>
          <p:cNvPr id="15" name="Text 12"/>
          <p:cNvSpPr/>
          <p:nvPr/>
        </p:nvSpPr>
        <p:spPr>
          <a:xfrm>
            <a:off x="685800" y="4480560"/>
            <a:ext cx="10835640" cy="178308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Becker, B. and Kohavi, R. (1996). Adult. UCI Machine Learning Repository. archive.ics.uci.edu/dataset/2/adult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Chawla, N., Bowyer, K., Hall, L., Kegelmeyer, W. (2002). SMOTE: Synthetic Minority Over-sampling Technique. JAIR 16, 321–357</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Chen, T. and Guestrin, C. (2016). XGBoost: A Scalable Tree Boosting System. KDD '16</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Dietterich, T. (1998). Approximate Statistical Tests for Comparing Supervised Classification Learning Algorithms. Neural Computation 10(7), 1895–1923</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Efron, B. and Tibshirani, R. (1993). An Introduction to the Bootstrap · Breiman, L. (2001). Random Forests. Machine Learning 45, 5–32</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Pedregosa et al. (2011). Scikit-learn: Machine Learning in Python. JMLR 12, 2825–2830 · Lemaitre, Nogueira, Aridas (2017). imbalanced-learn. JMLR 18(17), 1–5</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Repository, notebook, and all earlier milestones: github.com/ErikHerb/MSDS640-coursework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1142</TotalTime>
  <Words>10820</Words>
  <Application>Microsoft Office PowerPoint</Application>
  <PresentationFormat>Widescreen</PresentationFormat>
  <Paragraphs>1188</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Final Model Comparison and Fairness Audit</dc:title>
  <dc:subject>PptxGenJS Presentation</dc:subject>
  <dc:creator>Erik Herb</dc:creator>
  <cp:lastModifiedBy>Erik Herb</cp:lastModifiedBy>
  <cp:revision>13</cp:revision>
  <dcterms:created xsi:type="dcterms:W3CDTF">2026-08-03T23:25:45Z</dcterms:created>
  <dcterms:modified xsi:type="dcterms:W3CDTF">2026-08-06T22:38:38Z</dcterms:modified>
</cp:coreProperties>
</file>