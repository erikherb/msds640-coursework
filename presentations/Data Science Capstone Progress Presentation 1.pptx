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4" r:id="rId9"/>
    <p:sldId id="263"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4CDEB74-F0BF-47A8-9993-742C10BB5728}" v="2" dt="2026-07-07T13:24:31.16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5033" autoAdjust="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microsoft.com/office/2016/11/relationships/changesInfo" Target="changesInfos/changesInfo1.xml"/><Relationship Id="rId1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rik Herb" userId="0f28f5b0af101864" providerId="LiveId" clId="{B89B4A7F-E6AC-4820-B61E-1E3BA66D7C70}"/>
    <pc:docChg chg="custSel addSld delSld modSld">
      <pc:chgData name="Erik Herb" userId="0f28f5b0af101864" providerId="LiveId" clId="{B89B4A7F-E6AC-4820-B61E-1E3BA66D7C70}" dt="2026-07-07T23:52:33.482" v="1767" actId="20577"/>
      <pc:docMkLst>
        <pc:docMk/>
      </pc:docMkLst>
      <pc:sldChg chg="modSp mod">
        <pc:chgData name="Erik Herb" userId="0f28f5b0af101864" providerId="LiveId" clId="{B89B4A7F-E6AC-4820-B61E-1E3BA66D7C70}" dt="2026-07-07T23:20:38.488" v="1492" actId="20577"/>
        <pc:sldMkLst>
          <pc:docMk/>
          <pc:sldMk cId="0" sldId="257"/>
        </pc:sldMkLst>
        <pc:spChg chg="mod">
          <ac:chgData name="Erik Herb" userId="0f28f5b0af101864" providerId="LiveId" clId="{B89B4A7F-E6AC-4820-B61E-1E3BA66D7C70}" dt="2026-07-07T23:20:38.488" v="1492" actId="20577"/>
          <ac:spMkLst>
            <pc:docMk/>
            <pc:sldMk cId="0" sldId="257"/>
            <ac:spMk id="6" creationId="{00000000-0000-0000-0000-000000000000}"/>
          </ac:spMkLst>
        </pc:spChg>
        <pc:spChg chg="mod">
          <ac:chgData name="Erik Herb" userId="0f28f5b0af101864" providerId="LiveId" clId="{B89B4A7F-E6AC-4820-B61E-1E3BA66D7C70}" dt="2026-07-07T23:20:18.072" v="1454" actId="20577"/>
          <ac:spMkLst>
            <pc:docMk/>
            <pc:sldMk cId="0" sldId="257"/>
            <ac:spMk id="10" creationId="{00000000-0000-0000-0000-000000000000}"/>
          </ac:spMkLst>
        </pc:spChg>
      </pc:sldChg>
      <pc:sldChg chg="modSp mod modNotesTx">
        <pc:chgData name="Erik Herb" userId="0f28f5b0af101864" providerId="LiveId" clId="{B89B4A7F-E6AC-4820-B61E-1E3BA66D7C70}" dt="2026-07-07T13:26:00.989" v="251" actId="20577"/>
        <pc:sldMkLst>
          <pc:docMk/>
          <pc:sldMk cId="0" sldId="258"/>
        </pc:sldMkLst>
        <pc:spChg chg="mod">
          <ac:chgData name="Erik Herb" userId="0f28f5b0af101864" providerId="LiveId" clId="{B89B4A7F-E6AC-4820-B61E-1E3BA66D7C70}" dt="2026-07-07T13:26:00.989" v="251" actId="20577"/>
          <ac:spMkLst>
            <pc:docMk/>
            <pc:sldMk cId="0" sldId="258"/>
            <ac:spMk id="6" creationId="{00000000-0000-0000-0000-000000000000}"/>
          </ac:spMkLst>
        </pc:spChg>
      </pc:sldChg>
      <pc:sldChg chg="modSp mod modNotesTx">
        <pc:chgData name="Erik Herb" userId="0f28f5b0af101864" providerId="LiveId" clId="{B89B4A7F-E6AC-4820-B61E-1E3BA66D7C70}" dt="2026-07-07T23:52:33.482" v="1767" actId="20577"/>
        <pc:sldMkLst>
          <pc:docMk/>
          <pc:sldMk cId="0" sldId="259"/>
        </pc:sldMkLst>
        <pc:spChg chg="mod">
          <ac:chgData name="Erik Herb" userId="0f28f5b0af101864" providerId="LiveId" clId="{B89B4A7F-E6AC-4820-B61E-1E3BA66D7C70}" dt="2026-07-07T23:52:33.482" v="1767" actId="20577"/>
          <ac:spMkLst>
            <pc:docMk/>
            <pc:sldMk cId="0" sldId="259"/>
            <ac:spMk id="6" creationId="{00000000-0000-0000-0000-000000000000}"/>
          </ac:spMkLst>
        </pc:spChg>
        <pc:spChg chg="mod">
          <ac:chgData name="Erik Herb" userId="0f28f5b0af101864" providerId="LiveId" clId="{B89B4A7F-E6AC-4820-B61E-1E3BA66D7C70}" dt="2026-07-07T23:04:52.975" v="1123" actId="14100"/>
          <ac:spMkLst>
            <pc:docMk/>
            <pc:sldMk cId="0" sldId="259"/>
            <ac:spMk id="7" creationId="{00000000-0000-0000-0000-000000000000}"/>
          </ac:spMkLst>
        </pc:spChg>
        <pc:spChg chg="mod">
          <ac:chgData name="Erik Herb" userId="0f28f5b0af101864" providerId="LiveId" clId="{B89B4A7F-E6AC-4820-B61E-1E3BA66D7C70}" dt="2026-07-07T23:12:44.046" v="1386" actId="20577"/>
          <ac:spMkLst>
            <pc:docMk/>
            <pc:sldMk cId="0" sldId="259"/>
            <ac:spMk id="10" creationId="{00000000-0000-0000-0000-000000000000}"/>
          </ac:spMkLst>
        </pc:spChg>
      </pc:sldChg>
      <pc:sldChg chg="modSp mod">
        <pc:chgData name="Erik Herb" userId="0f28f5b0af101864" providerId="LiveId" clId="{B89B4A7F-E6AC-4820-B61E-1E3BA66D7C70}" dt="2026-07-07T23:23:22.634" v="1496" actId="20577"/>
        <pc:sldMkLst>
          <pc:docMk/>
          <pc:sldMk cId="0" sldId="260"/>
        </pc:sldMkLst>
        <pc:spChg chg="mod">
          <ac:chgData name="Erik Herb" userId="0f28f5b0af101864" providerId="LiveId" clId="{B89B4A7F-E6AC-4820-B61E-1E3BA66D7C70}" dt="2026-07-07T23:23:06.841" v="1493" actId="20577"/>
          <ac:spMkLst>
            <pc:docMk/>
            <pc:sldMk cId="0" sldId="260"/>
            <ac:spMk id="7" creationId="{00000000-0000-0000-0000-000000000000}"/>
          </ac:spMkLst>
        </pc:spChg>
        <pc:spChg chg="mod">
          <ac:chgData name="Erik Herb" userId="0f28f5b0af101864" providerId="LiveId" clId="{B89B4A7F-E6AC-4820-B61E-1E3BA66D7C70}" dt="2026-07-07T23:23:22.634" v="1496" actId="20577"/>
          <ac:spMkLst>
            <pc:docMk/>
            <pc:sldMk cId="0" sldId="260"/>
            <ac:spMk id="11" creationId="{00000000-0000-0000-0000-000000000000}"/>
          </ac:spMkLst>
        </pc:spChg>
      </pc:sldChg>
      <pc:sldChg chg="modSp mod">
        <pc:chgData name="Erik Herb" userId="0f28f5b0af101864" providerId="LiveId" clId="{B89B4A7F-E6AC-4820-B61E-1E3BA66D7C70}" dt="2026-07-07T23:24:38.075" v="1529" actId="20577"/>
        <pc:sldMkLst>
          <pc:docMk/>
          <pc:sldMk cId="0" sldId="261"/>
        </pc:sldMkLst>
        <pc:spChg chg="mod">
          <ac:chgData name="Erik Herb" userId="0f28f5b0af101864" providerId="LiveId" clId="{B89B4A7F-E6AC-4820-B61E-1E3BA66D7C70}" dt="2026-07-07T23:24:38.075" v="1529" actId="20577"/>
          <ac:spMkLst>
            <pc:docMk/>
            <pc:sldMk cId="0" sldId="261"/>
            <ac:spMk id="6" creationId="{00000000-0000-0000-0000-000000000000}"/>
          </ac:spMkLst>
        </pc:spChg>
      </pc:sldChg>
      <pc:sldChg chg="addSp modSp mod modNotesTx">
        <pc:chgData name="Erik Herb" userId="0f28f5b0af101864" providerId="LiveId" clId="{B89B4A7F-E6AC-4820-B61E-1E3BA66D7C70}" dt="2026-07-07T23:51:33.606" v="1729" actId="20577"/>
        <pc:sldMkLst>
          <pc:docMk/>
          <pc:sldMk cId="0" sldId="263"/>
        </pc:sldMkLst>
        <pc:spChg chg="mod">
          <ac:chgData name="Erik Herb" userId="0f28f5b0af101864" providerId="LiveId" clId="{B89B4A7F-E6AC-4820-B61E-1E3BA66D7C70}" dt="2026-07-07T23:32:02.545" v="1577" actId="20577"/>
          <ac:spMkLst>
            <pc:docMk/>
            <pc:sldMk cId="0" sldId="263"/>
            <ac:spMk id="8" creationId="{00000000-0000-0000-0000-000000000000}"/>
          </ac:spMkLst>
        </pc:spChg>
        <pc:spChg chg="mod">
          <ac:chgData name="Erik Herb" userId="0f28f5b0af101864" providerId="LiveId" clId="{B89B4A7F-E6AC-4820-B61E-1E3BA66D7C70}" dt="2026-07-07T22:51:03.462" v="818" actId="20577"/>
          <ac:spMkLst>
            <pc:docMk/>
            <pc:sldMk cId="0" sldId="263"/>
            <ac:spMk id="12" creationId="{00000000-0000-0000-0000-000000000000}"/>
          </ac:spMkLst>
        </pc:spChg>
        <pc:spChg chg="mod">
          <ac:chgData name="Erik Herb" userId="0f28f5b0af101864" providerId="LiveId" clId="{B89B4A7F-E6AC-4820-B61E-1E3BA66D7C70}" dt="2026-07-07T23:07:30.490" v="1205" actId="20577"/>
          <ac:spMkLst>
            <pc:docMk/>
            <pc:sldMk cId="0" sldId="263"/>
            <ac:spMk id="16" creationId="{00000000-0000-0000-0000-000000000000}"/>
          </ac:spMkLst>
        </pc:spChg>
        <pc:spChg chg="mod">
          <ac:chgData name="Erik Herb" userId="0f28f5b0af101864" providerId="LiveId" clId="{B89B4A7F-E6AC-4820-B61E-1E3BA66D7C70}" dt="2026-07-07T23:51:33.606" v="1729" actId="20577"/>
          <ac:spMkLst>
            <pc:docMk/>
            <pc:sldMk cId="0" sldId="263"/>
            <ac:spMk id="20" creationId="{00000000-0000-0000-0000-000000000000}"/>
          </ac:spMkLst>
        </pc:spChg>
        <pc:spChg chg="add mod">
          <ac:chgData name="Erik Herb" userId="0f28f5b0af101864" providerId="LiveId" clId="{B89B4A7F-E6AC-4820-B61E-1E3BA66D7C70}" dt="2026-07-06T19:16:21.643" v="57" actId="207"/>
          <ac:spMkLst>
            <pc:docMk/>
            <pc:sldMk cId="0" sldId="263"/>
            <ac:spMk id="22" creationId="{13E25CF9-3F6E-14F4-EFC9-DB8390DB9E18}"/>
          </ac:spMkLst>
        </pc:spChg>
      </pc:sldChg>
      <pc:sldChg chg="modNotesTx">
        <pc:chgData name="Erik Herb" userId="0f28f5b0af101864" providerId="LiveId" clId="{B89B4A7F-E6AC-4820-B61E-1E3BA66D7C70}" dt="2026-07-07T13:47:47.188" v="422" actId="5793"/>
        <pc:sldMkLst>
          <pc:docMk/>
          <pc:sldMk cId="0" sldId="264"/>
        </pc:sldMkLst>
      </pc:sldChg>
      <pc:sldChg chg="addSp modSp new del mod">
        <pc:chgData name="Erik Herb" userId="0f28f5b0af101864" providerId="LiveId" clId="{B89B4A7F-E6AC-4820-B61E-1E3BA66D7C70}" dt="2026-07-06T19:15:15.872" v="31" actId="2696"/>
        <pc:sldMkLst>
          <pc:docMk/>
          <pc:sldMk cId="389494026" sldId="264"/>
        </pc:sldMkLst>
        <pc:spChg chg="add mod">
          <ac:chgData name="Erik Herb" userId="0f28f5b0af101864" providerId="LiveId" clId="{B89B4A7F-E6AC-4820-B61E-1E3BA66D7C70}" dt="2026-07-06T19:15:01.669" v="30" actId="1076"/>
          <ac:spMkLst>
            <pc:docMk/>
            <pc:sldMk cId="389494026" sldId="264"/>
            <ac:spMk id="2" creationId="{BEFB9464-E1ED-A95C-384C-9EFBFFCED0A2}"/>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3B362D"/>
                </a:solidFill>
                <a:latin typeface="Calibri"/>
              </a:defRPr>
            </a:pPr>
            <a:r>
              <a:rPr lang="en-US" sz="1300" b="0" i="0" u="none" strike="noStrike">
                <a:solidFill>
                  <a:srgbClr val="3B362D"/>
                </a:solidFill>
                <a:latin typeface="Calibri"/>
              </a:rPr>
              <a:t>Income class balance (%)</a:t>
            </a:r>
          </a:p>
        </c:rich>
      </c:tx>
      <c:overlay val="0"/>
    </c:title>
    <c:autoTitleDeleted val="0"/>
    <c:plotArea>
      <c:layout/>
      <c:barChart>
        <c:barDir val="col"/>
        <c:grouping val="clustered"/>
        <c:varyColors val="0"/>
        <c:ser>
          <c:idx val="0"/>
          <c:order val="0"/>
          <c:tx>
            <c:strRef>
              <c:f>Sheet1!$B$1</c:f>
              <c:strCache>
                <c:ptCount val="1"/>
                <c:pt idx="0">
                  <c:v>Share</c:v>
                </c:pt>
              </c:strCache>
            </c:strRef>
          </c:tx>
          <c:spPr>
            <a:solidFill>
              <a:srgbClr val="B0512F"/>
            </a:solidFill>
            <a:effectLst/>
          </c:spPr>
          <c:invertIfNegative val="0"/>
          <c:dPt>
            <c:idx val="0"/>
            <c:invertIfNegative val="0"/>
            <c:bubble3D val="0"/>
            <c:extLst>
              <c:ext xmlns:c16="http://schemas.microsoft.com/office/drawing/2014/chart" uri="{C3380CC4-5D6E-409C-BE32-E72D297353CC}">
                <c16:uniqueId val="{00000001-38E3-482B-BA4E-7A7B78884460}"/>
              </c:ext>
            </c:extLst>
          </c:dPt>
          <c:dPt>
            <c:idx val="1"/>
            <c:invertIfNegative val="0"/>
            <c:bubble3D val="0"/>
            <c:spPr>
              <a:solidFill>
                <a:srgbClr val="C88A2C"/>
              </a:solidFill>
              <a:effectLst/>
            </c:spPr>
            <c:extLst>
              <c:ext xmlns:c16="http://schemas.microsoft.com/office/drawing/2014/chart" uri="{C3380CC4-5D6E-409C-BE32-E72D297353CC}">
                <c16:uniqueId val="{00000003-38E3-482B-BA4E-7A7B78884460}"/>
              </c:ext>
            </c:extLst>
          </c:dPt>
          <c:dLbls>
            <c:numFmt formatCode="#,##0" sourceLinked="0"/>
            <c:spPr>
              <a:noFill/>
              <a:ln>
                <a:noFill/>
              </a:ln>
              <a:effectLst/>
            </c:spPr>
            <c:txPr>
              <a:bodyPr/>
              <a:lstStyle/>
              <a:p>
                <a:pPr>
                  <a:defRPr sz="1200" b="0" i="0" u="none" strike="noStrike">
                    <a:solidFill>
                      <a:srgbClr val="3B362D"/>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&lt;=50K</c:v>
                </c:pt>
                <c:pt idx="1">
                  <c:v>&gt;50K</c:v>
                </c:pt>
              </c:strCache>
            </c:strRef>
          </c:cat>
          <c:val>
            <c:numRef>
              <c:f>Sheet1!$B$2:$B$3</c:f>
              <c:numCache>
                <c:formatCode>General</c:formatCode>
                <c:ptCount val="2"/>
                <c:pt idx="0">
                  <c:v>75.900000000000006</c:v>
                </c:pt>
                <c:pt idx="1">
                  <c:v>24.1</c:v>
                </c:pt>
              </c:numCache>
            </c:numRef>
          </c:val>
          <c:extLst>
            <c:ext xmlns:c16="http://schemas.microsoft.com/office/drawing/2014/chart" uri="{C3380CC4-5D6E-409C-BE32-E72D297353CC}">
              <c16:uniqueId val="{00000004-38E3-482B-BA4E-7A7B78884460}"/>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B0A183"/>
            </a:solidFill>
            <a:prstDash val="solid"/>
            <a:round/>
          </a:ln>
        </c:spPr>
        <c:txPr>
          <a:bodyPr/>
          <a:lstStyle/>
          <a:p>
            <a:pPr>
              <a:defRPr sz="1200" b="0" i="0" u="none" strike="noStrike">
                <a:solidFill>
                  <a:srgbClr val="776755"/>
                </a:solidFill>
                <a:latin typeface="Arial"/>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6350" cap="flat">
              <a:solidFill>
                <a:srgbClr val="D9C7A6"/>
              </a:solidFill>
              <a:prstDash val="solid"/>
              <a:round/>
            </a:ln>
          </c:spPr>
        </c:majorGridlines>
        <c:numFmt formatCode="General" sourceLinked="0"/>
        <c:majorTickMark val="out"/>
        <c:minorTickMark val="none"/>
        <c:tickLblPos val="nextTo"/>
        <c:spPr>
          <a:ln w="12700" cap="flat">
            <a:solidFill>
              <a:srgbClr val="B0A183"/>
            </a:solidFill>
            <a:prstDash val="solid"/>
            <a:round/>
          </a:ln>
        </c:spPr>
        <c:txPr>
          <a:bodyPr/>
          <a:lstStyle/>
          <a:p>
            <a:pPr>
              <a:defRPr sz="1100" b="0" i="0" u="none" strike="noStrike">
                <a:solidFill>
                  <a:srgbClr val="776755"/>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BF6EC"/>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394391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intro. My capstone is a binary income classifier on the UCI Adult Census data: predicting whether a person earns more or less than 50 thousand a year. This milestone was the data setup and exploration part, so that's what I'll walk through, and then where I'm headed next.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is from the 1994 Census and the target is whether someone makes more than 50 thousand a year. I picked it because income prediction is a classic classification task that maps onto real decisions like lending and hiring, and because it's clean and public, so it's easy to build and compare models on 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32 thousand rows, one per person. The target is imbalanced, only about a quarter earn more than 50K, which matters for how I score models. </a:t>
            </a:r>
          </a:p>
          <a:p>
            <a:endParaRPr lang="en-US" dirty="0"/>
          </a:p>
          <a:p>
            <a:r>
              <a:rPr lang="en-US" dirty="0"/>
              <a:t>I kept 12 predictors and dropped two columns: fnlwgt because it's a survey sampling weight, not about the person, and the text education column because it duplicates </a:t>
            </a:r>
            <a:r>
              <a:rPr lang="en-US" dirty="0" err="1"/>
              <a:t>education_num</a:t>
            </a:r>
            <a:r>
              <a:rPr lang="en-US" dirty="0"/>
              <a:t>.</a:t>
            </a:r>
          </a:p>
          <a:p>
            <a:endParaRPr lang="en-US" dirty="0"/>
          </a:p>
          <a:p>
            <a:r>
              <a:rPr lang="en-US" dirty="0" err="1"/>
              <a:t>fnlwgt</a:t>
            </a:r>
            <a:r>
              <a:rPr lang="en-US" dirty="0"/>
              <a:t> is the number of people in the actual U.S. population that a given row is meant to represent. So a row with </a:t>
            </a:r>
            <a:r>
              <a:rPr lang="en-US" dirty="0" err="1"/>
              <a:t>fnlwgt</a:t>
            </a:r>
            <a:r>
              <a:rPr lang="en-US" dirty="0"/>
              <a:t> of 186061 stands in for roughly 186,000 real people who share similar demographic characteristics.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hypothesis is a model comparison: does XGBoost actually beat a logistic baseline on held-out PR-AUC, or is the extra complexity not worth it. Null is that it doesn't beat it. I use PR-AUC instead of accuracy because the classes are imbalanced. I'll test significance with McNemar's and a bootstrap confidence interval on the gap.</a:t>
            </a:r>
          </a:p>
          <a:p/>
          <a:p>
            <a:r>
              <a:t>On the decision tree: that came from the feedback on my last milestone. It isn't a fourth model competing with the three, it's an interpretability tool. A tree estimates feature importance with every feature competing for the same splits at once, which is what H1 needs and which a one-feature-at-a-time view can't give me. A shallow tree fit on XGBoost's predictions also gives a readable approximation of what the complex model is doing, and that's the explainability note for the final report.</a:t>
            </a:r>
          </a:p>
          <a:p/>
          <a:p>
            <a:r>
              <a:t>If asked about the tests:</a:t>
            </a:r>
          </a:p>
          <a:p>
            <a:r>
              <a:t>McNemar's test compares two models on the exact same test rows. Because both models predict on the same people, their errors are paired, so I can't treat the mistakes as independent. It builds a 2x2 table of where they agree and disagree and only looks at the two disagreement cells: cases where one model was right and the other was wrong.</a:t>
            </a:r>
          </a:p>
          <a:p/>
          <a:p>
            <a:r>
              <a:t>The null for McNemar is that those two disagreement counts are equal, meaning neither model is reliably better. A small p-value says one model genuinely beats the other rather than it being luck. That is exactly the H3 question, XGBoost versus the logistic baseline on the same rows, so McNemar belongs to H3.</a:t>
            </a:r>
          </a:p>
          <a:p/>
          <a:p>
            <a:r>
              <a:t>A bootstrap CI puts an honest margin of error on a number without assuming a clean distribution. I resample the test set with replacement a few thousand times, recompute the metric each time, and take the 2.5th and 97.5th percentiles for a 95 percent interval. The width tells me how stable the number is.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milestone I just finished. Three things. First, the data lives in a SQLite database now, and everything reads out of that. Second, cleaning: I filled missing values instead of dropping rows, removed 24 real duplicates, and dropped the two columns I mentioned. Third, a full round of EDA. So database and exploration are done, and modeling is the next milestone.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takeaways. The target is about 76/24, which is why I don't trust accuracy: always guessing the majority class already gets 76 percent. Education and marital status separate the classes well, and sex, race, and hours worked all carry some signal too. And the numeric features aren't strongly correlated, so no multicollinearity problem.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of the EDA plots from the notebook. On the </a:t>
            </a:r>
            <a:r>
              <a:rPr lang="en-US"/>
              <a:t>right</a:t>
            </a:r>
            <a:r>
              <a:rPr lang="en-US" dirty="0"/>
              <a:t>, the share earning more than 50K climbs steadily as education goes up, which is a clean trend even a linear model can use. On the </a:t>
            </a:r>
            <a:r>
              <a:rPr lang="en-US"/>
              <a:t>left</a:t>
            </a:r>
            <a:r>
              <a:rPr lang="en-US" dirty="0"/>
              <a:t> is the correlation heatmap for the numeric features: the off-diagonal values are all small, so there's no multicollinearity and I don't need to drop any of the numeric features.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US" dirty="0"/>
              <a:t>Married (spouse absent) – still married and together, but the spouse lives elsewhere (work, military, or immigration)</a:t>
            </a:r>
          </a:p>
          <a:p>
            <a:r>
              <a:rPr lang="en-US"/>
              <a:t>Separated – still </a:t>
            </a:r>
            <a:endParaRPr lang="en-US" dirty="0"/>
          </a:p>
        </p:txBody>
      </p:sp>
    </p:spTree>
    <p:extLst>
      <p:ext uri="{BB962C8B-B14F-4D97-AF65-F5344CB8AC3E}">
        <p14:creationId xmlns:p14="http://schemas.microsoft.com/office/powerpoint/2010/main" val="37399419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here the next milestone is modeling: a majority-class reference, then logistic regression as the baseline, then XGBoost and an MLP, cross-validated and tuned. Then I test whether XGBoost really beats the baseline with McNemar’s Test  and a bootstrap confidence interval. And I'll finish the written project plan alongside it.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23140"/>
        </a:solidFill>
        <a:effectLst/>
      </p:bgPr>
    </p:bg>
    <p:spTree>
      <p:nvGrpSpPr>
        <p:cNvPr id="1" name=""/>
        <p:cNvGrpSpPr/>
        <p:nvPr/>
      </p:nvGrpSpPr>
      <p:grpSpPr>
        <a:xfrm>
          <a:off x="0" y="0"/>
          <a:ext cx="0" cy="0"/>
          <a:chOff x="0" y="0"/>
          <a:chExt cx="0" cy="0"/>
        </a:xfrm>
      </p:grpSpPr>
      <p:sp>
        <p:nvSpPr>
          <p:cNvPr id="3" name="Kicker"/>
          <p:cNvSpPr/>
          <p:nvPr/>
        </p:nvSpPr>
        <p:spPr>
          <a:xfrm>
            <a:off x="330550" y="1751023"/>
            <a:ext cx="11561380" cy="411480"/>
          </a:xfrm>
          <a:prstGeom prst="rect">
            <a:avLst/>
          </a:prstGeom>
          <a:noFill/>
          <a:ln/>
        </p:spPr>
        <p:txBody>
          <a:bodyPr wrap="square" lIns="0" tIns="0" rIns="0" bIns="0" rtlCol="0" anchor="ctr"/>
          <a:lstStyle/>
          <a:p>
            <a:pPr marL="0" indent="0" algn="ctr">
              <a:buNone/>
            </a:pPr>
            <a:r>
              <a:rPr lang="en-US" sz="1400" b="1" spc="340" dirty="0">
                <a:solidFill>
                  <a:srgbClr val="C88A2C"/>
                </a:solidFill>
                <a:latin typeface="Calibri" pitchFamily="34" charset="0"/>
                <a:ea typeface="Calibri" pitchFamily="34" charset="-122"/>
                <a:cs typeface="Calibri" pitchFamily="34" charset="-120"/>
              </a:rPr>
              <a:t>DATA SCIENCE CAPSTONE</a:t>
            </a:r>
            <a:endParaRPr lang="en-US" sz="1400" dirty="0"/>
          </a:p>
        </p:txBody>
      </p:sp>
      <p:sp>
        <p:nvSpPr>
          <p:cNvPr id="4" name="Title1"/>
          <p:cNvSpPr/>
          <p:nvPr/>
        </p:nvSpPr>
        <p:spPr>
          <a:xfrm>
            <a:off x="252248" y="2148840"/>
            <a:ext cx="11687504" cy="822960"/>
          </a:xfrm>
          <a:prstGeom prst="rect">
            <a:avLst/>
          </a:prstGeom>
          <a:noFill/>
          <a:ln/>
        </p:spPr>
        <p:txBody>
          <a:bodyPr wrap="square" lIns="0" tIns="0" rIns="0" bIns="0" rtlCol="0" anchor="ctr"/>
          <a:lstStyle/>
          <a:p>
            <a:pPr marL="0" indent="0" algn="ctr">
              <a:buNone/>
            </a:pPr>
            <a:r>
              <a:rPr lang="en-US" sz="4200" b="1" dirty="0">
                <a:solidFill>
                  <a:srgbClr val="F4ECDD"/>
                </a:solidFill>
                <a:latin typeface="Cambria" pitchFamily="34" charset="0"/>
                <a:ea typeface="Cambria" pitchFamily="34" charset="-122"/>
                <a:cs typeface="Cambria" pitchFamily="34" charset="-120"/>
              </a:rPr>
              <a:t>Income Drivers and Fairness on the</a:t>
            </a:r>
            <a:endParaRPr lang="en-US" sz="4200" dirty="0"/>
          </a:p>
        </p:txBody>
      </p:sp>
      <p:sp>
        <p:nvSpPr>
          <p:cNvPr id="5" name="Title2"/>
          <p:cNvSpPr/>
          <p:nvPr/>
        </p:nvSpPr>
        <p:spPr>
          <a:xfrm>
            <a:off x="252248" y="2971800"/>
            <a:ext cx="11687504" cy="822960"/>
          </a:xfrm>
          <a:prstGeom prst="rect">
            <a:avLst/>
          </a:prstGeom>
          <a:noFill/>
          <a:ln/>
        </p:spPr>
        <p:txBody>
          <a:bodyPr wrap="square" lIns="0" tIns="0" rIns="0" bIns="0" rtlCol="0" anchor="ctr"/>
          <a:lstStyle/>
          <a:p>
            <a:pPr marL="0" indent="0" algn="ctr">
              <a:buNone/>
            </a:pPr>
            <a:r>
              <a:rPr lang="en-US" sz="4200" b="1" i="1" dirty="0">
                <a:solidFill>
                  <a:srgbClr val="C88A2C"/>
                </a:solidFill>
                <a:latin typeface="Cambria" pitchFamily="34" charset="0"/>
                <a:ea typeface="Cambria" pitchFamily="34" charset="-122"/>
                <a:cs typeface="Cambria" pitchFamily="34" charset="-120"/>
              </a:rPr>
              <a:t>UCI Adult Census data</a:t>
            </a:r>
            <a:endParaRPr lang="en-US" sz="4200" dirty="0"/>
          </a:p>
        </p:txBody>
      </p:sp>
      <p:sp>
        <p:nvSpPr>
          <p:cNvPr id="6" name="Subtitle"/>
          <p:cNvSpPr/>
          <p:nvPr/>
        </p:nvSpPr>
        <p:spPr>
          <a:xfrm>
            <a:off x="637452" y="4420126"/>
            <a:ext cx="10917095" cy="1097280"/>
          </a:xfrm>
          <a:prstGeom prst="rect">
            <a:avLst/>
          </a:prstGeom>
          <a:noFill/>
          <a:ln/>
        </p:spPr>
        <p:txBody>
          <a:bodyPr wrap="square" lIns="0" tIns="0" rIns="0" bIns="0" rtlCol="0" anchor="t"/>
          <a:lstStyle/>
          <a:p>
            <a:pPr marL="0" indent="0" algn="ctr">
              <a:lnSpc>
                <a:spcPct val="130000"/>
              </a:lnSpc>
              <a:buNone/>
            </a:pPr>
            <a:r>
              <a:rPr lang="en-US" sz="1700" b="1" dirty="0">
                <a:solidFill>
                  <a:srgbClr val="F4ECDD"/>
                </a:solidFill>
                <a:latin typeface="Calibri" pitchFamily="34" charset="0"/>
                <a:ea typeface="Calibri" pitchFamily="34" charset="-122"/>
                <a:cs typeface="Calibri" pitchFamily="34" charset="-120"/>
              </a:rPr>
              <a:t>Data preparation and EDA milestone</a:t>
            </a:r>
            <a:endParaRPr lang="en-US" sz="1700" dirty="0"/>
          </a:p>
          <a:p>
            <a:pPr marL="0" indent="0" algn="ctr">
              <a:lnSpc>
                <a:spcPct val="130000"/>
              </a:lnSpc>
              <a:buNone/>
            </a:pPr>
            <a:r>
              <a:rPr lang="en-US" sz="1500" dirty="0">
                <a:solidFill>
                  <a:srgbClr val="D8CBB2"/>
                </a:solidFill>
                <a:latin typeface="Calibri" pitchFamily="34" charset="0"/>
                <a:ea typeface="Calibri" pitchFamily="34" charset="-122"/>
                <a:cs typeface="Calibri" pitchFamily="34" charset="-120"/>
              </a:rPr>
              <a:t>Erik Herb</a:t>
            </a:r>
            <a:endParaRPr lang="en-US" sz="1500" dirty="0"/>
          </a:p>
        </p:txBody>
      </p:sp>
      <p:sp>
        <p:nvSpPr>
          <p:cNvPr id="7" name="FooterMeta"/>
          <p:cNvSpPr/>
          <p:nvPr/>
        </p:nvSpPr>
        <p:spPr>
          <a:xfrm>
            <a:off x="853440" y="6172200"/>
            <a:ext cx="10515600" cy="320040"/>
          </a:xfrm>
          <a:prstGeom prst="rect">
            <a:avLst/>
          </a:prstGeom>
          <a:noFill/>
          <a:ln/>
        </p:spPr>
        <p:txBody>
          <a:bodyPr wrap="square" lIns="0" tIns="0" rIns="0" bIns="0" rtlCol="0" anchor="ctr"/>
          <a:lstStyle/>
          <a:p>
            <a:pPr marL="0" indent="0" algn="r">
              <a:buNone/>
            </a:pPr>
            <a:r>
              <a:rPr lang="en-US" sz="1000" spc="120">
                <a:solidFill>
                  <a:srgbClr val="9A8B76"/>
                </a:solidFill>
                <a:latin typeface="Calibri" pitchFamily="34" charset="0"/>
                <a:ea typeface="Calibri" pitchFamily="34" charset="-122"/>
                <a:cs typeface="Calibri" pitchFamily="34" charset="-120"/>
              </a:rPr>
              <a:t>UCI Adult Census Income  ·  1994 U.S. Census  ·  Feature drivers and model fairness</a:t>
            </a:r>
            <a:endParaRPr lang="en-US" sz="10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ECDD"/>
        </a:solidFill>
        <a:effectLst/>
      </p:bgPr>
    </p:bg>
    <p:spTree>
      <p:nvGrpSpPr>
        <p:cNvPr id="1" name=""/>
        <p:cNvGrpSpPr/>
        <p:nvPr/>
      </p:nvGrpSpPr>
      <p:grpSpPr>
        <a:xfrm>
          <a:off x="0" y="0"/>
          <a:ext cx="0" cy="0"/>
          <a:chOff x="0" y="0"/>
          <a:chExt cx="0" cy="0"/>
        </a:xfrm>
      </p:grpSpPr>
      <p:sp>
        <p:nvSpPr>
          <p:cNvPr id="2" name="Kicker"/>
          <p:cNvSpPr/>
          <p:nvPr/>
        </p:nvSpPr>
        <p:spPr>
          <a:xfrm>
            <a:off x="640080" y="411480"/>
            <a:ext cx="10000000" cy="276000"/>
          </a:xfrm>
          <a:prstGeom prst="rect">
            <a:avLst/>
          </a:prstGeom>
          <a:noFill/>
          <a:ln/>
        </p:spPr>
        <p:txBody>
          <a:bodyPr wrap="square" lIns="0" tIns="0" rIns="0" bIns="0" rtlCol="0" anchor="ctr"/>
          <a:lstStyle/>
          <a:p>
            <a:pPr marL="0" indent="0" algn="l">
              <a:buNone/>
            </a:pPr>
            <a:r>
              <a:rPr lang="en-US" sz="1150" b="1" spc="260">
                <a:solidFill>
                  <a:srgbClr val="B0512F"/>
                </a:solidFill>
                <a:latin typeface="Calibri" pitchFamily="34" charset="0"/>
              </a:rPr>
              <a:t>01</a:t>
            </a:r>
            <a:r>
              <a:rPr lang="en-US" sz="1150" b="1" spc="260">
                <a:solidFill>
                  <a:srgbClr val="776755"/>
                </a:solidFill>
                <a:latin typeface="Calibri" pitchFamily="34" charset="0"/>
              </a:rPr>
              <a:t>     BACKGROUND</a:t>
            </a:r>
            <a:endParaRPr lang="en-US" sz="1150"/>
          </a:p>
        </p:txBody>
      </p:sp>
      <p:sp>
        <p:nvSpPr>
          <p:cNvPr id="3" name="Title"/>
          <p:cNvSpPr/>
          <p:nvPr/>
        </p:nvSpPr>
        <p:spPr>
          <a:xfrm>
            <a:off x="640080" y="731520"/>
            <a:ext cx="10972800" cy="640080"/>
          </a:xfrm>
          <a:prstGeom prst="rect">
            <a:avLst/>
          </a:prstGeom>
          <a:noFill/>
          <a:ln/>
        </p:spPr>
        <p:txBody>
          <a:bodyPr wrap="square" lIns="0" tIns="0" rIns="0" bIns="0" rtlCol="0" anchor="ctr"/>
          <a:lstStyle/>
          <a:p>
            <a:pPr marL="0" indent="0" algn="l">
              <a:buNone/>
            </a:pPr>
            <a:r>
              <a:rPr lang="en-US" sz="2800" b="1">
                <a:solidFill>
                  <a:srgbClr val="223140"/>
                </a:solidFill>
                <a:latin typeface="Cambria" pitchFamily="34" charset="0"/>
                <a:ea typeface="Cambria" pitchFamily="34" charset="-122"/>
                <a:cs typeface="Cambria" pitchFamily="34" charset="-120"/>
              </a:rPr>
              <a:t>Problem context</a:t>
            </a:r>
            <a:endParaRPr lang="en-US" sz="2800"/>
          </a:p>
        </p:txBody>
      </p:sp>
      <p:sp>
        <p:nvSpPr>
          <p:cNvPr id="4" name="TitleRule"/>
          <p:cNvSpPr/>
          <p:nvPr/>
        </p:nvSpPr>
        <p:spPr>
          <a:xfrm>
            <a:off x="644080" y="1362840"/>
            <a:ext cx="838200" cy="34200"/>
          </a:xfrm>
          <a:prstGeom prst="rect">
            <a:avLst/>
          </a:prstGeom>
          <a:solidFill>
            <a:srgbClr val="B0512F"/>
          </a:solidFill>
          <a:ln/>
        </p:spPr>
        <p:txBody>
          <a:bodyPr/>
          <a:lstStyle/>
          <a:p>
            <a:endParaRPr lang="en-US"/>
          </a:p>
        </p:txBody>
      </p:sp>
      <p:sp>
        <p:nvSpPr>
          <p:cNvPr id="5" name="LeftRule"/>
          <p:cNvSpPr/>
          <p:nvPr/>
        </p:nvSpPr>
        <p:spPr>
          <a:xfrm>
            <a:off x="4389120" y="1691640"/>
            <a:ext cx="43200" cy="2865120"/>
          </a:xfrm>
          <a:prstGeom prst="rect">
            <a:avLst/>
          </a:prstGeom>
          <a:solidFill>
            <a:srgbClr val="D9C7A6"/>
          </a:solidFill>
          <a:ln/>
        </p:spPr>
        <p:txBody>
          <a:bodyPr/>
          <a:lstStyle/>
          <a:p>
            <a:endParaRPr lang="en-US"/>
          </a:p>
        </p:txBody>
      </p:sp>
      <p:sp>
        <p:nvSpPr>
          <p:cNvPr id="6" name="BodyText"/>
          <p:cNvSpPr/>
          <p:nvPr/>
        </p:nvSpPr>
        <p:spPr>
          <a:xfrm>
            <a:off x="4617720" y="1691640"/>
            <a:ext cx="6934200" cy="2865120"/>
          </a:xfrm>
          <a:prstGeom prst="rect">
            <a:avLst/>
          </a:prstGeom>
          <a:noFill/>
          <a:ln/>
        </p:spPr>
        <p:txBody>
          <a:bodyPr wrap="square" lIns="0" tIns="0" rIns="0" bIns="0" rtlCol="0" anchor="t"/>
          <a:lstStyle/>
          <a:p>
            <a:pPr marL="0" indent="0" algn="l">
              <a:lnSpc>
                <a:spcPct val="120000"/>
              </a:lnSpc>
              <a:spcAft>
                <a:spcPts val="1400"/>
              </a:spcAft>
              <a:buNone/>
            </a:pPr>
            <a:r>
              <a:rPr lang="en-US" sz="2000" dirty="0">
                <a:solidFill>
                  <a:srgbClr val="3B362D"/>
                </a:solidFill>
                <a:latin typeface="Calibri" pitchFamily="34" charset="0"/>
              </a:rPr>
              <a:t>The data comes from the 1994 U.S. Census. The task is to predict whether a person earns more than $50K a year from their demographic, education, and job info through binary classification.</a:t>
            </a:r>
            <a:endParaRPr lang="en-US" sz="2000" dirty="0"/>
          </a:p>
          <a:p>
            <a:pPr marL="0" indent="0" algn="l">
              <a:lnSpc>
                <a:spcPct val="120000"/>
              </a:lnSpc>
              <a:buNone/>
            </a:pPr>
            <a:r>
              <a:rPr lang="en-US" sz="2000" dirty="0">
                <a:solidFill>
                  <a:srgbClr val="3B362D"/>
                </a:solidFill>
                <a:latin typeface="Calibri" pitchFamily="34" charset="0"/>
              </a:rPr>
              <a:t>Find which features drive the model decision, and whether it works equally well across groups, and how well different models can differentiate between different income classes.</a:t>
            </a:r>
            <a:endParaRPr lang="en-US" sz="2000" dirty="0"/>
          </a:p>
        </p:txBody>
      </p:sp>
      <p:sp>
        <p:nvSpPr>
          <p:cNvPr id="7" name="GoalPanel"/>
          <p:cNvSpPr/>
          <p:nvPr/>
        </p:nvSpPr>
        <p:spPr>
          <a:xfrm>
            <a:off x="640080" y="1691640"/>
            <a:ext cx="3474720" cy="2865120"/>
          </a:xfrm>
          <a:prstGeom prst="rect">
            <a:avLst/>
          </a:prstGeom>
          <a:solidFill>
            <a:srgbClr val="223140"/>
          </a:solidFill>
          <a:ln/>
        </p:spPr>
        <p:txBody>
          <a:bodyPr/>
          <a:lstStyle/>
          <a:p>
            <a:endParaRPr lang="en-US"/>
          </a:p>
        </p:txBody>
      </p:sp>
      <p:sp>
        <p:nvSpPr>
          <p:cNvPr id="8" name="GoalRule"/>
          <p:cNvSpPr/>
          <p:nvPr/>
        </p:nvSpPr>
        <p:spPr>
          <a:xfrm>
            <a:off x="914400" y="1965960"/>
            <a:ext cx="640080" cy="34200"/>
          </a:xfrm>
          <a:prstGeom prst="rect">
            <a:avLst/>
          </a:prstGeom>
          <a:solidFill>
            <a:srgbClr val="C88A2C"/>
          </a:solidFill>
          <a:ln/>
        </p:spPr>
        <p:txBody>
          <a:bodyPr/>
          <a:lstStyle/>
          <a:p>
            <a:endParaRPr lang="en-US"/>
          </a:p>
        </p:txBody>
      </p:sp>
      <p:sp>
        <p:nvSpPr>
          <p:cNvPr id="9" name="GoalHead"/>
          <p:cNvSpPr/>
          <p:nvPr/>
        </p:nvSpPr>
        <p:spPr>
          <a:xfrm>
            <a:off x="914400" y="2148840"/>
            <a:ext cx="2926080" cy="411480"/>
          </a:xfrm>
          <a:prstGeom prst="rect">
            <a:avLst/>
          </a:prstGeom>
          <a:noFill/>
          <a:ln/>
        </p:spPr>
        <p:txBody>
          <a:bodyPr wrap="square" lIns="0" tIns="0" rIns="0" bIns="0" rtlCol="0" anchor="ctr"/>
          <a:lstStyle/>
          <a:p>
            <a:pPr marL="0" indent="0" algn="l">
              <a:buNone/>
            </a:pPr>
            <a:r>
              <a:rPr lang="en-US" sz="1600" b="1" spc="120">
                <a:solidFill>
                  <a:srgbClr val="C88A2C"/>
                </a:solidFill>
                <a:latin typeface="Cambria" pitchFamily="34" charset="0"/>
              </a:rPr>
              <a:t>The goal</a:t>
            </a:r>
            <a:endParaRPr lang="en-US" sz="1600"/>
          </a:p>
        </p:txBody>
      </p:sp>
      <p:sp>
        <p:nvSpPr>
          <p:cNvPr id="10" name="GoalBody"/>
          <p:cNvSpPr/>
          <p:nvPr/>
        </p:nvSpPr>
        <p:spPr>
          <a:xfrm>
            <a:off x="914400" y="2652240"/>
            <a:ext cx="2926080" cy="1600200"/>
          </a:xfrm>
          <a:prstGeom prst="rect">
            <a:avLst/>
          </a:prstGeom>
          <a:noFill/>
          <a:ln/>
        </p:spPr>
        <p:txBody>
          <a:bodyPr wrap="square" lIns="0" tIns="0" rIns="0" bIns="0" rtlCol="0" anchor="t"/>
          <a:lstStyle/>
          <a:p>
            <a:pPr marL="0" indent="0" algn="l">
              <a:lnSpc>
                <a:spcPct val="122000"/>
              </a:lnSpc>
              <a:buNone/>
            </a:pPr>
            <a:r>
              <a:rPr lang="en-US" sz="1600" dirty="0">
                <a:solidFill>
                  <a:srgbClr val="F4ECDD"/>
                </a:solidFill>
                <a:latin typeface="Calibri" pitchFamily="34" charset="0"/>
              </a:rPr>
              <a:t>Find which features actually drive the &gt;50K prediction, whether the model is fair across groups, and which model is better are distinguishing between classes.</a:t>
            </a:r>
            <a:endParaRPr lang="en-US" sz="1600" dirty="0"/>
          </a:p>
        </p:txBody>
      </p:sp>
      <p:sp>
        <p:nvSpPr>
          <p:cNvPr id="11" name="FooterLeft"/>
          <p:cNvSpPr/>
          <p:nvPr/>
        </p:nvSpPr>
        <p:spPr>
          <a:xfrm>
            <a:off x="640080" y="6408000"/>
            <a:ext cx="8000000" cy="276000"/>
          </a:xfrm>
          <a:prstGeom prst="rect">
            <a:avLst/>
          </a:prstGeom>
          <a:noFill/>
          <a:ln/>
        </p:spPr>
        <p:txBody>
          <a:bodyPr wrap="square" lIns="0" tIns="0" rIns="0" bIns="0" rtlCol="0" anchor="ctr"/>
          <a:lstStyle/>
          <a:p>
            <a:pPr marL="0" indent="0" algn="l">
              <a:buNone/>
            </a:pPr>
            <a:r>
              <a:rPr lang="en-US" sz="1000" spc="100">
                <a:solidFill>
                  <a:srgbClr val="9A8B76"/>
                </a:solidFill>
                <a:latin typeface="Calibri" pitchFamily="34" charset="0"/>
              </a:rPr>
              <a:t>UCI Adult Census Income  ·  Data Science Capstone</a:t>
            </a:r>
            <a:endParaRPr lang="en-US" sz="1000"/>
          </a:p>
        </p:txBody>
      </p:sp>
      <p:sp>
        <p:nvSpPr>
          <p:cNvPr id="12" name="FooterRight"/>
          <p:cNvSpPr/>
          <p:nvPr/>
        </p:nvSpPr>
        <p:spPr>
          <a:xfrm>
            <a:off x="9612880" y="6408000"/>
            <a:ext cx="2000000" cy="276000"/>
          </a:xfrm>
          <a:prstGeom prst="rect">
            <a:avLst/>
          </a:prstGeom>
          <a:noFill/>
          <a:ln/>
        </p:spPr>
        <p:txBody>
          <a:bodyPr wrap="square" lIns="0" tIns="0" rIns="0" bIns="0" rtlCol="0" anchor="ctr"/>
          <a:lstStyle/>
          <a:p>
            <a:pPr marL="0" indent="0" algn="r">
              <a:buNone/>
            </a:pPr>
            <a:r>
              <a:rPr lang="en-US" sz="1000" b="1" spc="100">
                <a:solidFill>
                  <a:srgbClr val="B0512F"/>
                </a:solidFill>
                <a:latin typeface="Calibri" pitchFamily="34" charset="0"/>
              </a:rPr>
              <a:t>02 / 09</a:t>
            </a:r>
            <a:endParaRPr lang="en-US" sz="1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ECDD"/>
        </a:solidFill>
        <a:effectLst/>
      </p:bgPr>
    </p:bg>
    <p:spTree>
      <p:nvGrpSpPr>
        <p:cNvPr id="1" name=""/>
        <p:cNvGrpSpPr/>
        <p:nvPr/>
      </p:nvGrpSpPr>
      <p:grpSpPr>
        <a:xfrm>
          <a:off x="0" y="0"/>
          <a:ext cx="0" cy="0"/>
          <a:chOff x="0" y="0"/>
          <a:chExt cx="0" cy="0"/>
        </a:xfrm>
      </p:grpSpPr>
      <p:sp>
        <p:nvSpPr>
          <p:cNvPr id="2" name="Kicker"/>
          <p:cNvSpPr/>
          <p:nvPr/>
        </p:nvSpPr>
        <p:spPr>
          <a:xfrm>
            <a:off x="640080" y="411480"/>
            <a:ext cx="10000000" cy="276000"/>
          </a:xfrm>
          <a:prstGeom prst="rect">
            <a:avLst/>
          </a:prstGeom>
          <a:noFill/>
          <a:ln/>
        </p:spPr>
        <p:txBody>
          <a:bodyPr wrap="square" lIns="0" tIns="0" rIns="0" bIns="0" rtlCol="0" anchor="ctr"/>
          <a:lstStyle/>
          <a:p>
            <a:pPr marL="0" indent="0" algn="l">
              <a:buNone/>
            </a:pPr>
            <a:r>
              <a:rPr lang="en-US" sz="1150" b="1" spc="260">
                <a:solidFill>
                  <a:srgbClr val="B0512F"/>
                </a:solidFill>
                <a:latin typeface="Calibri" pitchFamily="34" charset="0"/>
              </a:rPr>
              <a:t>02</a:t>
            </a:r>
            <a:r>
              <a:rPr lang="en-US" sz="1150" b="1" spc="260">
                <a:solidFill>
                  <a:srgbClr val="776755"/>
                </a:solidFill>
                <a:latin typeface="Calibri" pitchFamily="34" charset="0"/>
              </a:rPr>
              <a:t>     DATASET</a:t>
            </a:r>
            <a:endParaRPr lang="en-US" sz="1150"/>
          </a:p>
        </p:txBody>
      </p:sp>
      <p:sp>
        <p:nvSpPr>
          <p:cNvPr id="3" name="Title"/>
          <p:cNvSpPr/>
          <p:nvPr/>
        </p:nvSpPr>
        <p:spPr>
          <a:xfrm>
            <a:off x="640080" y="731520"/>
            <a:ext cx="10972800" cy="640080"/>
          </a:xfrm>
          <a:prstGeom prst="rect">
            <a:avLst/>
          </a:prstGeom>
          <a:noFill/>
          <a:ln/>
        </p:spPr>
        <p:txBody>
          <a:bodyPr wrap="square" lIns="0" tIns="0" rIns="0" bIns="0" rtlCol="0" anchor="ctr"/>
          <a:lstStyle/>
          <a:p>
            <a:pPr marL="0" indent="0" algn="l">
              <a:buNone/>
            </a:pPr>
            <a:r>
              <a:rPr lang="en-US" sz="2800" b="1">
                <a:solidFill>
                  <a:srgbClr val="223140"/>
                </a:solidFill>
                <a:latin typeface="Cambria" pitchFamily="34" charset="0"/>
                <a:ea typeface="Cambria" pitchFamily="34" charset="-122"/>
                <a:cs typeface="Cambria" pitchFamily="34" charset="-120"/>
              </a:rPr>
              <a:t>The data</a:t>
            </a:r>
            <a:endParaRPr lang="en-US" sz="2800"/>
          </a:p>
        </p:txBody>
      </p:sp>
      <p:sp>
        <p:nvSpPr>
          <p:cNvPr id="4" name="TitleRule"/>
          <p:cNvSpPr/>
          <p:nvPr/>
        </p:nvSpPr>
        <p:spPr>
          <a:xfrm>
            <a:off x="644080" y="1362840"/>
            <a:ext cx="838200" cy="34200"/>
          </a:xfrm>
          <a:prstGeom prst="rect">
            <a:avLst/>
          </a:prstGeom>
          <a:solidFill>
            <a:srgbClr val="B0512F"/>
          </a:solidFill>
          <a:ln/>
        </p:spPr>
        <p:txBody>
          <a:bodyPr/>
          <a:lstStyle/>
          <a:p>
            <a:endParaRPr lang="en-US"/>
          </a:p>
        </p:txBody>
      </p:sp>
      <p:sp>
        <p:nvSpPr>
          <p:cNvPr id="5" name="DetailRule"/>
          <p:cNvSpPr/>
          <p:nvPr/>
        </p:nvSpPr>
        <p:spPr>
          <a:xfrm>
            <a:off x="640080" y="1760000"/>
            <a:ext cx="43200" cy="4141640"/>
          </a:xfrm>
          <a:prstGeom prst="rect">
            <a:avLst/>
          </a:prstGeom>
          <a:solidFill>
            <a:srgbClr val="D9C7A6"/>
          </a:solidFill>
          <a:ln/>
        </p:spPr>
        <p:txBody>
          <a:bodyPr/>
          <a:lstStyle/>
          <a:p>
            <a:endParaRPr lang="en-US"/>
          </a:p>
        </p:txBody>
      </p:sp>
      <p:sp>
        <p:nvSpPr>
          <p:cNvPr id="6" name="DetailText"/>
          <p:cNvSpPr/>
          <p:nvPr/>
        </p:nvSpPr>
        <p:spPr>
          <a:xfrm>
            <a:off x="868680" y="1760000"/>
            <a:ext cx="6172800" cy="4141640"/>
          </a:xfrm>
          <a:prstGeom prst="rect">
            <a:avLst/>
          </a:prstGeom>
          <a:noFill/>
          <a:ln/>
        </p:spPr>
        <p:txBody>
          <a:bodyPr wrap="square" lIns="0" tIns="0" rIns="0" bIns="0" rtlCol="0" anchor="t"/>
          <a:lstStyle/>
          <a:p>
            <a:pPr marL="342900" indent="-342900" algn="l">
              <a:lnSpc>
                <a:spcPct val="114000"/>
              </a:lnSpc>
              <a:spcAft>
                <a:spcPts val="1200"/>
              </a:spcAft>
              <a:buClr>
                <a:srgbClr val="B0512F"/>
              </a:buClr>
              <a:buSzPct val="90000"/>
              <a:buChar char="—"/>
            </a:pPr>
            <a:r>
              <a:rPr lang="en-US" sz="1500" dirty="0">
                <a:solidFill>
                  <a:srgbClr val="3B362D"/>
                </a:solidFill>
                <a:latin typeface="Calibri" pitchFamily="34" charset="0"/>
              </a:rPr>
              <a:t>Source: UCI Adult Census Income, about 15 raw columns.</a:t>
            </a:r>
            <a:endParaRPr lang="en-US" sz="1500" dirty="0"/>
          </a:p>
          <a:p>
            <a:pPr marL="342900" indent="-342900" algn="l">
              <a:lnSpc>
                <a:spcPct val="114000"/>
              </a:lnSpc>
              <a:spcAft>
                <a:spcPts val="1200"/>
              </a:spcAft>
              <a:buClr>
                <a:srgbClr val="B0512F"/>
              </a:buClr>
              <a:buSzPct val="90000"/>
              <a:buChar char="—"/>
            </a:pPr>
            <a:r>
              <a:rPr lang="en-US" sz="1500" dirty="0">
                <a:solidFill>
                  <a:srgbClr val="3B362D"/>
                </a:solidFill>
                <a:latin typeface="Calibri" pitchFamily="34" charset="0"/>
              </a:rPr>
              <a:t>Target: income, &gt;50K vs &lt;=50K. The classes are imbalanced.</a:t>
            </a:r>
            <a:endParaRPr lang="en-US" sz="1500" dirty="0"/>
          </a:p>
          <a:p>
            <a:pPr marL="342900" indent="-342900" algn="l">
              <a:lnSpc>
                <a:spcPct val="114000"/>
              </a:lnSpc>
              <a:spcAft>
                <a:spcPts val="1200"/>
              </a:spcAft>
              <a:buClr>
                <a:srgbClr val="B0512F"/>
              </a:buClr>
              <a:buSzPct val="90000"/>
              <a:buChar char="—"/>
            </a:pPr>
            <a:r>
              <a:rPr lang="en-US" sz="1500" dirty="0">
                <a:solidFill>
                  <a:srgbClr val="3B362D"/>
                </a:solidFill>
                <a:latin typeface="Calibri" pitchFamily="34" charset="0"/>
              </a:rPr>
              <a:t>Predictors: age, </a:t>
            </a:r>
            <a:r>
              <a:rPr lang="en-US" sz="1500" dirty="0" err="1">
                <a:solidFill>
                  <a:srgbClr val="3B362D"/>
                </a:solidFill>
                <a:latin typeface="Calibri" pitchFamily="34" charset="0"/>
              </a:rPr>
              <a:t>workclass</a:t>
            </a:r>
            <a:r>
              <a:rPr lang="en-US" sz="1500" dirty="0">
                <a:solidFill>
                  <a:srgbClr val="3B362D"/>
                </a:solidFill>
                <a:latin typeface="Calibri" pitchFamily="34" charset="0"/>
              </a:rPr>
              <a:t>, education, marital status, occupation, relationship, race, sex, capital gain and loss, hours per week, and native country.</a:t>
            </a:r>
            <a:endParaRPr lang="en-US" sz="1500" dirty="0"/>
          </a:p>
          <a:p>
            <a:pPr marL="342900" indent="-342900">
              <a:lnSpc>
                <a:spcPct val="114000"/>
              </a:lnSpc>
              <a:buClr>
                <a:srgbClr val="B0512F"/>
              </a:buClr>
              <a:buSzPct val="90000"/>
              <a:buChar char="—"/>
            </a:pPr>
            <a:r>
              <a:rPr lang="en-US" sz="1500" dirty="0">
                <a:solidFill>
                  <a:srgbClr val="3B362D"/>
                </a:solidFill>
              </a:rPr>
              <a:t>I dropped </a:t>
            </a:r>
            <a:r>
              <a:rPr lang="en-US" sz="1500" dirty="0" err="1">
                <a:solidFill>
                  <a:srgbClr val="3B362D"/>
                </a:solidFill>
              </a:rPr>
              <a:t>fnlwgt</a:t>
            </a:r>
            <a:r>
              <a:rPr lang="en-US" sz="1500" dirty="0">
                <a:solidFill>
                  <a:srgbClr val="3B362D"/>
                </a:solidFill>
              </a:rPr>
              <a:t> (a census sampling weight which is the number of people in the actual U.S. population that a given row is meant to represent) and education, which is redundant with </a:t>
            </a:r>
            <a:r>
              <a:rPr lang="en-US" sz="1500" dirty="0" err="1">
                <a:solidFill>
                  <a:srgbClr val="3B362D"/>
                </a:solidFill>
              </a:rPr>
              <a:t>education_num</a:t>
            </a:r>
            <a:r>
              <a:rPr lang="en-US" sz="1500" dirty="0">
                <a:solidFill>
                  <a:srgbClr val="3B362D"/>
                </a:solidFill>
              </a:rPr>
              <a:t>.</a:t>
            </a:r>
            <a:endParaRPr lang="en-US" sz="1500" dirty="0"/>
          </a:p>
        </p:txBody>
      </p:sp>
      <p:sp>
        <p:nvSpPr>
          <p:cNvPr id="7" name="StatDivider"/>
          <p:cNvSpPr/>
          <p:nvPr/>
        </p:nvSpPr>
        <p:spPr>
          <a:xfrm>
            <a:off x="7223760" y="1760000"/>
            <a:ext cx="15240" cy="4141640"/>
          </a:xfrm>
          <a:prstGeom prst="rect">
            <a:avLst/>
          </a:prstGeom>
          <a:solidFill>
            <a:srgbClr val="D9C7A6"/>
          </a:solidFill>
          <a:ln/>
        </p:spPr>
        <p:txBody>
          <a:bodyPr/>
          <a:lstStyle/>
          <a:p>
            <a:endParaRPr lang="en-US"/>
          </a:p>
        </p:txBody>
      </p:sp>
      <p:sp>
        <p:nvSpPr>
          <p:cNvPr id="8" name="StatA"/>
          <p:cNvSpPr/>
          <p:nvPr/>
        </p:nvSpPr>
        <p:spPr>
          <a:xfrm>
            <a:off x="7452360" y="1770000"/>
            <a:ext cx="3800000" cy="640080"/>
          </a:xfrm>
          <a:prstGeom prst="rect">
            <a:avLst/>
          </a:prstGeom>
          <a:noFill/>
          <a:ln/>
        </p:spPr>
        <p:txBody>
          <a:bodyPr wrap="square" lIns="0" tIns="0" rIns="0" bIns="0" rtlCol="0" anchor="ctr"/>
          <a:lstStyle/>
          <a:p>
            <a:pPr marL="0" indent="0" algn="l">
              <a:buNone/>
            </a:pPr>
            <a:r>
              <a:rPr lang="en-US" sz="3600" b="1">
                <a:solidFill>
                  <a:srgbClr val="B0512F"/>
                </a:solidFill>
                <a:latin typeface="Cambria" pitchFamily="34" charset="0"/>
              </a:rPr>
              <a:t>~32,500</a:t>
            </a:r>
            <a:endParaRPr lang="en-US" sz="3600"/>
          </a:p>
        </p:txBody>
      </p:sp>
      <p:sp>
        <p:nvSpPr>
          <p:cNvPr id="9" name="StatARule"/>
          <p:cNvSpPr/>
          <p:nvPr/>
        </p:nvSpPr>
        <p:spPr>
          <a:xfrm>
            <a:off x="7456360" y="2470000"/>
            <a:ext cx="640080" cy="30600"/>
          </a:xfrm>
          <a:prstGeom prst="rect">
            <a:avLst/>
          </a:prstGeom>
          <a:solidFill>
            <a:srgbClr val="B0512F"/>
          </a:solidFill>
          <a:ln/>
        </p:spPr>
        <p:txBody>
          <a:bodyPr/>
          <a:lstStyle/>
          <a:p>
            <a:endParaRPr lang="en-US"/>
          </a:p>
        </p:txBody>
      </p:sp>
      <p:sp>
        <p:nvSpPr>
          <p:cNvPr id="10" name="StatALabel"/>
          <p:cNvSpPr/>
          <p:nvPr/>
        </p:nvSpPr>
        <p:spPr>
          <a:xfrm>
            <a:off x="7452360" y="2540000"/>
            <a:ext cx="3800000" cy="400000"/>
          </a:xfrm>
          <a:prstGeom prst="rect">
            <a:avLst/>
          </a:prstGeom>
          <a:noFill/>
          <a:ln/>
        </p:spPr>
        <p:txBody>
          <a:bodyPr wrap="square" lIns="0" tIns="0" rIns="0" bIns="0" rtlCol="0" anchor="t"/>
          <a:lstStyle/>
          <a:p>
            <a:pPr marL="0" indent="0" algn="l">
              <a:buNone/>
            </a:pPr>
            <a:r>
              <a:rPr lang="en-US" sz="1400">
                <a:solidFill>
                  <a:srgbClr val="776755"/>
                </a:solidFill>
                <a:latin typeface="Calibri" pitchFamily="34" charset="0"/>
              </a:rPr>
              <a:t>rows, one per person</a:t>
            </a:r>
            <a:endParaRPr lang="en-US" sz="1400"/>
          </a:p>
        </p:txBody>
      </p:sp>
      <p:sp>
        <p:nvSpPr>
          <p:cNvPr id="11" name="StatB"/>
          <p:cNvSpPr/>
          <p:nvPr/>
        </p:nvSpPr>
        <p:spPr>
          <a:xfrm>
            <a:off x="7452360" y="3090000"/>
            <a:ext cx="3800000" cy="640080"/>
          </a:xfrm>
          <a:prstGeom prst="rect">
            <a:avLst/>
          </a:prstGeom>
          <a:noFill/>
          <a:ln/>
        </p:spPr>
        <p:txBody>
          <a:bodyPr wrap="square" lIns="0" tIns="0" rIns="0" bIns="0" rtlCol="0" anchor="ctr"/>
          <a:lstStyle/>
          <a:p>
            <a:pPr marL="0" indent="0" algn="l">
              <a:buNone/>
            </a:pPr>
            <a:r>
              <a:rPr lang="en-US" sz="3600" b="1">
                <a:solidFill>
                  <a:srgbClr val="223140"/>
                </a:solidFill>
                <a:latin typeface="Cambria" pitchFamily="34" charset="0"/>
              </a:rPr>
              <a:t>12</a:t>
            </a:r>
            <a:endParaRPr lang="en-US" sz="3600"/>
          </a:p>
        </p:txBody>
      </p:sp>
      <p:sp>
        <p:nvSpPr>
          <p:cNvPr id="12" name="StatBRule"/>
          <p:cNvSpPr/>
          <p:nvPr/>
        </p:nvSpPr>
        <p:spPr>
          <a:xfrm>
            <a:off x="7456360" y="3790000"/>
            <a:ext cx="640080" cy="30600"/>
          </a:xfrm>
          <a:prstGeom prst="rect">
            <a:avLst/>
          </a:prstGeom>
          <a:solidFill>
            <a:srgbClr val="D9C7A6"/>
          </a:solidFill>
          <a:ln/>
        </p:spPr>
        <p:txBody>
          <a:bodyPr/>
          <a:lstStyle/>
          <a:p>
            <a:endParaRPr lang="en-US"/>
          </a:p>
        </p:txBody>
      </p:sp>
      <p:sp>
        <p:nvSpPr>
          <p:cNvPr id="13" name="StatBLabel"/>
          <p:cNvSpPr/>
          <p:nvPr/>
        </p:nvSpPr>
        <p:spPr>
          <a:xfrm>
            <a:off x="7452360" y="3860000"/>
            <a:ext cx="3800000" cy="400000"/>
          </a:xfrm>
          <a:prstGeom prst="rect">
            <a:avLst/>
          </a:prstGeom>
          <a:noFill/>
          <a:ln/>
        </p:spPr>
        <p:txBody>
          <a:bodyPr wrap="square" lIns="0" tIns="0" rIns="0" bIns="0" rtlCol="0" anchor="t"/>
          <a:lstStyle/>
          <a:p>
            <a:pPr marL="0" indent="0" algn="l">
              <a:buNone/>
            </a:pPr>
            <a:r>
              <a:rPr lang="en-US" sz="1400">
                <a:solidFill>
                  <a:srgbClr val="776755"/>
                </a:solidFill>
                <a:latin typeface="Calibri" pitchFamily="34" charset="0"/>
              </a:rPr>
              <a:t>predictors used</a:t>
            </a:r>
            <a:endParaRPr lang="en-US" sz="1400"/>
          </a:p>
        </p:txBody>
      </p:sp>
      <p:sp>
        <p:nvSpPr>
          <p:cNvPr id="14" name="StatC"/>
          <p:cNvSpPr/>
          <p:nvPr/>
        </p:nvSpPr>
        <p:spPr>
          <a:xfrm>
            <a:off x="7452360" y="4410000"/>
            <a:ext cx="3800000" cy="640080"/>
          </a:xfrm>
          <a:prstGeom prst="rect">
            <a:avLst/>
          </a:prstGeom>
          <a:noFill/>
          <a:ln/>
        </p:spPr>
        <p:txBody>
          <a:bodyPr wrap="square" lIns="0" tIns="0" rIns="0" bIns="0" rtlCol="0" anchor="ctr"/>
          <a:lstStyle/>
          <a:p>
            <a:pPr marL="0" indent="0" algn="l">
              <a:buNone/>
            </a:pPr>
            <a:r>
              <a:rPr lang="en-US" sz="3600" b="1">
                <a:solidFill>
                  <a:srgbClr val="C88A2C"/>
                </a:solidFill>
                <a:latin typeface="Cambria" pitchFamily="34" charset="0"/>
              </a:rPr>
              <a:t>24%</a:t>
            </a:r>
            <a:endParaRPr lang="en-US" sz="3600"/>
          </a:p>
        </p:txBody>
      </p:sp>
      <p:sp>
        <p:nvSpPr>
          <p:cNvPr id="15" name="StatCRule"/>
          <p:cNvSpPr/>
          <p:nvPr/>
        </p:nvSpPr>
        <p:spPr>
          <a:xfrm>
            <a:off x="7456360" y="5110000"/>
            <a:ext cx="640080" cy="30600"/>
          </a:xfrm>
          <a:prstGeom prst="rect">
            <a:avLst/>
          </a:prstGeom>
          <a:solidFill>
            <a:srgbClr val="D9C7A6"/>
          </a:solidFill>
          <a:ln/>
        </p:spPr>
        <p:txBody>
          <a:bodyPr/>
          <a:lstStyle/>
          <a:p>
            <a:endParaRPr lang="en-US"/>
          </a:p>
        </p:txBody>
      </p:sp>
      <p:sp>
        <p:nvSpPr>
          <p:cNvPr id="16" name="StatCLabel"/>
          <p:cNvSpPr/>
          <p:nvPr/>
        </p:nvSpPr>
        <p:spPr>
          <a:xfrm>
            <a:off x="7452360" y="5180000"/>
            <a:ext cx="3800000" cy="400000"/>
          </a:xfrm>
          <a:prstGeom prst="rect">
            <a:avLst/>
          </a:prstGeom>
          <a:noFill/>
          <a:ln/>
        </p:spPr>
        <p:txBody>
          <a:bodyPr wrap="square" lIns="0" tIns="0" rIns="0" bIns="0" rtlCol="0" anchor="t"/>
          <a:lstStyle/>
          <a:p>
            <a:pPr marL="0" indent="0" algn="l">
              <a:buNone/>
            </a:pPr>
            <a:r>
              <a:rPr lang="en-US" sz="1400">
                <a:solidFill>
                  <a:srgbClr val="776755"/>
                </a:solidFill>
                <a:latin typeface="Calibri" pitchFamily="34" charset="0"/>
              </a:rPr>
              <a:t>earn more than $50K</a:t>
            </a:r>
            <a:endParaRPr lang="en-US" sz="1400"/>
          </a:p>
        </p:txBody>
      </p:sp>
      <p:sp>
        <p:nvSpPr>
          <p:cNvPr id="17" name="FooterLeft"/>
          <p:cNvSpPr/>
          <p:nvPr/>
        </p:nvSpPr>
        <p:spPr>
          <a:xfrm>
            <a:off x="640080" y="6408000"/>
            <a:ext cx="8000000" cy="276000"/>
          </a:xfrm>
          <a:prstGeom prst="rect">
            <a:avLst/>
          </a:prstGeom>
          <a:noFill/>
          <a:ln/>
        </p:spPr>
        <p:txBody>
          <a:bodyPr wrap="square" lIns="0" tIns="0" rIns="0" bIns="0" rtlCol="0" anchor="ctr"/>
          <a:lstStyle/>
          <a:p>
            <a:pPr marL="0" indent="0" algn="l">
              <a:buNone/>
            </a:pPr>
            <a:r>
              <a:rPr lang="en-US" sz="1000" spc="100">
                <a:solidFill>
                  <a:srgbClr val="9A8B76"/>
                </a:solidFill>
                <a:latin typeface="Calibri" pitchFamily="34" charset="0"/>
              </a:rPr>
              <a:t>UCI Adult Census Income  ·  Data Science Capstone</a:t>
            </a:r>
            <a:endParaRPr lang="en-US" sz="1000"/>
          </a:p>
        </p:txBody>
      </p:sp>
      <p:sp>
        <p:nvSpPr>
          <p:cNvPr id="18" name="FooterRight"/>
          <p:cNvSpPr/>
          <p:nvPr/>
        </p:nvSpPr>
        <p:spPr>
          <a:xfrm>
            <a:off x="9612880" y="6408000"/>
            <a:ext cx="2000000" cy="276000"/>
          </a:xfrm>
          <a:prstGeom prst="rect">
            <a:avLst/>
          </a:prstGeom>
          <a:noFill/>
          <a:ln/>
        </p:spPr>
        <p:txBody>
          <a:bodyPr wrap="square" lIns="0" tIns="0" rIns="0" bIns="0" rtlCol="0" anchor="ctr"/>
          <a:lstStyle/>
          <a:p>
            <a:pPr marL="0" indent="0" algn="r">
              <a:buNone/>
            </a:pPr>
            <a:r>
              <a:rPr lang="en-US" sz="1000" b="1" spc="100">
                <a:solidFill>
                  <a:srgbClr val="B0512F"/>
                </a:solidFill>
                <a:latin typeface="Calibri" pitchFamily="34" charset="0"/>
              </a:rPr>
              <a:t>03 / 09</a:t>
            </a:r>
            <a:endParaRPr lang="en-US" sz="10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ECDD"/>
        </a:solidFill>
        <a:effectLst/>
      </p:bgPr>
    </p:bg>
    <p:spTree>
      <p:nvGrpSpPr>
        <p:cNvPr id="1" name=""/>
        <p:cNvGrpSpPr/>
        <p:nvPr/>
      </p:nvGrpSpPr>
      <p:grpSpPr>
        <a:xfrm>
          <a:off x="0" y="0"/>
          <a:ext cx="0" cy="0"/>
          <a:chOff x="0" y="0"/>
          <a:chExt cx="0" cy="0"/>
        </a:xfrm>
      </p:grpSpPr>
      <p:sp>
        <p:nvSpPr>
          <p:cNvPr id="2" name="Kicker"/>
          <p:cNvSpPr/>
          <p:nvPr/>
        </p:nvSpPr>
        <p:spPr>
          <a:xfrm>
            <a:off x="1551920" y="411480"/>
            <a:ext cx="10000000" cy="276000"/>
          </a:xfrm>
          <a:prstGeom prst="rect">
            <a:avLst/>
          </a:prstGeom>
          <a:noFill/>
          <a:ln/>
        </p:spPr>
        <p:txBody>
          <a:bodyPr wrap="square" lIns="0" tIns="0" rIns="0" bIns="0" rtlCol="0" anchor="ctr"/>
          <a:lstStyle/>
          <a:p>
            <a:pPr marL="0" indent="0" algn="r">
              <a:buNone/>
            </a:pPr>
            <a:r>
              <a:rPr lang="en-US" sz="1150" b="1" spc="260">
                <a:solidFill>
                  <a:srgbClr val="B0512F"/>
                </a:solidFill>
                <a:latin typeface="Calibri" pitchFamily="34" charset="0"/>
              </a:rPr>
              <a:t>03</a:t>
            </a:r>
            <a:r>
              <a:rPr lang="en-US" sz="1150" b="1" spc="260">
                <a:solidFill>
                  <a:srgbClr val="776755"/>
                </a:solidFill>
                <a:latin typeface="Calibri" pitchFamily="34" charset="0"/>
              </a:rPr>
              <a:t>     METHOD</a:t>
            </a:r>
            <a:endParaRPr lang="en-US" sz="1150"/>
          </a:p>
        </p:txBody>
      </p:sp>
      <p:sp>
        <p:nvSpPr>
          <p:cNvPr id="3" name="Title"/>
          <p:cNvSpPr/>
          <p:nvPr/>
        </p:nvSpPr>
        <p:spPr>
          <a:xfrm>
            <a:off x="579120" y="731520"/>
            <a:ext cx="10972800" cy="640080"/>
          </a:xfrm>
          <a:prstGeom prst="rect">
            <a:avLst/>
          </a:prstGeom>
          <a:noFill/>
          <a:ln/>
        </p:spPr>
        <p:txBody>
          <a:bodyPr wrap="square" lIns="0" tIns="0" rIns="0" bIns="0" rtlCol="0" anchor="ctr"/>
          <a:lstStyle/>
          <a:p>
            <a:pPr marL="0" indent="0" algn="r">
              <a:buNone/>
            </a:pPr>
            <a:r>
              <a:rPr lang="en-US" sz="2800" b="1">
                <a:solidFill>
                  <a:srgbClr val="223140"/>
                </a:solidFill>
                <a:latin typeface="Cambria" pitchFamily="34" charset="0"/>
                <a:ea typeface="Cambria" pitchFamily="34" charset="-122"/>
                <a:cs typeface="Cambria" pitchFamily="34" charset="-120"/>
              </a:rPr>
              <a:t>Research questions</a:t>
            </a:r>
            <a:endParaRPr lang="en-US" sz="2800"/>
          </a:p>
        </p:txBody>
      </p:sp>
      <p:sp>
        <p:nvSpPr>
          <p:cNvPr id="4" name="TitleRule"/>
          <p:cNvSpPr/>
          <p:nvPr/>
        </p:nvSpPr>
        <p:spPr>
          <a:xfrm>
            <a:off x="10713720" y="1362840"/>
            <a:ext cx="838200" cy="34200"/>
          </a:xfrm>
          <a:prstGeom prst="rect">
            <a:avLst/>
          </a:prstGeom>
          <a:solidFill>
            <a:srgbClr val="B0512F"/>
          </a:solidFill>
          <a:ln/>
        </p:spPr>
        <p:txBody>
          <a:bodyPr/>
          <a:lstStyle/>
          <a:p>
            <a:endParaRPr lang="en-US"/>
          </a:p>
        </p:txBody>
      </p:sp>
      <p:sp>
        <p:nvSpPr>
          <p:cNvPr id="5" name="LeftRule"/>
          <p:cNvSpPr/>
          <p:nvPr/>
        </p:nvSpPr>
        <p:spPr>
          <a:xfrm>
            <a:off x="4389120" y="1691640"/>
            <a:ext cx="43200" cy="3383280"/>
          </a:xfrm>
          <a:prstGeom prst="rect">
            <a:avLst/>
          </a:prstGeom>
          <a:solidFill>
            <a:srgbClr val="D9C7A6"/>
          </a:solidFill>
          <a:ln/>
        </p:spPr>
        <p:txBody>
          <a:bodyPr/>
          <a:lstStyle/>
          <a:p>
            <a:endParaRPr lang="en-US"/>
          </a:p>
        </p:txBody>
      </p:sp>
      <p:sp>
        <p:nvSpPr>
          <p:cNvPr id="6" name="BodyText"/>
          <p:cNvSpPr/>
          <p:nvPr/>
        </p:nvSpPr>
        <p:spPr>
          <a:xfrm>
            <a:off x="4617720" y="1691640"/>
            <a:ext cx="6934200" cy="3383280"/>
          </a:xfrm>
          <a:prstGeom prst="rect">
            <a:avLst/>
          </a:prstGeom>
          <a:noFill/>
          <a:ln/>
        </p:spPr>
        <p:txBody>
          <a:bodyPr wrap="square" lIns="0" tIns="0" rIns="0" bIns="0" rtlCol="0" anchor="t"/>
          <a:lstStyle/>
          <a:p>
            <a:pPr marL="342900" indent="-342900" algn="l">
              <a:lnSpc>
                <a:spcPct val="116000"/>
              </a:lnSpc>
              <a:spcAft>
                <a:spcPts val="1400"/>
              </a:spcAft>
              <a:buClr>
                <a:srgbClr val="B0512F"/>
              </a:buClr>
              <a:buSzPct val="90000"/>
              <a:buChar char="—"/>
            </a:pPr>
            <a:r>
              <a:rPr lang="en-US" sz="1700" dirty="0">
                <a:solidFill>
                  <a:srgbClr val="3B362D"/>
                </a:solidFill>
                <a:latin typeface="Calibri" pitchFamily="34" charset="0"/>
              </a:rPr>
              <a:t>Three questions drive the project, so the payoff is what the model does and who it works for, not just an accuracy score.</a:t>
            </a:r>
            <a:endParaRPr lang="en-US" sz="1700" dirty="0"/>
          </a:p>
          <a:p>
            <a:pPr marL="342900" indent="-342900" algn="l">
              <a:lnSpc>
                <a:spcPct val="116000"/>
              </a:lnSpc>
              <a:spcAft>
                <a:spcPts val="1000"/>
              </a:spcAft>
              <a:buClr>
                <a:srgbClr val="B0512F"/>
              </a:buClr>
              <a:buSzPct val="90000"/>
              <a:buChar char="—"/>
            </a:pPr>
            <a:r>
              <a:rPr lang="en-US" sz="1700" dirty="0">
                <a:solidFill>
                  <a:srgbClr val="3B362D"/>
                </a:solidFill>
                <a:latin typeface="Calibri" pitchFamily="34" charset="0"/>
              </a:rPr>
              <a:t>H1: education level drives the &gt;50K prediction more than hours worked. (using coefficients from Logistic Regression)</a:t>
            </a:r>
            <a:endParaRPr lang="en-US" sz="1700" dirty="0"/>
          </a:p>
          <a:p>
            <a:pPr marL="342900" indent="-342900" algn="l">
              <a:lnSpc>
                <a:spcPct val="116000"/>
              </a:lnSpc>
              <a:spcAft>
                <a:spcPts val="1400"/>
              </a:spcAft>
              <a:buClr>
                <a:srgbClr val="B0512F"/>
              </a:buClr>
              <a:buSzPct val="90000"/>
              <a:buChar char="—"/>
            </a:pPr>
            <a:r>
              <a:rPr lang="en-US" sz="1700" dirty="0">
                <a:solidFill>
                  <a:srgbClr val="3B362D"/>
                </a:solidFill>
                <a:latin typeface="Calibri" pitchFamily="34" charset="0"/>
              </a:rPr>
              <a:t>H2: XGBoost is the fairest of the three models toward true high earners across nativity, with a smaller US-born vs foreign-born recall gap (on real &gt;50K earners) than both Logistic Regression and the MLP</a:t>
            </a:r>
          </a:p>
          <a:p>
            <a:pPr marL="342900" indent="-342900" algn="l">
              <a:lnSpc>
                <a:spcPct val="116000"/>
              </a:lnSpc>
              <a:spcAft>
                <a:spcPts val="1400"/>
              </a:spcAft>
              <a:buClr>
                <a:srgbClr val="B0512F"/>
              </a:buClr>
              <a:buSzPct val="90000"/>
              <a:buChar char="—"/>
            </a:pPr>
            <a:r>
              <a:rPr lang="en-US" sz="1700" dirty="0">
                <a:solidFill>
                  <a:srgbClr val="3B362D"/>
                </a:solidFill>
                <a:latin typeface="Calibri" pitchFamily="34" charset="0"/>
              </a:rPr>
              <a:t>H3: the </a:t>
            </a:r>
            <a:r>
              <a:rPr lang="en-US" sz="1700" dirty="0" err="1">
                <a:solidFill>
                  <a:srgbClr val="3B362D"/>
                </a:solidFill>
                <a:latin typeface="Calibri" pitchFamily="34" charset="0"/>
              </a:rPr>
              <a:t>XGBoost</a:t>
            </a:r>
            <a:r>
              <a:rPr lang="en-US" sz="1700" dirty="0">
                <a:solidFill>
                  <a:srgbClr val="3B362D"/>
                </a:solidFill>
                <a:latin typeface="Calibri" pitchFamily="34" charset="0"/>
              </a:rPr>
              <a:t> model beats the Logistic Regression baseline and </a:t>
            </a:r>
            <a:r>
              <a:rPr lang="en-US" sz="1700" dirty="0" err="1">
                <a:solidFill>
                  <a:srgbClr val="3B362D"/>
                </a:solidFill>
                <a:latin typeface="Calibri" pitchFamily="34" charset="0"/>
              </a:rPr>
              <a:t>Mulitlayer</a:t>
            </a:r>
            <a:r>
              <a:rPr lang="en-US" sz="1700" dirty="0">
                <a:solidFill>
                  <a:srgbClr val="3B362D"/>
                </a:solidFill>
                <a:latin typeface="Calibri" pitchFamily="34" charset="0"/>
              </a:rPr>
              <a:t> Perceptron on held-out PR-AUC and F1 score</a:t>
            </a:r>
            <a:endParaRPr lang="en-US" sz="1700" dirty="0"/>
          </a:p>
        </p:txBody>
      </p:sp>
      <p:sp>
        <p:nvSpPr>
          <p:cNvPr id="7" name="TestPanel"/>
          <p:cNvSpPr/>
          <p:nvPr/>
        </p:nvSpPr>
        <p:spPr>
          <a:xfrm>
            <a:off x="579120" y="1051560"/>
            <a:ext cx="3474720" cy="5394960"/>
          </a:xfrm>
          <a:prstGeom prst="rect">
            <a:avLst/>
          </a:prstGeom>
          <a:solidFill>
            <a:srgbClr val="223140"/>
          </a:solidFill>
          <a:ln/>
        </p:spPr>
        <p:txBody>
          <a:bodyPr/>
          <a:lstStyle/>
          <a:p>
            <a:endParaRPr lang="en-US"/>
          </a:p>
        </p:txBody>
      </p:sp>
      <p:sp>
        <p:nvSpPr>
          <p:cNvPr id="8" name="TestRule"/>
          <p:cNvSpPr/>
          <p:nvPr/>
        </p:nvSpPr>
        <p:spPr>
          <a:xfrm>
            <a:off x="914400" y="1965960"/>
            <a:ext cx="640080" cy="34200"/>
          </a:xfrm>
          <a:prstGeom prst="rect">
            <a:avLst/>
          </a:prstGeom>
          <a:solidFill>
            <a:srgbClr val="C88A2C"/>
          </a:solidFill>
          <a:ln/>
        </p:spPr>
        <p:txBody>
          <a:bodyPr/>
          <a:lstStyle/>
          <a:p>
            <a:endParaRPr lang="en-US"/>
          </a:p>
        </p:txBody>
      </p:sp>
      <p:sp>
        <p:nvSpPr>
          <p:cNvPr id="9" name="TestHead"/>
          <p:cNvSpPr/>
          <p:nvPr/>
        </p:nvSpPr>
        <p:spPr>
          <a:xfrm>
            <a:off x="914400" y="2148840"/>
            <a:ext cx="2926080" cy="411480"/>
          </a:xfrm>
          <a:prstGeom prst="rect">
            <a:avLst/>
          </a:prstGeom>
          <a:noFill/>
          <a:ln/>
        </p:spPr>
        <p:txBody>
          <a:bodyPr wrap="square" lIns="0" tIns="0" rIns="0" bIns="0" rtlCol="0" anchor="ctr"/>
          <a:lstStyle/>
          <a:p>
            <a:pPr marL="0" indent="0" algn="l">
              <a:buNone/>
            </a:pPr>
            <a:r>
              <a:rPr lang="en-US" sz="1600" b="1" spc="120" dirty="0">
                <a:solidFill>
                  <a:srgbClr val="C88A2C"/>
                </a:solidFill>
                <a:latin typeface="Cambria" pitchFamily="34" charset="0"/>
              </a:rPr>
              <a:t>How I'll test it</a:t>
            </a:r>
            <a:endParaRPr lang="en-US" sz="1600" dirty="0"/>
          </a:p>
        </p:txBody>
      </p:sp>
      <p:sp>
        <p:nvSpPr>
          <p:cNvPr id="10" name="TestBody"/>
          <p:cNvSpPr/>
          <p:nvPr/>
        </p:nvSpPr>
        <p:spPr>
          <a:xfrm>
            <a:off x="914400" y="2652240"/>
            <a:ext cx="2926080" cy="1417320"/>
          </a:xfrm>
          <a:prstGeom prst="rect">
            <a:avLst/>
          </a:prstGeom>
          <a:noFill/>
          <a:ln/>
        </p:spPr>
        <p:txBody>
          <a:bodyPr wrap="square" lIns="0" tIns="0" rIns="0" bIns="0" rtlCol="0" anchor="t"/>
          <a:lstStyle/>
          <a:p>
            <a:pPr marL="285750" indent="-285750" algn="l">
              <a:lnSpc>
                <a:spcPct val="116000"/>
              </a:lnSpc>
              <a:spcAft>
                <a:spcPts val="1200"/>
              </a:spcAft>
              <a:buClr>
                <a:srgbClr val="C88A2C"/>
              </a:buClr>
              <a:buSzPct val="90000"/>
              <a:buChar char="—"/>
            </a:pPr>
            <a:r>
              <a:rPr lang="en-US" sz="1200" dirty="0">
                <a:solidFill>
                  <a:srgbClr val="F4ECDD"/>
                </a:solidFill>
                <a:latin typeface="Calibri" pitchFamily="34" charset="0"/>
              </a:rPr>
              <a:t>Feature importance for H1: coefficients, decision tree importance, permutation importance, and any partial dependencies </a:t>
            </a:r>
            <a:endParaRPr lang="en-US" sz="1200" dirty="0"/>
          </a:p>
          <a:p>
            <a:pPr marL="285750" indent="-285750" algn="l">
              <a:lnSpc>
                <a:spcPct val="116000"/>
              </a:lnSpc>
              <a:buClr>
                <a:srgbClr val="C88A2C"/>
              </a:buClr>
              <a:buSzPct val="90000"/>
              <a:buChar char="—"/>
            </a:pPr>
            <a:r>
              <a:rPr lang="en-US" sz="1200" dirty="0">
                <a:solidFill>
                  <a:srgbClr val="F4ECDD"/>
                </a:solidFill>
                <a:latin typeface="Calibri" pitchFamily="34" charset="0"/>
              </a:rPr>
              <a:t>Bootstrap 95% Confidence Intervals on each model's US-born vs foreign-born recall gap for H2, then test whether XGBoost's gap is the smallest of the three</a:t>
            </a:r>
          </a:p>
          <a:p>
            <a:pPr marL="285750" indent="-285750" algn="l">
              <a:lnSpc>
                <a:spcPct val="116000"/>
              </a:lnSpc>
              <a:buClr>
                <a:srgbClr val="C88A2C"/>
              </a:buClr>
              <a:buSzPct val="90000"/>
              <a:buChar char="—"/>
            </a:pPr>
            <a:endParaRPr lang="en-US" sz="1200" dirty="0">
              <a:solidFill>
                <a:srgbClr val="F4ECDD"/>
              </a:solidFill>
              <a:latin typeface="Calibri" pitchFamily="34" charset="0"/>
            </a:endParaRPr>
          </a:p>
          <a:p>
            <a:pPr marL="285750" indent="-285750" algn="l">
              <a:lnSpc>
                <a:spcPct val="116000"/>
              </a:lnSpc>
              <a:buClr>
                <a:srgbClr val="C88A2C"/>
              </a:buClr>
              <a:buSzPct val="90000"/>
              <a:buChar char="—"/>
            </a:pPr>
            <a:r>
              <a:rPr lang="en-US" sz="1200" dirty="0">
                <a:solidFill>
                  <a:srgbClr val="F4ECDD"/>
                </a:solidFill>
                <a:latin typeface="Calibri" pitchFamily="34" charset="0"/>
              </a:rPr>
              <a:t> McNemar Test on exact same exact test rows for paired predictions for H3  (look for disagreements between models in predictions) and check model p-values to see if one model really is better than another at classification</a:t>
            </a:r>
            <a:endParaRPr lang="en-US" sz="1200" dirty="0"/>
          </a:p>
        </p:txBody>
      </p:sp>
      <p:sp>
        <p:nvSpPr>
          <p:cNvPr id="11" name="FooterLeft"/>
          <p:cNvSpPr/>
          <p:nvPr/>
        </p:nvSpPr>
        <p:spPr>
          <a:xfrm>
            <a:off x="640080" y="6408000"/>
            <a:ext cx="8000000" cy="276000"/>
          </a:xfrm>
          <a:prstGeom prst="rect">
            <a:avLst/>
          </a:prstGeom>
          <a:noFill/>
          <a:ln/>
        </p:spPr>
        <p:txBody>
          <a:bodyPr wrap="square" lIns="0" tIns="0" rIns="0" bIns="0" rtlCol="0" anchor="ctr"/>
          <a:lstStyle/>
          <a:p>
            <a:pPr marL="0" indent="0" algn="l">
              <a:buNone/>
            </a:pPr>
            <a:r>
              <a:rPr lang="en-US" sz="1000" spc="100">
                <a:solidFill>
                  <a:srgbClr val="9A8B76"/>
                </a:solidFill>
                <a:latin typeface="Calibri" pitchFamily="34" charset="0"/>
              </a:rPr>
              <a:t>UCI Adult Census Income  ·  Data Science Capstone</a:t>
            </a:r>
            <a:endParaRPr lang="en-US" sz="1000"/>
          </a:p>
        </p:txBody>
      </p:sp>
      <p:sp>
        <p:nvSpPr>
          <p:cNvPr id="12" name="FooterRight"/>
          <p:cNvSpPr/>
          <p:nvPr/>
        </p:nvSpPr>
        <p:spPr>
          <a:xfrm>
            <a:off x="9612880" y="6408000"/>
            <a:ext cx="2000000" cy="276000"/>
          </a:xfrm>
          <a:prstGeom prst="rect">
            <a:avLst/>
          </a:prstGeom>
          <a:noFill/>
          <a:ln/>
        </p:spPr>
        <p:txBody>
          <a:bodyPr wrap="square" lIns="0" tIns="0" rIns="0" bIns="0" rtlCol="0" anchor="ctr"/>
          <a:lstStyle/>
          <a:p>
            <a:pPr marL="0" indent="0" algn="r">
              <a:buNone/>
            </a:pPr>
            <a:r>
              <a:rPr lang="en-US" sz="1000" b="1" spc="100">
                <a:solidFill>
                  <a:srgbClr val="B0512F"/>
                </a:solidFill>
                <a:latin typeface="Calibri" pitchFamily="34" charset="0"/>
              </a:rPr>
              <a:t>04 / 09</a:t>
            </a:r>
            <a:endParaRPr lang="en-US" sz="10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ECDD"/>
        </a:solidFill>
        <a:effectLst/>
      </p:bgPr>
    </p:bg>
    <p:spTree>
      <p:nvGrpSpPr>
        <p:cNvPr id="1" name=""/>
        <p:cNvGrpSpPr/>
        <p:nvPr/>
      </p:nvGrpSpPr>
      <p:grpSpPr>
        <a:xfrm>
          <a:off x="0" y="0"/>
          <a:ext cx="0" cy="0"/>
          <a:chOff x="0" y="0"/>
          <a:chExt cx="0" cy="0"/>
        </a:xfrm>
      </p:grpSpPr>
      <p:sp>
        <p:nvSpPr>
          <p:cNvPr id="2" name="Kicker"/>
          <p:cNvSpPr/>
          <p:nvPr/>
        </p:nvSpPr>
        <p:spPr>
          <a:xfrm>
            <a:off x="640080" y="411480"/>
            <a:ext cx="10000000" cy="276000"/>
          </a:xfrm>
          <a:prstGeom prst="rect">
            <a:avLst/>
          </a:prstGeom>
          <a:noFill/>
          <a:ln/>
        </p:spPr>
        <p:txBody>
          <a:bodyPr wrap="square" lIns="0" tIns="0" rIns="0" bIns="0" rtlCol="0" anchor="ctr"/>
          <a:lstStyle/>
          <a:p>
            <a:pPr marL="0" indent="0" algn="l">
              <a:buNone/>
            </a:pPr>
            <a:r>
              <a:rPr lang="en-US" sz="1150" b="1" spc="260">
                <a:solidFill>
                  <a:srgbClr val="B0512F"/>
                </a:solidFill>
                <a:latin typeface="Calibri" pitchFamily="34" charset="0"/>
              </a:rPr>
              <a:t>04</a:t>
            </a:r>
            <a:r>
              <a:rPr lang="en-US" sz="1150" b="1" spc="260">
                <a:solidFill>
                  <a:srgbClr val="776755"/>
                </a:solidFill>
                <a:latin typeface="Calibri" pitchFamily="34" charset="0"/>
              </a:rPr>
              <a:t>     PROGRESS</a:t>
            </a:r>
            <a:endParaRPr lang="en-US" sz="1150"/>
          </a:p>
        </p:txBody>
      </p:sp>
      <p:sp>
        <p:nvSpPr>
          <p:cNvPr id="3" name="Title"/>
          <p:cNvSpPr/>
          <p:nvPr/>
        </p:nvSpPr>
        <p:spPr>
          <a:xfrm>
            <a:off x="640080" y="731520"/>
            <a:ext cx="10972800" cy="640080"/>
          </a:xfrm>
          <a:prstGeom prst="rect">
            <a:avLst/>
          </a:prstGeom>
          <a:noFill/>
          <a:ln/>
        </p:spPr>
        <p:txBody>
          <a:bodyPr wrap="square" lIns="0" tIns="0" rIns="0" bIns="0" rtlCol="0" anchor="ctr"/>
          <a:lstStyle/>
          <a:p>
            <a:pPr marL="0" indent="0" algn="l">
              <a:buNone/>
            </a:pPr>
            <a:r>
              <a:rPr lang="en-US" sz="2800" b="1">
                <a:solidFill>
                  <a:srgbClr val="223140"/>
                </a:solidFill>
                <a:latin typeface="Cambria" pitchFamily="34" charset="0"/>
                <a:ea typeface="Cambria" pitchFamily="34" charset="-122"/>
                <a:cs typeface="Cambria" pitchFamily="34" charset="-120"/>
              </a:rPr>
              <a:t>Where I am now</a:t>
            </a:r>
            <a:endParaRPr lang="en-US" sz="2800"/>
          </a:p>
        </p:txBody>
      </p:sp>
      <p:sp>
        <p:nvSpPr>
          <p:cNvPr id="4" name="TitleRule"/>
          <p:cNvSpPr/>
          <p:nvPr/>
        </p:nvSpPr>
        <p:spPr>
          <a:xfrm>
            <a:off x="644080" y="1362840"/>
            <a:ext cx="838200" cy="34200"/>
          </a:xfrm>
          <a:prstGeom prst="rect">
            <a:avLst/>
          </a:prstGeom>
          <a:solidFill>
            <a:srgbClr val="B0512F"/>
          </a:solidFill>
          <a:ln/>
        </p:spPr>
        <p:txBody>
          <a:bodyPr/>
          <a:lstStyle/>
          <a:p>
            <a:endParaRPr lang="en-US"/>
          </a:p>
        </p:txBody>
      </p:sp>
      <p:sp>
        <p:nvSpPr>
          <p:cNvPr id="5" name="Num1"/>
          <p:cNvSpPr/>
          <p:nvPr/>
        </p:nvSpPr>
        <p:spPr>
          <a:xfrm>
            <a:off x="10591800" y="1600200"/>
            <a:ext cx="960120" cy="640080"/>
          </a:xfrm>
          <a:prstGeom prst="rect">
            <a:avLst/>
          </a:prstGeom>
          <a:noFill/>
          <a:ln/>
        </p:spPr>
        <p:txBody>
          <a:bodyPr wrap="square" lIns="0" tIns="0" rIns="0" bIns="0" rtlCol="0" anchor="ctr"/>
          <a:lstStyle/>
          <a:p>
            <a:pPr marL="0" indent="0" algn="r">
              <a:buNone/>
            </a:pPr>
            <a:r>
              <a:rPr lang="en-US" sz="3600" b="1">
                <a:solidFill>
                  <a:srgbClr val="B0512F"/>
                </a:solidFill>
                <a:latin typeface="Cambria" pitchFamily="34" charset="0"/>
              </a:rPr>
              <a:t>01</a:t>
            </a:r>
            <a:endParaRPr lang="en-US" sz="3600"/>
          </a:p>
        </p:txBody>
      </p:sp>
      <p:sp>
        <p:nvSpPr>
          <p:cNvPr id="6" name="Label1"/>
          <p:cNvSpPr/>
          <p:nvPr/>
        </p:nvSpPr>
        <p:spPr>
          <a:xfrm>
            <a:off x="640080" y="1600200"/>
            <a:ext cx="9600000" cy="384048"/>
          </a:xfrm>
          <a:prstGeom prst="rect">
            <a:avLst/>
          </a:prstGeom>
          <a:noFill/>
          <a:ln/>
        </p:spPr>
        <p:txBody>
          <a:bodyPr wrap="square" lIns="0" tIns="0" rIns="0" bIns="0" rtlCol="0" anchor="ctr"/>
          <a:lstStyle/>
          <a:p>
            <a:pPr marL="0" indent="0" algn="l">
              <a:buNone/>
            </a:pPr>
            <a:r>
              <a:rPr lang="en-US" sz="2000" b="1">
                <a:solidFill>
                  <a:srgbClr val="223140"/>
                </a:solidFill>
                <a:latin typeface="Cambria" pitchFamily="34" charset="0"/>
              </a:rPr>
              <a:t>Database</a:t>
            </a:r>
            <a:endParaRPr lang="en-US" sz="2000"/>
          </a:p>
        </p:txBody>
      </p:sp>
      <p:sp>
        <p:nvSpPr>
          <p:cNvPr id="7" name="Desc1"/>
          <p:cNvSpPr/>
          <p:nvPr/>
        </p:nvSpPr>
        <p:spPr>
          <a:xfrm>
            <a:off x="640080" y="2011680"/>
            <a:ext cx="9600000" cy="640080"/>
          </a:xfrm>
          <a:prstGeom prst="rect">
            <a:avLst/>
          </a:prstGeom>
          <a:noFill/>
          <a:ln/>
        </p:spPr>
        <p:txBody>
          <a:bodyPr wrap="square" lIns="0" tIns="0" rIns="0" bIns="0" rtlCol="0" anchor="t"/>
          <a:lstStyle/>
          <a:p>
            <a:pPr marL="0" indent="0" algn="l">
              <a:lnSpc>
                <a:spcPct val="112000"/>
              </a:lnSpc>
              <a:buNone/>
            </a:pPr>
            <a:r>
              <a:rPr lang="en-US" sz="1500" dirty="0">
                <a:solidFill>
                  <a:srgbClr val="3B362D"/>
                </a:solidFill>
                <a:latin typeface="Calibri" pitchFamily="34" charset="0"/>
              </a:rPr>
              <a:t>Built a SQLite database, loaded the raw data in, then pull it back out with SQL and save a CSV. </a:t>
            </a:r>
            <a:endParaRPr lang="en-US" sz="1500" dirty="0"/>
          </a:p>
        </p:txBody>
      </p:sp>
      <p:sp>
        <p:nvSpPr>
          <p:cNvPr id="8" name="RowRule1"/>
          <p:cNvSpPr/>
          <p:nvPr/>
        </p:nvSpPr>
        <p:spPr>
          <a:xfrm>
            <a:off x="640080" y="2789760"/>
            <a:ext cx="10972800" cy="12240"/>
          </a:xfrm>
          <a:prstGeom prst="rect">
            <a:avLst/>
          </a:prstGeom>
          <a:solidFill>
            <a:srgbClr val="D9C7A6"/>
          </a:solidFill>
          <a:ln/>
        </p:spPr>
        <p:txBody>
          <a:bodyPr/>
          <a:lstStyle/>
          <a:p>
            <a:endParaRPr lang="en-US"/>
          </a:p>
        </p:txBody>
      </p:sp>
      <p:sp>
        <p:nvSpPr>
          <p:cNvPr id="9" name="Num2"/>
          <p:cNvSpPr/>
          <p:nvPr/>
        </p:nvSpPr>
        <p:spPr>
          <a:xfrm>
            <a:off x="10591800" y="2941320"/>
            <a:ext cx="960120" cy="640080"/>
          </a:xfrm>
          <a:prstGeom prst="rect">
            <a:avLst/>
          </a:prstGeom>
          <a:noFill/>
          <a:ln/>
        </p:spPr>
        <p:txBody>
          <a:bodyPr wrap="square" lIns="0" tIns="0" rIns="0" bIns="0" rtlCol="0" anchor="ctr"/>
          <a:lstStyle/>
          <a:p>
            <a:pPr marL="0" indent="0" algn="r">
              <a:buNone/>
            </a:pPr>
            <a:r>
              <a:rPr lang="en-US" sz="3600" b="1">
                <a:solidFill>
                  <a:srgbClr val="C88A2C"/>
                </a:solidFill>
                <a:latin typeface="Cambria" pitchFamily="34" charset="0"/>
              </a:rPr>
              <a:t>02</a:t>
            </a:r>
            <a:endParaRPr lang="en-US" sz="3600"/>
          </a:p>
        </p:txBody>
      </p:sp>
      <p:sp>
        <p:nvSpPr>
          <p:cNvPr id="10" name="Label2"/>
          <p:cNvSpPr/>
          <p:nvPr/>
        </p:nvSpPr>
        <p:spPr>
          <a:xfrm>
            <a:off x="640080" y="2941320"/>
            <a:ext cx="9600000" cy="384048"/>
          </a:xfrm>
          <a:prstGeom prst="rect">
            <a:avLst/>
          </a:prstGeom>
          <a:noFill/>
          <a:ln/>
        </p:spPr>
        <p:txBody>
          <a:bodyPr wrap="square" lIns="0" tIns="0" rIns="0" bIns="0" rtlCol="0" anchor="ctr"/>
          <a:lstStyle/>
          <a:p>
            <a:pPr marL="0" indent="0" algn="l">
              <a:buNone/>
            </a:pPr>
            <a:r>
              <a:rPr lang="en-US" sz="2000" b="1">
                <a:solidFill>
                  <a:srgbClr val="223140"/>
                </a:solidFill>
                <a:latin typeface="Cambria" pitchFamily="34" charset="0"/>
              </a:rPr>
              <a:t>Cleaning</a:t>
            </a:r>
            <a:endParaRPr lang="en-US" sz="2000" dirty="0"/>
          </a:p>
        </p:txBody>
      </p:sp>
      <p:sp>
        <p:nvSpPr>
          <p:cNvPr id="11" name="Desc2"/>
          <p:cNvSpPr/>
          <p:nvPr/>
        </p:nvSpPr>
        <p:spPr>
          <a:xfrm>
            <a:off x="640080" y="3352800"/>
            <a:ext cx="9600000" cy="640080"/>
          </a:xfrm>
          <a:prstGeom prst="rect">
            <a:avLst/>
          </a:prstGeom>
          <a:noFill/>
          <a:ln/>
        </p:spPr>
        <p:txBody>
          <a:bodyPr wrap="square" lIns="0" tIns="0" rIns="0" bIns="0" rtlCol="0" anchor="t"/>
          <a:lstStyle/>
          <a:p>
            <a:pPr marL="0" indent="0" algn="l">
              <a:lnSpc>
                <a:spcPct val="112000"/>
              </a:lnSpc>
              <a:buNone/>
            </a:pPr>
            <a:r>
              <a:rPr lang="en-US" sz="1500" dirty="0">
                <a:solidFill>
                  <a:srgbClr val="3B362D"/>
                </a:solidFill>
                <a:latin typeface="Calibri" pitchFamily="34" charset="0"/>
              </a:rPr>
              <a:t>Filled missing categorical values with "Unknown", dropped 24 exact duplicates, dropped </a:t>
            </a:r>
            <a:r>
              <a:rPr lang="en-US" sz="1500" dirty="0" err="1">
                <a:solidFill>
                  <a:srgbClr val="3B362D"/>
                </a:solidFill>
                <a:latin typeface="Calibri" pitchFamily="34" charset="0"/>
              </a:rPr>
              <a:t>fnlwgt</a:t>
            </a:r>
            <a:r>
              <a:rPr lang="en-US" sz="1500" dirty="0">
                <a:solidFill>
                  <a:srgbClr val="3B362D"/>
                </a:solidFill>
                <a:latin typeface="Calibri" pitchFamily="34" charset="0"/>
              </a:rPr>
              <a:t> and education. </a:t>
            </a:r>
            <a:endParaRPr lang="en-US" sz="1500" dirty="0"/>
          </a:p>
        </p:txBody>
      </p:sp>
      <p:sp>
        <p:nvSpPr>
          <p:cNvPr id="12" name="RowRule2"/>
          <p:cNvSpPr/>
          <p:nvPr/>
        </p:nvSpPr>
        <p:spPr>
          <a:xfrm>
            <a:off x="640080" y="4130880"/>
            <a:ext cx="10972800" cy="12240"/>
          </a:xfrm>
          <a:prstGeom prst="rect">
            <a:avLst/>
          </a:prstGeom>
          <a:solidFill>
            <a:srgbClr val="D9C7A6"/>
          </a:solidFill>
          <a:ln/>
        </p:spPr>
        <p:txBody>
          <a:bodyPr/>
          <a:lstStyle/>
          <a:p>
            <a:endParaRPr lang="en-US"/>
          </a:p>
        </p:txBody>
      </p:sp>
      <p:sp>
        <p:nvSpPr>
          <p:cNvPr id="13" name="Num3"/>
          <p:cNvSpPr/>
          <p:nvPr/>
        </p:nvSpPr>
        <p:spPr>
          <a:xfrm>
            <a:off x="10591800" y="4282440"/>
            <a:ext cx="960120" cy="640080"/>
          </a:xfrm>
          <a:prstGeom prst="rect">
            <a:avLst/>
          </a:prstGeom>
          <a:noFill/>
          <a:ln/>
        </p:spPr>
        <p:txBody>
          <a:bodyPr wrap="square" lIns="0" tIns="0" rIns="0" bIns="0" rtlCol="0" anchor="ctr"/>
          <a:lstStyle/>
          <a:p>
            <a:pPr marL="0" indent="0" algn="r">
              <a:buNone/>
            </a:pPr>
            <a:r>
              <a:rPr lang="en-US" sz="3600" b="1">
                <a:solidFill>
                  <a:srgbClr val="223140"/>
                </a:solidFill>
                <a:latin typeface="Cambria" pitchFamily="34" charset="0"/>
              </a:rPr>
              <a:t>03</a:t>
            </a:r>
            <a:endParaRPr lang="en-US" sz="3600"/>
          </a:p>
        </p:txBody>
      </p:sp>
      <p:sp>
        <p:nvSpPr>
          <p:cNvPr id="14" name="Label3"/>
          <p:cNvSpPr/>
          <p:nvPr/>
        </p:nvSpPr>
        <p:spPr>
          <a:xfrm>
            <a:off x="640080" y="4282440"/>
            <a:ext cx="9600000" cy="384048"/>
          </a:xfrm>
          <a:prstGeom prst="rect">
            <a:avLst/>
          </a:prstGeom>
          <a:noFill/>
          <a:ln/>
        </p:spPr>
        <p:txBody>
          <a:bodyPr wrap="square" lIns="0" tIns="0" rIns="0" bIns="0" rtlCol="0" anchor="ctr"/>
          <a:lstStyle/>
          <a:p>
            <a:pPr marL="0" indent="0" algn="l">
              <a:buNone/>
            </a:pPr>
            <a:r>
              <a:rPr lang="en-US" sz="2000" b="1">
                <a:solidFill>
                  <a:srgbClr val="223140"/>
                </a:solidFill>
                <a:latin typeface="Cambria" pitchFamily="34" charset="0"/>
              </a:rPr>
              <a:t>EDA</a:t>
            </a:r>
            <a:endParaRPr lang="en-US" sz="2000"/>
          </a:p>
        </p:txBody>
      </p:sp>
      <p:sp>
        <p:nvSpPr>
          <p:cNvPr id="15" name="Desc3"/>
          <p:cNvSpPr/>
          <p:nvPr/>
        </p:nvSpPr>
        <p:spPr>
          <a:xfrm>
            <a:off x="640080" y="4693920"/>
            <a:ext cx="9600000" cy="640080"/>
          </a:xfrm>
          <a:prstGeom prst="rect">
            <a:avLst/>
          </a:prstGeom>
          <a:noFill/>
          <a:ln/>
        </p:spPr>
        <p:txBody>
          <a:bodyPr wrap="square" lIns="0" tIns="0" rIns="0" bIns="0" rtlCol="0" anchor="t"/>
          <a:lstStyle/>
          <a:p>
            <a:pPr marL="0" indent="0" algn="l">
              <a:lnSpc>
                <a:spcPct val="112000"/>
              </a:lnSpc>
              <a:buNone/>
            </a:pPr>
            <a:r>
              <a:rPr lang="en-US" sz="1500">
                <a:solidFill>
                  <a:srgbClr val="3B362D"/>
                </a:solidFill>
                <a:latin typeface="Calibri" pitchFamily="34" charset="0"/>
              </a:rPr>
              <a:t>Summary stats, distribution plots, a correlation heatmap, and income rates broken out by feature.</a:t>
            </a:r>
            <a:endParaRPr lang="en-US" sz="1500"/>
          </a:p>
        </p:txBody>
      </p:sp>
      <p:sp>
        <p:nvSpPr>
          <p:cNvPr id="16" name="NoteBar"/>
          <p:cNvSpPr/>
          <p:nvPr/>
        </p:nvSpPr>
        <p:spPr>
          <a:xfrm>
            <a:off x="640080" y="5577840"/>
            <a:ext cx="10972800" cy="502920"/>
          </a:xfrm>
          <a:prstGeom prst="rect">
            <a:avLst/>
          </a:prstGeom>
          <a:solidFill>
            <a:srgbClr val="EADFCA"/>
          </a:solidFill>
          <a:ln/>
        </p:spPr>
        <p:txBody>
          <a:bodyPr wrap="square" lIns="182880" tIns="0" rIns="91440" bIns="0" rtlCol="0" anchor="ctr"/>
          <a:lstStyle/>
          <a:p>
            <a:pPr marL="0" indent="0" algn="l">
              <a:buNone/>
            </a:pPr>
            <a:r>
              <a:rPr lang="en-US" sz="1500" b="1">
                <a:solidFill>
                  <a:srgbClr val="B0512F"/>
                </a:solidFill>
                <a:latin typeface="Calibri" pitchFamily="34" charset="0"/>
              </a:rPr>
              <a:t>Status:  </a:t>
            </a:r>
            <a:r>
              <a:rPr lang="en-US" sz="1500" i="1">
                <a:solidFill>
                  <a:srgbClr val="3B362D"/>
                </a:solidFill>
                <a:latin typeface="Calibri" pitchFamily="34" charset="0"/>
              </a:rPr>
              <a:t>This milestone (database + EDA) is done. Modeling comes next.</a:t>
            </a:r>
            <a:endParaRPr lang="en-US" sz="1500"/>
          </a:p>
        </p:txBody>
      </p:sp>
      <p:sp>
        <p:nvSpPr>
          <p:cNvPr id="17" name="FooterLeft"/>
          <p:cNvSpPr/>
          <p:nvPr/>
        </p:nvSpPr>
        <p:spPr>
          <a:xfrm>
            <a:off x="640080" y="6408000"/>
            <a:ext cx="8000000" cy="276000"/>
          </a:xfrm>
          <a:prstGeom prst="rect">
            <a:avLst/>
          </a:prstGeom>
          <a:noFill/>
          <a:ln/>
        </p:spPr>
        <p:txBody>
          <a:bodyPr wrap="square" lIns="0" tIns="0" rIns="0" bIns="0" rtlCol="0" anchor="ctr"/>
          <a:lstStyle/>
          <a:p>
            <a:pPr marL="0" indent="0" algn="l">
              <a:buNone/>
            </a:pPr>
            <a:r>
              <a:rPr lang="en-US" sz="1000" spc="100">
                <a:solidFill>
                  <a:srgbClr val="9A8B76"/>
                </a:solidFill>
                <a:latin typeface="Calibri" pitchFamily="34" charset="0"/>
              </a:rPr>
              <a:t>UCI Adult Census Income  ·  Data Science Capstone</a:t>
            </a:r>
            <a:endParaRPr lang="en-US" sz="1000"/>
          </a:p>
        </p:txBody>
      </p:sp>
      <p:sp>
        <p:nvSpPr>
          <p:cNvPr id="18" name="FooterRight"/>
          <p:cNvSpPr/>
          <p:nvPr/>
        </p:nvSpPr>
        <p:spPr>
          <a:xfrm>
            <a:off x="9612880" y="6408000"/>
            <a:ext cx="2000000" cy="276000"/>
          </a:xfrm>
          <a:prstGeom prst="rect">
            <a:avLst/>
          </a:prstGeom>
          <a:noFill/>
          <a:ln/>
        </p:spPr>
        <p:txBody>
          <a:bodyPr wrap="square" lIns="0" tIns="0" rIns="0" bIns="0" rtlCol="0" anchor="ctr"/>
          <a:lstStyle/>
          <a:p>
            <a:pPr marL="0" indent="0" algn="r">
              <a:buNone/>
            </a:pPr>
            <a:r>
              <a:rPr lang="en-US" sz="1000" b="1" spc="100">
                <a:solidFill>
                  <a:srgbClr val="B0512F"/>
                </a:solidFill>
                <a:latin typeface="Calibri" pitchFamily="34" charset="0"/>
              </a:rPr>
              <a:t>05 / 09</a:t>
            </a:r>
            <a:endParaRPr lang="en-US" sz="10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ECDD"/>
        </a:solidFill>
        <a:effectLst/>
      </p:bgPr>
    </p:bg>
    <p:spTree>
      <p:nvGrpSpPr>
        <p:cNvPr id="1" name=""/>
        <p:cNvGrpSpPr/>
        <p:nvPr/>
      </p:nvGrpSpPr>
      <p:grpSpPr>
        <a:xfrm>
          <a:off x="0" y="0"/>
          <a:ext cx="0" cy="0"/>
          <a:chOff x="0" y="0"/>
          <a:chExt cx="0" cy="0"/>
        </a:xfrm>
      </p:grpSpPr>
      <p:sp>
        <p:nvSpPr>
          <p:cNvPr id="2" name="Kicker"/>
          <p:cNvSpPr/>
          <p:nvPr/>
        </p:nvSpPr>
        <p:spPr>
          <a:xfrm>
            <a:off x="640080" y="411480"/>
            <a:ext cx="10000000" cy="276000"/>
          </a:xfrm>
          <a:prstGeom prst="rect">
            <a:avLst/>
          </a:prstGeom>
          <a:noFill/>
          <a:ln/>
        </p:spPr>
        <p:txBody>
          <a:bodyPr wrap="square" lIns="0" tIns="0" rIns="0" bIns="0" rtlCol="0" anchor="ctr"/>
          <a:lstStyle/>
          <a:p>
            <a:pPr marL="0" indent="0" algn="l">
              <a:buNone/>
            </a:pPr>
            <a:r>
              <a:rPr lang="en-US" sz="1150" b="1" spc="260">
                <a:solidFill>
                  <a:srgbClr val="B0512F"/>
                </a:solidFill>
                <a:latin typeface="Calibri" pitchFamily="34" charset="0"/>
              </a:rPr>
              <a:t>05</a:t>
            </a:r>
            <a:r>
              <a:rPr lang="en-US" sz="1150" b="1" spc="260">
                <a:solidFill>
                  <a:srgbClr val="776755"/>
                </a:solidFill>
                <a:latin typeface="Calibri" pitchFamily="34" charset="0"/>
              </a:rPr>
              <a:t>     FINDINGS</a:t>
            </a:r>
            <a:endParaRPr lang="en-US" sz="1150"/>
          </a:p>
        </p:txBody>
      </p:sp>
      <p:sp>
        <p:nvSpPr>
          <p:cNvPr id="3" name="Title"/>
          <p:cNvSpPr/>
          <p:nvPr/>
        </p:nvSpPr>
        <p:spPr>
          <a:xfrm>
            <a:off x="640080" y="731520"/>
            <a:ext cx="10972800" cy="640080"/>
          </a:xfrm>
          <a:prstGeom prst="rect">
            <a:avLst/>
          </a:prstGeom>
          <a:noFill/>
          <a:ln/>
        </p:spPr>
        <p:txBody>
          <a:bodyPr wrap="square" lIns="0" tIns="0" rIns="0" bIns="0" rtlCol="0" anchor="ctr"/>
          <a:lstStyle/>
          <a:p>
            <a:pPr marL="0" indent="0" algn="l">
              <a:buNone/>
            </a:pPr>
            <a:r>
              <a:rPr lang="en-US" sz="2800" b="1">
                <a:solidFill>
                  <a:srgbClr val="223140"/>
                </a:solidFill>
                <a:latin typeface="Cambria" pitchFamily="34" charset="0"/>
                <a:ea typeface="Cambria" pitchFamily="34" charset="-122"/>
                <a:cs typeface="Cambria" pitchFamily="34" charset="-120"/>
              </a:rPr>
              <a:t>What the data shows</a:t>
            </a:r>
            <a:endParaRPr lang="en-US" sz="2800"/>
          </a:p>
        </p:txBody>
      </p:sp>
      <p:sp>
        <p:nvSpPr>
          <p:cNvPr id="4" name="TitleRule"/>
          <p:cNvSpPr/>
          <p:nvPr/>
        </p:nvSpPr>
        <p:spPr>
          <a:xfrm>
            <a:off x="644080" y="1362840"/>
            <a:ext cx="838200" cy="34200"/>
          </a:xfrm>
          <a:prstGeom prst="rect">
            <a:avLst/>
          </a:prstGeom>
          <a:solidFill>
            <a:srgbClr val="B0512F"/>
          </a:solidFill>
          <a:ln/>
        </p:spPr>
        <p:txBody>
          <a:bodyPr/>
          <a:lstStyle/>
          <a:p>
            <a:endParaRPr lang="en-US"/>
          </a:p>
        </p:txBody>
      </p:sp>
      <p:sp>
        <p:nvSpPr>
          <p:cNvPr id="5" name="LeftRule"/>
          <p:cNvSpPr/>
          <p:nvPr/>
        </p:nvSpPr>
        <p:spPr>
          <a:xfrm>
            <a:off x="5257800" y="1691640"/>
            <a:ext cx="43200" cy="3931920"/>
          </a:xfrm>
          <a:prstGeom prst="rect">
            <a:avLst/>
          </a:prstGeom>
          <a:solidFill>
            <a:srgbClr val="D9C7A6"/>
          </a:solidFill>
          <a:ln/>
        </p:spPr>
        <p:txBody>
          <a:bodyPr/>
          <a:lstStyle/>
          <a:p>
            <a:endParaRPr lang="en-US"/>
          </a:p>
        </p:txBody>
      </p:sp>
      <p:sp>
        <p:nvSpPr>
          <p:cNvPr id="6" name="BodyText"/>
          <p:cNvSpPr/>
          <p:nvPr/>
        </p:nvSpPr>
        <p:spPr>
          <a:xfrm>
            <a:off x="5486400" y="1691640"/>
            <a:ext cx="6065520" cy="3931920"/>
          </a:xfrm>
          <a:prstGeom prst="rect">
            <a:avLst/>
          </a:prstGeom>
          <a:noFill/>
          <a:ln/>
        </p:spPr>
        <p:txBody>
          <a:bodyPr wrap="square" lIns="0" tIns="0" rIns="0" bIns="0" rtlCol="0" anchor="t"/>
          <a:lstStyle/>
          <a:p>
            <a:pPr marL="342900" indent="-342900" algn="l">
              <a:lnSpc>
                <a:spcPct val="114000"/>
              </a:lnSpc>
              <a:spcAft>
                <a:spcPts val="1400"/>
              </a:spcAft>
              <a:buClr>
                <a:srgbClr val="B0512F"/>
              </a:buClr>
              <a:buSzPct val="90000"/>
              <a:buChar char="—"/>
            </a:pPr>
            <a:r>
              <a:rPr lang="en-US" sz="1600" dirty="0">
                <a:solidFill>
                  <a:srgbClr val="3B362D"/>
                </a:solidFill>
                <a:latin typeface="Calibri" pitchFamily="34" charset="0"/>
              </a:rPr>
              <a:t>About 76% earn &lt;=50K and 24% earn &gt;50K, so plain accuracy is misleading and I score with PR-AUC.</a:t>
            </a:r>
            <a:endParaRPr lang="en-US" sz="1600" dirty="0"/>
          </a:p>
          <a:p>
            <a:pPr marL="342900" indent="-342900" algn="l">
              <a:lnSpc>
                <a:spcPct val="114000"/>
              </a:lnSpc>
              <a:spcAft>
                <a:spcPts val="1400"/>
              </a:spcAft>
              <a:buClr>
                <a:srgbClr val="B0512F"/>
              </a:buClr>
              <a:buSzPct val="90000"/>
              <a:buChar char="—"/>
            </a:pPr>
            <a:r>
              <a:rPr lang="en-US" sz="1600" dirty="0">
                <a:solidFill>
                  <a:srgbClr val="3B362D"/>
                </a:solidFill>
                <a:latin typeface="Calibri" pitchFamily="34" charset="0"/>
              </a:rPr>
              <a:t>Education and marital status are strong predictors. The &gt;50K rate climbs steadily with education, and married people are far above never-married.</a:t>
            </a:r>
            <a:endParaRPr lang="en-US" sz="1600" dirty="0"/>
          </a:p>
          <a:p>
            <a:pPr marL="342900" indent="-342900" algn="l">
              <a:lnSpc>
                <a:spcPct val="114000"/>
              </a:lnSpc>
              <a:spcAft>
                <a:spcPts val="1400"/>
              </a:spcAft>
              <a:buClr>
                <a:srgbClr val="B0512F"/>
              </a:buClr>
              <a:buSzPct val="90000"/>
              <a:buChar char="—"/>
            </a:pPr>
            <a:r>
              <a:rPr lang="en-US" sz="1600" dirty="0">
                <a:solidFill>
                  <a:srgbClr val="3B362D"/>
                </a:solidFill>
                <a:latin typeface="Calibri" pitchFamily="34" charset="0"/>
              </a:rPr>
              <a:t>The &gt;50K rate is much higher for US-born than foreign-born people. That gap is what the fairness audit is built to test.</a:t>
            </a:r>
            <a:endParaRPr lang="en-US" sz="1600" dirty="0"/>
          </a:p>
          <a:p>
            <a:pPr marL="342900" indent="-342900" algn="l">
              <a:lnSpc>
                <a:spcPct val="114000"/>
              </a:lnSpc>
              <a:buClr>
                <a:srgbClr val="B0512F"/>
              </a:buClr>
              <a:buSzPct val="90000"/>
              <a:buChar char="—"/>
            </a:pPr>
            <a:r>
              <a:rPr lang="en-US" sz="1600" dirty="0">
                <a:solidFill>
                  <a:srgbClr val="3B362D"/>
                </a:solidFill>
                <a:latin typeface="Calibri" pitchFamily="34" charset="0"/>
              </a:rPr>
              <a:t>Education separates the classes more cleanly than hours worked, an early hint toward the first hypothesis question.</a:t>
            </a:r>
            <a:endParaRPr lang="en-US" sz="1600" dirty="0"/>
          </a:p>
        </p:txBody>
      </p:sp>
      <p:sp>
        <p:nvSpPr>
          <p:cNvPr id="8" name="ChartPanel"/>
          <p:cNvSpPr/>
          <p:nvPr/>
        </p:nvSpPr>
        <p:spPr>
          <a:xfrm>
            <a:off x="640080" y="1691640"/>
            <a:ext cx="4389120" cy="3931920"/>
          </a:xfrm>
          <a:prstGeom prst="rect">
            <a:avLst/>
          </a:prstGeom>
          <a:solidFill>
            <a:srgbClr val="FBF6EC"/>
          </a:solidFill>
          <a:ln>
            <a:solidFill>
              <a:srgbClr val="D9C7A6"/>
            </a:solidFill>
          </a:ln>
        </p:spPr>
        <p:txBody>
          <a:bodyPr/>
          <a:lstStyle/>
          <a:p>
            <a:endParaRPr lang="en-US"/>
          </a:p>
        </p:txBody>
      </p:sp>
      <p:graphicFrame>
        <p:nvGraphicFramePr>
          <p:cNvPr id="7" name="Chart 0"/>
          <p:cNvGraphicFramePr/>
          <p:nvPr>
            <p:extLst>
              <p:ext uri="{D42A27DB-BD31-4B8C-83A1-F6EECF244321}">
                <p14:modId xmlns:p14="http://schemas.microsoft.com/office/powerpoint/2010/main" val="2213616216"/>
              </p:ext>
            </p:extLst>
          </p:nvPr>
        </p:nvGraphicFramePr>
        <p:xfrm>
          <a:off x="868680" y="1965960"/>
          <a:ext cx="3931920" cy="3383280"/>
        </p:xfrm>
        <a:graphic>
          <a:graphicData uri="http://schemas.openxmlformats.org/drawingml/2006/chart">
            <c:chart xmlns:c="http://schemas.openxmlformats.org/drawingml/2006/chart" xmlns:r="http://schemas.openxmlformats.org/officeDocument/2006/relationships" r:id="rId3"/>
          </a:graphicData>
        </a:graphic>
      </p:graphicFrame>
      <p:sp>
        <p:nvSpPr>
          <p:cNvPr id="9" name="FooterLeft"/>
          <p:cNvSpPr/>
          <p:nvPr/>
        </p:nvSpPr>
        <p:spPr>
          <a:xfrm>
            <a:off x="640080" y="6408000"/>
            <a:ext cx="8000000" cy="276000"/>
          </a:xfrm>
          <a:prstGeom prst="rect">
            <a:avLst/>
          </a:prstGeom>
          <a:noFill/>
          <a:ln/>
        </p:spPr>
        <p:txBody>
          <a:bodyPr wrap="square" lIns="0" tIns="0" rIns="0" bIns="0" rtlCol="0" anchor="ctr"/>
          <a:lstStyle/>
          <a:p>
            <a:pPr marL="0" indent="0" algn="l">
              <a:buNone/>
            </a:pPr>
            <a:r>
              <a:rPr lang="en-US" sz="1000" spc="100">
                <a:solidFill>
                  <a:srgbClr val="9A8B76"/>
                </a:solidFill>
                <a:latin typeface="Calibri" pitchFamily="34" charset="0"/>
              </a:rPr>
              <a:t>UCI Adult Census Income  ·  Data Science Capstone</a:t>
            </a:r>
            <a:endParaRPr lang="en-US" sz="1000"/>
          </a:p>
        </p:txBody>
      </p:sp>
      <p:sp>
        <p:nvSpPr>
          <p:cNvPr id="10" name="FooterRight"/>
          <p:cNvSpPr/>
          <p:nvPr/>
        </p:nvSpPr>
        <p:spPr>
          <a:xfrm>
            <a:off x="9612880" y="6408000"/>
            <a:ext cx="2000000" cy="276000"/>
          </a:xfrm>
          <a:prstGeom prst="rect">
            <a:avLst/>
          </a:prstGeom>
          <a:noFill/>
          <a:ln/>
        </p:spPr>
        <p:txBody>
          <a:bodyPr wrap="square" lIns="0" tIns="0" rIns="0" bIns="0" rtlCol="0" anchor="ctr"/>
          <a:lstStyle/>
          <a:p>
            <a:pPr marL="0" indent="0" algn="r">
              <a:buNone/>
            </a:pPr>
            <a:r>
              <a:rPr lang="en-US" sz="1000" b="1" spc="100">
                <a:solidFill>
                  <a:srgbClr val="B0512F"/>
                </a:solidFill>
                <a:latin typeface="Calibri" pitchFamily="34" charset="0"/>
              </a:rPr>
              <a:t>06 / 09</a:t>
            </a:r>
            <a:endParaRPr lang="en-US" sz="10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ECDD"/>
        </a:solidFill>
        <a:effectLst/>
      </p:bgPr>
    </p:bg>
    <p:spTree>
      <p:nvGrpSpPr>
        <p:cNvPr id="1" name=""/>
        <p:cNvGrpSpPr/>
        <p:nvPr/>
      </p:nvGrpSpPr>
      <p:grpSpPr>
        <a:xfrm>
          <a:off x="0" y="0"/>
          <a:ext cx="0" cy="0"/>
          <a:chOff x="0" y="0"/>
          <a:chExt cx="0" cy="0"/>
        </a:xfrm>
      </p:grpSpPr>
      <p:sp>
        <p:nvSpPr>
          <p:cNvPr id="2" name="Kicker"/>
          <p:cNvSpPr/>
          <p:nvPr/>
        </p:nvSpPr>
        <p:spPr>
          <a:xfrm>
            <a:off x="1551920" y="411480"/>
            <a:ext cx="10000000" cy="276000"/>
          </a:xfrm>
          <a:prstGeom prst="rect">
            <a:avLst/>
          </a:prstGeom>
          <a:noFill/>
          <a:ln/>
        </p:spPr>
        <p:txBody>
          <a:bodyPr wrap="square" lIns="0" tIns="0" rIns="0" bIns="0" rtlCol="0" anchor="ctr"/>
          <a:lstStyle/>
          <a:p>
            <a:pPr marL="0" indent="0" algn="r">
              <a:buNone/>
            </a:pPr>
            <a:r>
              <a:rPr lang="en-US" sz="1150" b="1" spc="260">
                <a:solidFill>
                  <a:srgbClr val="B0512F"/>
                </a:solidFill>
                <a:latin typeface="Calibri" pitchFamily="34" charset="0"/>
              </a:rPr>
              <a:t>06</a:t>
            </a:r>
            <a:r>
              <a:rPr lang="en-US" sz="1150" b="1" spc="260">
                <a:solidFill>
                  <a:srgbClr val="776755"/>
                </a:solidFill>
                <a:latin typeface="Calibri" pitchFamily="34" charset="0"/>
              </a:rPr>
              <a:t>     EXPLORATORY ANALYSIS</a:t>
            </a:r>
            <a:endParaRPr lang="en-US" sz="1150"/>
          </a:p>
        </p:txBody>
      </p:sp>
      <p:sp>
        <p:nvSpPr>
          <p:cNvPr id="3" name="Title"/>
          <p:cNvSpPr/>
          <p:nvPr/>
        </p:nvSpPr>
        <p:spPr>
          <a:xfrm>
            <a:off x="579120" y="731520"/>
            <a:ext cx="10972800" cy="640080"/>
          </a:xfrm>
          <a:prstGeom prst="rect">
            <a:avLst/>
          </a:prstGeom>
          <a:noFill/>
          <a:ln/>
        </p:spPr>
        <p:txBody>
          <a:bodyPr wrap="square" lIns="0" tIns="0" rIns="0" bIns="0" rtlCol="0" anchor="ctr"/>
          <a:lstStyle/>
          <a:p>
            <a:pPr marL="0" indent="0" algn="r">
              <a:buNone/>
            </a:pPr>
            <a:r>
              <a:rPr lang="en-US" sz="2800" b="1">
                <a:solidFill>
                  <a:srgbClr val="223140"/>
                </a:solidFill>
                <a:latin typeface="Cambria" pitchFamily="34" charset="0"/>
                <a:ea typeface="Cambria" pitchFamily="34" charset="-122"/>
                <a:cs typeface="Cambria" pitchFamily="34" charset="-120"/>
              </a:rPr>
              <a:t>A closer look at the data</a:t>
            </a:r>
            <a:endParaRPr lang="en-US" sz="2800"/>
          </a:p>
        </p:txBody>
      </p:sp>
      <p:sp>
        <p:nvSpPr>
          <p:cNvPr id="4" name="TitleRule"/>
          <p:cNvSpPr/>
          <p:nvPr/>
        </p:nvSpPr>
        <p:spPr>
          <a:xfrm>
            <a:off x="10713720" y="1362840"/>
            <a:ext cx="838200" cy="34200"/>
          </a:xfrm>
          <a:prstGeom prst="rect">
            <a:avLst/>
          </a:prstGeom>
          <a:solidFill>
            <a:srgbClr val="B0512F"/>
          </a:solidFill>
          <a:ln/>
        </p:spPr>
        <p:txBody>
          <a:bodyPr/>
          <a:lstStyle/>
          <a:p>
            <a:endParaRPr lang="en-US"/>
          </a:p>
        </p:txBody>
      </p:sp>
      <p:sp>
        <p:nvSpPr>
          <p:cNvPr id="5" name="Mat1"/>
          <p:cNvSpPr/>
          <p:nvPr/>
        </p:nvSpPr>
        <p:spPr>
          <a:xfrm>
            <a:off x="640080" y="1554480"/>
            <a:ext cx="5257800" cy="4114800"/>
          </a:xfrm>
          <a:prstGeom prst="rect">
            <a:avLst/>
          </a:prstGeom>
          <a:solidFill>
            <a:srgbClr val="FBF6EC"/>
          </a:solidFill>
          <a:ln>
            <a:solidFill>
              <a:srgbClr val="D9C7A6"/>
            </a:solidFill>
          </a:ln>
        </p:spPr>
        <p:txBody>
          <a:bodyPr/>
          <a:lstStyle/>
          <a:p>
            <a:endParaRPr lang="en-US"/>
          </a:p>
        </p:txBody>
      </p:sp>
      <p:sp>
        <p:nvSpPr>
          <p:cNvPr id="6" name="Fig1Label"/>
          <p:cNvSpPr/>
          <p:nvPr/>
        </p:nvSpPr>
        <p:spPr>
          <a:xfrm>
            <a:off x="868680" y="1691640"/>
            <a:ext cx="4800600" cy="274320"/>
          </a:xfrm>
          <a:prstGeom prst="rect">
            <a:avLst/>
          </a:prstGeom>
          <a:noFill/>
          <a:ln/>
        </p:spPr>
        <p:txBody>
          <a:bodyPr wrap="square" lIns="0" tIns="0" rIns="0" bIns="0" rtlCol="0" anchor="ctr"/>
          <a:lstStyle/>
          <a:p>
            <a:pPr marL="0" indent="0" algn="l">
              <a:buNone/>
            </a:pPr>
            <a:r>
              <a:rPr lang="en-US" sz="1100" b="1" spc="160">
                <a:solidFill>
                  <a:srgbClr val="B0512F"/>
                </a:solidFill>
                <a:latin typeface="Calibri" pitchFamily="34" charset="0"/>
              </a:rPr>
              <a:t>FIG. 1  —  NUMERIC FEATURE CORRELATION</a:t>
            </a:r>
            <a:endParaRPr lang="en-US" sz="1100"/>
          </a:p>
        </p:txBody>
      </p:sp>
      <p:sp>
        <p:nvSpPr>
          <p:cNvPr id="8" name="Caption1"/>
          <p:cNvSpPr/>
          <p:nvPr/>
        </p:nvSpPr>
        <p:spPr>
          <a:xfrm>
            <a:off x="640080" y="5760720"/>
            <a:ext cx="5257800" cy="502920"/>
          </a:xfrm>
          <a:prstGeom prst="rect">
            <a:avLst/>
          </a:prstGeom>
          <a:noFill/>
          <a:ln/>
        </p:spPr>
        <p:txBody>
          <a:bodyPr wrap="square" lIns="0" tIns="0" rIns="0" bIns="0" rtlCol="0" anchor="t"/>
          <a:lstStyle/>
          <a:p>
            <a:pPr marL="0" indent="0" algn="l">
              <a:lnSpc>
                <a:spcPct val="110000"/>
              </a:lnSpc>
              <a:buNone/>
            </a:pPr>
            <a:r>
              <a:rPr lang="en-US" sz="1250">
                <a:solidFill>
                  <a:srgbClr val="776755"/>
                </a:solidFill>
                <a:latin typeface="Calibri" pitchFamily="34" charset="0"/>
              </a:rPr>
              <a:t>The numeric features aren't strongly correlated, so none need dropping for multicollinearity.</a:t>
            </a:r>
            <a:endParaRPr lang="en-US" sz="1250"/>
          </a:p>
        </p:txBody>
      </p:sp>
      <p:sp>
        <p:nvSpPr>
          <p:cNvPr id="9" name="Mat2"/>
          <p:cNvSpPr/>
          <p:nvPr/>
        </p:nvSpPr>
        <p:spPr>
          <a:xfrm>
            <a:off x="6263640" y="1554480"/>
            <a:ext cx="5257800" cy="4114800"/>
          </a:xfrm>
          <a:prstGeom prst="rect">
            <a:avLst/>
          </a:prstGeom>
          <a:solidFill>
            <a:srgbClr val="FBF6EC"/>
          </a:solidFill>
          <a:ln>
            <a:solidFill>
              <a:srgbClr val="D9C7A6"/>
            </a:solidFill>
          </a:ln>
        </p:spPr>
        <p:txBody>
          <a:bodyPr/>
          <a:lstStyle/>
          <a:p>
            <a:endParaRPr lang="en-US"/>
          </a:p>
        </p:txBody>
      </p:sp>
      <p:sp>
        <p:nvSpPr>
          <p:cNvPr id="10" name="Fig2Label"/>
          <p:cNvSpPr/>
          <p:nvPr/>
        </p:nvSpPr>
        <p:spPr>
          <a:xfrm>
            <a:off x="6492240" y="1691640"/>
            <a:ext cx="4800600" cy="274320"/>
          </a:xfrm>
          <a:prstGeom prst="rect">
            <a:avLst/>
          </a:prstGeom>
          <a:noFill/>
          <a:ln/>
        </p:spPr>
        <p:txBody>
          <a:bodyPr wrap="square" lIns="0" tIns="0" rIns="0" bIns="0" rtlCol="0" anchor="ctr"/>
          <a:lstStyle/>
          <a:p>
            <a:pPr marL="0" indent="0" algn="l">
              <a:buNone/>
            </a:pPr>
            <a:r>
              <a:rPr lang="en-US" sz="1100" b="1" spc="160">
                <a:solidFill>
                  <a:srgbClr val="B0512F"/>
                </a:solidFill>
                <a:latin typeface="Calibri" pitchFamily="34" charset="0"/>
              </a:rPr>
              <a:t>FIG. 2  —  INCOME RATE BY EDUCATION</a:t>
            </a:r>
            <a:endParaRPr lang="en-US" sz="1100"/>
          </a:p>
        </p:txBody>
      </p:sp>
      <p:pic>
        <p:nvPicPr>
          <p:cNvPr id="7" name="Image 0" descr="plots/income_rate_by_education.png"/>
          <p:cNvPicPr>
            <a:picLocks noChangeAspect="1"/>
          </p:cNvPicPr>
          <p:nvPr/>
        </p:nvPicPr>
        <p:blipFill>
          <a:blip r:embed="rId3"/>
          <a:stretch>
            <a:fillRect/>
          </a:stretch>
        </p:blipFill>
        <p:spPr>
          <a:xfrm>
            <a:off x="6681216" y="2057400"/>
            <a:ext cx="4422648" cy="3572698"/>
          </a:xfrm>
          <a:prstGeom prst="rect">
            <a:avLst/>
          </a:prstGeom>
        </p:spPr>
      </p:pic>
      <p:pic>
        <p:nvPicPr>
          <p:cNvPr id="11" name="Image 1" descr="plots/correlation_heatmap.png"/>
          <p:cNvPicPr>
            <a:picLocks noChangeAspect="1"/>
          </p:cNvPicPr>
          <p:nvPr/>
        </p:nvPicPr>
        <p:blipFill>
          <a:blip r:embed="rId4"/>
          <a:stretch>
            <a:fillRect/>
          </a:stretch>
        </p:blipFill>
        <p:spPr>
          <a:xfrm>
            <a:off x="1150848" y="2148840"/>
            <a:ext cx="4236264" cy="3294747"/>
          </a:xfrm>
          <a:prstGeom prst="rect">
            <a:avLst/>
          </a:prstGeom>
        </p:spPr>
      </p:pic>
      <p:sp>
        <p:nvSpPr>
          <p:cNvPr id="12" name="Caption2"/>
          <p:cNvSpPr/>
          <p:nvPr/>
        </p:nvSpPr>
        <p:spPr>
          <a:xfrm>
            <a:off x="6263640" y="5760720"/>
            <a:ext cx="5257800" cy="502920"/>
          </a:xfrm>
          <a:prstGeom prst="rect">
            <a:avLst/>
          </a:prstGeom>
          <a:noFill/>
          <a:ln/>
        </p:spPr>
        <p:txBody>
          <a:bodyPr wrap="square" lIns="0" tIns="0" rIns="0" bIns="0" rtlCol="0" anchor="t"/>
          <a:lstStyle/>
          <a:p>
            <a:pPr marL="0" indent="0" algn="l">
              <a:lnSpc>
                <a:spcPct val="110000"/>
              </a:lnSpc>
              <a:buNone/>
            </a:pPr>
            <a:r>
              <a:rPr lang="en-US" sz="1250">
                <a:solidFill>
                  <a:srgbClr val="776755"/>
                </a:solidFill>
                <a:latin typeface="Calibri" pitchFamily="34" charset="0"/>
              </a:rPr>
              <a:t>The &gt;50K rate rises steadily with years of education, a clean signal a model can use.</a:t>
            </a:r>
            <a:endParaRPr lang="en-US" sz="1250"/>
          </a:p>
        </p:txBody>
      </p:sp>
      <p:sp>
        <p:nvSpPr>
          <p:cNvPr id="13" name="FooterRight"/>
          <p:cNvSpPr/>
          <p:nvPr/>
        </p:nvSpPr>
        <p:spPr>
          <a:xfrm>
            <a:off x="9612880" y="6408000"/>
            <a:ext cx="2000000" cy="276000"/>
          </a:xfrm>
          <a:prstGeom prst="rect">
            <a:avLst/>
          </a:prstGeom>
          <a:noFill/>
          <a:ln/>
        </p:spPr>
        <p:txBody>
          <a:bodyPr wrap="square" lIns="0" tIns="0" rIns="0" bIns="0" rtlCol="0" anchor="ctr"/>
          <a:lstStyle/>
          <a:p>
            <a:pPr marL="0" indent="0" algn="r">
              <a:buNone/>
            </a:pPr>
            <a:r>
              <a:rPr lang="en-US" sz="1000" b="1" spc="100">
                <a:solidFill>
                  <a:srgbClr val="B0512F"/>
                </a:solidFill>
                <a:latin typeface="Calibri" pitchFamily="34" charset="0"/>
              </a:rPr>
              <a:t>07 / 09</a:t>
            </a:r>
            <a:endParaRPr lang="en-US" sz="10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4ECDD"/>
        </a:solidFill>
        <a:effectLst/>
      </p:bgPr>
    </p:bg>
    <p:spTree>
      <p:nvGrpSpPr>
        <p:cNvPr id="1" name=""/>
        <p:cNvGrpSpPr/>
        <p:nvPr/>
      </p:nvGrpSpPr>
      <p:grpSpPr>
        <a:xfrm>
          <a:off x="0" y="0"/>
          <a:ext cx="0" cy="0"/>
          <a:chOff x="0" y="0"/>
          <a:chExt cx="0" cy="0"/>
        </a:xfrm>
      </p:grpSpPr>
      <p:sp>
        <p:nvSpPr>
          <p:cNvPr id="2" name="Kicker"/>
          <p:cNvSpPr/>
          <p:nvPr/>
        </p:nvSpPr>
        <p:spPr>
          <a:xfrm>
            <a:off x="1551920" y="411480"/>
            <a:ext cx="10000000" cy="276000"/>
          </a:xfrm>
          <a:prstGeom prst="rect">
            <a:avLst/>
          </a:prstGeom>
          <a:noFill/>
          <a:ln/>
        </p:spPr>
        <p:txBody>
          <a:bodyPr wrap="square" lIns="0" tIns="0" rIns="0" bIns="0" rtlCol="0" anchor="ctr"/>
          <a:lstStyle/>
          <a:p>
            <a:pPr marL="0" indent="0" algn="r">
              <a:buNone/>
            </a:pPr>
            <a:r>
              <a:rPr lang="en-US" sz="1150" b="1" spc="260">
                <a:solidFill>
                  <a:srgbClr val="B0512F"/>
                </a:solidFill>
                <a:latin typeface="Calibri" pitchFamily="34" charset="0"/>
              </a:rPr>
              <a:t>07</a:t>
            </a:r>
            <a:r>
              <a:rPr lang="en-US" sz="1150" b="1" spc="260">
                <a:solidFill>
                  <a:srgbClr val="776755"/>
                </a:solidFill>
                <a:latin typeface="Calibri" pitchFamily="34" charset="0"/>
              </a:rPr>
              <a:t>     EXPLORATORY ANALYSIS</a:t>
            </a:r>
            <a:endParaRPr lang="en-US" sz="1150"/>
          </a:p>
        </p:txBody>
      </p:sp>
      <p:sp>
        <p:nvSpPr>
          <p:cNvPr id="3" name="Title"/>
          <p:cNvSpPr/>
          <p:nvPr/>
        </p:nvSpPr>
        <p:spPr>
          <a:xfrm>
            <a:off x="579120" y="731520"/>
            <a:ext cx="10972800" cy="640080"/>
          </a:xfrm>
          <a:prstGeom prst="rect">
            <a:avLst/>
          </a:prstGeom>
          <a:noFill/>
          <a:ln/>
        </p:spPr>
        <p:txBody>
          <a:bodyPr wrap="square" lIns="0" tIns="0" rIns="0" bIns="0" rtlCol="0" anchor="ctr"/>
          <a:lstStyle/>
          <a:p>
            <a:pPr marL="0" indent="0" algn="r">
              <a:buNone/>
            </a:pPr>
            <a:r>
              <a:rPr lang="en-US" sz="2800" b="1">
                <a:solidFill>
                  <a:srgbClr val="223140"/>
                </a:solidFill>
                <a:latin typeface="Cambria" pitchFamily="34" charset="0"/>
                <a:ea typeface="Cambria" pitchFamily="34" charset="-122"/>
                <a:cs typeface="Cambria" pitchFamily="34" charset="-120"/>
              </a:rPr>
              <a:t>Group differences in income</a:t>
            </a:r>
            <a:endParaRPr lang="en-US" sz="2800"/>
          </a:p>
        </p:txBody>
      </p:sp>
      <p:sp>
        <p:nvSpPr>
          <p:cNvPr id="4" name="TitleRule"/>
          <p:cNvSpPr/>
          <p:nvPr/>
        </p:nvSpPr>
        <p:spPr>
          <a:xfrm>
            <a:off x="10713720" y="1362840"/>
            <a:ext cx="838200" cy="34200"/>
          </a:xfrm>
          <a:prstGeom prst="rect">
            <a:avLst/>
          </a:prstGeom>
          <a:solidFill>
            <a:srgbClr val="B0512F"/>
          </a:solidFill>
          <a:ln/>
        </p:spPr>
        <p:txBody>
          <a:bodyPr/>
          <a:lstStyle/>
          <a:p>
            <a:endParaRPr lang="en-US"/>
          </a:p>
        </p:txBody>
      </p:sp>
      <p:sp>
        <p:nvSpPr>
          <p:cNvPr id="5" name="Mat1"/>
          <p:cNvSpPr/>
          <p:nvPr/>
        </p:nvSpPr>
        <p:spPr>
          <a:xfrm>
            <a:off x="640080" y="1554480"/>
            <a:ext cx="5257800" cy="4114800"/>
          </a:xfrm>
          <a:prstGeom prst="rect">
            <a:avLst/>
          </a:prstGeom>
          <a:solidFill>
            <a:srgbClr val="FBF6EC"/>
          </a:solidFill>
          <a:ln>
            <a:solidFill>
              <a:srgbClr val="D9C7A6"/>
            </a:solidFill>
          </a:ln>
        </p:spPr>
        <p:txBody>
          <a:bodyPr/>
          <a:lstStyle/>
          <a:p>
            <a:endParaRPr lang="en-US"/>
          </a:p>
        </p:txBody>
      </p:sp>
      <p:sp>
        <p:nvSpPr>
          <p:cNvPr id="6" name="Fig1Label"/>
          <p:cNvSpPr/>
          <p:nvPr/>
        </p:nvSpPr>
        <p:spPr>
          <a:xfrm>
            <a:off x="868680" y="1691640"/>
            <a:ext cx="4800600" cy="274320"/>
          </a:xfrm>
          <a:prstGeom prst="rect">
            <a:avLst/>
          </a:prstGeom>
          <a:noFill/>
          <a:ln/>
        </p:spPr>
        <p:txBody>
          <a:bodyPr wrap="square" lIns="0" tIns="0" rIns="0" bIns="0" rtlCol="0" anchor="ctr"/>
          <a:lstStyle/>
          <a:p>
            <a:pPr marL="0" indent="0" algn="l">
              <a:buNone/>
            </a:pPr>
            <a:r>
              <a:rPr lang="en-US" sz="1100" b="1" spc="160">
                <a:solidFill>
                  <a:srgbClr val="B0512F"/>
                </a:solidFill>
                <a:latin typeface="Calibri" pitchFamily="34" charset="0"/>
              </a:rPr>
              <a:t>FIG. 3  —  INCOME RATE BY MARITAL STATUS</a:t>
            </a:r>
            <a:endParaRPr lang="en-US" sz="1100"/>
          </a:p>
        </p:txBody>
      </p:sp>
      <p:sp>
        <p:nvSpPr>
          <p:cNvPr id="8" name="Caption1"/>
          <p:cNvSpPr/>
          <p:nvPr/>
        </p:nvSpPr>
        <p:spPr>
          <a:xfrm>
            <a:off x="640080" y="5760720"/>
            <a:ext cx="5257800" cy="502920"/>
          </a:xfrm>
          <a:prstGeom prst="rect">
            <a:avLst/>
          </a:prstGeom>
          <a:noFill/>
          <a:ln/>
        </p:spPr>
        <p:txBody>
          <a:bodyPr wrap="square" lIns="0" tIns="0" rIns="0" bIns="0" rtlCol="0" anchor="t"/>
          <a:lstStyle/>
          <a:p>
            <a:pPr marL="0" indent="0" algn="l">
              <a:lnSpc>
                <a:spcPct val="110000"/>
              </a:lnSpc>
              <a:buNone/>
            </a:pPr>
            <a:r>
              <a:rPr lang="en-US" sz="1250">
                <a:solidFill>
                  <a:srgbClr val="776755"/>
                </a:solidFill>
                <a:latin typeface="Calibri" pitchFamily="34" charset="0"/>
              </a:rPr>
              <a:t>Married people are far more likely to earn over $50K than never-married, separated, or divorced people.</a:t>
            </a:r>
            <a:endParaRPr lang="en-US" sz="1250"/>
          </a:p>
        </p:txBody>
      </p:sp>
      <p:sp>
        <p:nvSpPr>
          <p:cNvPr id="9" name="Mat2"/>
          <p:cNvSpPr/>
          <p:nvPr/>
        </p:nvSpPr>
        <p:spPr>
          <a:xfrm>
            <a:off x="6263640" y="1554480"/>
            <a:ext cx="5257800" cy="4114800"/>
          </a:xfrm>
          <a:prstGeom prst="rect">
            <a:avLst/>
          </a:prstGeom>
          <a:solidFill>
            <a:srgbClr val="FBF6EC"/>
          </a:solidFill>
          <a:ln>
            <a:solidFill>
              <a:srgbClr val="D9C7A6"/>
            </a:solidFill>
          </a:ln>
        </p:spPr>
        <p:txBody>
          <a:bodyPr/>
          <a:lstStyle/>
          <a:p>
            <a:endParaRPr lang="en-US"/>
          </a:p>
        </p:txBody>
      </p:sp>
      <p:sp>
        <p:nvSpPr>
          <p:cNvPr id="10" name="Fig2Label"/>
          <p:cNvSpPr/>
          <p:nvPr/>
        </p:nvSpPr>
        <p:spPr>
          <a:xfrm>
            <a:off x="6492240" y="1691640"/>
            <a:ext cx="4800600" cy="274320"/>
          </a:xfrm>
          <a:prstGeom prst="rect">
            <a:avLst/>
          </a:prstGeom>
          <a:noFill/>
          <a:ln/>
        </p:spPr>
        <p:txBody>
          <a:bodyPr wrap="square" lIns="0" tIns="0" rIns="0" bIns="0" rtlCol="0" anchor="ctr"/>
          <a:lstStyle/>
          <a:p>
            <a:pPr marL="0" indent="0" algn="l">
              <a:buNone/>
            </a:pPr>
            <a:r>
              <a:rPr lang="en-US" sz="1100" b="1" spc="160">
                <a:solidFill>
                  <a:srgbClr val="B0512F"/>
                </a:solidFill>
                <a:latin typeface="Calibri" pitchFamily="34" charset="0"/>
              </a:rPr>
              <a:t>FIG. 4  —  INCOME: US-BORN VS FOREIGN-BORN</a:t>
            </a:r>
            <a:endParaRPr lang="en-US" sz="1100"/>
          </a:p>
        </p:txBody>
      </p:sp>
      <p:pic>
        <p:nvPicPr>
          <p:cNvPr id="7" name="Image 0" descr="plots/income_rate_by_education.png"/>
          <p:cNvPicPr>
            <a:picLocks noChangeAspect="1"/>
          </p:cNvPicPr>
          <p:nvPr/>
        </p:nvPicPr>
        <p:blipFill>
          <a:blip r:embed="rId3"/>
          <a:stretch>
            <a:fillRect/>
          </a:stretch>
        </p:blipFill>
        <p:spPr>
          <a:xfrm>
            <a:off x="6492240" y="2350000"/>
            <a:ext cx="4800600" cy="3025000"/>
          </a:xfrm>
          <a:prstGeom prst="rect">
            <a:avLst/>
          </a:prstGeom>
        </p:spPr>
      </p:pic>
      <p:pic>
        <p:nvPicPr>
          <p:cNvPr id="11" name="Image 1" descr="plots/correlation_heatmap.png"/>
          <p:cNvPicPr>
            <a:picLocks noChangeAspect="1"/>
          </p:cNvPicPr>
          <p:nvPr/>
        </p:nvPicPr>
        <p:blipFill>
          <a:blip r:embed="rId4"/>
          <a:stretch>
            <a:fillRect/>
          </a:stretch>
        </p:blipFill>
        <p:spPr>
          <a:xfrm>
            <a:off x="868680" y="2350000"/>
            <a:ext cx="4800600" cy="3025000"/>
          </a:xfrm>
          <a:prstGeom prst="rect">
            <a:avLst/>
          </a:prstGeom>
        </p:spPr>
      </p:pic>
      <p:sp>
        <p:nvSpPr>
          <p:cNvPr id="12" name="Caption2"/>
          <p:cNvSpPr/>
          <p:nvPr/>
        </p:nvSpPr>
        <p:spPr>
          <a:xfrm>
            <a:off x="6263640" y="5760720"/>
            <a:ext cx="5257800" cy="502920"/>
          </a:xfrm>
          <a:prstGeom prst="rect">
            <a:avLst/>
          </a:prstGeom>
          <a:noFill/>
          <a:ln/>
        </p:spPr>
        <p:txBody>
          <a:bodyPr wrap="square" lIns="0" tIns="0" rIns="0" bIns="0" rtlCol="0" anchor="t"/>
          <a:lstStyle/>
          <a:p>
            <a:pPr marL="0" indent="0" algn="l">
              <a:lnSpc>
                <a:spcPct val="110000"/>
              </a:lnSpc>
              <a:buNone/>
            </a:pPr>
            <a:r>
              <a:rPr lang="en-US" sz="1250">
                <a:solidFill>
                  <a:srgbClr val="776755"/>
                </a:solidFill>
                <a:latin typeface="Calibri" pitchFamily="34" charset="0"/>
              </a:rPr>
              <a:t>US-born people earn over $50K at a higher rate than foreign-born people, the gap the fairness audit tests.</a:t>
            </a:r>
            <a:endParaRPr lang="en-US" sz="1250"/>
          </a:p>
        </p:txBody>
      </p:sp>
      <p:sp>
        <p:nvSpPr>
          <p:cNvPr id="13" name="FooterRight"/>
          <p:cNvSpPr/>
          <p:nvPr/>
        </p:nvSpPr>
        <p:spPr>
          <a:xfrm>
            <a:off x="9612880" y="6408000"/>
            <a:ext cx="2000000" cy="276000"/>
          </a:xfrm>
          <a:prstGeom prst="rect">
            <a:avLst/>
          </a:prstGeom>
          <a:noFill/>
          <a:ln/>
        </p:spPr>
        <p:txBody>
          <a:bodyPr wrap="square" lIns="0" tIns="0" rIns="0" bIns="0" rtlCol="0" anchor="ctr"/>
          <a:lstStyle/>
          <a:p>
            <a:pPr marL="0" indent="0" algn="r">
              <a:buNone/>
            </a:pPr>
            <a:r>
              <a:rPr lang="en-US" sz="1000" b="1" spc="100">
                <a:solidFill>
                  <a:srgbClr val="B0512F"/>
                </a:solidFill>
                <a:latin typeface="Calibri" pitchFamily="34" charset="0"/>
              </a:rPr>
              <a:t>08 / 09</a:t>
            </a:r>
            <a:endParaRPr lang="en-US" sz="10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223140"/>
        </a:solidFill>
        <a:effectLst/>
      </p:bgPr>
    </p:bg>
    <p:spTree>
      <p:nvGrpSpPr>
        <p:cNvPr id="1" name=""/>
        <p:cNvGrpSpPr/>
        <p:nvPr/>
      </p:nvGrpSpPr>
      <p:grpSpPr>
        <a:xfrm>
          <a:off x="0" y="0"/>
          <a:ext cx="0" cy="0"/>
          <a:chOff x="0" y="0"/>
          <a:chExt cx="0" cy="0"/>
        </a:xfrm>
      </p:grpSpPr>
      <p:sp>
        <p:nvSpPr>
          <p:cNvPr id="2" name="RuleTop"/>
          <p:cNvSpPr/>
          <p:nvPr/>
        </p:nvSpPr>
        <p:spPr>
          <a:xfrm>
            <a:off x="5743956" y="780000"/>
            <a:ext cx="704088" cy="36000"/>
          </a:xfrm>
          <a:prstGeom prst="rect">
            <a:avLst/>
          </a:prstGeom>
          <a:solidFill>
            <a:srgbClr val="B0512F"/>
          </a:solidFill>
          <a:ln/>
        </p:spPr>
        <p:txBody>
          <a:bodyPr/>
          <a:lstStyle/>
          <a:p>
            <a:endParaRPr lang="en-US"/>
          </a:p>
        </p:txBody>
      </p:sp>
      <p:sp>
        <p:nvSpPr>
          <p:cNvPr id="3" name="Kicker"/>
          <p:cNvSpPr/>
          <p:nvPr/>
        </p:nvSpPr>
        <p:spPr>
          <a:xfrm>
            <a:off x="640080" y="920000"/>
            <a:ext cx="10911840" cy="320040"/>
          </a:xfrm>
          <a:prstGeom prst="rect">
            <a:avLst/>
          </a:prstGeom>
          <a:noFill/>
          <a:ln/>
        </p:spPr>
        <p:txBody>
          <a:bodyPr wrap="square" lIns="0" tIns="0" rIns="0" bIns="0" rtlCol="0" anchor="ctr"/>
          <a:lstStyle/>
          <a:p>
            <a:pPr marL="0" indent="0" algn="ctr">
              <a:buNone/>
            </a:pPr>
            <a:r>
              <a:rPr lang="en-US" sz="1400" b="1" spc="340">
                <a:solidFill>
                  <a:srgbClr val="C88A2C"/>
                </a:solidFill>
                <a:latin typeface="Calibri" pitchFamily="34" charset="0"/>
              </a:rPr>
              <a:t>WHAT'S NEXT</a:t>
            </a:r>
            <a:endParaRPr lang="en-US" sz="1400"/>
          </a:p>
        </p:txBody>
      </p:sp>
      <p:sp>
        <p:nvSpPr>
          <p:cNvPr id="4" name="Title"/>
          <p:cNvSpPr/>
          <p:nvPr/>
        </p:nvSpPr>
        <p:spPr>
          <a:xfrm>
            <a:off x="640080" y="1240000"/>
            <a:ext cx="10911840" cy="640080"/>
          </a:xfrm>
          <a:prstGeom prst="rect">
            <a:avLst/>
          </a:prstGeom>
          <a:noFill/>
          <a:ln/>
        </p:spPr>
        <p:txBody>
          <a:bodyPr wrap="square" lIns="0" tIns="0" rIns="0" bIns="0" rtlCol="0" anchor="ctr"/>
          <a:lstStyle/>
          <a:p>
            <a:pPr marL="0" indent="0" algn="ctr">
              <a:buNone/>
            </a:pPr>
            <a:r>
              <a:rPr lang="en-US" sz="3200" b="1">
                <a:solidFill>
                  <a:srgbClr val="F4ECDD"/>
                </a:solidFill>
                <a:latin typeface="Cambria" pitchFamily="34" charset="0"/>
                <a:ea typeface="Cambria" pitchFamily="34" charset="-122"/>
                <a:cs typeface="Cambria" pitchFamily="34" charset="-120"/>
              </a:rPr>
              <a:t>Next steps</a:t>
            </a:r>
            <a:endParaRPr lang="en-US" sz="3200"/>
          </a:p>
        </p:txBody>
      </p:sp>
      <p:sp>
        <p:nvSpPr>
          <p:cNvPr id="5" name="Card1"/>
          <p:cNvSpPr/>
          <p:nvPr/>
        </p:nvSpPr>
        <p:spPr>
          <a:xfrm>
            <a:off x="640080" y="2450000"/>
            <a:ext cx="5255920" cy="1800000"/>
          </a:xfrm>
          <a:prstGeom prst="rect">
            <a:avLst/>
          </a:prstGeom>
          <a:solidFill>
            <a:srgbClr val="2B3C4C"/>
          </a:solidFill>
          <a:ln/>
        </p:spPr>
        <p:txBody>
          <a:bodyPr/>
          <a:lstStyle/>
          <a:p>
            <a:endParaRPr lang="en-US"/>
          </a:p>
        </p:txBody>
      </p:sp>
      <p:sp>
        <p:nvSpPr>
          <p:cNvPr id="6" name="Card1Bar"/>
          <p:cNvSpPr/>
          <p:nvPr/>
        </p:nvSpPr>
        <p:spPr>
          <a:xfrm>
            <a:off x="640080" y="2450000"/>
            <a:ext cx="43200" cy="1800000"/>
          </a:xfrm>
          <a:prstGeom prst="rect">
            <a:avLst/>
          </a:prstGeom>
          <a:solidFill>
            <a:srgbClr val="C88A2C"/>
          </a:solidFill>
          <a:ln/>
        </p:spPr>
        <p:txBody>
          <a:bodyPr/>
          <a:lstStyle/>
          <a:p>
            <a:endParaRPr lang="en-US"/>
          </a:p>
        </p:txBody>
      </p:sp>
      <p:sp>
        <p:nvSpPr>
          <p:cNvPr id="7" name="N1"/>
          <p:cNvSpPr/>
          <p:nvPr/>
        </p:nvSpPr>
        <p:spPr>
          <a:xfrm>
            <a:off x="940080" y="2670000"/>
            <a:ext cx="1000000" cy="460000"/>
          </a:xfrm>
          <a:prstGeom prst="rect">
            <a:avLst/>
          </a:prstGeom>
          <a:noFill/>
          <a:ln/>
        </p:spPr>
        <p:txBody>
          <a:bodyPr wrap="square" lIns="0" tIns="0" rIns="0" bIns="0" rtlCol="0" anchor="t"/>
          <a:lstStyle/>
          <a:p>
            <a:pPr marL="0" indent="0" algn="l">
              <a:buNone/>
            </a:pPr>
            <a:r>
              <a:rPr lang="en-US" sz="2600" b="1">
                <a:solidFill>
                  <a:srgbClr val="C88A2C"/>
                </a:solidFill>
                <a:latin typeface="Cambria" pitchFamily="34" charset="0"/>
              </a:rPr>
              <a:t>01</a:t>
            </a:r>
            <a:endParaRPr lang="en-US" sz="2600"/>
          </a:p>
        </p:txBody>
      </p:sp>
      <p:sp>
        <p:nvSpPr>
          <p:cNvPr id="8" name="T1"/>
          <p:cNvSpPr/>
          <p:nvPr/>
        </p:nvSpPr>
        <p:spPr>
          <a:xfrm>
            <a:off x="940080" y="3230000"/>
            <a:ext cx="4655920" cy="900000"/>
          </a:xfrm>
          <a:prstGeom prst="rect">
            <a:avLst/>
          </a:prstGeom>
          <a:noFill/>
          <a:ln/>
        </p:spPr>
        <p:txBody>
          <a:bodyPr wrap="square" lIns="0" tIns="0" rIns="0" bIns="0" rtlCol="0" anchor="t"/>
          <a:lstStyle/>
          <a:p>
            <a:pPr marL="0" indent="0" algn="l">
              <a:lnSpc>
                <a:spcPct val="112000"/>
              </a:lnSpc>
              <a:buNone/>
            </a:pPr>
            <a:r>
              <a:rPr lang="en-US" sz="1500" dirty="0">
                <a:solidFill>
                  <a:srgbClr val="E6DCC8"/>
                </a:solidFill>
                <a:latin typeface="Calibri" pitchFamily="34" charset="0"/>
              </a:rPr>
              <a:t>Build and cross-validate the models (Logistic Regression as baseline, </a:t>
            </a:r>
            <a:r>
              <a:rPr lang="en-US" sz="1500" dirty="0" err="1">
                <a:solidFill>
                  <a:srgbClr val="E6DCC8"/>
                </a:solidFill>
                <a:latin typeface="Calibri" pitchFamily="34" charset="0"/>
              </a:rPr>
              <a:t>XGBoost</a:t>
            </a:r>
            <a:r>
              <a:rPr lang="en-US" sz="1500" dirty="0">
                <a:solidFill>
                  <a:srgbClr val="E6DCC8"/>
                </a:solidFill>
                <a:latin typeface="Calibri" pitchFamily="34" charset="0"/>
              </a:rPr>
              <a:t>, and MLP), tune hyperparameters, and handle class imbalance.</a:t>
            </a:r>
            <a:endParaRPr lang="en-US" sz="1500" dirty="0"/>
          </a:p>
        </p:txBody>
      </p:sp>
      <p:sp>
        <p:nvSpPr>
          <p:cNvPr id="9" name="Card2"/>
          <p:cNvSpPr/>
          <p:nvPr/>
        </p:nvSpPr>
        <p:spPr>
          <a:xfrm>
            <a:off x="6296000" y="2450000"/>
            <a:ext cx="5255920" cy="1800000"/>
          </a:xfrm>
          <a:prstGeom prst="rect">
            <a:avLst/>
          </a:prstGeom>
          <a:solidFill>
            <a:srgbClr val="2B3C4C"/>
          </a:solidFill>
          <a:ln/>
        </p:spPr>
        <p:txBody>
          <a:bodyPr/>
          <a:lstStyle/>
          <a:p>
            <a:endParaRPr lang="en-US"/>
          </a:p>
        </p:txBody>
      </p:sp>
      <p:sp>
        <p:nvSpPr>
          <p:cNvPr id="10" name="Card2Bar"/>
          <p:cNvSpPr/>
          <p:nvPr/>
        </p:nvSpPr>
        <p:spPr>
          <a:xfrm>
            <a:off x="6296000" y="2450000"/>
            <a:ext cx="43200" cy="1800000"/>
          </a:xfrm>
          <a:prstGeom prst="rect">
            <a:avLst/>
          </a:prstGeom>
          <a:solidFill>
            <a:srgbClr val="C88A2C"/>
          </a:solidFill>
          <a:ln/>
        </p:spPr>
        <p:txBody>
          <a:bodyPr/>
          <a:lstStyle/>
          <a:p>
            <a:endParaRPr lang="en-US"/>
          </a:p>
        </p:txBody>
      </p:sp>
      <p:sp>
        <p:nvSpPr>
          <p:cNvPr id="11" name="N2"/>
          <p:cNvSpPr/>
          <p:nvPr/>
        </p:nvSpPr>
        <p:spPr>
          <a:xfrm>
            <a:off x="6596000" y="2670000"/>
            <a:ext cx="1000000" cy="460000"/>
          </a:xfrm>
          <a:prstGeom prst="rect">
            <a:avLst/>
          </a:prstGeom>
          <a:noFill/>
          <a:ln/>
        </p:spPr>
        <p:txBody>
          <a:bodyPr wrap="square" lIns="0" tIns="0" rIns="0" bIns="0" rtlCol="0" anchor="t"/>
          <a:lstStyle/>
          <a:p>
            <a:pPr marL="0" indent="0" algn="l">
              <a:buNone/>
            </a:pPr>
            <a:r>
              <a:rPr lang="en-US" sz="2600" b="1">
                <a:solidFill>
                  <a:srgbClr val="C88A2C"/>
                </a:solidFill>
                <a:latin typeface="Cambria" pitchFamily="34" charset="0"/>
              </a:rPr>
              <a:t>02</a:t>
            </a:r>
            <a:endParaRPr lang="en-US" sz="2600"/>
          </a:p>
        </p:txBody>
      </p:sp>
      <p:sp>
        <p:nvSpPr>
          <p:cNvPr id="12" name="T2"/>
          <p:cNvSpPr/>
          <p:nvPr/>
        </p:nvSpPr>
        <p:spPr>
          <a:xfrm>
            <a:off x="6596000" y="3230000"/>
            <a:ext cx="4655920" cy="900000"/>
          </a:xfrm>
          <a:prstGeom prst="rect">
            <a:avLst/>
          </a:prstGeom>
          <a:noFill/>
          <a:ln/>
        </p:spPr>
        <p:txBody>
          <a:bodyPr wrap="square" lIns="0" tIns="0" rIns="0" bIns="0" rtlCol="0" anchor="t"/>
          <a:lstStyle/>
          <a:p>
            <a:pPr marL="0" indent="0" algn="l">
              <a:lnSpc>
                <a:spcPct val="112000"/>
              </a:lnSpc>
              <a:buNone/>
            </a:pPr>
            <a:r>
              <a:rPr lang="en-US" sz="1500" dirty="0">
                <a:solidFill>
                  <a:srgbClr val="E6DCC8"/>
                </a:solidFill>
                <a:latin typeface="Calibri" pitchFamily="34" charset="0"/>
              </a:rPr>
              <a:t>Measure which features drive the prediction of who earns &gt;$50K with coefficients using Logistic Regression, permutation importance, and partial dependence (education vs hours worked).</a:t>
            </a:r>
            <a:endParaRPr lang="en-US" sz="1500" dirty="0"/>
          </a:p>
        </p:txBody>
      </p:sp>
      <p:sp>
        <p:nvSpPr>
          <p:cNvPr id="13" name="Card3"/>
          <p:cNvSpPr/>
          <p:nvPr/>
        </p:nvSpPr>
        <p:spPr>
          <a:xfrm>
            <a:off x="640080" y="4510000"/>
            <a:ext cx="5255920" cy="1800000"/>
          </a:xfrm>
          <a:prstGeom prst="rect">
            <a:avLst/>
          </a:prstGeom>
          <a:solidFill>
            <a:srgbClr val="2B3C4C"/>
          </a:solidFill>
          <a:ln/>
        </p:spPr>
        <p:txBody>
          <a:bodyPr/>
          <a:lstStyle/>
          <a:p>
            <a:endParaRPr lang="en-US"/>
          </a:p>
        </p:txBody>
      </p:sp>
      <p:sp>
        <p:nvSpPr>
          <p:cNvPr id="14" name="Card3Bar"/>
          <p:cNvSpPr/>
          <p:nvPr/>
        </p:nvSpPr>
        <p:spPr>
          <a:xfrm>
            <a:off x="640080" y="4510000"/>
            <a:ext cx="43200" cy="1800000"/>
          </a:xfrm>
          <a:prstGeom prst="rect">
            <a:avLst/>
          </a:prstGeom>
          <a:solidFill>
            <a:srgbClr val="C88A2C"/>
          </a:solidFill>
          <a:ln/>
        </p:spPr>
        <p:txBody>
          <a:bodyPr/>
          <a:lstStyle/>
          <a:p>
            <a:endParaRPr lang="en-US"/>
          </a:p>
        </p:txBody>
      </p:sp>
      <p:sp>
        <p:nvSpPr>
          <p:cNvPr id="15" name="N3"/>
          <p:cNvSpPr/>
          <p:nvPr/>
        </p:nvSpPr>
        <p:spPr>
          <a:xfrm>
            <a:off x="940080" y="4730000"/>
            <a:ext cx="1000000" cy="460000"/>
          </a:xfrm>
          <a:prstGeom prst="rect">
            <a:avLst/>
          </a:prstGeom>
          <a:noFill/>
          <a:ln/>
        </p:spPr>
        <p:txBody>
          <a:bodyPr wrap="square" lIns="0" tIns="0" rIns="0" bIns="0" rtlCol="0" anchor="t"/>
          <a:lstStyle/>
          <a:p>
            <a:pPr marL="0" indent="0" algn="l">
              <a:buNone/>
            </a:pPr>
            <a:r>
              <a:rPr lang="en-US" sz="2600" b="1">
                <a:solidFill>
                  <a:srgbClr val="C88A2C"/>
                </a:solidFill>
                <a:latin typeface="Cambria" pitchFamily="34" charset="0"/>
              </a:rPr>
              <a:t>03</a:t>
            </a:r>
            <a:endParaRPr lang="en-US" sz="2600"/>
          </a:p>
        </p:txBody>
      </p:sp>
      <p:sp>
        <p:nvSpPr>
          <p:cNvPr id="16" name="T3"/>
          <p:cNvSpPr/>
          <p:nvPr/>
        </p:nvSpPr>
        <p:spPr>
          <a:xfrm>
            <a:off x="940080" y="5290000"/>
            <a:ext cx="4655920" cy="900000"/>
          </a:xfrm>
          <a:prstGeom prst="rect">
            <a:avLst/>
          </a:prstGeom>
          <a:noFill/>
          <a:ln/>
        </p:spPr>
        <p:txBody>
          <a:bodyPr wrap="square" lIns="0" tIns="0" rIns="0" bIns="0" rtlCol="0" anchor="t"/>
          <a:lstStyle/>
          <a:p>
            <a:pPr marL="0" indent="0" algn="l">
              <a:lnSpc>
                <a:spcPct val="112000"/>
              </a:lnSpc>
              <a:buNone/>
            </a:pPr>
            <a:r>
              <a:rPr lang="en-US" sz="1500" dirty="0">
                <a:solidFill>
                  <a:srgbClr val="E6DCC8"/>
                </a:solidFill>
                <a:latin typeface="Calibri" pitchFamily="34" charset="0"/>
              </a:rPr>
              <a:t>Run the fairness audit: per-group error rates by nativity, sex, and race, McNemar Test and bootstrap Confidence Intervals, and a fairness-through-unawareness check.</a:t>
            </a:r>
            <a:endParaRPr lang="en-US" sz="1500" dirty="0"/>
          </a:p>
        </p:txBody>
      </p:sp>
      <p:sp>
        <p:nvSpPr>
          <p:cNvPr id="17" name="Card4"/>
          <p:cNvSpPr/>
          <p:nvPr/>
        </p:nvSpPr>
        <p:spPr>
          <a:xfrm>
            <a:off x="6296000" y="4510000"/>
            <a:ext cx="5255920" cy="1800000"/>
          </a:xfrm>
          <a:prstGeom prst="rect">
            <a:avLst/>
          </a:prstGeom>
          <a:solidFill>
            <a:srgbClr val="2B3C4C"/>
          </a:solidFill>
          <a:ln/>
        </p:spPr>
        <p:txBody>
          <a:bodyPr/>
          <a:lstStyle/>
          <a:p>
            <a:endParaRPr lang="en-US"/>
          </a:p>
        </p:txBody>
      </p:sp>
      <p:sp>
        <p:nvSpPr>
          <p:cNvPr id="18" name="Card4Bar"/>
          <p:cNvSpPr/>
          <p:nvPr/>
        </p:nvSpPr>
        <p:spPr>
          <a:xfrm>
            <a:off x="6296000" y="4510000"/>
            <a:ext cx="43200" cy="1800000"/>
          </a:xfrm>
          <a:prstGeom prst="rect">
            <a:avLst/>
          </a:prstGeom>
          <a:solidFill>
            <a:srgbClr val="C88A2C"/>
          </a:solidFill>
          <a:ln/>
        </p:spPr>
        <p:txBody>
          <a:bodyPr/>
          <a:lstStyle/>
          <a:p>
            <a:endParaRPr lang="en-US"/>
          </a:p>
        </p:txBody>
      </p:sp>
      <p:sp>
        <p:nvSpPr>
          <p:cNvPr id="19" name="N4"/>
          <p:cNvSpPr/>
          <p:nvPr/>
        </p:nvSpPr>
        <p:spPr>
          <a:xfrm>
            <a:off x="6596000" y="4730000"/>
            <a:ext cx="1000000" cy="460000"/>
          </a:xfrm>
          <a:prstGeom prst="rect">
            <a:avLst/>
          </a:prstGeom>
          <a:noFill/>
          <a:ln/>
        </p:spPr>
        <p:txBody>
          <a:bodyPr wrap="square" lIns="0" tIns="0" rIns="0" bIns="0" rtlCol="0" anchor="t"/>
          <a:lstStyle/>
          <a:p>
            <a:pPr marL="0" indent="0" algn="l">
              <a:buNone/>
            </a:pPr>
            <a:r>
              <a:rPr lang="en-US" sz="2600" b="1">
                <a:solidFill>
                  <a:srgbClr val="C88A2C"/>
                </a:solidFill>
                <a:latin typeface="Cambria" pitchFamily="34" charset="0"/>
              </a:rPr>
              <a:t>04</a:t>
            </a:r>
            <a:endParaRPr lang="en-US" sz="2600"/>
          </a:p>
        </p:txBody>
      </p:sp>
      <p:sp>
        <p:nvSpPr>
          <p:cNvPr id="20" name="T4"/>
          <p:cNvSpPr/>
          <p:nvPr/>
        </p:nvSpPr>
        <p:spPr>
          <a:xfrm>
            <a:off x="6596000" y="5290000"/>
            <a:ext cx="4655920" cy="900000"/>
          </a:xfrm>
          <a:prstGeom prst="rect">
            <a:avLst/>
          </a:prstGeom>
          <a:noFill/>
          <a:ln/>
        </p:spPr>
        <p:txBody>
          <a:bodyPr wrap="square" lIns="0" tIns="0" rIns="0" bIns="0" rtlCol="0" anchor="t"/>
          <a:lstStyle/>
          <a:p>
            <a:pPr marL="0" indent="0" algn="l">
              <a:lnSpc>
                <a:spcPct val="112000"/>
              </a:lnSpc>
              <a:buNone/>
            </a:pPr>
            <a:r>
              <a:rPr lang="en-US" sz="1500" dirty="0">
                <a:solidFill>
                  <a:srgbClr val="E6DCC8"/>
                </a:solidFill>
                <a:latin typeface="Calibri" pitchFamily="34" charset="0"/>
              </a:rPr>
              <a:t>Compare the </a:t>
            </a:r>
            <a:r>
              <a:rPr lang="en-US" sz="1500" dirty="0" err="1">
                <a:solidFill>
                  <a:srgbClr val="E6DCC8"/>
                </a:solidFill>
                <a:latin typeface="Calibri" pitchFamily="34" charset="0"/>
              </a:rPr>
              <a:t>XGBoost</a:t>
            </a:r>
            <a:r>
              <a:rPr lang="en-US" sz="1500" dirty="0">
                <a:solidFill>
                  <a:srgbClr val="E6DCC8"/>
                </a:solidFill>
                <a:latin typeface="Calibri" pitchFamily="34" charset="0"/>
              </a:rPr>
              <a:t> model to the Logistic Regression and MLP on held-out PR-AUC and F1 score, then write up an honest verdict on all three questions.</a:t>
            </a:r>
            <a:endParaRPr lang="en-US" sz="1500" dirty="0"/>
          </a:p>
        </p:txBody>
      </p:sp>
      <p:sp>
        <p:nvSpPr>
          <p:cNvPr id="21" name="FooterRight"/>
          <p:cNvSpPr/>
          <p:nvPr/>
        </p:nvSpPr>
        <p:spPr>
          <a:xfrm>
            <a:off x="9612880" y="6408000"/>
            <a:ext cx="2000000" cy="276000"/>
          </a:xfrm>
          <a:prstGeom prst="rect">
            <a:avLst/>
          </a:prstGeom>
          <a:noFill/>
          <a:ln/>
        </p:spPr>
        <p:txBody>
          <a:bodyPr wrap="square" lIns="0" tIns="0" rIns="0" bIns="0" rtlCol="0" anchor="ctr"/>
          <a:lstStyle/>
          <a:p>
            <a:pPr marL="0" indent="0" algn="r">
              <a:buNone/>
            </a:pPr>
            <a:r>
              <a:rPr lang="en-US" sz="1000" b="1" spc="100">
                <a:solidFill>
                  <a:srgbClr val="C88A2C"/>
                </a:solidFill>
                <a:latin typeface="Calibri" pitchFamily="34" charset="0"/>
              </a:rPr>
              <a:t>09 / 09</a:t>
            </a:r>
            <a:endParaRPr lang="en-US" sz="1000"/>
          </a:p>
        </p:txBody>
      </p:sp>
      <p:sp>
        <p:nvSpPr>
          <p:cNvPr id="22" name="TextBox 21">
            <a:extLst>
              <a:ext uri="{FF2B5EF4-FFF2-40B4-BE49-F238E27FC236}">
                <a16:creationId xmlns:a16="http://schemas.microsoft.com/office/drawing/2014/main" id="{13E25CF9-3F6E-14F4-EFC9-DB8390DB9E18}"/>
              </a:ext>
            </a:extLst>
          </p:cNvPr>
          <p:cNvSpPr txBox="1"/>
          <p:nvPr/>
        </p:nvSpPr>
        <p:spPr>
          <a:xfrm>
            <a:off x="579120" y="6345334"/>
            <a:ext cx="7427168" cy="369332"/>
          </a:xfrm>
          <a:prstGeom prst="rect">
            <a:avLst/>
          </a:prstGeom>
          <a:noFill/>
        </p:spPr>
        <p:txBody>
          <a:bodyPr wrap="square" rtlCol="0">
            <a:spAutoFit/>
          </a:bodyPr>
          <a:lstStyle/>
          <a:p>
            <a:r>
              <a:rPr lang="en-US" dirty="0">
                <a:solidFill>
                  <a:schemeClr val="accent4">
                    <a:lumMod val="75000"/>
                  </a:schemeClr>
                </a:solidFill>
              </a:rPr>
              <a:t>Thank You! Questions?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163</TotalTime>
  <Words>1866</Words>
  <Application>Microsoft Office PowerPoint</Application>
  <PresentationFormat>Widescreen</PresentationFormat>
  <Paragraphs>123</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Adult Census Income - Data Prep &amp; EDA</dc:title>
  <dc:subject>PptxGenJS Presentation</dc:subject>
  <dc:creator>Erik</dc:creator>
  <cp:lastModifiedBy>Erik Herb</cp:lastModifiedBy>
  <cp:revision>4</cp:revision>
  <dcterms:created xsi:type="dcterms:W3CDTF">2026-07-06T17:09:35Z</dcterms:created>
  <dcterms:modified xsi:type="dcterms:W3CDTF">2026-07-08T02:55:29Z</dcterms:modified>
</cp:coreProperties>
</file>