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4236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milestone of my capstone. The dataset is the UCI Adult Census Income data from 1994, about 32,500 rows, and the task is predicting whether somebody earns over 50 thousand a year. In the last milestone I built the logistic regression baseline. Today I add XGBoost and a multilayer perceptron, compare all three with statistical tests and not just eyeballed differences, and run a fairness audit across nativity and sex. The short version up front: two of my three hypotheses are supported and one is refuted, and the refuted one is the most interesting result in the project. Here is the shape of the next half hour so you know where I am going. First the setup, the problem framing, the data, and how I built the experiment, which is about eight minutes. Then the model comparison itself with the statistical tests behind it, which is the biggest block. Then the fairness audit and the three hypothesis verdicts. Then limitations, impact, and what I would do next. I will flag the two or three places where I think the work is weak instead of leaving those for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built around three hypotheses and each one is testable. H1 is a drivers question about education versus hours. H2 is the fairness question. H3 is the model comparison, and I want to flag the reasoning I stated up front, before I saw any results: my EDA found real non-linear structure, curves in age, threshold effects in capital gain, and interactions between education and marital status, which is what boosted trees are good at. And 32,500 rows is small for a neural network. So the dataset size and the shape of the structure both point at XGBoost over either of the other two.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all carried forward, so I will not spend long here. Three columns had gaps and I filled them with Unknown instead of dropping about 2,400 people. I kept every outlier because I measured what dropping them would cost, and the flagged rows are disproportionately the high earners I am trying to find. The one thing worth pausing on is the last bullet: the scaler and SMOTE live inside the pipeline, which is what makes leakage hard to cause by accident rather than something I have to remember to avoid. One more thing on the outliers, because it is the decision I get asked about most. The IQR rule flags 27.7 percent of my hours column, and that sounds alarming until you look at why. Forty-six percent of people in this data work exactly forty hours, which squeezes the interquartile range down to five, so the fence lands at thirty-two to fifty-two hours and somebody working fifty-five hours gets called an outlier. Working fifty-five hours a week is not an anomaly, it is a job. So that number is measuring the spike at forty, not measuring errors, and it is a good example of a rule being applied correctly and still giving the wrong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engineered features, each with a reason rather than added for the sake of it. The table on the bottom left is the part I want to point at. I fit the same default logistic regression on the raw feature set and on the engineered one, same split, and the engineered version wins on every metric while using 52 columns instead of 84. That turned an assumption into a measurement. I did not use PCA, because H1 needs the original features and reducing them would cost interpretability without buying anything. On the native_region feature specifically, the raw native country column has forty-two categories and about ninety percent of them are United States, so one-hot encoding it directly would have produced dozens of columns with a handful of people in each. Grouping it does two things at once: it gives the models a usable feature instead of noise, and it creates exactly the split my fairness audit needs. And I kept Unknown as its own third category instead of folding it into either side, because I did not want to silently assign hundreds of people to a group they may not belong to and then audit on that.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in one row across the top. Two things on this slide are worth the time. First, the fold indices are generated once and handed to all three models, so every model sees the same five folds. That is what leaves them paired, and with only five observations pairing is the difference between a test with some power and one with almost none. Second, the bug on the right. All three of my pipelines originally pointed at the same scaler object, and because scikit-learn pipelines do not copy their steps, refitting one model later changed the preprocessing of models I had already scored. XGBoost's test PR-AUC dropped from 0.805 to 0.744 and nothing raised an error. Giving each model its own scaler fixed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pass on the three models, because the guidelines ask for how each one actually makes a prediction and not just its name. Logistic regression is a weighted sum through a sigmoid, fully readable, but linear and additive. XGBoost builds trees on the residuals, so it finds thresholds and interactions on its own. The MLP stacks non-linear layers, which can represent interactions too but has to learn them from scratch. The bar at the bottom is the naive floor: 76 percent accuracy while catching literally zero high earners. That is why every number I report today leads with PR-AUC and recall. I want to say one more sentence about why the logistic regression is the baseline and not just something I want to beat. My use case is a lender, and a lender has to be able to explain a decision to the person it affects. Logistic regression gives me one signed coefficient per feature, so the direction and size of every effect is readable straight off the model. That is a real property, not a consolation prize, and it means that if a more complex model only edges it out by a small margin, the small margin has to be weighed against losing that. That trade-off is genuinely what H3 is about, and I come back to it in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define the metrics once because every table today reports the same ones. The thing to take away is why PR-AUC leads. It focuses on the positive class directly, it gets no credit for correctly rejecting the easy majority, its no-skill floor is the base rate instead of 0.5, and it is threshold-free so it compares ranking rather than where a cutoff lands. ROC-AUC stays in the tables but I keep it secondary, because on imbalanced data the big easy negative class props all three curves up and hides differences that PR-AUC shows clearly. You will see that happen later. The four boxes at the bottom translate each metric into what it costs the lender, and I want to point at the recall box in particular. Recall is the share of real high earners I actually catch, so a false negative is somebody who qualifies and does not get flagged. That is the error that lands on the applicant and not on the business, and it is the metric the entire fairness audit is built on, because if a model catches one group's high earners and misses the other's, that shows up as a recall gap and nowhere else. Precision failures cost the lender review time. Recall failures cost a person an opportunity. That asymmetry is why I set the whole project up around recall and PR-AUC.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my professor's feedback is really about. Claims about one model being better than another mean nothing without a test behind them, so here is what I used and why each one fits. The t-test and Wilcoxon work on the fold scores, and they only work because the folds are shared, which is the pairing requirement. McNemar is the right test for two classifiers on one shared test set, because their errors are paired at the row level. And the bootstrap is the workhorse, because it needs no distributional assumption and it lets me take the difference inside each resample, which is important: two overlapping confidence intervals do not actually mean a difference is non-significant, so comparing separate intervals by eye would be wrong.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with library defaults on the validation set. Three things. One, SMOTE lifts recall from 0.60 to 0.85 on the logistic regression, which is the trade I want for this use case. Two, XGBoost already leads on PR-AUC and F1 before I tune anything. Three, and this is the one I want to flag, the untuned MLP lands below the logistic baseline. That is the first evidence for half of my H3 reasoning, the half about the dataset being too small for a neural network. Nothing is settled yet though, these are validation numbers with no tests behind them. I do want to be clear about which of these is my baseline, because the checklist asks for a specific thing. The untuned logistic regression with SMOTE is the true baseline, the row in the middle, and that is what every later model gets measured against. The raw imbalance row above it is not a competitor, it is just the before-SMOTE comparison so you can see what handling the imbalance did on its own. And notice the accuracy column while you are there: adding SMOTE actually lowers accuracy from 0.848 to 0.815, because I am accepting more false positives to catch more real high earners. If I were optimizing accuracy I would have thrown SMOTE out, and I would have built a worse model for this use case.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is what each parameter actually controls, which the guidelines ask for. Right side is the before and after that justifies each choice. But the interesting part is the bottom bar. The logistic regression gains nine ten-thousandths, XGBoost gains nineteen, and the MLP gains three hundred and eleven. The logistic regression barely moves because it was already at its ceiling, which I showed with a validation curve last milestone. XGBoost barely moves because its defaults are already good for this kind of data. The MLP is the one that really needed it, and the direction it moved matters: the smallest network with the strongest regularisation won. A model that gets better when you shrink it is telling you it does not have enough data for its capacity.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stratified folds on the training rows, same folds for all three models. Standard deviations around 0.01 everywhere, so these are stable and not lucky. XGBoost leads on PR-AUC, F1, and accuracy. But look at the recall column: XGBoost is lowest at 0.74 while the other two are at 0.84. It is trading caught high earners for far fewer false alarms. Keep that in mind, because it comes back in the fairness section. The intervals on the right rest on only five numbers, which is why they are noticeably wider than the bootstrap intervals I will show in a few slides. The variance column is worth a look too, since the guidelines ask for it. Every model comes in at one to two ten-thousandths, which is small relative to the 0.039 gap between XGBoost and the baseline. That ratio is the whole argument for the tests on the next slide having any chance of working: if the fold-to-fold noise had been the same size as the difference I was trying to detect, no test would have found anything and I would have had to say so. And one procedural note, because it is easy to skip past. This cross-validation runs on the training rows only. It is a stability check, not my evaluation. The validation set is where I compare and tune, and the test set is still untouched at this point in the story.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PR-AUC every comparison clears 0.05 by the paired t-test. On F1 the two XGBoost comparisons clear it and the MLP against logistic regression does not. Now, the Wilcoxon column. Every significant row comes back at exactly 0.0625 and that is not a coincidence I should read as weak evidence. With five paired observations there are only thirty-two possible sign patterns, so the most extreme one still leaves one sixteenth of the probability in the tails. The test literally cannot go below 0.05 at this sample size. What it does tell me is that XGBoost won on all five folds with no exceptions. This is why I do not stop at fold tests, and why the next two slides use all 6,508 test rows instead.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directly about the note on confidence intervals. Same difference, same five folds, three confidence levels. The 90 percent interval is narrowest and the 99 percent is widest, and nothing about the data changed between those rows. So a narrow interval only means something if it is narrow at a high confidence level, and the only way to get both is more data. The bottom bar shows that working in my favour: the fold-based intervals rest on five numbers and run 0.026 to 0.035 wide, while the bootstrap interval on the difference uses all 6,508 test rows and is 0.018 wide at the same 95 percent level. In a couple of slides you will see the same principle working against me, on the fairness gap.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set, touched once. XGBoost reaches 0.805 PR-AUC and 0.708 F1 against 0.774 and 0.684 for the tuned logistic regression, so it clears the baseline on both metrics H3 names. The ordering from validation held, which matters because a model that led on validation and collapsed on test would mean I had overfit my tuning. One thing I want to plant now: XGBoost has the highest F1 and the lowest recall of the three. It catches fewer high earners but nearly halves the false alarms. That means the three models are not sitting at the same operating point, and that comes back when I compare their fairness gaps. And on the naive floor, since the guidelines ask for that comparison explicitly: the majority-class model scores 0.759 accuracy, which is higher than what the logistic regression manages, and it catches zero high earners. If I had reported accuracy as my headline metric, the naive model would have looked competitive with my baseline. That is not a hypothetical trap, it is the actual arithmetic on this row of the table, and it is the single clearest justification for everything I said about metric choice earlier.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top is the precision-recall curve and it is the plot that matters. XGBoost sits above the other two across nearly the whole recall range, meaning at whatever recall I choose to operate at, it flags fewer people wrongly. All three stay well above the no-skill line so all three have real signal. Now compare that with the ROC curves on the right of that image: they are almost on top of each other. That is exactly the flattering behaviour I warned about, the large easy negative class propping all three curves up and hiding a gap that PR-AUC shows clearly. Bottom row is the confusion matrices, showing the same trade in counts.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the bootstrap, and note that the intervals are on the difference, taken inside each resample, not two separate intervals compared by eye. For XGBoost against either model the interval excludes zero and XGBoost won in a thousand out of a thousand resamples. Right is McNemar on the rows where two models disagree: 454 rows XGBoost fixed against 200 it broke, p on the order of ten to the minus twenty-three. So four independent tests agree on XGBoost. Where they disagree is the MLP against the logistic regression, and I want to be honest about that: fold t-test says significant, McNemar says 0.049 which is barely under the line, bootstrap contains zero. I go with the bootstrap, because it has the most data and the fewest assumptions. My conclusion is that the neural network bought nothing over a linear model 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supported and it is the best evidenced result in the project. Four separate readings agree and XGBoost led on every fold. I want to stress that I stated the reasoning before seeing results, and both halves of it held: the non-linear structure was real, and the dataset really was too small for the neural network, which showed up in the MLP getting better when I made it smaller. The part of H3 I will not claim is the MLP beating the logistic regression, because the bootstrap interval on that difference contains zero. And the verdict includes the cost: compute is cheap, but XGBoost gives up the transparency that matters for a lending decision somebody can be asked to explain.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audit. Two group imbalances: foreign-born people are 9 percent of the data and women are 33 percent. I audit on recall for real high earners, not accuracy, and the reason is on the right. Every model looks more accurate on women than on men, which would read as the model serving women better. It is not. Women simply have fewer high earners, so predicting under fifty thousand is right more often. Recall shows what is actually happening: every model misses more female high earners, by ten to fifteen points. And on both axes XGBoost has the largest gap, which is the opposite of what H2 predicted. Before anybody asks whether the model invented these gaps, part of them is inherited. The base rates themselves differ in the data: US-born people earn over fifty thousand at 24.6 percent against 18.7 percent for foreign-born, and I checked in my EDA milestone that this base-rate gap is real, with a 95 percent interval of 4.4 to 7.4 percentage points. So the models are learning a difference that exists in the world of 1994. What H2 actually asks is which model handles that pre-existing gap best, not which model avoids inventing one. That distinction matters for how you read the verdict in a few slides.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intervals, and this is the slide where the point about interval width becomes the finding itself. Every nativity gap interval contains zero, including XGBoost's, which runs from minus 0.025 to 0.146. So I cannot claim any model has a nativity gap distinguishable from no gap at all. The reason is on the right: there are 99 real foreign-born high earners in my test set, and an interval computed from 99 people spans 0.171. To get that down to a usable 0.05 I would need about 11 times as many, roughly 1,150. That data does not exist in this dataset. The sex gaps are different, because 241 female high earners is enough, and all three of those intervals exclude zero. Those gaps are real.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of trying to close the gap plus the as-is model. Training on the minority group only is the worst, and it failed in a useful way: the female-only XGBoost drops to 0.375 recall on men. Cutting the data to the group did not fix the gap, it just moved who gets served badly, which answers the question that experiment was designed to ask. Group-balanced oversampling cuts XGBoost's nativity gap from 0.079 to 0.024 for about two thousandths of F1. Group thresholds work best of all, but I would not deploy them, because a threshold that depends on nativity or sex is very likely illegal under fair lending rules no matter how good the intent. So my recommendation is the oversampling, and the thresholds are a diagnostic.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 is refuted. XGBoost has the largest gap, not the smallest, on both group axes. But I want to be careful about how strongly I say that, because the more accurate statement is that no model is distinguishable from any other here. Every interval on a difference contains zero. So the hypothesis is not supported and the reverse is not supported either. I also have to name a confound instead of hiding it: the three models sit at different recall levels, so their gaps are not measured at the same operating point. When the group thresholds put all three at about 0.78 recall, XGBoost's nativity gap goes to essentially zero and it still has the best F1. What is genuinely settled is the sex gap, which is real for every model.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is supported on all three models, and the agreement across models is what makes it convincing instead of a quirk of one algorithm. Education is worth two and a half to three times as much as hours to every model, and all three intervals exclude zero by a wide margin. One methodological detail I want to flag, top right: education lives in one column but hours lives in hours_per_week plus the six hours_group dummies I engineered. Shuffling only the raw column would leave the dummies telling the model the answer, so I shuffle the whole hours block together. That gives hours a fair shot instead of handicapping it. And what H1 does not claim: education is not the top feature overall, capital gain and marital status outrank it. H1 is about education against hours specifically.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from the baseline milestone holds for all three models: the high earners they miss look ordinary on the strongest features, with about 95 percent having zero capital gain. XGBoost misses more in total because of its lower recall, but it nearly halves the false alarms, from 905 to 495. The disagreement analysis on the right is where its advantage actually lives: on the 654 rows where the two models disagree, XGBoost is right on 454, and the rows it fixes have twice the capital gain of the rows it breaks. That fits the mechanism, because XGBoost can split on capital gain and then split again inside that region. Bottom table: every model fails on the same kind of person, low education and young. The exception worth noting is the over-60 band, where the logistic regression at 0.897 beats XGBoost at 0.607. That is only 491 rows, so the flexible model is less reliable where it has few examples.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plots answering two different questions. The learning curves on top ask whether more rows would help, and all three flatten after a few thousand rows, so none is starved in the ordinary sense. What separates them is the gap between the training and validation lines. The logistic regression's two lines are almost on top of each other, which is a low variance model underfitting if anything. XGBoost shows a clear persistent gap, which is what a 400-tree depth-7 ensemble does. That is not a problem in itself because its validation score is still the highest. The validation curve bottom left is the cleaner picture: training keeps climbing with depth while validation peaks and flattens, and my tuned depth of 7 sits right at that peak.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on the left. The one I would emphasise is that where the tests disagreed I said so instead of picking the test that gave the answer I wanted, and that one of my hypotheses got refuted, which is the sign the setup was honest and not built to confirm what I expected. Limitations on the right, and the first one is the real one: the nativity comparison is underpowered and no amount of modelling would have fixed it. The others are things I would do next: nested cross-validation instead of a single validation split, comparison at a matched threshold, and calibration, which matters because a lender needs probabilities that mean what they say and not just probabilities that rank correctly.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Bias first. This is a 1994 census extract, so any model trained on it inherits the labour market of that period, and the fifty thousand dollar threshold is not meaningful today. The sampling is uneven exactly where the audit cares. And the model does perform differently across subgroups, which I measured instead of assumed. On impact, the people affected are applicants who get screened out, and the audit shows those false negatives land more often on women. Two misuses worth naming: treating a prediction as a reason for an adverse decision, and the fairness fix itself, since group-specific thresholds are probably illegal in lending. The last bullet is the one I would leave you with: a report that led with group accuracy would have concluded the opposite of what is actually happening.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The first two are technical lessons I would not have learned any other way. A statistical test can be structurally incapable of returning the answer you are looking for, which is the Wilcoxon floor. And shared mutable objects will silently corrupt your results, which is the scaler bug, and the thing that scared me about it is that nothing raised an error. Three, confidence intervals beat p-values when the honest answer is that you cannot tell. Four and five are the fairness lessons: the most accurate model was not the fairest, and group accuracy and group recall pointed in opposite directions on the same model. If I had to pick the one that changed how I work and not just what I know, it is the second one. I have written pipelines like that before and never thought about it, and the failure mode is the worst kind: no exception, no warning, just a number that is quietly wrong by six hundredths of PR-AUC. I only caught it because the test result contradicted the validation result and I went looking for why. The lesson I took from that is not really about scikit-learn, it is that when a number surprises me the first thing to check is my own plumbing before my interpretation of the result.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H1 supported, education beats hours on every model with intervals excluding zero. H3 supported, XGBoost beats both on PR-AUC and F1 with four tests agreeing. H2 refuted, XGBoost has the largest nativity gap and in any case the comparison is not resolvable at this sample size. The main finding is the one in the box: the most accurate model was not the fairest, and those two questions had to be answered separately. Group-balanced oversampling recovers most of the gap for almost nothing, and that is what I would deploy. Future work on the right, and the top item is the one that matters most: more foreign-born rows is the single change that would do the most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Reproducibility: one seed, a single load path from the database, and the notebook runs top to bottom on a clean environment. Versions are on the right and pinned in requirements.txt. Everything, including the notebook, the earlier milestones, and the database, is in the GitHub repository at the bottom. To close, the three things I would want you to take away. One, XGBoost is meaningfully better on this data and I have four independent tests saying so, but it is not better by enough to make the interpretability cost automatic for a lending use case. Two, the fairness question and the accuracy question turned out to be separate questions, and the most accurate model was not the fairest. Three, the most useful thing I produced may be a negative result, which is that this dataset cannot answer H2 at all, and I can tell you exactly how many more foreign-born high earners it would take.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9902952" y="0"/>
            <a:ext cx="2286000" cy="6858000"/>
          </a:xfrm>
          <a:prstGeom prst="rect">
            <a:avLst/>
          </a:prstGeom>
          <a:solidFill>
            <a:srgbClr val="1C1E24"/>
          </a:solidFill>
          <a:ln w="12700">
            <a:solidFill>
              <a:srgbClr val="333333"/>
            </a:solidFill>
            <a:prstDash val="solid"/>
          </a:ln>
        </p:spPr>
        <p:txBody>
          <a:bodyPr/>
          <a:lstStyle/>
          <a:p>
            <a:endParaRPr lang="en-US"/>
          </a:p>
        </p:txBody>
      </p:sp>
      <p:sp>
        <p:nvSpPr>
          <p:cNvPr id="3" name="Text 1"/>
          <p:cNvSpPr/>
          <p:nvPr/>
        </p:nvSpPr>
        <p:spPr>
          <a:xfrm>
            <a:off x="822960" y="1325880"/>
            <a:ext cx="8686800" cy="320040"/>
          </a:xfrm>
          <a:prstGeom prst="rect">
            <a:avLst/>
          </a:prstGeom>
          <a:noFill/>
          <a:ln/>
        </p:spPr>
        <p:txBody>
          <a:bodyPr wrap="square" lIns="0" tIns="0" rIns="0" bIns="0" rtlCol="0" anchor="ctr"/>
          <a:lstStyle/>
          <a:p>
            <a:pPr marL="0" indent="0">
              <a:buNone/>
            </a:pPr>
            <a:r>
              <a:rPr lang="en-US" sz="1250" b="1" kern="0" spc="200" dirty="0">
                <a:solidFill>
                  <a:srgbClr val="E8C15A"/>
                </a:solidFill>
                <a:latin typeface="Verdana" pitchFamily="34" charset="0"/>
                <a:ea typeface="Verdana" pitchFamily="34" charset="-122"/>
                <a:cs typeface="Verdana" pitchFamily="34" charset="-120"/>
              </a:rPr>
              <a:t>DATA SCIENCE CAPSTONE   ·   MSDS640</a:t>
            </a:r>
            <a:endParaRPr lang="en-US" sz="1250" dirty="0"/>
          </a:p>
        </p:txBody>
      </p:sp>
      <p:sp>
        <p:nvSpPr>
          <p:cNvPr id="4" name="Text 2"/>
          <p:cNvSpPr/>
          <p:nvPr/>
        </p:nvSpPr>
        <p:spPr>
          <a:xfrm>
            <a:off x="822960" y="1737360"/>
            <a:ext cx="8778240" cy="914400"/>
          </a:xfrm>
          <a:prstGeom prst="rect">
            <a:avLst/>
          </a:prstGeom>
          <a:noFill/>
          <a:ln/>
        </p:spPr>
        <p:txBody>
          <a:bodyPr wrap="square" lIns="0" tIns="0" rIns="0" bIns="0" rtlCol="0" anchor="ctr"/>
          <a:lstStyle/>
          <a:p>
            <a:pPr marL="0" indent="0">
              <a:buNone/>
            </a:pPr>
            <a:r>
              <a:rPr lang="en-US" sz="4000" b="1" dirty="0">
                <a:solidFill>
                  <a:srgbClr val="F5F7FA"/>
                </a:solidFill>
                <a:latin typeface="Verdana" pitchFamily="34" charset="0"/>
                <a:ea typeface="Verdana" pitchFamily="34" charset="-122"/>
                <a:cs typeface="Verdana" pitchFamily="34" charset="-120"/>
              </a:rPr>
              <a:t>Adult Census Income</a:t>
            </a:r>
            <a:endParaRPr lang="en-US" sz="4000" dirty="0"/>
          </a:p>
        </p:txBody>
      </p:sp>
      <p:sp>
        <p:nvSpPr>
          <p:cNvPr id="5" name="Text 3"/>
          <p:cNvSpPr/>
          <p:nvPr/>
        </p:nvSpPr>
        <p:spPr>
          <a:xfrm>
            <a:off x="822960" y="2743200"/>
            <a:ext cx="8778240" cy="457200"/>
          </a:xfrm>
          <a:prstGeom prst="rect">
            <a:avLst/>
          </a:prstGeom>
          <a:noFill/>
          <a:ln/>
        </p:spPr>
        <p:txBody>
          <a:bodyPr wrap="square" lIns="0" tIns="0" rIns="0" bIns="0" rtlCol="0" anchor="ctr"/>
          <a:lstStyle/>
          <a:p>
            <a:pPr marL="0" indent="0">
              <a:buNone/>
            </a:pPr>
            <a:r>
              <a:rPr lang="en-US" sz="1900" dirty="0">
                <a:solidFill>
                  <a:srgbClr val="6AA0FF"/>
                </a:solidFill>
                <a:latin typeface="Verdana" pitchFamily="34" charset="0"/>
                <a:ea typeface="Verdana" pitchFamily="34" charset="-122"/>
                <a:cs typeface="Verdana" pitchFamily="34" charset="-120"/>
              </a:rPr>
              <a:t>Final Model Comparison and Fairness Audit</a:t>
            </a:r>
            <a:endParaRPr lang="en-US" sz="1900" dirty="0"/>
          </a:p>
        </p:txBody>
      </p:sp>
      <p:sp>
        <p:nvSpPr>
          <p:cNvPr id="6" name="Text 4"/>
          <p:cNvSpPr/>
          <p:nvPr/>
        </p:nvSpPr>
        <p:spPr>
          <a:xfrm>
            <a:off x="822960" y="4114800"/>
            <a:ext cx="5486400" cy="274320"/>
          </a:xfrm>
          <a:prstGeom prst="rect">
            <a:avLst/>
          </a:prstGeom>
          <a:noFill/>
          <a:ln/>
        </p:spPr>
        <p:txBody>
          <a:bodyPr wrap="square" lIns="0" tIns="0" rIns="0" bIns="0" rtlCol="0" anchor="ctr"/>
          <a:lstStyle/>
          <a:p>
            <a:pPr marL="0" indent="0">
              <a:buNone/>
            </a:pPr>
            <a:r>
              <a:rPr lang="en-US" sz="1300" b="1" dirty="0">
                <a:solidFill>
                  <a:srgbClr val="F5F7FA"/>
                </a:solidFill>
                <a:latin typeface="Verdana" pitchFamily="34" charset="0"/>
                <a:ea typeface="Verdana" pitchFamily="34" charset="-122"/>
                <a:cs typeface="Verdana" pitchFamily="34" charset="-120"/>
              </a:rPr>
              <a:t>Erik Herb</a:t>
            </a:r>
            <a:endParaRPr lang="en-US" sz="1300" dirty="0"/>
          </a:p>
        </p:txBody>
      </p:sp>
      <p:sp>
        <p:nvSpPr>
          <p:cNvPr id="7" name="Text 5"/>
          <p:cNvSpPr/>
          <p:nvPr/>
        </p:nvSpPr>
        <p:spPr>
          <a:xfrm>
            <a:off x="822960" y="4434840"/>
            <a:ext cx="7315200" cy="274320"/>
          </a:xfrm>
          <a:prstGeom prst="rect">
            <a:avLst/>
          </a:prstGeom>
          <a:noFill/>
          <a:ln/>
        </p:spPr>
        <p:txBody>
          <a:bodyPr wrap="square" lIns="0" tIns="0" rIns="0" bIns="0" rtlCol="0" anchor="ctr"/>
          <a:lstStyle/>
          <a:p>
            <a:pPr marL="0" indent="0">
              <a:buNone/>
            </a:pPr>
            <a:r>
              <a:rPr lang="en-US" sz="1100" dirty="0">
                <a:solidFill>
                  <a:srgbClr val="9AA7BD"/>
                </a:solidFill>
                <a:latin typeface="Verdana" pitchFamily="34" charset="0"/>
                <a:ea typeface="Verdana" pitchFamily="34" charset="-122"/>
                <a:cs typeface="Verdana" pitchFamily="34" charset="-120"/>
              </a:rPr>
              <a:t>M.S. Data Science   ·   Bryant University   ·   Advisor: Dr. Nasim Sonboli</a:t>
            </a:r>
            <a:endParaRPr lang="en-US" sz="1100" dirty="0"/>
          </a:p>
        </p:txBody>
      </p:sp>
      <p:sp>
        <p:nvSpPr>
          <p:cNvPr id="8" name="Text 6"/>
          <p:cNvSpPr/>
          <p:nvPr/>
        </p:nvSpPr>
        <p:spPr>
          <a:xfrm>
            <a:off x="822960" y="5989320"/>
            <a:ext cx="8686800" cy="274320"/>
          </a:xfrm>
          <a:prstGeom prst="rect">
            <a:avLst/>
          </a:prstGeom>
          <a:noFill/>
          <a:ln/>
        </p:spPr>
        <p:txBody>
          <a:bodyPr wrap="square" lIns="0" tIns="0" rIns="0" bIns="0" rtlCol="0" anchor="ctr"/>
          <a:lstStyle/>
          <a:p>
            <a:pPr marL="0" indent="0">
              <a:buNone/>
            </a:pPr>
            <a:r>
              <a:rPr lang="en-US" sz="1000" i="1" dirty="0">
                <a:solidFill>
                  <a:srgbClr val="9AA7BD"/>
                </a:solidFill>
                <a:latin typeface="Verdana" pitchFamily="34" charset="0"/>
                <a:ea typeface="Verdana" pitchFamily="34" charset="-122"/>
                <a:cs typeface="Verdana" pitchFamily="34" charset="-120"/>
              </a:rPr>
              <a:t>UCI Adult Census, 1994 U.S. Census   ·   32,537 rows   ·   Logistic Regression · XGBoost · MLP</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problem and the three hypotheses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A lender that flags likely high earners, so recall and fairness matter more than accuracy</a:t>
            </a:r>
            <a:endParaRPr lang="en-US" sz="1200" dirty="0"/>
          </a:p>
        </p:txBody>
      </p:sp>
      <p:sp>
        <p:nvSpPr>
          <p:cNvPr id="6" name="Shape 4"/>
          <p:cNvSpPr/>
          <p:nvPr/>
        </p:nvSpPr>
        <p:spPr>
          <a:xfrm>
            <a:off x="502920" y="1234440"/>
            <a:ext cx="3291840" cy="19659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9260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PREDICTION TASK</a:t>
            </a:r>
            <a:endParaRPr lang="en-US" sz="1050" dirty="0"/>
          </a:p>
        </p:txBody>
      </p:sp>
      <p:sp>
        <p:nvSpPr>
          <p:cNvPr id="8" name="Text 6"/>
          <p:cNvSpPr/>
          <p:nvPr/>
        </p:nvSpPr>
        <p:spPr>
          <a:xfrm>
            <a:off x="685800" y="1691640"/>
            <a:ext cx="2926080"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Predict income over $50K from demographic, education, and job data.</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Target is imbalanced: 24.1% high earners, so a model that predicts nobody is right 76% of the time.</a:t>
            </a:r>
            <a:endParaRPr lang="en-US" sz="1100" dirty="0"/>
          </a:p>
        </p:txBody>
      </p:sp>
      <p:sp>
        <p:nvSpPr>
          <p:cNvPr id="9" name="Shape 7"/>
          <p:cNvSpPr/>
          <p:nvPr/>
        </p:nvSpPr>
        <p:spPr>
          <a:xfrm>
            <a:off x="3977640" y="1234440"/>
            <a:ext cx="7726680" cy="196596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4160520" y="1371600"/>
            <a:ext cx="73152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THE FRAMING DECIDES THE METRICS</a:t>
            </a:r>
            <a:endParaRPr lang="en-US" sz="1050" dirty="0"/>
          </a:p>
        </p:txBody>
      </p:sp>
      <p:sp>
        <p:nvSpPr>
          <p:cNvPr id="11" name="Text 9"/>
          <p:cNvSpPr/>
          <p:nvPr/>
        </p:nvSpPr>
        <p:spPr>
          <a:xfrm>
            <a:off x="4160520" y="1691640"/>
            <a:ext cx="7315200" cy="13716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A missed high earner is lost business for the lender and a denied opportunity for the applicant</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So I lead with PR-AUC and recall, and treat accuracy as secondary</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A recall gap between groups means the model works worse for one of them, so the fairness audit sits next to the accuracy comparison instead of after it</a:t>
            </a:r>
            <a:endParaRPr lang="en-US" sz="1100" dirty="0"/>
          </a:p>
        </p:txBody>
      </p:sp>
      <p:sp>
        <p:nvSpPr>
          <p:cNvPr id="12" name="Shape 10"/>
          <p:cNvSpPr/>
          <p:nvPr/>
        </p:nvSpPr>
        <p:spPr>
          <a:xfrm>
            <a:off x="502920" y="3429000"/>
            <a:ext cx="3557016" cy="301752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685800" y="3566160"/>
            <a:ext cx="548640" cy="365760"/>
          </a:xfrm>
          <a:prstGeom prst="rect">
            <a:avLst/>
          </a:prstGeom>
          <a:noFill/>
          <a:ln/>
        </p:spPr>
        <p:txBody>
          <a:bodyPr wrap="square" lIns="0" tIns="0" rIns="0" bIns="0" rtlCol="0" anchor="ctr"/>
          <a:lstStyle/>
          <a:p>
            <a:pPr marL="0" indent="0">
              <a:buNone/>
            </a:pPr>
            <a:r>
              <a:rPr lang="en-US" sz="1700" b="1" dirty="0">
                <a:solidFill>
                  <a:srgbClr val="E8C15A"/>
                </a:solidFill>
                <a:latin typeface="Verdana" pitchFamily="34" charset="0"/>
                <a:ea typeface="Verdana" pitchFamily="34" charset="-122"/>
                <a:cs typeface="Verdana" pitchFamily="34" charset="-120"/>
              </a:rPr>
              <a:t>H1</a:t>
            </a:r>
            <a:endParaRPr lang="en-US" sz="1700" dirty="0"/>
          </a:p>
        </p:txBody>
      </p:sp>
      <p:sp>
        <p:nvSpPr>
          <p:cNvPr id="14" name="Text 12"/>
          <p:cNvSpPr/>
          <p:nvPr/>
        </p:nvSpPr>
        <p:spPr>
          <a:xfrm>
            <a:off x="1280160" y="3566160"/>
            <a:ext cx="2596896" cy="36576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Education over hours</a:t>
            </a:r>
            <a:endParaRPr lang="en-US" sz="1250" dirty="0"/>
          </a:p>
        </p:txBody>
      </p:sp>
      <p:sp>
        <p:nvSpPr>
          <p:cNvPr id="15" name="Text 13"/>
          <p:cNvSpPr/>
          <p:nvPr/>
        </p:nvSpPr>
        <p:spPr>
          <a:xfrm>
            <a:off x="685800" y="4069080"/>
            <a:ext cx="3191256"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Education level is a stronger driver of the over-$50K prediction than hours worked.</a:t>
            </a:r>
            <a:endParaRPr lang="en-US" sz="1100" dirty="0"/>
          </a:p>
        </p:txBody>
      </p:sp>
      <p:sp>
        <p:nvSpPr>
          <p:cNvPr id="16" name="Text 14"/>
          <p:cNvSpPr/>
          <p:nvPr/>
        </p:nvSpPr>
        <p:spPr>
          <a:xfrm>
            <a:off x="685800" y="5623560"/>
            <a:ext cx="3191256" cy="731520"/>
          </a:xfrm>
          <a:prstGeom prst="rect">
            <a:avLst/>
          </a:prstGeom>
          <a:noFill/>
          <a:ln/>
        </p:spPr>
        <p:txBody>
          <a:bodyPr wrap="square" lIns="0" tIns="0" rIns="0" bIns="0" rtlCol="0" anchor="t"/>
          <a:lstStyle/>
          <a:p>
            <a:pPr marL="0" indent="0">
              <a:buNone/>
            </a:pPr>
            <a:r>
              <a:rPr lang="en-US" sz="950" i="1" dirty="0">
                <a:solidFill>
                  <a:srgbClr val="6AA0FF"/>
                </a:solidFill>
                <a:latin typeface="Verdana" pitchFamily="34" charset="0"/>
                <a:ea typeface="Verdana" pitchFamily="34" charset="-122"/>
                <a:cs typeface="Verdana" pitchFamily="34" charset="-120"/>
              </a:rPr>
              <a:t>Permutation importance on all three models, with a CI on the difference.</a:t>
            </a:r>
            <a:endParaRPr lang="en-US" sz="950" dirty="0"/>
          </a:p>
        </p:txBody>
      </p:sp>
      <p:sp>
        <p:nvSpPr>
          <p:cNvPr id="17" name="Shape 15"/>
          <p:cNvSpPr/>
          <p:nvPr/>
        </p:nvSpPr>
        <p:spPr>
          <a:xfrm>
            <a:off x="4315968" y="3429000"/>
            <a:ext cx="3557016" cy="3017520"/>
          </a:xfrm>
          <a:prstGeom prst="rect">
            <a:avLst/>
          </a:prstGeom>
          <a:solidFill>
            <a:srgbClr val="232631"/>
          </a:solidFill>
          <a:ln w="12700">
            <a:solidFill>
              <a:srgbClr val="3A3F4A"/>
            </a:solidFill>
            <a:prstDash val="solid"/>
          </a:ln>
        </p:spPr>
        <p:txBody>
          <a:bodyPr/>
          <a:lstStyle/>
          <a:p>
            <a:endParaRPr lang="en-US"/>
          </a:p>
        </p:txBody>
      </p:sp>
      <p:sp>
        <p:nvSpPr>
          <p:cNvPr id="18" name="Text 16"/>
          <p:cNvSpPr/>
          <p:nvPr/>
        </p:nvSpPr>
        <p:spPr>
          <a:xfrm>
            <a:off x="4498848" y="3566160"/>
            <a:ext cx="548640" cy="365760"/>
          </a:xfrm>
          <a:prstGeom prst="rect">
            <a:avLst/>
          </a:prstGeom>
          <a:noFill/>
          <a:ln/>
        </p:spPr>
        <p:txBody>
          <a:bodyPr wrap="square" lIns="0" tIns="0" rIns="0" bIns="0" rtlCol="0" anchor="ctr"/>
          <a:lstStyle/>
          <a:p>
            <a:pPr marL="0" indent="0">
              <a:buNone/>
            </a:pPr>
            <a:r>
              <a:rPr lang="en-US" sz="1700" b="1" dirty="0">
                <a:solidFill>
                  <a:srgbClr val="E8C15A"/>
                </a:solidFill>
                <a:latin typeface="Verdana" pitchFamily="34" charset="0"/>
                <a:ea typeface="Verdana" pitchFamily="34" charset="-122"/>
                <a:cs typeface="Verdana" pitchFamily="34" charset="-120"/>
              </a:rPr>
              <a:t>H2</a:t>
            </a:r>
            <a:endParaRPr lang="en-US" sz="1700" dirty="0"/>
          </a:p>
        </p:txBody>
      </p:sp>
      <p:sp>
        <p:nvSpPr>
          <p:cNvPr id="19" name="Text 17"/>
          <p:cNvSpPr/>
          <p:nvPr/>
        </p:nvSpPr>
        <p:spPr>
          <a:xfrm>
            <a:off x="5093208" y="3566160"/>
            <a:ext cx="2596896" cy="36576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XGBoost is the fairest</a:t>
            </a:r>
            <a:endParaRPr lang="en-US" sz="1250" dirty="0"/>
          </a:p>
        </p:txBody>
      </p:sp>
      <p:sp>
        <p:nvSpPr>
          <p:cNvPr id="20" name="Text 18"/>
          <p:cNvSpPr/>
          <p:nvPr/>
        </p:nvSpPr>
        <p:spPr>
          <a:xfrm>
            <a:off x="4498848" y="4069080"/>
            <a:ext cx="3191256"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XGBoost has the smallest US-born vs foreign-born recall gap on true high earners.</a:t>
            </a:r>
            <a:endParaRPr lang="en-US" sz="1100" dirty="0"/>
          </a:p>
        </p:txBody>
      </p:sp>
      <p:sp>
        <p:nvSpPr>
          <p:cNvPr id="21" name="Text 19"/>
          <p:cNvSpPr/>
          <p:nvPr/>
        </p:nvSpPr>
        <p:spPr>
          <a:xfrm>
            <a:off x="4498848" y="5623560"/>
            <a:ext cx="3191256" cy="731520"/>
          </a:xfrm>
          <a:prstGeom prst="rect">
            <a:avLst/>
          </a:prstGeom>
          <a:noFill/>
          <a:ln/>
        </p:spPr>
        <p:txBody>
          <a:bodyPr wrap="square" lIns="0" tIns="0" rIns="0" bIns="0" rtlCol="0" anchor="t"/>
          <a:lstStyle/>
          <a:p>
            <a:pPr marL="0" indent="0">
              <a:buNone/>
            </a:pPr>
            <a:r>
              <a:rPr lang="en-US" sz="950" i="1" dirty="0">
                <a:solidFill>
                  <a:srgbClr val="6AA0FF"/>
                </a:solidFill>
                <a:latin typeface="Verdana" pitchFamily="34" charset="0"/>
                <a:ea typeface="Verdana" pitchFamily="34" charset="-122"/>
                <a:cs typeface="Verdana" pitchFamily="34" charset="-120"/>
              </a:rPr>
              <a:t>Bootstrap CIs on each gap and on the difference between gaps.</a:t>
            </a:r>
            <a:endParaRPr lang="en-US" sz="950" dirty="0"/>
          </a:p>
        </p:txBody>
      </p:sp>
      <p:sp>
        <p:nvSpPr>
          <p:cNvPr id="22" name="Shape 20"/>
          <p:cNvSpPr/>
          <p:nvPr/>
        </p:nvSpPr>
        <p:spPr>
          <a:xfrm>
            <a:off x="8129016" y="3429000"/>
            <a:ext cx="3557016" cy="3017520"/>
          </a:xfrm>
          <a:prstGeom prst="rect">
            <a:avLst/>
          </a:prstGeom>
          <a:solidFill>
            <a:srgbClr val="232631"/>
          </a:solidFill>
          <a:ln w="12700">
            <a:solidFill>
              <a:srgbClr val="3A3F4A"/>
            </a:solidFill>
            <a:prstDash val="solid"/>
          </a:ln>
        </p:spPr>
        <p:txBody>
          <a:bodyPr/>
          <a:lstStyle/>
          <a:p>
            <a:endParaRPr lang="en-US"/>
          </a:p>
        </p:txBody>
      </p:sp>
      <p:sp>
        <p:nvSpPr>
          <p:cNvPr id="23" name="Text 21"/>
          <p:cNvSpPr/>
          <p:nvPr/>
        </p:nvSpPr>
        <p:spPr>
          <a:xfrm>
            <a:off x="8311896" y="3566160"/>
            <a:ext cx="548640" cy="365760"/>
          </a:xfrm>
          <a:prstGeom prst="rect">
            <a:avLst/>
          </a:prstGeom>
          <a:noFill/>
          <a:ln/>
        </p:spPr>
        <p:txBody>
          <a:bodyPr wrap="square" lIns="0" tIns="0" rIns="0" bIns="0" rtlCol="0" anchor="ctr"/>
          <a:lstStyle/>
          <a:p>
            <a:pPr marL="0" indent="0">
              <a:buNone/>
            </a:pPr>
            <a:r>
              <a:rPr lang="en-US" sz="1700" b="1" dirty="0">
                <a:solidFill>
                  <a:srgbClr val="E8C15A"/>
                </a:solidFill>
                <a:latin typeface="Verdana" pitchFamily="34" charset="0"/>
                <a:ea typeface="Verdana" pitchFamily="34" charset="-122"/>
                <a:cs typeface="Verdana" pitchFamily="34" charset="-120"/>
              </a:rPr>
              <a:t>H3</a:t>
            </a:r>
            <a:endParaRPr lang="en-US" sz="1700" dirty="0"/>
          </a:p>
        </p:txBody>
      </p:sp>
      <p:sp>
        <p:nvSpPr>
          <p:cNvPr id="24" name="Text 22"/>
          <p:cNvSpPr/>
          <p:nvPr/>
        </p:nvSpPr>
        <p:spPr>
          <a:xfrm>
            <a:off x="8906256" y="3566160"/>
            <a:ext cx="2596896" cy="36576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XGBoost classifies best</a:t>
            </a:r>
            <a:endParaRPr lang="en-US" sz="1250" dirty="0"/>
          </a:p>
        </p:txBody>
      </p:sp>
      <p:sp>
        <p:nvSpPr>
          <p:cNvPr id="25" name="Text 23"/>
          <p:cNvSpPr/>
          <p:nvPr/>
        </p:nvSpPr>
        <p:spPr>
          <a:xfrm>
            <a:off x="8311896" y="4069080"/>
            <a:ext cx="3191256" cy="13716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XGBoost beats the baseline and the MLP on PR-AUC and F1, because the data is non-linear and 32.5K rows is too small to favor the MLP.</a:t>
            </a:r>
            <a:endParaRPr lang="en-US" sz="1100" dirty="0"/>
          </a:p>
        </p:txBody>
      </p:sp>
      <p:sp>
        <p:nvSpPr>
          <p:cNvPr id="26" name="Text 24"/>
          <p:cNvSpPr/>
          <p:nvPr/>
        </p:nvSpPr>
        <p:spPr>
          <a:xfrm>
            <a:off x="8311896" y="5623560"/>
            <a:ext cx="3191256" cy="731520"/>
          </a:xfrm>
          <a:prstGeom prst="rect">
            <a:avLst/>
          </a:prstGeom>
          <a:noFill/>
          <a:ln/>
        </p:spPr>
        <p:txBody>
          <a:bodyPr wrap="square" lIns="0" tIns="0" rIns="0" bIns="0" rtlCol="0" anchor="t"/>
          <a:lstStyle/>
          <a:p>
            <a:pPr marL="0" indent="0">
              <a:buNone/>
            </a:pPr>
            <a:r>
              <a:rPr lang="en-US" sz="950" i="1" dirty="0">
                <a:solidFill>
                  <a:srgbClr val="6AA0FF"/>
                </a:solidFill>
                <a:latin typeface="Verdana" pitchFamily="34" charset="0"/>
                <a:ea typeface="Verdana" pitchFamily="34" charset="-122"/>
                <a:cs typeface="Verdana" pitchFamily="34" charset="-120"/>
              </a:rPr>
              <a:t>Paired t-tests on shared folds, McNemar, and paired bootstrap.</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Data and preprocessing</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Everything carried forward from the earlier milestones, run here instead of re-argued</a:t>
            </a:r>
            <a:endParaRPr lang="en-US" sz="1200" dirty="0"/>
          </a:p>
        </p:txBody>
      </p:sp>
      <p:sp>
        <p:nvSpPr>
          <p:cNvPr id="6" name="Shape 4"/>
          <p:cNvSpPr/>
          <p:nvPr/>
        </p:nvSpPr>
        <p:spPr>
          <a:xfrm>
            <a:off x="502920" y="1234440"/>
            <a:ext cx="3566160"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32004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DATASET</a:t>
            </a:r>
            <a:endParaRPr lang="en-US" sz="1050" dirty="0"/>
          </a:p>
        </p:txBody>
      </p:sp>
      <p:sp>
        <p:nvSpPr>
          <p:cNvPr id="8" name="Text 6"/>
          <p:cNvSpPr/>
          <p:nvPr/>
        </p:nvSpPr>
        <p:spPr>
          <a:xfrm>
            <a:off x="685800" y="1691640"/>
            <a:ext cx="3200400" cy="448056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UCI Adult Census Income, from the 1994 U.S. Census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32,561 rows, 15 columns, one person per row</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A single snapshot, so no temporal split applies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Public and anonymized, no access restrictions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After cleaning: 32,537 rows, 52 model columns</a:t>
            </a:r>
            <a:endParaRPr lang="en-US" sz="1100" dirty="0"/>
          </a:p>
        </p:txBody>
      </p:sp>
      <p:sp>
        <p:nvSpPr>
          <p:cNvPr id="9" name="Shape 7"/>
          <p:cNvSpPr/>
          <p:nvPr/>
        </p:nvSpPr>
        <p:spPr>
          <a:xfrm>
            <a:off x="4251960" y="1234440"/>
            <a:ext cx="7452360" cy="246888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4434840" y="1371600"/>
            <a:ext cx="70408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 DID AND WHY</a:t>
            </a:r>
            <a:endParaRPr lang="en-US" sz="1050" dirty="0"/>
          </a:p>
        </p:txBody>
      </p:sp>
      <p:sp>
        <p:nvSpPr>
          <p:cNvPr id="11" name="Text 9"/>
          <p:cNvSpPr/>
          <p:nvPr/>
        </p:nvSpPr>
        <p:spPr>
          <a:xfrm>
            <a:off x="4434840" y="1691640"/>
            <a:ext cx="7040880" cy="192024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Missing values, filled with an explicit Unknown category</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Only three columns have gaps, all under 6%. Dropping those rows would lose ~2,400 people, and the missingness is not random, so it could bias the analysis</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24 exact duplicates dropped while the sampling weight was still in the table</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The weight is near-unique per row, so dropping it first would merge different people</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Every IQR-flagged outlier kept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Dropping them would remove 39.7% of the data and 47.2% of all high earners. Flagged rows are 61.8% high earners against 20.7% for everyone else, so they are signal</a:t>
            </a:r>
            <a:endParaRPr lang="en-US" sz="1000" dirty="0"/>
          </a:p>
        </p:txBody>
      </p:sp>
      <p:sp>
        <p:nvSpPr>
          <p:cNvPr id="12" name="Shape 10"/>
          <p:cNvSpPr/>
          <p:nvPr/>
        </p:nvSpPr>
        <p:spPr>
          <a:xfrm>
            <a:off x="4251960" y="3886200"/>
            <a:ext cx="7452360" cy="2468880"/>
          </a:xfrm>
          <a:prstGeom prst="rect">
            <a:avLst/>
          </a:prstGeom>
          <a:solidFill>
            <a:srgbClr val="1C1E24"/>
          </a:solidFill>
          <a:ln w="12700">
            <a:solidFill>
              <a:srgbClr val="3A3F4A"/>
            </a:solidFill>
            <a:prstDash val="solid"/>
          </a:ln>
        </p:spPr>
        <p:txBody>
          <a:bodyPr/>
          <a:lstStyle/>
          <a:p>
            <a:endParaRPr lang="en-US"/>
          </a:p>
        </p:txBody>
      </p:sp>
      <p:sp>
        <p:nvSpPr>
          <p:cNvPr id="13" name="Text 11"/>
          <p:cNvSpPr/>
          <p:nvPr/>
        </p:nvSpPr>
        <p:spPr>
          <a:xfrm>
            <a:off x="4434840" y="4023360"/>
            <a:ext cx="70408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ENCODING, SCALING, AND CLASS IMBALANCE</a:t>
            </a:r>
            <a:endParaRPr lang="en-US" sz="1050" dirty="0"/>
          </a:p>
        </p:txBody>
      </p:sp>
      <p:sp>
        <p:nvSpPr>
          <p:cNvPr id="14" name="Text 12"/>
          <p:cNvSpPr/>
          <p:nvPr/>
        </p:nvSpPr>
        <p:spPr>
          <a:xfrm>
            <a:off x="4434840" y="4343400"/>
            <a:ext cx="7040880" cy="192024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One-hot on the 8 categoricals, first level dropped, giving 52 columns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Scaling on the 5 continuous columns only, since scaling a 0/1 dummy does nothing</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SMOTE on training rows only. Undersampling would throw away real rows, oversampling keeps every one</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Scaler and SMOTE live inside the pipeline, so they refit inside every fold and never see a held-out row</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3</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Feature engineering, and whether it earned its place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Four engineered features, each tied to a hypothesis or to a modeling problem</a:t>
            </a:r>
            <a:endParaRPr lang="en-US" sz="1200" dirty="0"/>
          </a:p>
        </p:txBody>
      </p:sp>
      <p:sp>
        <p:nvSpPr>
          <p:cNvPr id="6" name="Shape 4"/>
          <p:cNvSpPr/>
          <p:nvPr/>
        </p:nvSpPr>
        <p:spPr>
          <a:xfrm>
            <a:off x="50292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native_region</a:t>
            </a:r>
            <a:endParaRPr lang="en-US" sz="1250" dirty="0"/>
          </a:p>
        </p:txBody>
      </p:sp>
      <p:sp>
        <p:nvSpPr>
          <p:cNvPr id="8" name="Text 6"/>
          <p:cNvSpPr/>
          <p:nvPr/>
        </p:nvSpPr>
        <p:spPr>
          <a:xfrm>
            <a:off x="68580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US · non-US · Unknown</a:t>
            </a:r>
            <a:endParaRPr lang="en-US" sz="950" dirty="0"/>
          </a:p>
        </p:txBody>
      </p:sp>
      <p:sp>
        <p:nvSpPr>
          <p:cNvPr id="9" name="Text 7"/>
          <p:cNvSpPr/>
          <p:nvPr/>
        </p:nvSpPr>
        <p:spPr>
          <a:xfrm>
            <a:off x="685800" y="1965960"/>
            <a:ext cx="2286000" cy="173736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Groups a 42-category column that is 90% United States into the split my H2 audit needs, keeping Unknown separate.</a:t>
            </a:r>
            <a:endParaRPr lang="en-US" sz="1050" dirty="0"/>
          </a:p>
        </p:txBody>
      </p:sp>
      <p:sp>
        <p:nvSpPr>
          <p:cNvPr id="10" name="Shape 8"/>
          <p:cNvSpPr/>
          <p:nvPr/>
        </p:nvSpPr>
        <p:spPr>
          <a:xfrm>
            <a:off x="333756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11" name="Text 9"/>
          <p:cNvSpPr/>
          <p:nvPr/>
        </p:nvSpPr>
        <p:spPr>
          <a:xfrm>
            <a:off x="352044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has_capital_gain</a:t>
            </a:r>
            <a:endParaRPr lang="en-US" sz="1250" dirty="0"/>
          </a:p>
        </p:txBody>
      </p:sp>
      <p:sp>
        <p:nvSpPr>
          <p:cNvPr id="12" name="Text 10"/>
          <p:cNvSpPr/>
          <p:nvPr/>
        </p:nvSpPr>
        <p:spPr>
          <a:xfrm>
            <a:off x="352044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binary flag</a:t>
            </a:r>
            <a:endParaRPr lang="en-US" sz="950" dirty="0"/>
          </a:p>
        </p:txBody>
      </p:sp>
      <p:sp>
        <p:nvSpPr>
          <p:cNvPr id="13" name="Text 11"/>
          <p:cNvSpPr/>
          <p:nvPr/>
        </p:nvSpPr>
        <p:spPr>
          <a:xfrm>
            <a:off x="3520440" y="1965960"/>
            <a:ext cx="2286000" cy="173736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Almost always zero with a few huge values. A flag captures the signal without the model over-reacting to the amount.</a:t>
            </a:r>
            <a:endParaRPr lang="en-US" sz="1050" dirty="0"/>
          </a:p>
        </p:txBody>
      </p:sp>
      <p:sp>
        <p:nvSpPr>
          <p:cNvPr id="14" name="Shape 12"/>
          <p:cNvSpPr/>
          <p:nvPr/>
        </p:nvSpPr>
        <p:spPr>
          <a:xfrm>
            <a:off x="617220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15" name="Text 13"/>
          <p:cNvSpPr/>
          <p:nvPr/>
        </p:nvSpPr>
        <p:spPr>
          <a:xfrm>
            <a:off x="635508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has_capital_loss</a:t>
            </a:r>
            <a:endParaRPr lang="en-US" sz="1250" dirty="0"/>
          </a:p>
        </p:txBody>
      </p:sp>
      <p:sp>
        <p:nvSpPr>
          <p:cNvPr id="16" name="Text 14"/>
          <p:cNvSpPr/>
          <p:nvPr/>
        </p:nvSpPr>
        <p:spPr>
          <a:xfrm>
            <a:off x="635508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binary flag</a:t>
            </a:r>
            <a:endParaRPr lang="en-US" sz="950" dirty="0"/>
          </a:p>
        </p:txBody>
      </p:sp>
      <p:sp>
        <p:nvSpPr>
          <p:cNvPr id="17" name="Text 15"/>
          <p:cNvSpPr/>
          <p:nvPr/>
        </p:nvSpPr>
        <p:spPr>
          <a:xfrm>
            <a:off x="6355080" y="1965960"/>
            <a:ext cx="2286000" cy="173736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Same reasoning, and it gives the linear model a threshold effect it could not otherwise express.</a:t>
            </a:r>
            <a:endParaRPr lang="en-US" sz="1050" dirty="0"/>
          </a:p>
        </p:txBody>
      </p:sp>
      <p:sp>
        <p:nvSpPr>
          <p:cNvPr id="18" name="Shape 16"/>
          <p:cNvSpPr/>
          <p:nvPr/>
        </p:nvSpPr>
        <p:spPr>
          <a:xfrm>
            <a:off x="9006840" y="1234440"/>
            <a:ext cx="2651760" cy="2606040"/>
          </a:xfrm>
          <a:prstGeom prst="rect">
            <a:avLst/>
          </a:prstGeom>
          <a:solidFill>
            <a:srgbClr val="1C1E24"/>
          </a:solidFill>
          <a:ln w="12700">
            <a:solidFill>
              <a:srgbClr val="3A3F4A"/>
            </a:solidFill>
            <a:prstDash val="solid"/>
          </a:ln>
        </p:spPr>
        <p:txBody>
          <a:bodyPr/>
          <a:lstStyle/>
          <a:p>
            <a:endParaRPr lang="en-US"/>
          </a:p>
        </p:txBody>
      </p:sp>
      <p:sp>
        <p:nvSpPr>
          <p:cNvPr id="19" name="Text 17"/>
          <p:cNvSpPr/>
          <p:nvPr/>
        </p:nvSpPr>
        <p:spPr>
          <a:xfrm>
            <a:off x="9189720" y="1371600"/>
            <a:ext cx="2286000" cy="274320"/>
          </a:xfrm>
          <a:prstGeom prst="rect">
            <a:avLst/>
          </a:prstGeom>
          <a:noFill/>
          <a:ln/>
        </p:spPr>
        <p:txBody>
          <a:bodyPr wrap="square" lIns="0" tIns="0" rIns="0" bIns="0" rtlCol="0" anchor="ctr"/>
          <a:lstStyle/>
          <a:p>
            <a:pPr marL="0" indent="0">
              <a:buNone/>
            </a:pPr>
            <a:r>
              <a:rPr lang="en-US" sz="1250" b="1" dirty="0">
                <a:solidFill>
                  <a:srgbClr val="F5F7FA"/>
                </a:solidFill>
                <a:latin typeface="Verdana" pitchFamily="34" charset="0"/>
                <a:ea typeface="Verdana" pitchFamily="34" charset="-122"/>
                <a:cs typeface="Verdana" pitchFamily="34" charset="-120"/>
              </a:rPr>
              <a:t>hours_group</a:t>
            </a:r>
            <a:endParaRPr lang="en-US" sz="1250" dirty="0"/>
          </a:p>
        </p:txBody>
      </p:sp>
      <p:sp>
        <p:nvSpPr>
          <p:cNvPr id="20" name="Text 18"/>
          <p:cNvSpPr/>
          <p:nvPr/>
        </p:nvSpPr>
        <p:spPr>
          <a:xfrm>
            <a:off x="9189720" y="1673352"/>
            <a:ext cx="2286000" cy="228600"/>
          </a:xfrm>
          <a:prstGeom prst="rect">
            <a:avLst/>
          </a:prstGeom>
          <a:noFill/>
          <a:ln/>
        </p:spPr>
        <p:txBody>
          <a:bodyPr wrap="square" lIns="0" tIns="0" rIns="0" bIns="0" rtlCol="0" anchor="ctr"/>
          <a:lstStyle/>
          <a:p>
            <a:pPr marL="0" indent="0">
              <a:buNone/>
            </a:pPr>
            <a:r>
              <a:rPr lang="en-US" sz="950" i="1" dirty="0">
                <a:solidFill>
                  <a:srgbClr val="E8C15A"/>
                </a:solidFill>
                <a:latin typeface="Verdana" pitchFamily="34" charset="0"/>
                <a:ea typeface="Verdana" pitchFamily="34" charset="-122"/>
                <a:cs typeface="Verdana" pitchFamily="34" charset="-120"/>
              </a:rPr>
              <a:t>6 ranges</a:t>
            </a:r>
            <a:endParaRPr lang="en-US" sz="950" dirty="0"/>
          </a:p>
        </p:txBody>
      </p:sp>
      <p:sp>
        <p:nvSpPr>
          <p:cNvPr id="21" name="Text 19"/>
          <p:cNvSpPr/>
          <p:nvPr/>
        </p:nvSpPr>
        <p:spPr>
          <a:xfrm>
            <a:off x="9189720" y="1965960"/>
            <a:ext cx="2286000" cy="173736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Hours rise then flatten above full time, so binning lets the linear model express that shape and gives hours a fair shot in H1.</a:t>
            </a:r>
            <a:endParaRPr lang="en-US" sz="1050" dirty="0"/>
          </a:p>
        </p:txBody>
      </p:sp>
      <p:sp>
        <p:nvSpPr>
          <p:cNvPr id="22" name="Shape 20"/>
          <p:cNvSpPr/>
          <p:nvPr/>
        </p:nvSpPr>
        <p:spPr>
          <a:xfrm>
            <a:off x="502920" y="4023360"/>
            <a:ext cx="6675120" cy="2331720"/>
          </a:xfrm>
          <a:prstGeom prst="rect">
            <a:avLst/>
          </a:prstGeom>
          <a:solidFill>
            <a:srgbClr val="1C1E24"/>
          </a:solidFill>
          <a:ln w="12700">
            <a:solidFill>
              <a:srgbClr val="3A3F4A"/>
            </a:solidFill>
            <a:prstDash val="solid"/>
          </a:ln>
        </p:spPr>
        <p:txBody>
          <a:bodyPr/>
          <a:lstStyle/>
          <a:p>
            <a:endParaRPr lang="en-US"/>
          </a:p>
        </p:txBody>
      </p:sp>
      <p:sp>
        <p:nvSpPr>
          <p:cNvPr id="23" name="Text 21"/>
          <p:cNvSpPr/>
          <p:nvPr/>
        </p:nvSpPr>
        <p:spPr>
          <a:xfrm>
            <a:off x="685800" y="4160520"/>
            <a:ext cx="6309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BEFORE AND AFTER, ON THE VALIDATION SET</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4526280"/>
          <a:ext cx="6309360" cy="768096"/>
        </p:xfrm>
        <a:graphic>
          <a:graphicData uri="http://schemas.openxmlformats.org/drawingml/2006/table">
            <a:tbl>
              <a:tblPr/>
              <a:tblGrid>
                <a:gridCol w="24688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Feature set</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Columns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Recall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Raw features only</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84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0.849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0.759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With engineered features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52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0.850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0.689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0.773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bl>
          </a:graphicData>
        </a:graphic>
      </p:graphicFrame>
      <p:sp>
        <p:nvSpPr>
          <p:cNvPr id="25" name="Text 22"/>
          <p:cNvSpPr/>
          <p:nvPr/>
        </p:nvSpPr>
        <p:spPr>
          <a:xfrm>
            <a:off x="685800" y="5577840"/>
            <a:ext cx="6309360" cy="6400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Fewer columns and a better score, so the four features are doing work and not just adding noise.</a:t>
            </a:r>
            <a:endParaRPr lang="en-US" sz="1050" dirty="0"/>
          </a:p>
        </p:txBody>
      </p:sp>
      <p:sp>
        <p:nvSpPr>
          <p:cNvPr id="26" name="Shape 23"/>
          <p:cNvSpPr/>
          <p:nvPr/>
        </p:nvSpPr>
        <p:spPr>
          <a:xfrm>
            <a:off x="7406640" y="4023360"/>
            <a:ext cx="4297680" cy="2331720"/>
          </a:xfrm>
          <a:prstGeom prst="rect">
            <a:avLst/>
          </a:prstGeom>
          <a:solidFill>
            <a:srgbClr val="1C1E24"/>
          </a:solidFill>
          <a:ln w="12700">
            <a:solidFill>
              <a:srgbClr val="3A3F4A"/>
            </a:solidFill>
            <a:prstDash val="solid"/>
          </a:ln>
        </p:spPr>
        <p:txBody>
          <a:bodyPr/>
          <a:lstStyle/>
          <a:p>
            <a:endParaRPr lang="en-US"/>
          </a:p>
        </p:txBody>
      </p:sp>
      <p:sp>
        <p:nvSpPr>
          <p:cNvPr id="27" name="Text 24"/>
          <p:cNvSpPr/>
          <p:nvPr/>
        </p:nvSpPr>
        <p:spPr>
          <a:xfrm>
            <a:off x="7589520" y="4160520"/>
            <a:ext cx="39319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NO DIMENSIONALITY REDUCTION</a:t>
            </a:r>
            <a:endParaRPr lang="en-US" sz="1050" dirty="0"/>
          </a:p>
        </p:txBody>
      </p:sp>
      <p:sp>
        <p:nvSpPr>
          <p:cNvPr id="28" name="Text 25"/>
          <p:cNvSpPr/>
          <p:nvPr/>
        </p:nvSpPr>
        <p:spPr>
          <a:xfrm>
            <a:off x="7589520" y="4526280"/>
            <a:ext cx="3931920" cy="169164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PCA spread variance evenly, so no small set captured most of it</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Only 7 numeric features, no strong multicollinearity</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H1 needs the original features, which PCA components would destroy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4</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experimental pipeline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One pipeline shape for all three models, so any difference comes from the model and not the preprocessing</a:t>
            </a:r>
            <a:endParaRPr lang="en-US" sz="1200" dirty="0"/>
          </a:p>
        </p:txBody>
      </p:sp>
      <p:sp>
        <p:nvSpPr>
          <p:cNvPr id="6" name="Shape 4"/>
          <p:cNvSpPr/>
          <p:nvPr/>
        </p:nvSpPr>
        <p:spPr>
          <a:xfrm>
            <a:off x="50292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7" name="Text 5"/>
          <p:cNvSpPr/>
          <p:nvPr/>
        </p:nvSpPr>
        <p:spPr>
          <a:xfrm>
            <a:off x="50292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SQLite</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load</a:t>
            </a:r>
            <a:endParaRPr lang="en-US" sz="950" dirty="0"/>
          </a:p>
        </p:txBody>
      </p:sp>
      <p:sp>
        <p:nvSpPr>
          <p:cNvPr id="8" name="Shape 6"/>
          <p:cNvSpPr/>
          <p:nvPr/>
        </p:nvSpPr>
        <p:spPr>
          <a:xfrm>
            <a:off x="162306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9" name="Text 7"/>
          <p:cNvSpPr/>
          <p:nvPr/>
        </p:nvSpPr>
        <p:spPr>
          <a:xfrm>
            <a:off x="162306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Clean</a:t>
            </a:r>
            <a:endParaRPr lang="en-US" sz="950" dirty="0"/>
          </a:p>
        </p:txBody>
      </p:sp>
      <p:sp>
        <p:nvSpPr>
          <p:cNvPr id="10" name="Shape 8"/>
          <p:cNvSpPr/>
          <p:nvPr/>
        </p:nvSpPr>
        <p:spPr>
          <a:xfrm>
            <a:off x="274320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1" name="Text 9"/>
          <p:cNvSpPr/>
          <p:nvPr/>
        </p:nvSpPr>
        <p:spPr>
          <a:xfrm>
            <a:off x="274320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Engineer</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4 features</a:t>
            </a:r>
            <a:endParaRPr lang="en-US" sz="950" dirty="0"/>
          </a:p>
        </p:txBody>
      </p:sp>
      <p:sp>
        <p:nvSpPr>
          <p:cNvPr id="12" name="Shape 10"/>
          <p:cNvSpPr/>
          <p:nvPr/>
        </p:nvSpPr>
        <p:spPr>
          <a:xfrm>
            <a:off x="386334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386334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One-hot</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52 cols</a:t>
            </a:r>
            <a:endParaRPr lang="en-US" sz="950" dirty="0"/>
          </a:p>
        </p:txBody>
      </p:sp>
      <p:sp>
        <p:nvSpPr>
          <p:cNvPr id="14" name="Shape 12"/>
          <p:cNvSpPr/>
          <p:nvPr/>
        </p:nvSpPr>
        <p:spPr>
          <a:xfrm>
            <a:off x="498348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5" name="Text 13"/>
          <p:cNvSpPr/>
          <p:nvPr/>
        </p:nvSpPr>
        <p:spPr>
          <a:xfrm>
            <a:off x="498348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Stratified</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60/20/20</a:t>
            </a:r>
            <a:endParaRPr lang="en-US" sz="950" dirty="0"/>
          </a:p>
        </p:txBody>
      </p:sp>
      <p:sp>
        <p:nvSpPr>
          <p:cNvPr id="16" name="Shape 14"/>
          <p:cNvSpPr/>
          <p:nvPr/>
        </p:nvSpPr>
        <p:spPr>
          <a:xfrm>
            <a:off x="610362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7" name="Text 15"/>
          <p:cNvSpPr/>
          <p:nvPr/>
        </p:nvSpPr>
        <p:spPr>
          <a:xfrm>
            <a:off x="610362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Scale +</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SMOTE</a:t>
            </a:r>
            <a:endParaRPr lang="en-US" sz="950" dirty="0"/>
          </a:p>
        </p:txBody>
      </p:sp>
      <p:sp>
        <p:nvSpPr>
          <p:cNvPr id="18" name="Shape 16"/>
          <p:cNvSpPr/>
          <p:nvPr/>
        </p:nvSpPr>
        <p:spPr>
          <a:xfrm>
            <a:off x="722376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19" name="Text 17"/>
          <p:cNvSpPr/>
          <p:nvPr/>
        </p:nvSpPr>
        <p:spPr>
          <a:xfrm>
            <a:off x="722376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Fit</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model</a:t>
            </a:r>
            <a:endParaRPr lang="en-US" sz="950" dirty="0"/>
          </a:p>
        </p:txBody>
      </p:sp>
      <p:sp>
        <p:nvSpPr>
          <p:cNvPr id="20" name="Shape 18"/>
          <p:cNvSpPr/>
          <p:nvPr/>
        </p:nvSpPr>
        <p:spPr>
          <a:xfrm>
            <a:off x="834390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21" name="Text 19"/>
          <p:cNvSpPr/>
          <p:nvPr/>
        </p:nvSpPr>
        <p:spPr>
          <a:xfrm>
            <a:off x="8343900" y="1280160"/>
            <a:ext cx="982980" cy="868680"/>
          </a:xfrm>
          <a:prstGeom prst="rect">
            <a:avLst/>
          </a:prstGeom>
          <a:noFill/>
          <a:ln/>
        </p:spPr>
        <p:txBody>
          <a:bodyPr wrap="square" lIns="0" tIns="0" rIns="0" bIns="0" rtlCol="0" anchor="ctr"/>
          <a:lstStyle/>
          <a:p>
            <a:pPr marL="0" indent="0" algn="ctr">
              <a:buNone/>
            </a:pPr>
            <a:r>
              <a:rPr lang="en-US" sz="950" b="1" dirty="0">
                <a:solidFill>
                  <a:srgbClr val="F5F7FA"/>
                </a:solidFill>
                <a:latin typeface="Verdana" pitchFamily="34" charset="0"/>
                <a:ea typeface="Verdana" pitchFamily="34" charset="-122"/>
                <a:cs typeface="Verdana" pitchFamily="34" charset="-120"/>
              </a:rPr>
              <a:t>Tune on</a:t>
            </a:r>
            <a:endParaRPr lang="en-US" sz="950" dirty="0"/>
          </a:p>
          <a:p>
            <a:pPr marL="0" indent="0" algn="ctr">
              <a:buNone/>
            </a:pPr>
            <a:r>
              <a:rPr lang="en-US" sz="950" b="1" dirty="0">
                <a:solidFill>
                  <a:srgbClr val="F5F7FA"/>
                </a:solidFill>
                <a:latin typeface="Verdana" pitchFamily="34" charset="0"/>
                <a:ea typeface="Verdana" pitchFamily="34" charset="-122"/>
                <a:cs typeface="Verdana" pitchFamily="34" charset="-120"/>
              </a:rPr>
              <a:t>validation</a:t>
            </a:r>
            <a:endParaRPr lang="en-US" sz="950" dirty="0"/>
          </a:p>
        </p:txBody>
      </p:sp>
      <p:sp>
        <p:nvSpPr>
          <p:cNvPr id="22" name="Shape 20"/>
          <p:cNvSpPr/>
          <p:nvPr/>
        </p:nvSpPr>
        <p:spPr>
          <a:xfrm>
            <a:off x="946404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23" name="Text 21"/>
          <p:cNvSpPr/>
          <p:nvPr/>
        </p:nvSpPr>
        <p:spPr>
          <a:xfrm>
            <a:off x="9464040" y="1280160"/>
            <a:ext cx="982980" cy="868680"/>
          </a:xfrm>
          <a:prstGeom prst="rect">
            <a:avLst/>
          </a:prstGeom>
          <a:noFill/>
          <a:ln/>
        </p:spPr>
        <p:txBody>
          <a:bodyPr wrap="square" lIns="0" tIns="0" rIns="0" bIns="0" rtlCol="0" anchor="ctr"/>
          <a:lstStyle/>
          <a:p>
            <a:pPr marL="0" indent="0" algn="ctr">
              <a:buNone/>
            </a:pPr>
            <a:r>
              <a:rPr lang="en-US" sz="950" b="1" dirty="0">
                <a:solidFill>
                  <a:srgbClr val="E8C15A"/>
                </a:solidFill>
                <a:latin typeface="Verdana" pitchFamily="34" charset="0"/>
                <a:ea typeface="Verdana" pitchFamily="34" charset="-122"/>
                <a:cs typeface="Verdana" pitchFamily="34" charset="-120"/>
              </a:rPr>
              <a:t>5-fold</a:t>
            </a:r>
            <a:endParaRPr lang="en-US" sz="950" dirty="0"/>
          </a:p>
          <a:p>
            <a:pPr marL="0" indent="0" algn="ctr">
              <a:buNone/>
            </a:pPr>
            <a:r>
              <a:rPr lang="en-US" sz="950" b="1" dirty="0">
                <a:solidFill>
                  <a:srgbClr val="E8C15A"/>
                </a:solidFill>
                <a:latin typeface="Verdana" pitchFamily="34" charset="0"/>
                <a:ea typeface="Verdana" pitchFamily="34" charset="-122"/>
                <a:cs typeface="Verdana" pitchFamily="34" charset="-120"/>
              </a:rPr>
              <a:t>paired CV</a:t>
            </a:r>
            <a:endParaRPr lang="en-US" sz="950" dirty="0"/>
          </a:p>
        </p:txBody>
      </p:sp>
      <p:sp>
        <p:nvSpPr>
          <p:cNvPr id="24" name="Shape 22"/>
          <p:cNvSpPr/>
          <p:nvPr/>
        </p:nvSpPr>
        <p:spPr>
          <a:xfrm>
            <a:off x="10584180" y="1280160"/>
            <a:ext cx="982980" cy="868680"/>
          </a:xfrm>
          <a:prstGeom prst="rect">
            <a:avLst/>
          </a:prstGeom>
          <a:solidFill>
            <a:srgbClr val="232631"/>
          </a:solidFill>
          <a:ln w="12700">
            <a:solidFill>
              <a:srgbClr val="3A3F4A"/>
            </a:solidFill>
            <a:prstDash val="solid"/>
          </a:ln>
        </p:spPr>
        <p:txBody>
          <a:bodyPr/>
          <a:lstStyle/>
          <a:p>
            <a:endParaRPr lang="en-US"/>
          </a:p>
        </p:txBody>
      </p:sp>
      <p:sp>
        <p:nvSpPr>
          <p:cNvPr id="25" name="Text 23"/>
          <p:cNvSpPr/>
          <p:nvPr/>
        </p:nvSpPr>
        <p:spPr>
          <a:xfrm>
            <a:off x="10584180" y="1280160"/>
            <a:ext cx="982980" cy="868680"/>
          </a:xfrm>
          <a:prstGeom prst="rect">
            <a:avLst/>
          </a:prstGeom>
          <a:noFill/>
          <a:ln/>
        </p:spPr>
        <p:txBody>
          <a:bodyPr wrap="square" lIns="0" tIns="0" rIns="0" bIns="0" rtlCol="0" anchor="ctr"/>
          <a:lstStyle/>
          <a:p>
            <a:pPr marL="0" indent="0" algn="ctr">
              <a:buNone/>
            </a:pPr>
            <a:r>
              <a:rPr lang="en-US" sz="950" b="1" dirty="0">
                <a:solidFill>
                  <a:srgbClr val="E8C15A"/>
                </a:solidFill>
                <a:latin typeface="Verdana" pitchFamily="34" charset="0"/>
                <a:ea typeface="Verdana" pitchFamily="34" charset="-122"/>
                <a:cs typeface="Verdana" pitchFamily="34" charset="-120"/>
              </a:rPr>
              <a:t>Test +</a:t>
            </a:r>
            <a:endParaRPr lang="en-US" sz="950" dirty="0"/>
          </a:p>
          <a:p>
            <a:pPr marL="0" indent="0" algn="ctr">
              <a:buNone/>
            </a:pPr>
            <a:r>
              <a:rPr lang="en-US" sz="950" b="1" dirty="0">
                <a:solidFill>
                  <a:srgbClr val="E8C15A"/>
                </a:solidFill>
                <a:latin typeface="Verdana" pitchFamily="34" charset="0"/>
                <a:ea typeface="Verdana" pitchFamily="34" charset="-122"/>
                <a:cs typeface="Verdana" pitchFamily="34" charset="-120"/>
              </a:rPr>
              <a:t>stat tests</a:t>
            </a:r>
            <a:endParaRPr lang="en-US" sz="950" dirty="0"/>
          </a:p>
        </p:txBody>
      </p:sp>
      <p:sp>
        <p:nvSpPr>
          <p:cNvPr id="26" name="Shape 24"/>
          <p:cNvSpPr/>
          <p:nvPr/>
        </p:nvSpPr>
        <p:spPr>
          <a:xfrm>
            <a:off x="502920" y="2377440"/>
            <a:ext cx="5623560" cy="3977640"/>
          </a:xfrm>
          <a:prstGeom prst="rect">
            <a:avLst/>
          </a:prstGeom>
          <a:solidFill>
            <a:srgbClr val="1C1E24"/>
          </a:solidFill>
          <a:ln w="12700">
            <a:solidFill>
              <a:srgbClr val="3A3F4A"/>
            </a:solidFill>
            <a:prstDash val="solid"/>
          </a:ln>
        </p:spPr>
        <p:txBody>
          <a:bodyPr/>
          <a:lstStyle/>
          <a:p>
            <a:endParaRPr lang="en-US"/>
          </a:p>
        </p:txBody>
      </p:sp>
      <p:sp>
        <p:nvSpPr>
          <p:cNvPr id="27" name="Text 25"/>
          <p:cNvSpPr/>
          <p:nvPr/>
        </p:nvSpPr>
        <p:spPr>
          <a:xfrm>
            <a:off x="685800" y="2514600"/>
            <a:ext cx="52578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SPLIT STRATEGY</a:t>
            </a:r>
            <a:endParaRPr lang="en-US" sz="1050" dirty="0"/>
          </a:p>
        </p:txBody>
      </p:sp>
      <p:sp>
        <p:nvSpPr>
          <p:cNvPr id="28" name="Text 26"/>
          <p:cNvSpPr/>
          <p:nvPr/>
        </p:nvSpPr>
        <p:spPr>
          <a:xfrm>
            <a:off x="685800" y="2834640"/>
            <a:ext cx="5257800" cy="338328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19,521 train / 6,508 validation / 6,508 test, stratified so the 0.241 positive rate holds in all three</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Training fits the models, validation makes every decision, test is touched once at the end</a:t>
            </a:r>
            <a:endParaRPr lang="en-US" sz="1100" dirty="0"/>
          </a:p>
          <a:p>
            <a:pPr marL="342900" indent="-342900">
              <a:spcAft>
                <a:spcPts val="700"/>
              </a:spcAft>
              <a:buSzPct val="100000"/>
              <a:buChar char="•"/>
            </a:pPr>
            <a:r>
              <a:rPr lang="en-US" sz="1100" b="1" dirty="0">
                <a:solidFill>
                  <a:srgbClr val="F5F7FA"/>
                </a:solidFill>
                <a:latin typeface="Verdana" pitchFamily="34" charset="0"/>
                <a:ea typeface="Verdana" pitchFamily="34" charset="-122"/>
                <a:cs typeface="Verdana" pitchFamily="34" charset="-120"/>
              </a:rPr>
              <a:t>How I confirm no leakage occurred</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Scaling and SMOTE sit inside the pipeline, so they fit on training rows only and refit inside every fold</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SMOTE runs after the split, so no synthetic row can reach validation or test</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Every hyperparameter and threshold is chosen on validation</a:t>
            </a:r>
            <a:endParaRPr lang="en-US" sz="1100" dirty="0"/>
          </a:p>
        </p:txBody>
      </p:sp>
      <p:sp>
        <p:nvSpPr>
          <p:cNvPr id="29" name="Shape 27"/>
          <p:cNvSpPr/>
          <p:nvPr/>
        </p:nvSpPr>
        <p:spPr>
          <a:xfrm>
            <a:off x="6355080" y="2377440"/>
            <a:ext cx="5349240" cy="3977640"/>
          </a:xfrm>
          <a:prstGeom prst="rect">
            <a:avLst/>
          </a:prstGeom>
          <a:solidFill>
            <a:srgbClr val="1C1E24"/>
          </a:solidFill>
          <a:ln w="12700">
            <a:solidFill>
              <a:srgbClr val="3A3F4A"/>
            </a:solidFill>
            <a:prstDash val="solid"/>
          </a:ln>
        </p:spPr>
        <p:txBody>
          <a:bodyPr/>
          <a:lstStyle/>
          <a:p>
            <a:endParaRPr lang="en-US"/>
          </a:p>
        </p:txBody>
      </p:sp>
      <p:sp>
        <p:nvSpPr>
          <p:cNvPr id="30" name="Text 28"/>
          <p:cNvSpPr/>
          <p:nvPr/>
        </p:nvSpPr>
        <p:spPr>
          <a:xfrm>
            <a:off x="6537960" y="2514600"/>
            <a:ext cx="49834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CROSS-VALIDATION AND REPRODUCIBILITY</a:t>
            </a:r>
            <a:endParaRPr lang="en-US" sz="1050" dirty="0"/>
          </a:p>
        </p:txBody>
      </p:sp>
      <p:sp>
        <p:nvSpPr>
          <p:cNvPr id="31" name="Text 29"/>
          <p:cNvSpPr/>
          <p:nvPr/>
        </p:nvSpPr>
        <p:spPr>
          <a:xfrm>
            <a:off x="6537960" y="2834640"/>
            <a:ext cx="4983480" cy="338328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5-fold stratified CV on the training rows</a:t>
            </a:r>
            <a:endParaRPr lang="en-US" sz="1100" dirty="0"/>
          </a:p>
          <a:p>
            <a:pPr marL="342900" indent="-342900">
              <a:spcAft>
                <a:spcPts val="700"/>
              </a:spcAft>
              <a:buSzPct val="100000"/>
              <a:buChar char="•"/>
            </a:pPr>
            <a:r>
              <a:rPr lang="en-US" sz="1100" b="1" dirty="0">
                <a:solidFill>
                  <a:srgbClr val="F5F7FA"/>
                </a:solidFill>
                <a:latin typeface="Verdana" pitchFamily="34" charset="0"/>
                <a:ea typeface="Verdana" pitchFamily="34" charset="-122"/>
                <a:cs typeface="Verdana" pitchFamily="34" charset="-120"/>
              </a:rPr>
              <a:t>The fold indices are generated once and reused for all three models</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That is what makes the scores paired, and pairing is the only thing that gives a t-test power on five observations</a:t>
            </a:r>
            <a:endParaRPr lang="en-US" sz="1100" dirty="0"/>
          </a:p>
          <a:p>
            <a:pPr marL="342900" indent="-342900">
              <a:spcAft>
                <a:spcPts val="700"/>
              </a:spcAft>
              <a:buSzPct val="100000"/>
              <a:buChar char="•"/>
            </a:pPr>
            <a:r>
              <a:rPr lang="en-US" sz="1100" b="1" dirty="0">
                <a:solidFill>
                  <a:srgbClr val="F5F7FA"/>
                </a:solidFill>
                <a:latin typeface="Verdana" pitchFamily="34" charset="0"/>
                <a:ea typeface="Verdana" pitchFamily="34" charset="-122"/>
                <a:cs typeface="Verdana" pitchFamily="34" charset="-120"/>
              </a:rPr>
              <a:t>Each model builds its own scaler</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Pipelines do not copy their steps, so sharing one scaler meant refitting one model later silently changed another's preprocessing. XGBoost read 0.744 instead of 0.805 with no error raised</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One seed (42) throughout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5</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three models, and how each makes a prediction</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Plus the naive floor every one of them has to clear</a:t>
            </a:r>
            <a:endParaRPr lang="en-US" sz="1200" dirty="0"/>
          </a:p>
        </p:txBody>
      </p:sp>
      <p:sp>
        <p:nvSpPr>
          <p:cNvPr id="6" name="Shape 4"/>
          <p:cNvSpPr/>
          <p:nvPr/>
        </p:nvSpPr>
        <p:spPr>
          <a:xfrm>
            <a:off x="502920" y="1234440"/>
            <a:ext cx="3566160" cy="37947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3200400" cy="274320"/>
          </a:xfrm>
          <a:prstGeom prst="rect">
            <a:avLst/>
          </a:prstGeom>
          <a:noFill/>
          <a:ln/>
        </p:spPr>
        <p:txBody>
          <a:bodyPr wrap="square" lIns="0" tIns="0" rIns="0" bIns="0" rtlCol="0" anchor="ctr"/>
          <a:lstStyle/>
          <a:p>
            <a:pPr marL="0" indent="0">
              <a:buNone/>
            </a:pPr>
            <a:r>
              <a:rPr lang="en-US" sz="1350" b="1" dirty="0">
                <a:solidFill>
                  <a:srgbClr val="E8C15A"/>
                </a:solidFill>
                <a:latin typeface="Verdana" pitchFamily="34" charset="0"/>
                <a:ea typeface="Verdana" pitchFamily="34" charset="-122"/>
                <a:cs typeface="Verdana" pitchFamily="34" charset="-120"/>
              </a:rPr>
              <a:t>Logistic regression</a:t>
            </a:r>
            <a:endParaRPr lang="en-US" sz="1350" dirty="0"/>
          </a:p>
        </p:txBody>
      </p:sp>
      <p:sp>
        <p:nvSpPr>
          <p:cNvPr id="8" name="Text 6"/>
          <p:cNvSpPr/>
          <p:nvPr/>
        </p:nvSpPr>
        <p:spPr>
          <a:xfrm>
            <a:off x="685800" y="1664208"/>
            <a:ext cx="3200400" cy="228600"/>
          </a:xfrm>
          <a:prstGeom prst="rect">
            <a:avLst/>
          </a:prstGeom>
          <a:noFill/>
          <a:ln/>
        </p:spPr>
        <p:txBody>
          <a:bodyPr wrap="square" lIns="0" tIns="0" rIns="0" bIns="0" rtlCol="0" anchor="ctr"/>
          <a:lstStyle/>
          <a:p>
            <a:pPr marL="0" indent="0">
              <a:buNone/>
            </a:pPr>
            <a:r>
              <a:rPr lang="en-US" sz="950" i="1" dirty="0">
                <a:solidFill>
                  <a:srgbClr val="9AA7BD"/>
                </a:solidFill>
                <a:latin typeface="Verdana" pitchFamily="34" charset="0"/>
                <a:ea typeface="Verdana" pitchFamily="34" charset="-122"/>
                <a:cs typeface="Verdana" pitchFamily="34" charset="-120"/>
              </a:rPr>
              <a:t>the interpretable baseline</a:t>
            </a:r>
            <a:endParaRPr lang="en-US" sz="950" dirty="0"/>
          </a:p>
        </p:txBody>
      </p:sp>
      <p:sp>
        <p:nvSpPr>
          <p:cNvPr id="9" name="Text 7"/>
          <p:cNvSpPr/>
          <p:nvPr/>
        </p:nvSpPr>
        <p:spPr>
          <a:xfrm>
            <a:off x="685800" y="1965960"/>
            <a:ext cx="3200400" cy="2971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 weighted sum of the features through the sigmoid, then a 0.5 threshold.</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z = b₀ + Σ bⱼ xⱼ,   p̂ = 1 / (1 + e⁻ᶻ)</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One signed coefficient per feature, so it is fully readable. Fit by minimising log loss with a 1/C penalty.</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Limit: linear and additive, so it misses interactions and curves unless I engineer them. That limit is what H3 tests.</a:t>
            </a:r>
            <a:endParaRPr lang="en-US" sz="1050" dirty="0"/>
          </a:p>
        </p:txBody>
      </p:sp>
      <p:sp>
        <p:nvSpPr>
          <p:cNvPr id="10" name="Shape 8"/>
          <p:cNvSpPr/>
          <p:nvPr/>
        </p:nvSpPr>
        <p:spPr>
          <a:xfrm>
            <a:off x="4251960" y="1234440"/>
            <a:ext cx="3566160" cy="3794760"/>
          </a:xfrm>
          <a:prstGeom prst="rect">
            <a:avLst/>
          </a:prstGeom>
          <a:solidFill>
            <a:srgbClr val="1C1E24"/>
          </a:solidFill>
          <a:ln w="12700">
            <a:solidFill>
              <a:srgbClr val="3A3F4A"/>
            </a:solidFill>
            <a:prstDash val="solid"/>
          </a:ln>
        </p:spPr>
        <p:txBody>
          <a:bodyPr/>
          <a:lstStyle/>
          <a:p>
            <a:endParaRPr lang="en-US"/>
          </a:p>
        </p:txBody>
      </p:sp>
      <p:sp>
        <p:nvSpPr>
          <p:cNvPr id="11" name="Text 9"/>
          <p:cNvSpPr/>
          <p:nvPr/>
        </p:nvSpPr>
        <p:spPr>
          <a:xfrm>
            <a:off x="4434840" y="1371600"/>
            <a:ext cx="3200400" cy="274320"/>
          </a:xfrm>
          <a:prstGeom prst="rect">
            <a:avLst/>
          </a:prstGeom>
          <a:noFill/>
          <a:ln/>
        </p:spPr>
        <p:txBody>
          <a:bodyPr wrap="square" lIns="0" tIns="0" rIns="0" bIns="0" rtlCol="0" anchor="ctr"/>
          <a:lstStyle/>
          <a:p>
            <a:pPr marL="0" indent="0">
              <a:buNone/>
            </a:pPr>
            <a:r>
              <a:rPr lang="en-US" sz="1350" b="1" dirty="0">
                <a:solidFill>
                  <a:srgbClr val="E8C15A"/>
                </a:solidFill>
                <a:latin typeface="Verdana" pitchFamily="34" charset="0"/>
                <a:ea typeface="Verdana" pitchFamily="34" charset="-122"/>
                <a:cs typeface="Verdana" pitchFamily="34" charset="-120"/>
              </a:rPr>
              <a:t>XGBoost</a:t>
            </a:r>
            <a:endParaRPr lang="en-US" sz="1350" dirty="0"/>
          </a:p>
        </p:txBody>
      </p:sp>
      <p:sp>
        <p:nvSpPr>
          <p:cNvPr id="12" name="Text 10"/>
          <p:cNvSpPr/>
          <p:nvPr/>
        </p:nvSpPr>
        <p:spPr>
          <a:xfrm>
            <a:off x="4434840" y="1664208"/>
            <a:ext cx="3200400" cy="228600"/>
          </a:xfrm>
          <a:prstGeom prst="rect">
            <a:avLst/>
          </a:prstGeom>
          <a:noFill/>
          <a:ln/>
        </p:spPr>
        <p:txBody>
          <a:bodyPr wrap="square" lIns="0" tIns="0" rIns="0" bIns="0" rtlCol="0" anchor="ctr"/>
          <a:lstStyle/>
          <a:p>
            <a:pPr marL="0" indent="0">
              <a:buNone/>
            </a:pPr>
            <a:r>
              <a:rPr lang="en-US" sz="950" i="1" dirty="0">
                <a:solidFill>
                  <a:srgbClr val="9AA7BD"/>
                </a:solidFill>
                <a:latin typeface="Verdana" pitchFamily="34" charset="0"/>
                <a:ea typeface="Verdana" pitchFamily="34" charset="-122"/>
                <a:cs typeface="Verdana" pitchFamily="34" charset="-120"/>
              </a:rPr>
              <a:t>gradient boosted trees</a:t>
            </a:r>
            <a:endParaRPr lang="en-US" sz="950" dirty="0"/>
          </a:p>
        </p:txBody>
      </p:sp>
      <p:sp>
        <p:nvSpPr>
          <p:cNvPr id="13" name="Text 11"/>
          <p:cNvSpPr/>
          <p:nvPr/>
        </p:nvSpPr>
        <p:spPr>
          <a:xfrm>
            <a:off x="4434840" y="1965960"/>
            <a:ext cx="3200400" cy="2971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Builds shallow trees one at a time, each fit to the errors made so far.</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ŷ = σ( Σ η · f_k(x) )</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Splits are chosen to most reduce a regularised objective, so it adds a leaf only where the gain is worth the complexity.</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Because later trees split inside regions earlier trees carved out, it captures thresholds, curves, and interactions without being told they exist.</a:t>
            </a:r>
            <a:endParaRPr lang="en-US" sz="1050" dirty="0"/>
          </a:p>
        </p:txBody>
      </p:sp>
      <p:sp>
        <p:nvSpPr>
          <p:cNvPr id="14" name="Shape 12"/>
          <p:cNvSpPr/>
          <p:nvPr/>
        </p:nvSpPr>
        <p:spPr>
          <a:xfrm>
            <a:off x="8001000" y="1234440"/>
            <a:ext cx="3703320" cy="3794760"/>
          </a:xfrm>
          <a:prstGeom prst="rect">
            <a:avLst/>
          </a:prstGeom>
          <a:solidFill>
            <a:srgbClr val="1C1E24"/>
          </a:solidFill>
          <a:ln w="12700">
            <a:solidFill>
              <a:srgbClr val="3A3F4A"/>
            </a:solidFill>
            <a:prstDash val="solid"/>
          </a:ln>
        </p:spPr>
        <p:txBody>
          <a:bodyPr/>
          <a:lstStyle/>
          <a:p>
            <a:endParaRPr lang="en-US"/>
          </a:p>
        </p:txBody>
      </p:sp>
      <p:sp>
        <p:nvSpPr>
          <p:cNvPr id="15" name="Text 13"/>
          <p:cNvSpPr/>
          <p:nvPr/>
        </p:nvSpPr>
        <p:spPr>
          <a:xfrm>
            <a:off x="8183880" y="1371600"/>
            <a:ext cx="3337560" cy="274320"/>
          </a:xfrm>
          <a:prstGeom prst="rect">
            <a:avLst/>
          </a:prstGeom>
          <a:noFill/>
          <a:ln/>
        </p:spPr>
        <p:txBody>
          <a:bodyPr wrap="square" lIns="0" tIns="0" rIns="0" bIns="0" rtlCol="0" anchor="ctr"/>
          <a:lstStyle/>
          <a:p>
            <a:pPr marL="0" indent="0">
              <a:buNone/>
            </a:pPr>
            <a:r>
              <a:rPr lang="en-US" sz="1350" b="1" dirty="0">
                <a:solidFill>
                  <a:srgbClr val="E8C15A"/>
                </a:solidFill>
                <a:latin typeface="Verdana" pitchFamily="34" charset="0"/>
                <a:ea typeface="Verdana" pitchFamily="34" charset="-122"/>
                <a:cs typeface="Verdana" pitchFamily="34" charset="-120"/>
              </a:rPr>
              <a:t>Multilayer perceptron</a:t>
            </a:r>
            <a:endParaRPr lang="en-US" sz="1350" dirty="0"/>
          </a:p>
        </p:txBody>
      </p:sp>
      <p:sp>
        <p:nvSpPr>
          <p:cNvPr id="16" name="Text 14"/>
          <p:cNvSpPr/>
          <p:nvPr/>
        </p:nvSpPr>
        <p:spPr>
          <a:xfrm>
            <a:off x="8183880" y="1664208"/>
            <a:ext cx="3337560" cy="228600"/>
          </a:xfrm>
          <a:prstGeom prst="rect">
            <a:avLst/>
          </a:prstGeom>
          <a:noFill/>
          <a:ln/>
        </p:spPr>
        <p:txBody>
          <a:bodyPr wrap="square" lIns="0" tIns="0" rIns="0" bIns="0" rtlCol="0" anchor="ctr"/>
          <a:lstStyle/>
          <a:p>
            <a:pPr marL="0" indent="0">
              <a:buNone/>
            </a:pPr>
            <a:r>
              <a:rPr lang="en-US" sz="950" i="1" dirty="0">
                <a:solidFill>
                  <a:srgbClr val="9AA7BD"/>
                </a:solidFill>
                <a:latin typeface="Verdana" pitchFamily="34" charset="0"/>
                <a:ea typeface="Verdana" pitchFamily="34" charset="-122"/>
                <a:cs typeface="Verdana" pitchFamily="34" charset="-120"/>
              </a:rPr>
              <a:t>the neural network</a:t>
            </a:r>
            <a:endParaRPr lang="en-US" sz="950" dirty="0"/>
          </a:p>
        </p:txBody>
      </p:sp>
      <p:sp>
        <p:nvSpPr>
          <p:cNvPr id="17" name="Text 15"/>
          <p:cNvSpPr/>
          <p:nvPr/>
        </p:nvSpPr>
        <p:spPr>
          <a:xfrm>
            <a:off x="8183880" y="1965960"/>
            <a:ext cx="3337560" cy="2971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Hidden layers where each neuron takes a weighted sum and applies a non-linear activation.</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 = ReLU(W₁x + b₁),   p̂ = σ(W₂h + b₂)</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Stacking layers can represent interactions too, but it has to learn them with no structural head start.</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That is why I expected it to need more rows than 32,500.</a:t>
            </a:r>
            <a:endParaRPr lang="en-US" sz="1050" dirty="0"/>
          </a:p>
        </p:txBody>
      </p:sp>
      <p:sp>
        <p:nvSpPr>
          <p:cNvPr id="18" name="Shape 16"/>
          <p:cNvSpPr/>
          <p:nvPr/>
        </p:nvSpPr>
        <p:spPr>
          <a:xfrm>
            <a:off x="502920" y="5166360"/>
            <a:ext cx="11201400" cy="1188720"/>
          </a:xfrm>
          <a:prstGeom prst="rect">
            <a:avLst/>
          </a:prstGeom>
          <a:solidFill>
            <a:srgbClr val="232631"/>
          </a:solidFill>
          <a:ln w="12700">
            <a:solidFill>
              <a:srgbClr val="3A3F4A"/>
            </a:solidFill>
            <a:prstDash val="solid"/>
          </a:ln>
        </p:spPr>
        <p:txBody>
          <a:bodyPr/>
          <a:lstStyle/>
          <a:p>
            <a:endParaRPr lang="en-US"/>
          </a:p>
        </p:txBody>
      </p:sp>
      <p:sp>
        <p:nvSpPr>
          <p:cNvPr id="19" name="Text 17"/>
          <p:cNvSpPr/>
          <p:nvPr/>
        </p:nvSpPr>
        <p:spPr>
          <a:xfrm>
            <a:off x="685800" y="5285232"/>
            <a:ext cx="27432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NAIVE FLOOR</a:t>
            </a:r>
            <a:endParaRPr lang="en-US" sz="1050" dirty="0"/>
          </a:p>
        </p:txBody>
      </p:sp>
      <p:sp>
        <p:nvSpPr>
          <p:cNvPr id="20" name="Text 18"/>
          <p:cNvSpPr/>
          <p:nvPr/>
        </p:nvSpPr>
        <p:spPr>
          <a:xfrm>
            <a:off x="685800" y="5577840"/>
            <a:ext cx="10835640" cy="685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A majority-class predictor that labels everyone as under $50K. It scores 0.759 accuracy while catching zero real high earners, with PR-AUC at the 0.241 base rate. A useless model already scores in the high 70s, and the recall of zero is what gives it away.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6</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Evaluation metrics, and why each one is here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PR-AUC leads because it focuses on the positive class and does not get credit for the easy negatives</a:t>
            </a:r>
            <a:endParaRPr lang="en-US" sz="1200" dirty="0"/>
          </a:p>
        </p:txBody>
      </p:sp>
      <p:sp>
        <p:nvSpPr>
          <p:cNvPr id="6" name="Shape 4"/>
          <p:cNvSpPr/>
          <p:nvPr/>
        </p:nvSpPr>
        <p:spPr>
          <a:xfrm>
            <a:off x="502920" y="1234440"/>
            <a:ext cx="5486400" cy="2359152"/>
          </a:xfrm>
          <a:prstGeom prst="rect">
            <a:avLst/>
          </a:prstGeom>
          <a:solidFill>
            <a:srgbClr val="232631"/>
          </a:solidFill>
          <a:ln w="12700">
            <a:solidFill>
              <a:srgbClr val="3A3F4A"/>
            </a:solidFill>
            <a:prstDash val="solid"/>
          </a:ln>
        </p:spPr>
        <p:txBody>
          <a:bodyPr/>
          <a:lstStyle/>
          <a:p>
            <a:endParaRPr lang="en-US"/>
          </a:p>
        </p:txBody>
      </p:sp>
      <p:sp>
        <p:nvSpPr>
          <p:cNvPr id="7" name="Text 5"/>
          <p:cNvSpPr/>
          <p:nvPr/>
        </p:nvSpPr>
        <p:spPr>
          <a:xfrm>
            <a:off x="685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FORMULAS</a:t>
            </a:r>
            <a:endParaRPr lang="en-US" sz="1050" dirty="0"/>
          </a:p>
        </p:txBody>
      </p:sp>
      <p:sp>
        <p:nvSpPr>
          <p:cNvPr id="8" name="Text 6"/>
          <p:cNvSpPr/>
          <p:nvPr/>
        </p:nvSpPr>
        <p:spPr>
          <a:xfrm>
            <a:off x="685800" y="1691640"/>
            <a:ext cx="5120640" cy="1737360"/>
          </a:xfrm>
          <a:prstGeom prst="rect">
            <a:avLst/>
          </a:prstGeom>
          <a:noFill/>
          <a:ln/>
        </p:spPr>
        <p:txBody>
          <a:bodyPr wrap="square" lIns="0" tIns="0" rIns="0" bIns="0" rtlCol="0" anchor="t"/>
          <a:lstStyle/>
          <a:p>
            <a:pPr marL="0" indent="0">
              <a:spcAft>
                <a:spcPts val="600"/>
              </a:spcAft>
              <a:buNone/>
            </a:pPr>
            <a:r>
              <a:rPr lang="en-US" sz="1100" dirty="0">
                <a:solidFill>
                  <a:srgbClr val="F5F7FA"/>
                </a:solidFill>
                <a:latin typeface="Verdana" pitchFamily="34" charset="0"/>
                <a:ea typeface="Verdana" pitchFamily="34" charset="-122"/>
                <a:cs typeface="Verdana" pitchFamily="34" charset="-120"/>
              </a:rPr>
              <a:t>Accuracy = (TP + TN) / (TP + TN + FP + FN)</a:t>
            </a:r>
            <a:endParaRPr lang="en-US" sz="1100" dirty="0"/>
          </a:p>
          <a:p>
            <a:pPr marL="0" indent="0">
              <a:spcAft>
                <a:spcPts val="600"/>
              </a:spcAft>
              <a:buNone/>
            </a:pPr>
            <a:endParaRPr lang="en-US" sz="1100" dirty="0"/>
          </a:p>
          <a:p>
            <a:pPr marL="0" indent="0">
              <a:spcAft>
                <a:spcPts val="600"/>
              </a:spcAft>
              <a:buNone/>
            </a:pPr>
            <a:r>
              <a:rPr lang="en-US" sz="1100" dirty="0">
                <a:solidFill>
                  <a:srgbClr val="F5F7FA"/>
                </a:solidFill>
                <a:latin typeface="Verdana" pitchFamily="34" charset="0"/>
                <a:ea typeface="Verdana" pitchFamily="34" charset="-122"/>
                <a:cs typeface="Verdana" pitchFamily="34" charset="-120"/>
              </a:rPr>
              <a:t>Precision = TP / (TP + FP)          Recall = TP / (TP + FN)</a:t>
            </a:r>
            <a:endParaRPr lang="en-US" sz="1100" dirty="0"/>
          </a:p>
          <a:p>
            <a:pPr marL="0" indent="0">
              <a:spcAft>
                <a:spcPts val="600"/>
              </a:spcAft>
              <a:buNone/>
            </a:pPr>
            <a:endParaRPr lang="en-US" sz="1100" dirty="0"/>
          </a:p>
          <a:p>
            <a:pPr marL="0" indent="0">
              <a:spcAft>
                <a:spcPts val="600"/>
              </a:spcAft>
              <a:buNone/>
            </a:pPr>
            <a:r>
              <a:rPr lang="en-US" sz="1100" dirty="0">
                <a:solidFill>
                  <a:srgbClr val="F5F7FA"/>
                </a:solidFill>
                <a:latin typeface="Verdana" pitchFamily="34" charset="0"/>
                <a:ea typeface="Verdana" pitchFamily="34" charset="-122"/>
                <a:cs typeface="Verdana" pitchFamily="34" charset="-120"/>
              </a:rPr>
              <a:t>F1 = 2 × (Precision × Recall) / (Precision + Recall)</a:t>
            </a:r>
            <a:endParaRPr lang="en-US" sz="1100" dirty="0"/>
          </a:p>
          <a:p>
            <a:pPr marL="0" indent="0">
              <a:spcAft>
                <a:spcPts val="600"/>
              </a:spcAft>
              <a:buNone/>
            </a:pPr>
            <a:endParaRPr lang="en-US" sz="1100" dirty="0"/>
          </a:p>
          <a:p>
            <a:pPr marL="0" indent="0">
              <a:spcAft>
                <a:spcPts val="600"/>
              </a:spcAft>
              <a:buNone/>
            </a:pPr>
            <a:r>
              <a:rPr lang="en-US" sz="1100" dirty="0">
                <a:solidFill>
                  <a:srgbClr val="F5F7FA"/>
                </a:solidFill>
                <a:latin typeface="Verdana" pitchFamily="34" charset="0"/>
                <a:ea typeface="Verdana" pitchFamily="34" charset="-122"/>
                <a:cs typeface="Verdana" pitchFamily="34" charset="-120"/>
              </a:rPr>
              <a:t>PR-AUC = area under the precision-recall curve</a:t>
            </a:r>
            <a:endParaRPr lang="en-US" sz="1100" dirty="0"/>
          </a:p>
          <a:p>
            <a:pPr marL="0" indent="0">
              <a:spcAft>
                <a:spcPts val="600"/>
              </a:spcAft>
              <a:buNone/>
            </a:pPr>
            <a:r>
              <a:rPr lang="en-US" sz="1100" dirty="0">
                <a:solidFill>
                  <a:srgbClr val="F5F7FA"/>
                </a:solidFill>
                <a:latin typeface="Verdana" pitchFamily="34" charset="0"/>
                <a:ea typeface="Verdana" pitchFamily="34" charset="-122"/>
                <a:cs typeface="Verdana" pitchFamily="34" charset="-120"/>
              </a:rPr>
              <a:t>ROC-AUC = area under the TPR vs FPR curve</a:t>
            </a:r>
            <a:endParaRPr lang="en-US" sz="1100" dirty="0"/>
          </a:p>
        </p:txBody>
      </p:sp>
      <p:sp>
        <p:nvSpPr>
          <p:cNvPr id="9" name="Shape 7"/>
          <p:cNvSpPr/>
          <p:nvPr/>
        </p:nvSpPr>
        <p:spPr>
          <a:xfrm>
            <a:off x="6217920" y="1234440"/>
            <a:ext cx="5486400" cy="2359152"/>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PR-AUC IS THE LEAD METRIC</a:t>
            </a:r>
            <a:endParaRPr lang="en-US" sz="1050" dirty="0"/>
          </a:p>
        </p:txBody>
      </p:sp>
      <p:sp>
        <p:nvSpPr>
          <p:cNvPr id="11" name="Text 9"/>
          <p:cNvSpPr/>
          <p:nvPr/>
        </p:nvSpPr>
        <p:spPr>
          <a:xfrm>
            <a:off x="6400800" y="1691640"/>
            <a:ext cx="5120640" cy="173736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It focuses on the positive class and gets no credit for rejecting the easy majority</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Its no-skill floor is the 0.241 base rate instead of 0.5</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It is threshold-free, so it compares ranking rather than where a cutoff lands</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ROC-AUC stays secondary because a large easy negative class props its curve up</a:t>
            </a:r>
            <a:endParaRPr lang="en-US" sz="1050" dirty="0"/>
          </a:p>
        </p:txBody>
      </p:sp>
      <p:sp>
        <p:nvSpPr>
          <p:cNvPr id="12" name="Shape 10"/>
          <p:cNvSpPr/>
          <p:nvPr/>
        </p:nvSpPr>
        <p:spPr>
          <a:xfrm>
            <a:off x="502920" y="3703320"/>
            <a:ext cx="11201400" cy="2651760"/>
          </a:xfrm>
          <a:prstGeom prst="rect">
            <a:avLst/>
          </a:prstGeom>
          <a:solidFill>
            <a:srgbClr val="1C1E24"/>
          </a:solidFill>
          <a:ln w="12700">
            <a:solidFill>
              <a:srgbClr val="3A3F4A"/>
            </a:solidFill>
            <a:prstDash val="solid"/>
          </a:ln>
        </p:spPr>
        <p:txBody>
          <a:bodyPr/>
          <a:lstStyle/>
          <a:p>
            <a:endParaRPr lang="en-US"/>
          </a:p>
        </p:txBody>
      </p:sp>
      <p:sp>
        <p:nvSpPr>
          <p:cNvPr id="13" name="Text 11"/>
          <p:cNvSpPr/>
          <p:nvPr/>
        </p:nvSpPr>
        <p:spPr>
          <a:xfrm>
            <a:off x="685800" y="384048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EACH METRIC MEANS FOR THE LENDER</a:t>
            </a:r>
            <a:endParaRPr lang="en-US" sz="1050" dirty="0"/>
          </a:p>
        </p:txBody>
      </p:sp>
      <p:sp>
        <p:nvSpPr>
          <p:cNvPr id="14" name="Text 12"/>
          <p:cNvSpPr/>
          <p:nvPr/>
        </p:nvSpPr>
        <p:spPr>
          <a:xfrm>
            <a:off x="68580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Accuracy</a:t>
            </a:r>
            <a:endParaRPr lang="en-US" sz="1250" dirty="0"/>
          </a:p>
        </p:txBody>
      </p:sp>
      <p:sp>
        <p:nvSpPr>
          <p:cNvPr id="15" name="Text 13"/>
          <p:cNvSpPr/>
          <p:nvPr/>
        </p:nvSpPr>
        <p:spPr>
          <a:xfrm>
            <a:off x="685800" y="4526280"/>
            <a:ext cx="265176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Reported, never led with. The majority-class floor already scores 0.759.</a:t>
            </a:r>
            <a:endParaRPr lang="en-US" sz="1050" dirty="0"/>
          </a:p>
        </p:txBody>
      </p:sp>
      <p:sp>
        <p:nvSpPr>
          <p:cNvPr id="16" name="Text 14"/>
          <p:cNvSpPr/>
          <p:nvPr/>
        </p:nvSpPr>
        <p:spPr>
          <a:xfrm>
            <a:off x="352044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Precision</a:t>
            </a:r>
            <a:endParaRPr lang="en-US" sz="1250" dirty="0"/>
          </a:p>
        </p:txBody>
      </p:sp>
      <p:sp>
        <p:nvSpPr>
          <p:cNvPr id="17" name="Text 15"/>
          <p:cNvSpPr/>
          <p:nvPr/>
        </p:nvSpPr>
        <p:spPr>
          <a:xfrm>
            <a:off x="3520440" y="4526280"/>
            <a:ext cx="265176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Of the people I flag, how many really are high earners. This is wasted review effort.</a:t>
            </a:r>
            <a:endParaRPr lang="en-US" sz="1050" dirty="0"/>
          </a:p>
        </p:txBody>
      </p:sp>
      <p:sp>
        <p:nvSpPr>
          <p:cNvPr id="18" name="Text 16"/>
          <p:cNvSpPr/>
          <p:nvPr/>
        </p:nvSpPr>
        <p:spPr>
          <a:xfrm>
            <a:off x="635508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Recall</a:t>
            </a:r>
            <a:endParaRPr lang="en-US" sz="1250" dirty="0"/>
          </a:p>
        </p:txBody>
      </p:sp>
      <p:sp>
        <p:nvSpPr>
          <p:cNvPr id="19" name="Text 17"/>
          <p:cNvSpPr/>
          <p:nvPr/>
        </p:nvSpPr>
        <p:spPr>
          <a:xfrm>
            <a:off x="6355080" y="4526280"/>
            <a:ext cx="265176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Of the real high earners, how many I catch. This is lost business, and the whole fairness audit is built on it.</a:t>
            </a:r>
            <a:endParaRPr lang="en-US" sz="1050" dirty="0"/>
          </a:p>
        </p:txBody>
      </p:sp>
      <p:sp>
        <p:nvSpPr>
          <p:cNvPr id="20" name="Text 18"/>
          <p:cNvSpPr/>
          <p:nvPr/>
        </p:nvSpPr>
        <p:spPr>
          <a:xfrm>
            <a:off x="9189720" y="4206240"/>
            <a:ext cx="265176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F1</a:t>
            </a:r>
            <a:endParaRPr lang="en-US" sz="1250" dirty="0"/>
          </a:p>
        </p:txBody>
      </p:sp>
      <p:sp>
        <p:nvSpPr>
          <p:cNvPr id="21" name="Text 19"/>
          <p:cNvSpPr/>
          <p:nvPr/>
        </p:nvSpPr>
        <p:spPr>
          <a:xfrm>
            <a:off x="9189720" y="4526280"/>
            <a:ext cx="2651760" cy="16459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harmonic mean, so it stays low unless both are decent.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7</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The statistical toolkit, and why each test fits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A difference in numbers is not a finding until a test says it is bigger than the noise</a:t>
            </a:r>
            <a:endParaRPr lang="en-US" sz="1200" dirty="0"/>
          </a:p>
        </p:txBody>
      </p:sp>
      <p:sp>
        <p:nvSpPr>
          <p:cNvPr id="6" name="Shape 4"/>
          <p:cNvSpPr/>
          <p:nvPr/>
        </p:nvSpPr>
        <p:spPr>
          <a:xfrm>
            <a:off x="502920"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Paired t-test</a:t>
            </a:r>
            <a:endParaRPr lang="en-US" sz="1250" dirty="0"/>
          </a:p>
        </p:txBody>
      </p:sp>
      <p:sp>
        <p:nvSpPr>
          <p:cNvPr id="8" name="Text 6"/>
          <p:cNvSpPr/>
          <p:nvPr/>
        </p:nvSpPr>
        <p:spPr>
          <a:xfrm>
            <a:off x="685800"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on 5 shared CV fold scores</a:t>
            </a:r>
            <a:endParaRPr lang="en-US" sz="950" dirty="0"/>
          </a:p>
        </p:txBody>
      </p:sp>
      <p:sp>
        <p:nvSpPr>
          <p:cNvPr id="9" name="Text 7"/>
          <p:cNvSpPr/>
          <p:nvPr/>
        </p:nvSpPr>
        <p:spPr>
          <a:xfrm>
            <a:off x="685800" y="2194560"/>
            <a:ext cx="2350008" cy="23774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Every model saw the same folds, so the scores are paired. Pairing removes the fold difficulty that hits all three equally, and that is the only reason it has any power at five observations.</a:t>
            </a:r>
            <a:endParaRPr lang="en-US" sz="1050" dirty="0"/>
          </a:p>
        </p:txBody>
      </p:sp>
      <p:sp>
        <p:nvSpPr>
          <p:cNvPr id="10" name="Shape 8"/>
          <p:cNvSpPr/>
          <p:nvPr/>
        </p:nvSpPr>
        <p:spPr>
          <a:xfrm>
            <a:off x="685800"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11" name="Text 9"/>
          <p:cNvSpPr/>
          <p:nvPr/>
        </p:nvSpPr>
        <p:spPr>
          <a:xfrm>
            <a:off x="822960"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12" name="Text 10"/>
          <p:cNvSpPr/>
          <p:nvPr/>
        </p:nvSpPr>
        <p:spPr>
          <a:xfrm>
            <a:off x="822960" y="4919472"/>
            <a:ext cx="2075688" cy="118872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Assumes the differences are roughly normal and the folds independent.</a:t>
            </a:r>
            <a:endParaRPr lang="en-US" sz="950" dirty="0"/>
          </a:p>
        </p:txBody>
      </p:sp>
      <p:sp>
        <p:nvSpPr>
          <p:cNvPr id="13" name="Shape 11"/>
          <p:cNvSpPr/>
          <p:nvPr/>
        </p:nvSpPr>
        <p:spPr>
          <a:xfrm>
            <a:off x="3401568"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14" name="Text 12"/>
          <p:cNvSpPr/>
          <p:nvPr/>
        </p:nvSpPr>
        <p:spPr>
          <a:xfrm>
            <a:off x="3584448"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Wilcoxon signed-rank</a:t>
            </a:r>
            <a:endParaRPr lang="en-US" sz="1250" dirty="0"/>
          </a:p>
        </p:txBody>
      </p:sp>
      <p:sp>
        <p:nvSpPr>
          <p:cNvPr id="15" name="Text 13"/>
          <p:cNvSpPr/>
          <p:nvPr/>
        </p:nvSpPr>
        <p:spPr>
          <a:xfrm>
            <a:off x="3584448"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on the same fold differences</a:t>
            </a:r>
            <a:endParaRPr lang="en-US" sz="950" dirty="0"/>
          </a:p>
        </p:txBody>
      </p:sp>
      <p:sp>
        <p:nvSpPr>
          <p:cNvPr id="16" name="Text 14"/>
          <p:cNvSpPr/>
          <p:nvPr/>
        </p:nvSpPr>
        <p:spPr>
          <a:xfrm>
            <a:off x="3584448" y="2194560"/>
            <a:ext cx="2350008" cy="23774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non-parametric partner. Keeps only signs and ranks, so it drops normality. If both agree, the conclusion does not rest on that assumption.</a:t>
            </a:r>
            <a:endParaRPr lang="en-US" sz="1050" dirty="0"/>
          </a:p>
        </p:txBody>
      </p:sp>
      <p:sp>
        <p:nvSpPr>
          <p:cNvPr id="17" name="Shape 15"/>
          <p:cNvSpPr/>
          <p:nvPr/>
        </p:nvSpPr>
        <p:spPr>
          <a:xfrm>
            <a:off x="3584448"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18" name="Text 16"/>
          <p:cNvSpPr/>
          <p:nvPr/>
        </p:nvSpPr>
        <p:spPr>
          <a:xfrm>
            <a:off x="3721608"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19" name="Text 17"/>
          <p:cNvSpPr/>
          <p:nvPr/>
        </p:nvSpPr>
        <p:spPr>
          <a:xfrm>
            <a:off x="3721608" y="4919472"/>
            <a:ext cx="2075688" cy="118872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Assumes only symmetry. Underpowered at n = 5, so I read it as a check.</a:t>
            </a:r>
            <a:endParaRPr lang="en-US" sz="950" dirty="0"/>
          </a:p>
        </p:txBody>
      </p:sp>
      <p:sp>
        <p:nvSpPr>
          <p:cNvPr id="20" name="Shape 18"/>
          <p:cNvSpPr/>
          <p:nvPr/>
        </p:nvSpPr>
        <p:spPr>
          <a:xfrm>
            <a:off x="6300216"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21" name="Text 19"/>
          <p:cNvSpPr/>
          <p:nvPr/>
        </p:nvSpPr>
        <p:spPr>
          <a:xfrm>
            <a:off x="6483096"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McNemar's exact test</a:t>
            </a:r>
            <a:endParaRPr lang="en-US" sz="1250" dirty="0"/>
          </a:p>
        </p:txBody>
      </p:sp>
      <p:sp>
        <p:nvSpPr>
          <p:cNvPr id="22" name="Text 20"/>
          <p:cNvSpPr/>
          <p:nvPr/>
        </p:nvSpPr>
        <p:spPr>
          <a:xfrm>
            <a:off x="6483096"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on 6,508 shared test rows</a:t>
            </a:r>
            <a:endParaRPr lang="en-US" sz="950" dirty="0"/>
          </a:p>
        </p:txBody>
      </p:sp>
      <p:sp>
        <p:nvSpPr>
          <p:cNvPr id="23" name="Text 21"/>
          <p:cNvSpPr/>
          <p:nvPr/>
        </p:nvSpPr>
        <p:spPr>
          <a:xfrm>
            <a:off x="6483096" y="2194560"/>
            <a:ext cx="2350008" cy="23774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All three predict on the same rows, so errors are paired per row. It looks only where two models disagree and asks whether that split is far from 50/50.</a:t>
            </a:r>
            <a:endParaRPr lang="en-US" sz="1050" dirty="0"/>
          </a:p>
        </p:txBody>
      </p:sp>
      <p:sp>
        <p:nvSpPr>
          <p:cNvPr id="24" name="Shape 22"/>
          <p:cNvSpPr/>
          <p:nvPr/>
        </p:nvSpPr>
        <p:spPr>
          <a:xfrm>
            <a:off x="6483096"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25" name="Text 23"/>
          <p:cNvSpPr/>
          <p:nvPr/>
        </p:nvSpPr>
        <p:spPr>
          <a:xfrm>
            <a:off x="6620256"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26" name="Text 24"/>
          <p:cNvSpPr/>
          <p:nvPr/>
        </p:nvSpPr>
        <p:spPr>
          <a:xfrm>
            <a:off x="6620256" y="4919472"/>
            <a:ext cx="2075688" cy="118872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Assumes only that disagreements are independent across rows. Exact binomial, valid with few discordant pairs.</a:t>
            </a:r>
            <a:endParaRPr lang="en-US" sz="950" dirty="0"/>
          </a:p>
        </p:txBody>
      </p:sp>
      <p:sp>
        <p:nvSpPr>
          <p:cNvPr id="27" name="Shape 25"/>
          <p:cNvSpPr/>
          <p:nvPr/>
        </p:nvSpPr>
        <p:spPr>
          <a:xfrm>
            <a:off x="9198864" y="1234440"/>
            <a:ext cx="2715768" cy="5120640"/>
          </a:xfrm>
          <a:prstGeom prst="rect">
            <a:avLst/>
          </a:prstGeom>
          <a:solidFill>
            <a:srgbClr val="1C1E24"/>
          </a:solidFill>
          <a:ln w="12700">
            <a:solidFill>
              <a:srgbClr val="3A3F4A"/>
            </a:solidFill>
            <a:prstDash val="solid"/>
          </a:ln>
        </p:spPr>
        <p:txBody>
          <a:bodyPr/>
          <a:lstStyle/>
          <a:p>
            <a:endParaRPr lang="en-US"/>
          </a:p>
        </p:txBody>
      </p:sp>
      <p:sp>
        <p:nvSpPr>
          <p:cNvPr id="28" name="Text 26"/>
          <p:cNvSpPr/>
          <p:nvPr/>
        </p:nvSpPr>
        <p:spPr>
          <a:xfrm>
            <a:off x="9381744" y="1371600"/>
            <a:ext cx="2350008" cy="457200"/>
          </a:xfrm>
          <a:prstGeom prst="rect">
            <a:avLst/>
          </a:prstGeom>
          <a:noFill/>
          <a:ln/>
        </p:spPr>
        <p:txBody>
          <a:bodyPr wrap="square" lIns="0" tIns="0" rIns="0" bIns="0" rtlCol="0" anchor="t"/>
          <a:lstStyle/>
          <a:p>
            <a:pPr marL="0" indent="0">
              <a:buNone/>
            </a:pPr>
            <a:r>
              <a:rPr lang="en-US" sz="1250" b="1" dirty="0">
                <a:solidFill>
                  <a:srgbClr val="E8C15A"/>
                </a:solidFill>
                <a:latin typeface="Verdana" pitchFamily="34" charset="0"/>
                <a:ea typeface="Verdana" pitchFamily="34" charset="-122"/>
                <a:cs typeface="Verdana" pitchFamily="34" charset="-120"/>
              </a:rPr>
              <a:t>Paired bootstrap CI</a:t>
            </a:r>
            <a:endParaRPr lang="en-US" sz="1250" dirty="0"/>
          </a:p>
        </p:txBody>
      </p:sp>
      <p:sp>
        <p:nvSpPr>
          <p:cNvPr id="29" name="Text 27"/>
          <p:cNvSpPr/>
          <p:nvPr/>
        </p:nvSpPr>
        <p:spPr>
          <a:xfrm>
            <a:off x="9381744" y="1828800"/>
            <a:ext cx="2350008" cy="274320"/>
          </a:xfrm>
          <a:prstGeom prst="rect">
            <a:avLst/>
          </a:prstGeom>
          <a:noFill/>
          <a:ln/>
        </p:spPr>
        <p:txBody>
          <a:bodyPr wrap="square" lIns="0" tIns="0" rIns="0" bIns="0" rtlCol="0" anchor="ctr"/>
          <a:lstStyle/>
          <a:p>
            <a:pPr marL="0" indent="0">
              <a:buNone/>
            </a:pPr>
            <a:r>
              <a:rPr lang="en-US" sz="950" i="1" dirty="0">
                <a:solidFill>
                  <a:srgbClr val="6AA0FF"/>
                </a:solidFill>
                <a:latin typeface="Verdana" pitchFamily="34" charset="0"/>
                <a:ea typeface="Verdana" pitchFamily="34" charset="-122"/>
                <a:cs typeface="Verdana" pitchFamily="34" charset="-120"/>
              </a:rPr>
              <a:t>1,000 resamples of the test set</a:t>
            </a:r>
            <a:endParaRPr lang="en-US" sz="950" dirty="0"/>
          </a:p>
        </p:txBody>
      </p:sp>
      <p:sp>
        <p:nvSpPr>
          <p:cNvPr id="30" name="Text 28"/>
          <p:cNvSpPr/>
          <p:nvPr/>
        </p:nvSpPr>
        <p:spPr>
          <a:xfrm>
            <a:off x="9381744" y="2194560"/>
            <a:ext cx="2350008" cy="23774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Every model is scored on the identical resample, so the difference can be taken inside each replicate. That gives a CI directly on the difference instead of two intervals eyeballed for overlap.</a:t>
            </a:r>
            <a:endParaRPr lang="en-US" sz="1050" dirty="0"/>
          </a:p>
        </p:txBody>
      </p:sp>
      <p:sp>
        <p:nvSpPr>
          <p:cNvPr id="31" name="Shape 29"/>
          <p:cNvSpPr/>
          <p:nvPr/>
        </p:nvSpPr>
        <p:spPr>
          <a:xfrm>
            <a:off x="9381744" y="4572000"/>
            <a:ext cx="2350008" cy="1600200"/>
          </a:xfrm>
          <a:prstGeom prst="rect">
            <a:avLst/>
          </a:prstGeom>
          <a:solidFill>
            <a:srgbClr val="20242E"/>
          </a:solidFill>
          <a:ln w="12700">
            <a:solidFill>
              <a:srgbClr val="3A3F4A"/>
            </a:solidFill>
            <a:prstDash val="solid"/>
          </a:ln>
        </p:spPr>
        <p:txBody>
          <a:bodyPr/>
          <a:lstStyle/>
          <a:p>
            <a:endParaRPr lang="en-US"/>
          </a:p>
        </p:txBody>
      </p:sp>
      <p:sp>
        <p:nvSpPr>
          <p:cNvPr id="32" name="Text 30"/>
          <p:cNvSpPr/>
          <p:nvPr/>
        </p:nvSpPr>
        <p:spPr>
          <a:xfrm>
            <a:off x="9518904" y="4681728"/>
            <a:ext cx="2075688" cy="201168"/>
          </a:xfrm>
          <a:prstGeom prst="rect">
            <a:avLst/>
          </a:prstGeom>
          <a:noFill/>
          <a:ln/>
        </p:spPr>
        <p:txBody>
          <a:bodyPr wrap="square" lIns="0" tIns="0" rIns="0" bIns="0" rtlCol="0" anchor="ctr"/>
          <a:lstStyle/>
          <a:p>
            <a:pPr marL="0" indent="0">
              <a:buNone/>
            </a:pPr>
            <a:r>
              <a:rPr lang="en-US" sz="850" b="1" kern="0" spc="100" dirty="0">
                <a:solidFill>
                  <a:srgbClr val="E8C15A"/>
                </a:solidFill>
                <a:latin typeface="Verdana" pitchFamily="34" charset="0"/>
                <a:ea typeface="Verdana" pitchFamily="34" charset="-122"/>
                <a:cs typeface="Verdana" pitchFamily="34" charset="-120"/>
              </a:rPr>
              <a:t>ASSUMPTIONS</a:t>
            </a:r>
            <a:endParaRPr lang="en-US" sz="850" dirty="0"/>
          </a:p>
        </p:txBody>
      </p:sp>
      <p:sp>
        <p:nvSpPr>
          <p:cNvPr id="33" name="Text 31"/>
          <p:cNvSpPr/>
          <p:nvPr/>
        </p:nvSpPr>
        <p:spPr>
          <a:xfrm>
            <a:off x="9518904" y="4919472"/>
            <a:ext cx="2075688" cy="118872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Assumes nothing about the shape of the distribution, which is why it works for PR-AUC and the fairness gaps.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8</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Untuned models on the validation set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The before state, and the baseline my professor's checklist asks for</a:t>
            </a:r>
            <a:endParaRPr lang="en-US" sz="1200" dirty="0"/>
          </a:p>
        </p:txBody>
      </p:sp>
      <p:sp>
        <p:nvSpPr>
          <p:cNvPr id="6" name="Shape 4"/>
          <p:cNvSpPr/>
          <p:nvPr/>
        </p:nvSpPr>
        <p:spPr>
          <a:xfrm>
            <a:off x="502920" y="1234440"/>
            <a:ext cx="11201400" cy="25146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LIBRARY DEFAULTS, SAME PIPELINE, SAME VALIDATION ROWS</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1536192"/>
        </p:xfrm>
        <a:graphic>
          <a:graphicData uri="http://schemas.openxmlformats.org/drawingml/2006/table">
            <a:tbl>
              <a:tblPr/>
              <a:tblGrid>
                <a:gridCol w="2880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Model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Accuracy</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Precision</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Recall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ROC-AUC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Naive (majority class)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0.759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0.241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raw imbalance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0.848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0.722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0.603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0.657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 SMOTE  (the baseline)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0.580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0.850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XGBoost</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0.856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0.690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0.730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0.709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0.809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0.922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MLP</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0.594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0.793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0.679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0.744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0.893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bl>
          </a:graphicData>
        </a:graphic>
      </p:graphicFrame>
      <p:sp>
        <p:nvSpPr>
          <p:cNvPr id="9" name="Shape 6"/>
          <p:cNvSpPr/>
          <p:nvPr/>
        </p:nvSpPr>
        <p:spPr>
          <a:xfrm>
            <a:off x="502920" y="3931920"/>
            <a:ext cx="3566160" cy="2423160"/>
          </a:xfrm>
          <a:prstGeom prst="rect">
            <a:avLst/>
          </a:prstGeom>
          <a:solidFill>
            <a:srgbClr val="232631"/>
          </a:solidFill>
          <a:ln w="12700">
            <a:solidFill>
              <a:srgbClr val="3A3F4A"/>
            </a:solidFill>
            <a:prstDash val="solid"/>
          </a:ln>
        </p:spPr>
        <p:txBody>
          <a:bodyPr/>
          <a:lstStyle/>
          <a:p>
            <a:endParaRPr lang="en-US"/>
          </a:p>
        </p:txBody>
      </p:sp>
      <p:sp>
        <p:nvSpPr>
          <p:cNvPr id="8" name="Text 7"/>
          <p:cNvSpPr/>
          <p:nvPr/>
        </p:nvSpPr>
        <p:spPr>
          <a:xfrm>
            <a:off x="685800" y="4069080"/>
            <a:ext cx="32004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SMOTE DOES WHAT I WANTED</a:t>
            </a:r>
            <a:endParaRPr lang="en-US" sz="1050" dirty="0"/>
          </a:p>
        </p:txBody>
      </p:sp>
      <p:sp>
        <p:nvSpPr>
          <p:cNvPr id="11" name="Text 8"/>
          <p:cNvSpPr/>
          <p:nvPr/>
        </p:nvSpPr>
        <p:spPr>
          <a:xfrm>
            <a:off x="685800" y="4389120"/>
            <a:ext cx="320040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Recall goes from 0.603 to 0.850. The cost is precision, meaning more false alarms.</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For a lender that would rather review a borderline case than miss a real high earner, that is the right trade.</a:t>
            </a:r>
            <a:endParaRPr lang="en-US" sz="1100" dirty="0"/>
          </a:p>
        </p:txBody>
      </p:sp>
      <p:sp>
        <p:nvSpPr>
          <p:cNvPr id="12" name="Shape 9"/>
          <p:cNvSpPr/>
          <p:nvPr/>
        </p:nvSpPr>
        <p:spPr>
          <a:xfrm>
            <a:off x="4251960" y="3931920"/>
            <a:ext cx="3566160" cy="242316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4434840" y="4069080"/>
            <a:ext cx="320040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XGBOOST ALREADY LEADS</a:t>
            </a:r>
            <a:endParaRPr lang="en-US" sz="1050" dirty="0"/>
          </a:p>
        </p:txBody>
      </p:sp>
      <p:sp>
        <p:nvSpPr>
          <p:cNvPr id="14" name="Text 11"/>
          <p:cNvSpPr/>
          <p:nvPr/>
        </p:nvSpPr>
        <p:spPr>
          <a:xfrm>
            <a:off x="4434840" y="4389120"/>
            <a:ext cx="320040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0.809 PR-AUC against 0.773 for the baseline, with no tuning at all.</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It trades recall for a large gain in precision, which is where its higher F1 comes from.</a:t>
            </a:r>
            <a:endParaRPr lang="en-US" sz="1100" dirty="0"/>
          </a:p>
        </p:txBody>
      </p:sp>
      <p:sp>
        <p:nvSpPr>
          <p:cNvPr id="15" name="Shape 12"/>
          <p:cNvSpPr/>
          <p:nvPr/>
        </p:nvSpPr>
        <p:spPr>
          <a:xfrm>
            <a:off x="8001000" y="3931920"/>
            <a:ext cx="3703320" cy="2423160"/>
          </a:xfrm>
          <a:prstGeom prst="rect">
            <a:avLst/>
          </a:prstGeom>
          <a:solidFill>
            <a:srgbClr val="232631"/>
          </a:solidFill>
          <a:ln w="12700">
            <a:solidFill>
              <a:srgbClr val="3A3F4A"/>
            </a:solidFill>
            <a:prstDash val="solid"/>
          </a:ln>
        </p:spPr>
        <p:txBody>
          <a:bodyPr/>
          <a:lstStyle/>
          <a:p>
            <a:endParaRPr lang="en-US"/>
          </a:p>
        </p:txBody>
      </p:sp>
      <p:sp>
        <p:nvSpPr>
          <p:cNvPr id="16" name="Text 13"/>
          <p:cNvSpPr/>
          <p:nvPr/>
        </p:nvSpPr>
        <p:spPr>
          <a:xfrm>
            <a:off x="8183880" y="4069080"/>
            <a:ext cx="3337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MLP BELOW THE BASELINE</a:t>
            </a:r>
            <a:endParaRPr lang="en-US" sz="1050" dirty="0"/>
          </a:p>
        </p:txBody>
      </p:sp>
      <p:sp>
        <p:nvSpPr>
          <p:cNvPr id="17" name="Text 14"/>
          <p:cNvSpPr/>
          <p:nvPr/>
        </p:nvSpPr>
        <p:spPr>
          <a:xfrm>
            <a:off x="8183880" y="4389120"/>
            <a:ext cx="333756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0.744 PR-AUC, under the logistic regression's 0.773.</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First sign that this dataset is not large enough for the neural network to pull ahead, which was half of my H3 reasoning.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9</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Hyperparameter tuning</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Grid search: fit on train, score PR-AUC on validation, keep the best. The test set is not involved</a:t>
            </a:r>
            <a:endParaRPr lang="en-US" sz="1200" dirty="0"/>
          </a:p>
        </p:txBody>
      </p:sp>
      <p:sp>
        <p:nvSpPr>
          <p:cNvPr id="6" name="Shape 4"/>
          <p:cNvSpPr/>
          <p:nvPr/>
        </p:nvSpPr>
        <p:spPr>
          <a:xfrm>
            <a:off x="502920" y="1234440"/>
            <a:ext cx="5532120" cy="30632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EACH KNOB CONTROLS AND WHY IT MATTERS</a:t>
            </a:r>
            <a:endParaRPr lang="en-US" sz="1050" dirty="0"/>
          </a:p>
        </p:txBody>
      </p:sp>
      <p:sp>
        <p:nvSpPr>
          <p:cNvPr id="8" name="Text 6"/>
          <p:cNvSpPr/>
          <p:nvPr/>
        </p:nvSpPr>
        <p:spPr>
          <a:xfrm>
            <a:off x="685800" y="1691640"/>
            <a:ext cx="5166360" cy="2514600"/>
          </a:xfrm>
          <a:prstGeom prst="rect">
            <a:avLst/>
          </a:prstGeom>
          <a:noFill/>
          <a:ln/>
        </p:spPr>
        <p:txBody>
          <a:bodyPr wrap="square" lIns="0" tIns="0" rIns="0" bIns="0" rtlCol="0" anchor="t"/>
          <a:lstStyle/>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LR · C</a:t>
            </a:r>
            <a:endParaRPr lang="en-US" sz="900" dirty="0"/>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Inverse regularisation strength. Small C underfits, large C overfits.</a:t>
            </a:r>
            <a:endParaRPr lang="en-US" sz="900" dirty="0"/>
          </a:p>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LR · penalty</a:t>
            </a:r>
            <a:endParaRPr lang="en-US" sz="900" dirty="0"/>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L2 shrinks smoothly, L1 can zero coefficients out and act as a feature selector.</a:t>
            </a:r>
            <a:endParaRPr lang="en-US" sz="900" dirty="0"/>
          </a:p>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XGB · max_depth</a:t>
            </a:r>
            <a:endParaRPr lang="en-US" sz="900" dirty="0"/>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How deep each tree grows. Deeper trees express more interactions but memorise noise.</a:t>
            </a:r>
            <a:endParaRPr lang="en-US" sz="900" dirty="0"/>
          </a:p>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XGB · learning_rate / n_estimators</a:t>
            </a:r>
            <a:endParaRPr lang="en-US" sz="900" dirty="0"/>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How much each tree contributes, and how many there are. These trade directly.</a:t>
            </a:r>
            <a:endParaRPr lang="en-US" sz="900" dirty="0"/>
          </a:p>
          <a:p>
            <a:pPr marL="342900" indent="-342900">
              <a:spcAft>
                <a:spcPts val="700"/>
              </a:spcAft>
              <a:buSzPct val="100000"/>
              <a:buChar char="•"/>
            </a:pPr>
            <a:r>
              <a:rPr lang="en-US" sz="900" b="1" dirty="0">
                <a:solidFill>
                  <a:srgbClr val="F5F7FA"/>
                </a:solidFill>
                <a:latin typeface="Verdana" pitchFamily="34" charset="0"/>
                <a:ea typeface="Verdana" pitchFamily="34" charset="-122"/>
                <a:cs typeface="Verdana" pitchFamily="34" charset="-120"/>
              </a:rPr>
              <a:t>MLP · hidden_layer_sizes / alpha</a:t>
            </a:r>
            <a:endParaRPr lang="en-US" sz="900" dirty="0"/>
          </a:p>
          <a:p>
            <a:pPr marL="342900" indent="-342900">
              <a:spcAft>
                <a:spcPts val="700"/>
              </a:spcAft>
              <a:buSzPct val="100000"/>
              <a:buChar char="•"/>
            </a:pPr>
            <a:r>
              <a:rPr lang="en-US" sz="900" dirty="0">
                <a:solidFill>
                  <a:srgbClr val="9AA7BD"/>
                </a:solidFill>
                <a:latin typeface="Verdana" pitchFamily="34" charset="0"/>
                <a:ea typeface="Verdana" pitchFamily="34" charset="-122"/>
                <a:cs typeface="Verdana" pitchFamily="34" charset="-120"/>
              </a:rPr>
              <a:t>Capacity, and the weight penalty. More capacity needs more data, which is the H3 constraint.</a:t>
            </a:r>
            <a:endParaRPr lang="en-US" sz="900" dirty="0"/>
          </a:p>
        </p:txBody>
      </p:sp>
      <p:sp>
        <p:nvSpPr>
          <p:cNvPr id="9" name="Shape 7"/>
          <p:cNvSpPr/>
          <p:nvPr/>
        </p:nvSpPr>
        <p:spPr>
          <a:xfrm>
            <a:off x="6217920" y="1234440"/>
            <a:ext cx="5486400" cy="30632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CHOSEN VALUES, JUSTIFIED WITH BEFORE AND AFTER</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0" y="1737360"/>
          <a:ext cx="5120640" cy="1149096"/>
        </p:xfrm>
        <a:graphic>
          <a:graphicData uri="http://schemas.openxmlformats.org/drawingml/2006/table">
            <a:tbl>
              <a:tblPr/>
              <a:tblGrid>
                <a:gridCol w="914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Model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Chosen values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Untuned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Δ</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C=10, L1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0.7728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0.7737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+0.0009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depth 7, lr 0.05,</a:t>
                      </a:r>
                      <a:endParaRPr lang="en-US" sz="950" dirty="0">
                        <a:latin typeface="Verdana" charset="0"/>
                        <a:ea typeface="Verdana" charset="0"/>
                        <a:cs typeface="Verdana" charset="0"/>
                      </a:endParaRPr>
                    </a:p>
                    <a:p>
                      <a:pPr marL="0" indent="0" algn="ctr">
                        <a:buNone/>
                      </a:pPr>
                      <a:r>
                        <a:rPr lang="en-US" sz="950" dirty="0">
                          <a:solidFill>
                            <a:srgbClr val="9AA7BD"/>
                          </a:solidFill>
                          <a:latin typeface="Verdana" pitchFamily="34" charset="0"/>
                          <a:ea typeface="Verdana" pitchFamily="34" charset="-122"/>
                          <a:cs typeface="Verdana" pitchFamily="34" charset="-120"/>
                        </a:rPr>
                        <a:t>400 trees, subsample 0.8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0.8091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0.8110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+0.0019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(50,), alpha 0.01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0.7435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0.7747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+0.0311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2" name="Text 9"/>
          <p:cNvSpPr/>
          <p:nvPr/>
        </p:nvSpPr>
        <p:spPr>
          <a:xfrm>
            <a:off x="6400800" y="3886200"/>
            <a:ext cx="5120640" cy="27432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Validation PR-AUC before and after tuning.</a:t>
            </a:r>
            <a:endParaRPr lang="en-US" sz="950" dirty="0"/>
          </a:p>
        </p:txBody>
      </p:sp>
      <p:sp>
        <p:nvSpPr>
          <p:cNvPr id="13" name="Shape 10"/>
          <p:cNvSpPr/>
          <p:nvPr/>
        </p:nvSpPr>
        <p:spPr>
          <a:xfrm>
            <a:off x="502920" y="4480560"/>
            <a:ext cx="11201400" cy="1874520"/>
          </a:xfrm>
          <a:prstGeom prst="rect">
            <a:avLst/>
          </a:prstGeom>
          <a:solidFill>
            <a:srgbClr val="232631"/>
          </a:solidFill>
          <a:ln w="12700">
            <a:solidFill>
              <a:srgbClr val="3A3F4A"/>
            </a:solidFill>
            <a:prstDash val="solid"/>
          </a:ln>
        </p:spPr>
        <p:txBody>
          <a:bodyPr/>
          <a:lstStyle/>
          <a:p>
            <a:endParaRPr lang="en-US"/>
          </a:p>
        </p:txBody>
      </p:sp>
      <p:sp>
        <p:nvSpPr>
          <p:cNvPr id="14" name="Text 11"/>
          <p:cNvSpPr/>
          <p:nvPr/>
        </p:nvSpPr>
        <p:spPr>
          <a:xfrm>
            <a:off x="685800" y="4599432"/>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THE THREE NUMBERS DIFFER SO MUCH</a:t>
            </a:r>
            <a:endParaRPr lang="en-US" sz="1050" dirty="0"/>
          </a:p>
        </p:txBody>
      </p:sp>
      <p:sp>
        <p:nvSpPr>
          <p:cNvPr id="15" name="Text 12"/>
          <p:cNvSpPr/>
          <p:nvPr/>
        </p:nvSpPr>
        <p:spPr>
          <a:xfrm>
            <a:off x="685800" y="4919472"/>
            <a:ext cx="3520440" cy="256032"/>
          </a:xfrm>
          <a:prstGeom prst="rect">
            <a:avLst/>
          </a:prstGeom>
          <a:noFill/>
          <a:ln/>
        </p:spPr>
        <p:txBody>
          <a:bodyPr wrap="square" lIns="0" tIns="0" rIns="0" bIns="0" rtlCol="0" anchor="ctr"/>
          <a:lstStyle/>
          <a:p>
            <a:pPr marL="0" indent="0">
              <a:buNone/>
            </a:pPr>
            <a:r>
              <a:rPr lang="en-US" sz="1100" b="1" dirty="0">
                <a:solidFill>
                  <a:srgbClr val="E8C15A"/>
                </a:solidFill>
                <a:latin typeface="Verdana" pitchFamily="34" charset="0"/>
                <a:ea typeface="Verdana" pitchFamily="34" charset="-122"/>
                <a:cs typeface="Verdana" pitchFamily="34" charset="-120"/>
              </a:rPr>
              <a:t>Logistic regression barely moves</a:t>
            </a:r>
            <a:endParaRPr lang="en-US" sz="1100" dirty="0"/>
          </a:p>
        </p:txBody>
      </p:sp>
      <p:sp>
        <p:nvSpPr>
          <p:cNvPr id="16" name="Text 13"/>
          <p:cNvSpPr/>
          <p:nvPr/>
        </p:nvSpPr>
        <p:spPr>
          <a:xfrm>
            <a:off x="685800" y="5193792"/>
            <a:ext cx="3520440" cy="10515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Low variance, two knobs, and the validation curve was already flat by C = 1. It was near its ceiling before I started.</a:t>
            </a:r>
            <a:endParaRPr lang="en-US" sz="950" dirty="0"/>
          </a:p>
        </p:txBody>
      </p:sp>
      <p:sp>
        <p:nvSpPr>
          <p:cNvPr id="17" name="Text 14"/>
          <p:cNvSpPr/>
          <p:nvPr/>
        </p:nvSpPr>
        <p:spPr>
          <a:xfrm>
            <a:off x="4434840" y="4919472"/>
            <a:ext cx="3520440" cy="256032"/>
          </a:xfrm>
          <a:prstGeom prst="rect">
            <a:avLst/>
          </a:prstGeom>
          <a:noFill/>
          <a:ln/>
        </p:spPr>
        <p:txBody>
          <a:bodyPr wrap="square" lIns="0" tIns="0" rIns="0" bIns="0" rtlCol="0" anchor="ctr"/>
          <a:lstStyle/>
          <a:p>
            <a:pPr marL="0" indent="0">
              <a:buNone/>
            </a:pPr>
            <a:r>
              <a:rPr lang="en-US" sz="1100" b="1" dirty="0">
                <a:solidFill>
                  <a:srgbClr val="E8C15A"/>
                </a:solidFill>
                <a:latin typeface="Verdana" pitchFamily="34" charset="0"/>
                <a:ea typeface="Verdana" pitchFamily="34" charset="-122"/>
                <a:cs typeface="Verdana" pitchFamily="34" charset="-120"/>
              </a:rPr>
              <a:t>XGBoost barely moves either</a:t>
            </a:r>
            <a:endParaRPr lang="en-US" sz="1100" dirty="0"/>
          </a:p>
        </p:txBody>
      </p:sp>
      <p:sp>
        <p:nvSpPr>
          <p:cNvPr id="18" name="Text 15"/>
          <p:cNvSpPr/>
          <p:nvPr/>
        </p:nvSpPr>
        <p:spPr>
          <a:xfrm>
            <a:off x="4434840" y="5193792"/>
            <a:ext cx="3520440" cy="10515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Its defaults are already sensible for tabular data of this size. It led untuned and stayed there.</a:t>
            </a:r>
            <a:endParaRPr lang="en-US" sz="950" dirty="0"/>
          </a:p>
        </p:txBody>
      </p:sp>
      <p:sp>
        <p:nvSpPr>
          <p:cNvPr id="19" name="Text 16"/>
          <p:cNvSpPr/>
          <p:nvPr/>
        </p:nvSpPr>
        <p:spPr>
          <a:xfrm>
            <a:off x="8183880" y="4919472"/>
            <a:ext cx="3520440" cy="256032"/>
          </a:xfrm>
          <a:prstGeom prst="rect">
            <a:avLst/>
          </a:prstGeom>
          <a:noFill/>
          <a:ln/>
        </p:spPr>
        <p:txBody>
          <a:bodyPr wrap="square" lIns="0" tIns="0" rIns="0" bIns="0" rtlCol="0" anchor="ctr"/>
          <a:lstStyle/>
          <a:p>
            <a:pPr marL="0" indent="0">
              <a:buNone/>
            </a:pPr>
            <a:r>
              <a:rPr lang="en-US" sz="1100" b="1" dirty="0">
                <a:solidFill>
                  <a:srgbClr val="E8C15A"/>
                </a:solidFill>
                <a:latin typeface="Verdana" pitchFamily="34" charset="0"/>
                <a:ea typeface="Verdana" pitchFamily="34" charset="-122"/>
                <a:cs typeface="Verdana" pitchFamily="34" charset="-120"/>
              </a:rPr>
              <a:t>The MLP needed tuning most</a:t>
            </a:r>
            <a:endParaRPr lang="en-US" sz="1100" dirty="0"/>
          </a:p>
        </p:txBody>
      </p:sp>
      <p:sp>
        <p:nvSpPr>
          <p:cNvPr id="20" name="Text 17"/>
          <p:cNvSpPr/>
          <p:nvPr/>
        </p:nvSpPr>
        <p:spPr>
          <a:xfrm>
            <a:off x="8183880" y="5193792"/>
            <a:ext cx="3520440" cy="10515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The smallest network with the strongest penalty won. A model that improves when I shrink it is telling me it lacks data for its capacity.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10</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Cross-validation on identical folds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Mean, standard deviation, and variance across five stratified folds on the training rows</a:t>
            </a:r>
            <a:endParaRPr lang="en-US" sz="1200" dirty="0"/>
          </a:p>
        </p:txBody>
      </p:sp>
      <p:sp>
        <p:nvSpPr>
          <p:cNvPr id="6" name="Shape 4"/>
          <p:cNvSpPr/>
          <p:nvPr/>
        </p:nvSpPr>
        <p:spPr>
          <a:xfrm>
            <a:off x="502920" y="1234440"/>
            <a:ext cx="11201400" cy="22860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ALL THREE MODELS SCORED ON THE SAME FIVE FOLDS</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1164336"/>
        </p:xfrm>
        <a:graphic>
          <a:graphicData uri="http://schemas.openxmlformats.org/drawingml/2006/table">
            <a:tbl>
              <a:tblPr/>
              <a:tblGrid>
                <a:gridCol w="2331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1234440">
                  <a:extLst>
                    <a:ext uri="{9D8B030D-6E8A-4147-A177-3AD203B41FA5}">
                      <a16:colId xmlns:a16="http://schemas.microsoft.com/office/drawing/2014/main" val="20007"/>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Model</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PR-AUC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PR-AUC std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PR-AUC var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F1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F1 std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Recall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Accuracy 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Logistic regression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0.7797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0.0001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0.6876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0.0109</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0.8371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0.8168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0.7878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0.0143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0.6905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0.8348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0.8197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0.8186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0.0114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0.0001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0.7198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0.0101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0.7385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0.8615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Shape 6"/>
          <p:cNvSpPr/>
          <p:nvPr/>
        </p:nvSpPr>
        <p:spPr>
          <a:xfrm>
            <a:off x="502920" y="3703320"/>
            <a:ext cx="5532120" cy="265176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685800" y="384048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THE SPREAD TELLS ME</a:t>
            </a:r>
            <a:endParaRPr lang="en-US" sz="1050" dirty="0"/>
          </a:p>
        </p:txBody>
      </p:sp>
      <p:sp>
        <p:nvSpPr>
          <p:cNvPr id="11" name="Text 8"/>
          <p:cNvSpPr/>
          <p:nvPr/>
        </p:nvSpPr>
        <p:spPr>
          <a:xfrm>
            <a:off x="685800" y="4160520"/>
            <a:ext cx="5166360" cy="20574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Standard deviations around 0.01, so no model is riding on one lucky split</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Variance is 0.0001 to 0.0002, small relative to the 0.039 gap between XGBoost and the baseline, which is why the tests can detect it</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XGBoost leads on PR-AUC, F1, and accuracy but has the lowest recall, since it sits at a more conservative operating point</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That matters later: the models are not at the same recall, so their fairness gaps are not measured at the same place</a:t>
            </a:r>
            <a:endParaRPr lang="en-US" sz="1100" dirty="0"/>
          </a:p>
        </p:txBody>
      </p:sp>
      <p:sp>
        <p:nvSpPr>
          <p:cNvPr id="8" name="Shape 9"/>
          <p:cNvSpPr/>
          <p:nvPr/>
        </p:nvSpPr>
        <p:spPr>
          <a:xfrm>
            <a:off x="6217920" y="3703320"/>
            <a:ext cx="5486400" cy="265176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6400800" y="384048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95% CI ON CROSS-VALIDATED PR-AUC</a:t>
            </a:r>
            <a:endParaRPr lang="en-US" sz="105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400800" y="4206240"/>
          <a:ext cx="5120640" cy="1024128"/>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Model</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Mean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95% CI</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Width</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0.7797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0.7667 – 0.7927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0.0260</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0.7878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0.7701 – 0.8055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0.0354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0.8186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0.8044 – 0.8328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0.0284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5" name="Text 11"/>
          <p:cNvSpPr/>
          <p:nvPr/>
        </p:nvSpPr>
        <p:spPr>
          <a:xfrm>
            <a:off x="6400800" y="5532120"/>
            <a:ext cx="5120640" cy="73152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Mean ± t(0.975, 4) × the standard error of the fold scores. These rest on five numbers, so they are wider than the bootstrap intervals later.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11</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Paired tests on the same five folds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Both tests run on the per-fold differences, because every model saw identical folds</a:t>
            </a:r>
            <a:endParaRPr lang="en-US" sz="1200" dirty="0"/>
          </a:p>
        </p:txBody>
      </p:sp>
      <p:sp>
        <p:nvSpPr>
          <p:cNvPr id="6" name="Shape 4"/>
          <p:cNvSpPr/>
          <p:nvPr/>
        </p:nvSpPr>
        <p:spPr>
          <a:xfrm>
            <a:off x="502920" y="1234440"/>
            <a:ext cx="6949440" cy="31089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65836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PAIRED T-TEST AND WILCOXON SIGNED-RANK</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6583680" cy="1792224"/>
        </p:xfrm>
        <a:graphic>
          <a:graphicData uri="http://schemas.openxmlformats.org/drawingml/2006/table">
            <a:tbl>
              <a:tblPr/>
              <a:tblGrid>
                <a:gridCol w="914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Metric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Comparison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Mean diff</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t p-value</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Wilcoxon 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PR-AUC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0.0389</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12.99</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PR-AUC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0.0308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7.72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0.0015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PR-AUC</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0.0081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4.34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0.0123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F1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0.0322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7.12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0.0021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F1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 vs MLP</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0.0293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10.51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5FBF8F"/>
                          </a:solidFill>
                          <a:latin typeface="Verdana" pitchFamily="34" charset="0"/>
                          <a:ea typeface="Verdana" pitchFamily="34" charset="-122"/>
                          <a:cs typeface="Verdana" pitchFamily="34" charset="-120"/>
                        </a:rPr>
                        <a:t>0.0005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0.0625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r h="256032">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F1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MLP vs LR</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0.0028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1.41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E07A5F"/>
                          </a:solidFill>
                          <a:latin typeface="Verdana" pitchFamily="34" charset="0"/>
                          <a:ea typeface="Verdana" pitchFamily="34" charset="-122"/>
                          <a:cs typeface="Verdana" pitchFamily="34" charset="-120"/>
                        </a:rPr>
                        <a:t>0.2317</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0.1875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6"/>
                  </a:ext>
                </a:extLst>
              </a:tr>
            </a:tbl>
          </a:graphicData>
        </a:graphic>
      </p:graphicFrame>
      <p:sp>
        <p:nvSpPr>
          <p:cNvPr id="9" name="Shape 6"/>
          <p:cNvSpPr/>
          <p:nvPr/>
        </p:nvSpPr>
        <p:spPr>
          <a:xfrm>
            <a:off x="7635240" y="1234440"/>
            <a:ext cx="4069080" cy="3108960"/>
          </a:xfrm>
          <a:prstGeom prst="rect">
            <a:avLst/>
          </a:prstGeom>
          <a:solidFill>
            <a:srgbClr val="232631"/>
          </a:solidFill>
          <a:ln w="12700">
            <a:solidFill>
              <a:srgbClr val="3A3F4A"/>
            </a:solidFill>
            <a:prstDash val="solid"/>
          </a:ln>
        </p:spPr>
        <p:txBody>
          <a:bodyPr/>
          <a:lstStyle/>
          <a:p>
            <a:endParaRPr lang="en-US"/>
          </a:p>
        </p:txBody>
      </p:sp>
      <p:sp>
        <p:nvSpPr>
          <p:cNvPr id="10" name="Text 7"/>
          <p:cNvSpPr/>
          <p:nvPr/>
        </p:nvSpPr>
        <p:spPr>
          <a:xfrm>
            <a:off x="7818120" y="1371600"/>
            <a:ext cx="37033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EVERY WILCOXON P IS 0.0625</a:t>
            </a:r>
            <a:endParaRPr lang="en-US" sz="1050" dirty="0"/>
          </a:p>
        </p:txBody>
      </p:sp>
      <p:sp>
        <p:nvSpPr>
          <p:cNvPr id="11" name="Text 8"/>
          <p:cNvSpPr/>
          <p:nvPr/>
        </p:nvSpPr>
        <p:spPr>
          <a:xfrm>
            <a:off x="7818120" y="1691640"/>
            <a:ext cx="3703320" cy="2468880"/>
          </a:xfrm>
          <a:prstGeom prst="rect">
            <a:avLst/>
          </a:prstGeom>
          <a:noFill/>
          <a:ln/>
        </p:spPr>
        <p:txBody>
          <a:bodyPr wrap="square" lIns="0" tIns="0" rIns="0" bIns="0" rtlCol="0" anchor="t"/>
          <a:lstStyle/>
          <a:p>
            <a:pPr marL="0" indent="0">
              <a:spcAft>
                <a:spcPts val="600"/>
              </a:spcAft>
              <a:buNone/>
            </a:pPr>
            <a:r>
              <a:rPr lang="en-US" sz="1050" dirty="0">
                <a:solidFill>
                  <a:srgbClr val="F5F7FA"/>
                </a:solidFill>
                <a:latin typeface="Verdana" pitchFamily="34" charset="0"/>
                <a:ea typeface="Verdana" pitchFamily="34" charset="-122"/>
                <a:cs typeface="Verdana" pitchFamily="34" charset="-120"/>
              </a:rPr>
              <a:t>That is the floor of the test, not weak evidence.</a:t>
            </a:r>
            <a:endParaRPr lang="en-US" sz="1050" dirty="0"/>
          </a:p>
          <a:p>
            <a:pPr marL="0" indent="0">
              <a:spcAft>
                <a:spcPts val="600"/>
              </a:spcAft>
              <a:buNone/>
            </a:pPr>
            <a:endParaRPr lang="en-US" sz="1050" dirty="0"/>
          </a:p>
          <a:p>
            <a:pPr marL="0" indent="0">
              <a:spcAft>
                <a:spcPts val="600"/>
              </a:spcAft>
              <a:buNone/>
            </a:pPr>
            <a:r>
              <a:rPr lang="en-US" sz="1050" dirty="0">
                <a:solidFill>
                  <a:srgbClr val="F5F7FA"/>
                </a:solidFill>
                <a:latin typeface="Verdana" pitchFamily="34" charset="0"/>
                <a:ea typeface="Verdana" pitchFamily="34" charset="-122"/>
                <a:cs typeface="Verdana" pitchFamily="34" charset="-120"/>
              </a:rPr>
              <a:t>With five paired observations there are only 2⁵ = 32 sign patterns, so the most extreme still leaves 1/16 of the probability in the tails.</a:t>
            </a:r>
            <a:endParaRPr lang="en-US" sz="1050" dirty="0"/>
          </a:p>
          <a:p>
            <a:pPr marL="0" indent="0">
              <a:spcAft>
                <a:spcPts val="600"/>
              </a:spcAft>
              <a:buNone/>
            </a:pPr>
            <a:endParaRPr lang="en-US" sz="1050" dirty="0"/>
          </a:p>
          <a:p>
            <a:pPr marL="0" indent="0">
              <a:spcAft>
                <a:spcPts val="600"/>
              </a:spcAft>
              <a:buNone/>
            </a:pPr>
            <a:r>
              <a:rPr lang="en-US" sz="1050" dirty="0">
                <a:solidFill>
                  <a:srgbClr val="F5F7FA"/>
                </a:solidFill>
                <a:latin typeface="Verdana" pitchFamily="34" charset="0"/>
                <a:ea typeface="Verdana" pitchFamily="34" charset="-122"/>
                <a:cs typeface="Verdana" pitchFamily="34" charset="-120"/>
              </a:rPr>
              <a:t>Wilcoxon cannot return anything under 0.05 at n = 5, no matter how clean the result.</a:t>
            </a:r>
            <a:endParaRPr lang="en-US" sz="1050" dirty="0"/>
          </a:p>
        </p:txBody>
      </p:sp>
      <p:sp>
        <p:nvSpPr>
          <p:cNvPr id="12" name="Shape 9"/>
          <p:cNvSpPr/>
          <p:nvPr/>
        </p:nvSpPr>
        <p:spPr>
          <a:xfrm>
            <a:off x="502920" y="4572000"/>
            <a:ext cx="11201400" cy="868680"/>
          </a:xfrm>
          <a:prstGeom prst="rect">
            <a:avLst/>
          </a:prstGeom>
          <a:solidFill>
            <a:srgbClr val="20242E"/>
          </a:solidFill>
          <a:ln w="12700">
            <a:solidFill>
              <a:srgbClr val="E8C15A"/>
            </a:solidFill>
            <a:prstDash val="solid"/>
          </a:ln>
        </p:spPr>
        <p:txBody>
          <a:bodyPr/>
          <a:lstStyle/>
          <a:p>
            <a:endParaRPr lang="en-US"/>
          </a:p>
        </p:txBody>
      </p:sp>
      <p:sp>
        <p:nvSpPr>
          <p:cNvPr id="8" name="Text 10"/>
          <p:cNvSpPr/>
          <p:nvPr/>
        </p:nvSpPr>
        <p:spPr>
          <a:xfrm>
            <a:off x="777240" y="4617720"/>
            <a:ext cx="10652760" cy="777240"/>
          </a:xfrm>
          <a:prstGeom prst="rect">
            <a:avLst/>
          </a:prstGeom>
          <a:noFill/>
          <a:ln/>
        </p:spPr>
        <p:txBody>
          <a:bodyPr wrap="square" lIns="0" tIns="0" rIns="0" bIns="0" rtlCol="0" anchor="ctr"/>
          <a:lstStyle/>
          <a:p>
            <a:pPr marL="0" indent="0" algn="ctr">
              <a:buNone/>
            </a:pPr>
            <a:r>
              <a:rPr lang="en-US" sz="1150" dirty="0">
                <a:solidFill>
                  <a:srgbClr val="E8C15A"/>
                </a:solidFill>
                <a:latin typeface="Verdana" pitchFamily="34" charset="0"/>
                <a:ea typeface="Verdana" pitchFamily="34" charset="-122"/>
                <a:cs typeface="Verdana" pitchFamily="34" charset="-120"/>
              </a:rPr>
              <a:t>The 0.0625 does tell me something useful: XGBoost won on all five folds. A test that cannot reach significance is a limitation of running a rank test on five numbers, not evidence against the difference.</a:t>
            </a:r>
            <a:endParaRPr lang="en-US" sz="1150" dirty="0"/>
          </a:p>
        </p:txBody>
      </p:sp>
      <p:sp>
        <p:nvSpPr>
          <p:cNvPr id="14" name="Shape 11"/>
          <p:cNvSpPr/>
          <p:nvPr/>
        </p:nvSpPr>
        <p:spPr>
          <a:xfrm>
            <a:off x="502920" y="5623560"/>
            <a:ext cx="11201400" cy="731520"/>
          </a:xfrm>
          <a:prstGeom prst="rect">
            <a:avLst/>
          </a:prstGeom>
          <a:solidFill>
            <a:srgbClr val="232631"/>
          </a:solidFill>
          <a:ln w="12700">
            <a:solidFill>
              <a:srgbClr val="3A3F4A"/>
            </a:solidFill>
            <a:prstDash val="solid"/>
          </a:ln>
        </p:spPr>
        <p:txBody>
          <a:bodyPr/>
          <a:lstStyle/>
          <a:p>
            <a:endParaRPr lang="en-US"/>
          </a:p>
        </p:txBody>
      </p:sp>
      <p:sp>
        <p:nvSpPr>
          <p:cNvPr id="15" name="Text 12"/>
          <p:cNvSpPr/>
          <p:nvPr/>
        </p:nvSpPr>
        <p:spPr>
          <a:xfrm>
            <a:off x="777240" y="5806440"/>
            <a:ext cx="10652760" cy="4572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On PR-AUC every comparison is significant. On F1 the two XGBoost comparisons are, and MLP against the baseline is not, at p = 0.23. So the MLP has a small ranking advantage that disappears once a threshold is applied.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12</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Confidence level, interval width, and sample size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The same difference, the same five folds, three confidence levels</a:t>
            </a:r>
            <a:endParaRPr lang="en-US" sz="1200" dirty="0"/>
          </a:p>
        </p:txBody>
      </p:sp>
      <p:sp>
        <p:nvSpPr>
          <p:cNvPr id="6" name="Shape 4"/>
          <p:cNvSpPr/>
          <p:nvPr/>
        </p:nvSpPr>
        <p:spPr>
          <a:xfrm>
            <a:off x="502920" y="1234440"/>
            <a:ext cx="5532120" cy="27432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CI ON THE XGBOOST MINUS LR PR-AUC DIFFERENCE</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166360" cy="1024128"/>
        </p:xfrm>
        <a:graphic>
          <a:graphicData uri="http://schemas.openxmlformats.org/drawingml/2006/table">
            <a:tbl>
              <a:tblPr/>
              <a:tblGrid>
                <a:gridCol w="914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Level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Interval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Width</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Excludes 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90%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0.0325 – 0.0453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0.0128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yes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95%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0.0306 – 0.0472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0.0166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yes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99%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0.0251 – 0.0527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0.0276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yes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Text 6"/>
          <p:cNvSpPr/>
          <p:nvPr/>
        </p:nvSpPr>
        <p:spPr>
          <a:xfrm>
            <a:off x="685800" y="3154680"/>
            <a:ext cx="5166360" cy="73152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Higher confidence means a wider net. Nothing about the data changed between these three rows.</a:t>
            </a:r>
            <a:endParaRPr lang="en-US" sz="1050" dirty="0"/>
          </a:p>
        </p:txBody>
      </p:sp>
      <p:sp>
        <p:nvSpPr>
          <p:cNvPr id="10" name="Shape 7"/>
          <p:cNvSpPr/>
          <p:nvPr/>
        </p:nvSpPr>
        <p:spPr>
          <a:xfrm>
            <a:off x="6217920" y="1234440"/>
            <a:ext cx="5486400" cy="2743200"/>
          </a:xfrm>
          <a:prstGeom prst="rect">
            <a:avLst/>
          </a:prstGeom>
          <a:solidFill>
            <a:srgbClr val="232631"/>
          </a:solidFill>
          <a:ln w="12700">
            <a:solidFill>
              <a:srgbClr val="3A3F4A"/>
            </a:solidFill>
            <a:prstDash val="solid"/>
          </a:ln>
        </p:spPr>
        <p:txBody>
          <a:bodyPr/>
          <a:lstStyle/>
          <a:p>
            <a:endParaRPr lang="en-US"/>
          </a:p>
        </p:txBody>
      </p:sp>
      <p:sp>
        <p:nvSpPr>
          <p:cNvPr id="11"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COUNTS AS A GOOD INTERVAL</a:t>
            </a:r>
            <a:endParaRPr lang="en-US" sz="1050" dirty="0"/>
          </a:p>
        </p:txBody>
      </p:sp>
      <p:sp>
        <p:nvSpPr>
          <p:cNvPr id="12" name="Text 9"/>
          <p:cNvSpPr/>
          <p:nvPr/>
        </p:nvSpPr>
        <p:spPr>
          <a:xfrm>
            <a:off x="6400800" y="1691640"/>
            <a:ext cx="5120640" cy="210312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 narrow interval at a low confidence level is not impressive, since I bought the tightness by lowering the bar</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What I want is narrow at a high confidence level</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The only way to get both is more data, since width shrinks with the square root of the sample size</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So where an interval on a difference contains zero, the honest reading is that this dataset lacks the rows to settle it, not that the two things are equal</a:t>
            </a:r>
            <a:endParaRPr lang="en-US" sz="1050" dirty="0"/>
          </a:p>
        </p:txBody>
      </p:sp>
      <p:sp>
        <p:nvSpPr>
          <p:cNvPr id="13" name="Shape 10"/>
          <p:cNvSpPr/>
          <p:nvPr/>
        </p:nvSpPr>
        <p:spPr>
          <a:xfrm>
            <a:off x="502920" y="4160520"/>
            <a:ext cx="11201400" cy="2194560"/>
          </a:xfrm>
          <a:prstGeom prst="rect">
            <a:avLst/>
          </a:prstGeom>
          <a:solidFill>
            <a:srgbClr val="1C1E24"/>
          </a:solidFill>
          <a:ln w="12700">
            <a:solidFill>
              <a:srgbClr val="3A3F4A"/>
            </a:solidFill>
            <a:prstDash val="solid"/>
          </a:ln>
        </p:spPr>
        <p:txBody>
          <a:bodyPr/>
          <a:lstStyle/>
          <a:p>
            <a:endParaRPr lang="en-US"/>
          </a:p>
        </p:txBody>
      </p:sp>
      <p:sp>
        <p:nvSpPr>
          <p:cNvPr id="8" name="Text 11"/>
          <p:cNvSpPr/>
          <p:nvPr/>
        </p:nvSpPr>
        <p:spPr>
          <a:xfrm>
            <a:off x="685800" y="429768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MORE DATA HELPS ME</a:t>
            </a:r>
            <a:endParaRPr lang="en-US" sz="1050" dirty="0"/>
          </a:p>
        </p:txBody>
      </p:sp>
      <p:sp>
        <p:nvSpPr>
          <p:cNvPr id="15" name="Text 12"/>
          <p:cNvSpPr/>
          <p:nvPr/>
        </p:nvSpPr>
        <p:spPr>
          <a:xfrm>
            <a:off x="685800" y="4617720"/>
            <a:ext cx="5303520" cy="274320"/>
          </a:xfrm>
          <a:prstGeom prst="rect">
            <a:avLst/>
          </a:prstGeom>
          <a:noFill/>
          <a:ln/>
        </p:spPr>
        <p:txBody>
          <a:bodyPr wrap="square" lIns="0" tIns="0" rIns="0" bIns="0" rtlCol="0" anchor="ctr"/>
          <a:lstStyle/>
          <a:p>
            <a:pPr marL="0" indent="0">
              <a:buNone/>
            </a:pPr>
            <a:r>
              <a:rPr lang="en-US" sz="1250" b="1" dirty="0">
                <a:solidFill>
                  <a:srgbClr val="9AA7BD"/>
                </a:solidFill>
                <a:latin typeface="Verdana" pitchFamily="34" charset="0"/>
                <a:ea typeface="Verdana" pitchFamily="34" charset="-122"/>
                <a:cs typeface="Verdana" pitchFamily="34" charset="-120"/>
              </a:rPr>
              <a:t>Five fold scores</a:t>
            </a:r>
            <a:endParaRPr lang="en-US" sz="1250" dirty="0"/>
          </a:p>
        </p:txBody>
      </p:sp>
      <p:sp>
        <p:nvSpPr>
          <p:cNvPr id="16" name="Text 13"/>
          <p:cNvSpPr/>
          <p:nvPr/>
        </p:nvSpPr>
        <p:spPr>
          <a:xfrm>
            <a:off x="685800" y="4937760"/>
            <a:ext cx="5303520" cy="118872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95% CI on cross-validated PR-AUC, computed from five numbers:</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LR 0.0260 wide   ·   MLP 0.0354 wide   ·   XGBoost 0.0284 wide</a:t>
            </a:r>
            <a:endParaRPr lang="en-US" sz="1100" dirty="0"/>
          </a:p>
        </p:txBody>
      </p:sp>
      <p:sp>
        <p:nvSpPr>
          <p:cNvPr id="17" name="Text 14"/>
          <p:cNvSpPr/>
          <p:nvPr/>
        </p:nvSpPr>
        <p:spPr>
          <a:xfrm>
            <a:off x="6309360" y="4617720"/>
            <a:ext cx="5303520" cy="274320"/>
          </a:xfrm>
          <a:prstGeom prst="rect">
            <a:avLst/>
          </a:prstGeom>
          <a:noFill/>
          <a:ln/>
        </p:spPr>
        <p:txBody>
          <a:bodyPr wrap="square" lIns="0" tIns="0" rIns="0" bIns="0" rtlCol="0" anchor="ctr"/>
          <a:lstStyle/>
          <a:p>
            <a:pPr marL="0" indent="0">
              <a:buNone/>
            </a:pPr>
            <a:r>
              <a:rPr lang="en-US" sz="1250" b="1" dirty="0">
                <a:solidFill>
                  <a:srgbClr val="E8C15A"/>
                </a:solidFill>
                <a:latin typeface="Verdana" pitchFamily="34" charset="0"/>
                <a:ea typeface="Verdana" pitchFamily="34" charset="-122"/>
                <a:cs typeface="Verdana" pitchFamily="34" charset="-120"/>
              </a:rPr>
              <a:t>6,508 test rows (bootstrap)</a:t>
            </a:r>
            <a:endParaRPr lang="en-US" sz="1250" dirty="0"/>
          </a:p>
        </p:txBody>
      </p:sp>
      <p:sp>
        <p:nvSpPr>
          <p:cNvPr id="18" name="Text 15"/>
          <p:cNvSpPr/>
          <p:nvPr/>
        </p:nvSpPr>
        <p:spPr>
          <a:xfrm>
            <a:off x="6309360" y="4937760"/>
            <a:ext cx="5303520" cy="118872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95% CI on the PR-AUC difference between models, computed from every test row:</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XGBoost − LR:  0.0218 to 0.0402, only 0.0184 wide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13</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Final results on the held-out test set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Touched once, at the end. Every tuning decision was made on validation</a:t>
            </a:r>
            <a:endParaRPr lang="en-US" sz="1200" dirty="0"/>
          </a:p>
        </p:txBody>
      </p:sp>
      <p:sp>
        <p:nvSpPr>
          <p:cNvPr id="6" name="Shape 4"/>
          <p:cNvSpPr/>
          <p:nvPr/>
        </p:nvSpPr>
        <p:spPr>
          <a:xfrm>
            <a:off x="502920" y="1234440"/>
            <a:ext cx="11201400" cy="23774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ALL MODELS AGAINST THE NAIVE FLOOR AND THE UNTUNED BASELINE</a:t>
            </a:r>
            <a:endParaRPr lang="en-US" sz="10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10835640" cy="1536192"/>
        </p:xfrm>
        <a:graphic>
          <a:graphicData uri="http://schemas.openxmlformats.org/drawingml/2006/table">
            <a:tbl>
              <a:tblPr/>
              <a:tblGrid>
                <a:gridCol w="28803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325880">
                  <a:extLst>
                    <a:ext uri="{9D8B030D-6E8A-4147-A177-3AD203B41FA5}">
                      <a16:colId xmlns:a16="http://schemas.microsoft.com/office/drawing/2014/main" val="20005"/>
                    </a:ext>
                  </a:extLst>
                </a:gridCol>
                <a:gridCol w="1325880">
                  <a:extLst>
                    <a:ext uri="{9D8B030D-6E8A-4147-A177-3AD203B41FA5}">
                      <a16:colId xmlns:a16="http://schemas.microsoft.com/office/drawing/2014/main" val="20006"/>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Model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Accuracy</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Precision</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Recall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PR-AUC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ROC-AUC</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Naive (majority class)</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0.759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0.241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0.500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untuned (the baseline)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0.585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0.682</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0.818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0.587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0.820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MLP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0.825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0.604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0.789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0.684</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0.775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0.903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XGBoost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0.857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0.695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0.721</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0.708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0.805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0.915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bl>
          </a:graphicData>
        </a:graphic>
      </p:graphicFrame>
      <p:sp>
        <p:nvSpPr>
          <p:cNvPr id="9" name="Shape 6"/>
          <p:cNvSpPr/>
          <p:nvPr/>
        </p:nvSpPr>
        <p:spPr>
          <a:xfrm>
            <a:off x="502920" y="3794760"/>
            <a:ext cx="3657600" cy="2560320"/>
          </a:xfrm>
          <a:prstGeom prst="rect">
            <a:avLst/>
          </a:prstGeom>
          <a:solidFill>
            <a:srgbClr val="232631"/>
          </a:solidFill>
          <a:ln w="12700">
            <a:solidFill>
              <a:srgbClr val="3A3F4A"/>
            </a:solidFill>
            <a:prstDash val="solid"/>
          </a:ln>
        </p:spPr>
        <p:txBody>
          <a:bodyPr/>
          <a:lstStyle/>
          <a:p>
            <a:endParaRPr lang="en-US"/>
          </a:p>
        </p:txBody>
      </p:sp>
      <p:sp>
        <p:nvSpPr>
          <p:cNvPr id="10" name="Text 7"/>
          <p:cNvSpPr/>
          <p:nvPr/>
        </p:nvSpPr>
        <p:spPr>
          <a:xfrm>
            <a:off x="685800" y="3931920"/>
            <a:ext cx="32918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ORDERING HELD</a:t>
            </a:r>
            <a:endParaRPr lang="en-US" sz="1050" dirty="0"/>
          </a:p>
        </p:txBody>
      </p:sp>
      <p:sp>
        <p:nvSpPr>
          <p:cNvPr id="11" name="Text 8"/>
          <p:cNvSpPr/>
          <p:nvPr/>
        </p:nvSpPr>
        <p:spPr>
          <a:xfrm>
            <a:off x="685800" y="4251960"/>
            <a:ext cx="329184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XGBoost led on validation and on test, so the tuning did not overfit the validation rows.</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Tuned logistic regression is barely different from untuned, 0.774 against 0.773, confirming the baseline was already at its ceiling.</a:t>
            </a:r>
            <a:endParaRPr lang="en-US" sz="1050" dirty="0"/>
          </a:p>
        </p:txBody>
      </p:sp>
      <p:sp>
        <p:nvSpPr>
          <p:cNvPr id="12" name="Shape 9"/>
          <p:cNvSpPr/>
          <p:nvPr/>
        </p:nvSpPr>
        <p:spPr>
          <a:xfrm>
            <a:off x="4343400" y="3794760"/>
            <a:ext cx="3657600" cy="256032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4526280" y="3931920"/>
            <a:ext cx="32918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BUT LOOK AT RECALL</a:t>
            </a:r>
            <a:endParaRPr lang="en-US" sz="1050" dirty="0"/>
          </a:p>
        </p:txBody>
      </p:sp>
      <p:sp>
        <p:nvSpPr>
          <p:cNvPr id="14" name="Text 11"/>
          <p:cNvSpPr/>
          <p:nvPr/>
        </p:nvSpPr>
        <p:spPr>
          <a:xfrm>
            <a:off x="4526280" y="4251960"/>
            <a:ext cx="329184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XGBoost has the highest F1 and the lowest recall, 0.721 against 0.820.</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It trades caught high earners for far fewer false alarms, 495 against 905.</a:t>
            </a:r>
            <a:endParaRPr lang="en-US" sz="1050" dirty="0"/>
          </a:p>
        </p:txBody>
      </p:sp>
      <p:sp>
        <p:nvSpPr>
          <p:cNvPr id="8" name="Shape 12"/>
          <p:cNvSpPr/>
          <p:nvPr/>
        </p:nvSpPr>
        <p:spPr>
          <a:xfrm>
            <a:off x="8183880" y="3794760"/>
            <a:ext cx="3520440" cy="2560320"/>
          </a:xfrm>
          <a:prstGeom prst="rect">
            <a:avLst/>
          </a:prstGeom>
          <a:solidFill>
            <a:srgbClr val="232631"/>
          </a:solidFill>
          <a:ln w="12700">
            <a:solidFill>
              <a:srgbClr val="3A3F4A"/>
            </a:solidFill>
            <a:prstDash val="solid"/>
          </a:ln>
        </p:spPr>
        <p:txBody>
          <a:bodyPr/>
          <a:lstStyle/>
          <a:p>
            <a:endParaRPr lang="en-US"/>
          </a:p>
        </p:txBody>
      </p:sp>
      <p:sp>
        <p:nvSpPr>
          <p:cNvPr id="16" name="Text 13"/>
          <p:cNvSpPr/>
          <p:nvPr/>
        </p:nvSpPr>
        <p:spPr>
          <a:xfrm>
            <a:off x="8366760" y="3931920"/>
            <a:ext cx="31546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THAT MATTERS NEXT</a:t>
            </a:r>
            <a:endParaRPr lang="en-US" sz="1050" dirty="0"/>
          </a:p>
        </p:txBody>
      </p:sp>
      <p:sp>
        <p:nvSpPr>
          <p:cNvPr id="17" name="Text 14"/>
          <p:cNvSpPr/>
          <p:nvPr/>
        </p:nvSpPr>
        <p:spPr>
          <a:xfrm>
            <a:off x="8366760" y="4251960"/>
            <a:ext cx="315468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three models are not at the same operating point.</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comparing their group recall gaps at the default 0.5 threshold compares them at different recall levels. I return to this in the H2 verdict.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14</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Precision-recall and ROC curves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The plot that shows the difference, next to the plot that hides it</a:t>
            </a:r>
            <a:endParaRPr lang="en-US" sz="1200" dirty="0"/>
          </a:p>
        </p:txBody>
      </p:sp>
      <p:sp>
        <p:nvSpPr>
          <p:cNvPr id="6" name="Shape 4"/>
          <p:cNvSpPr/>
          <p:nvPr/>
        </p:nvSpPr>
        <p:spPr>
          <a:xfrm>
            <a:off x="594360" y="1234440"/>
            <a:ext cx="7863840" cy="2980944"/>
          </a:xfrm>
          <a:prstGeom prst="rect">
            <a:avLst/>
          </a:prstGeom>
          <a:solidFill>
            <a:srgbClr val="FFFFFF"/>
          </a:solidFill>
          <a:ln w="12700">
            <a:solidFill>
              <a:srgbClr val="3A3F4A"/>
            </a:solidFill>
            <a:prstDash val="solid"/>
          </a:ln>
        </p:spPr>
        <p:txBody>
          <a:bodyPr/>
          <a:lstStyle/>
          <a:p>
            <a:endParaRPr lang="en-US"/>
          </a:p>
        </p:txBody>
      </p:sp>
      <p:pic>
        <p:nvPicPr>
          <p:cNvPr id="7" name="Image 0" descr="figs/fig3_cell57.png"/>
          <p:cNvPicPr>
            <a:picLocks noChangeAspect="1"/>
          </p:cNvPicPr>
          <p:nvPr/>
        </p:nvPicPr>
        <p:blipFill>
          <a:blip r:embed="rId3"/>
          <a:stretch>
            <a:fillRect/>
          </a:stretch>
        </p:blipFill>
        <p:spPr>
          <a:xfrm>
            <a:off x="685800" y="1325880"/>
            <a:ext cx="7680960" cy="2798064"/>
          </a:xfrm>
          <a:prstGeom prst="rect">
            <a:avLst/>
          </a:prstGeom>
        </p:spPr>
      </p:pic>
      <p:sp>
        <p:nvSpPr>
          <p:cNvPr id="8" name="Shape 5"/>
          <p:cNvSpPr/>
          <p:nvPr/>
        </p:nvSpPr>
        <p:spPr>
          <a:xfrm>
            <a:off x="8778240" y="1234440"/>
            <a:ext cx="2926080" cy="5120640"/>
          </a:xfrm>
          <a:prstGeom prst="rect">
            <a:avLst/>
          </a:prstGeom>
          <a:solidFill>
            <a:srgbClr val="1C1E24"/>
          </a:solidFill>
          <a:ln w="12700">
            <a:solidFill>
              <a:srgbClr val="3A3F4A"/>
            </a:solidFill>
            <a:prstDash val="solid"/>
          </a:ln>
        </p:spPr>
        <p:txBody>
          <a:bodyPr/>
          <a:lstStyle/>
          <a:p>
            <a:endParaRPr lang="en-US"/>
          </a:p>
        </p:txBody>
      </p:sp>
      <p:sp>
        <p:nvSpPr>
          <p:cNvPr id="9" name="Text 6"/>
          <p:cNvSpPr/>
          <p:nvPr/>
        </p:nvSpPr>
        <p:spPr>
          <a:xfrm>
            <a:off x="8961120" y="1371600"/>
            <a:ext cx="25603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THESE SHOW</a:t>
            </a:r>
            <a:endParaRPr lang="en-US" sz="1050" dirty="0"/>
          </a:p>
        </p:txBody>
      </p:sp>
      <p:sp>
        <p:nvSpPr>
          <p:cNvPr id="10" name="Text 7"/>
          <p:cNvSpPr/>
          <p:nvPr/>
        </p:nvSpPr>
        <p:spPr>
          <a:xfrm>
            <a:off x="8961120" y="1691640"/>
            <a:ext cx="2560320" cy="44805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XGBoost sits above the other two across nearly the whole recall range, so at any recall level it flags fewer people wrongly</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All three stay well above the 0.241 no-skill line, so all three have real signal</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The ROC curves are much closer together, the flattering behaviour on imbalanced data: the large easy negative class props all three up</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That is why PR-AUC is my lead metric and ROC-AUC is not</a:t>
            </a:r>
            <a:endParaRPr lang="en-US" sz="1000" dirty="0"/>
          </a:p>
        </p:txBody>
      </p:sp>
      <p:sp>
        <p:nvSpPr>
          <p:cNvPr id="11" name="Shape 8"/>
          <p:cNvSpPr/>
          <p:nvPr/>
        </p:nvSpPr>
        <p:spPr>
          <a:xfrm>
            <a:off x="1143000" y="4251960"/>
            <a:ext cx="6766560" cy="2029968"/>
          </a:xfrm>
          <a:prstGeom prst="rect">
            <a:avLst/>
          </a:prstGeom>
          <a:solidFill>
            <a:srgbClr val="FFFFFF"/>
          </a:solidFill>
          <a:ln w="12700">
            <a:solidFill>
              <a:srgbClr val="3A3F4A"/>
            </a:solidFill>
            <a:prstDash val="solid"/>
          </a:ln>
        </p:spPr>
        <p:txBody>
          <a:bodyPr/>
          <a:lstStyle/>
          <a:p>
            <a:endParaRPr lang="en-US"/>
          </a:p>
        </p:txBody>
      </p:sp>
      <p:pic>
        <p:nvPicPr>
          <p:cNvPr id="12" name="Image 1" descr="figs/fig2_cell55.png"/>
          <p:cNvPicPr>
            <a:picLocks noChangeAspect="1"/>
          </p:cNvPicPr>
          <p:nvPr/>
        </p:nvPicPr>
        <p:blipFill>
          <a:blip r:embed="rId4"/>
          <a:stretch>
            <a:fillRect/>
          </a:stretch>
        </p:blipFill>
        <p:spPr>
          <a:xfrm>
            <a:off x="1234440" y="4343400"/>
            <a:ext cx="6583680" cy="1847088"/>
          </a:xfrm>
          <a:prstGeom prst="rect">
            <a:avLst/>
          </a:prstGeom>
        </p:spPr>
      </p:pic>
      <p:sp>
        <p:nvSpPr>
          <p:cNvPr id="13" name="Text 9"/>
          <p:cNvSpPr/>
          <p:nvPr/>
        </p:nvSpPr>
        <p:spPr>
          <a:xfrm>
            <a:off x="685800" y="6309360"/>
            <a:ext cx="7680960" cy="457200"/>
          </a:xfrm>
          <a:prstGeom prst="rect">
            <a:avLst/>
          </a:prstGeom>
          <a:noFill/>
          <a:ln/>
        </p:spPr>
        <p:txBody>
          <a:bodyPr wrap="square" lIns="0" tIns="0" rIns="0" bIns="0" rtlCol="0" anchor="t"/>
          <a:lstStyle/>
          <a:p>
            <a:pPr marL="0" indent="0">
              <a:spcAft>
                <a:spcPts val="600"/>
              </a:spcAft>
              <a:buNone/>
            </a:pPr>
            <a:r>
              <a:rPr lang="en-US" sz="900" dirty="0">
                <a:solidFill>
                  <a:srgbClr val="9AA7BD"/>
                </a:solidFill>
                <a:latin typeface="Verdana" pitchFamily="34" charset="0"/>
                <a:ea typeface="Verdana" pitchFamily="34" charset="-122"/>
                <a:cs typeface="Verdana" pitchFamily="34" charset="-120"/>
              </a:rPr>
              <a:t>Confusion matrices: the logistic regression catches the most high earners but pays with 905 false alarms. XGBoost moves many back to the correct cell while giving up some catches, which is where its higher F1 comes from.</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15</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Bootstrap intervals and McNemar's test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1,000 paired resamples, and the 6,508 rows every model predicted on</a:t>
            </a:r>
            <a:endParaRPr lang="en-US" sz="1200" dirty="0"/>
          </a:p>
        </p:txBody>
      </p:sp>
      <p:sp>
        <p:nvSpPr>
          <p:cNvPr id="6" name="Shape 4"/>
          <p:cNvSpPr/>
          <p:nvPr/>
        </p:nvSpPr>
        <p:spPr>
          <a:xfrm>
            <a:off x="502920" y="1234440"/>
            <a:ext cx="5989320" cy="278892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623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PAIRED BOOTSTRAP CI ON THE DIFFERENCE BETWEEN MODELS</a:t>
            </a:r>
            <a:endParaRPr lang="en-US" sz="10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623560" cy="1917192"/>
        </p:xfrm>
        <a:graphic>
          <a:graphicData uri="http://schemas.openxmlformats.org/drawingml/2006/table">
            <a:tbl>
              <a:tblPr/>
              <a:tblGrid>
                <a:gridCol w="8229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5087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Metric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Comparison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Diff</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95% CI</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Excl. 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Win rate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PR-AUC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0.0309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0.0218 – 0.0402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PR-AUC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0.0302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0.0221 – 0.0378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PR-AUC</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0.0007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−0.0071 – 0.0090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F1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0.0101 – 0.0368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F1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 − 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0.0240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0.0123 – 0.0367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F1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−0.0002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−0.0103 – 0.0105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6"/>
                  </a:ext>
                </a:extLst>
              </a:tr>
            </a:tbl>
          </a:graphicData>
        </a:graphic>
      </p:graphicFrame>
      <p:sp>
        <p:nvSpPr>
          <p:cNvPr id="9" name="Shape 6"/>
          <p:cNvSpPr/>
          <p:nvPr/>
        </p:nvSpPr>
        <p:spPr>
          <a:xfrm>
            <a:off x="6675120" y="1234440"/>
            <a:ext cx="5029200" cy="278892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6858000" y="1371600"/>
            <a:ext cx="46634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MCNEMAR'S EXACT TEST, DISCORDANT ROWS ONLY</a:t>
            </a:r>
            <a:endParaRPr lang="en-US" sz="105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858000" y="1737360"/>
          <a:ext cx="4663440" cy="1024128"/>
        </p:xfrm>
        <a:graphic>
          <a:graphicData uri="http://schemas.openxmlformats.org/drawingml/2006/table">
            <a:tbl>
              <a:tblPr/>
              <a:tblGrid>
                <a:gridCol w="15544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Comparison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First only</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Second only</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p-value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 vs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454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200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1.2e−23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 vs 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373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164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9.6e−20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vs 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272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227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0.049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2" name="Text 8"/>
          <p:cNvSpPr/>
          <p:nvPr/>
        </p:nvSpPr>
        <p:spPr>
          <a:xfrm>
            <a:off x="6858000" y="3063240"/>
            <a:ext cx="4663440" cy="54864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Rows only the first got right, against rows only the second got right.</a:t>
            </a:r>
            <a:endParaRPr lang="en-US" sz="950" dirty="0"/>
          </a:p>
        </p:txBody>
      </p:sp>
      <p:sp>
        <p:nvSpPr>
          <p:cNvPr id="13" name="Shape 9"/>
          <p:cNvSpPr/>
          <p:nvPr/>
        </p:nvSpPr>
        <p:spPr>
          <a:xfrm>
            <a:off x="502920" y="4206240"/>
            <a:ext cx="5989320" cy="2148840"/>
          </a:xfrm>
          <a:prstGeom prst="rect">
            <a:avLst/>
          </a:prstGeom>
          <a:solidFill>
            <a:srgbClr val="232631"/>
          </a:solidFill>
          <a:ln w="12700">
            <a:solidFill>
              <a:srgbClr val="3A3F4A"/>
            </a:solidFill>
            <a:prstDash val="solid"/>
          </a:ln>
        </p:spPr>
        <p:txBody>
          <a:bodyPr/>
          <a:lstStyle/>
          <a:p>
            <a:endParaRPr lang="en-US"/>
          </a:p>
        </p:txBody>
      </p:sp>
      <p:sp>
        <p:nvSpPr>
          <p:cNvPr id="14" name="Text 10"/>
          <p:cNvSpPr/>
          <p:nvPr/>
        </p:nvSpPr>
        <p:spPr>
          <a:xfrm>
            <a:off x="685800" y="4343400"/>
            <a:ext cx="5623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THE FOUR TESTS AGREE</a:t>
            </a:r>
            <a:endParaRPr lang="en-US" sz="1050" dirty="0"/>
          </a:p>
        </p:txBody>
      </p:sp>
      <p:sp>
        <p:nvSpPr>
          <p:cNvPr id="15" name="Text 11"/>
          <p:cNvSpPr/>
          <p:nvPr/>
        </p:nvSpPr>
        <p:spPr>
          <a:xfrm>
            <a:off x="685800" y="4663440"/>
            <a:ext cx="5623560" cy="15544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paired t-test is significant, the bootstrap interval excludes zero, XGBoost won 1000 of 1000 resamples, and McNemar returns p on the order of 1e−23 with 454 rows fixed against 200 broken.</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Four independent readings agreeing is about as settled as this dataset allows.</a:t>
            </a:r>
            <a:endParaRPr lang="en-US" sz="1050" dirty="0"/>
          </a:p>
        </p:txBody>
      </p:sp>
      <p:sp>
        <p:nvSpPr>
          <p:cNvPr id="16" name="Shape 12"/>
          <p:cNvSpPr/>
          <p:nvPr/>
        </p:nvSpPr>
        <p:spPr>
          <a:xfrm>
            <a:off x="6675120" y="4206240"/>
            <a:ext cx="5029200" cy="2148840"/>
          </a:xfrm>
          <a:prstGeom prst="rect">
            <a:avLst/>
          </a:prstGeom>
          <a:solidFill>
            <a:srgbClr val="232631"/>
          </a:solidFill>
          <a:ln w="12700">
            <a:solidFill>
              <a:srgbClr val="3A3F4A"/>
            </a:solidFill>
            <a:prstDash val="solid"/>
          </a:ln>
        </p:spPr>
        <p:txBody>
          <a:bodyPr/>
          <a:lstStyle/>
          <a:p>
            <a:endParaRPr lang="en-US"/>
          </a:p>
        </p:txBody>
      </p:sp>
      <p:sp>
        <p:nvSpPr>
          <p:cNvPr id="8" name="Text 13"/>
          <p:cNvSpPr/>
          <p:nvPr/>
        </p:nvSpPr>
        <p:spPr>
          <a:xfrm>
            <a:off x="6858000" y="4343400"/>
            <a:ext cx="46634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THEY DISAGREE, AND WHAT I DID</a:t>
            </a:r>
            <a:endParaRPr lang="en-US" sz="1050" dirty="0"/>
          </a:p>
        </p:txBody>
      </p:sp>
      <p:sp>
        <p:nvSpPr>
          <p:cNvPr id="18" name="Text 14"/>
          <p:cNvSpPr/>
          <p:nvPr/>
        </p:nvSpPr>
        <p:spPr>
          <a:xfrm>
            <a:off x="6858000" y="4663440"/>
            <a:ext cx="4663440" cy="15544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MLP vs LR: the fold t-test says p = 0.012, McNemar says 0.049 which is barely under the line, and the bootstrap interval contains zero.</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When tests disagree I go with the one with the most data and fewest assumptions, so my reading is that they are not meaningfully different here.</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H3 verdict: supported</a:t>
            </a:r>
            <a:endParaRPr lang="en-US" sz="2700" dirty="0"/>
          </a:p>
        </p:txBody>
      </p:sp>
      <p:sp>
        <p:nvSpPr>
          <p:cNvPr id="3" name="Text 1"/>
          <p:cNvSpPr/>
          <p:nvPr/>
        </p:nvSpPr>
        <p:spPr>
          <a:xfrm>
            <a:off x="502920"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XGBoost beats the logistic baseline and the MLP on PR-AUC and F1</a:t>
            </a:r>
            <a:endParaRPr lang="en-US" sz="1200" dirty="0"/>
          </a:p>
        </p:txBody>
      </p:sp>
      <p:sp>
        <p:nvSpPr>
          <p:cNvPr id="4" name="Shape 2"/>
          <p:cNvSpPr/>
          <p:nvPr/>
        </p:nvSpPr>
        <p:spPr>
          <a:xfrm>
            <a:off x="10241280" y="274320"/>
            <a:ext cx="1463040" cy="566928"/>
          </a:xfrm>
          <a:prstGeom prst="rect">
            <a:avLst/>
          </a:prstGeom>
          <a:solidFill>
            <a:srgbClr val="20242E"/>
          </a:solidFill>
          <a:ln w="19050">
            <a:solidFill>
              <a:srgbClr val="5FBF8F"/>
            </a:solidFill>
            <a:prstDash val="solid"/>
          </a:ln>
        </p:spPr>
        <p:txBody>
          <a:bodyPr/>
          <a:lstStyle/>
          <a:p>
            <a:endParaRPr lang="en-US"/>
          </a:p>
        </p:txBody>
      </p:sp>
      <p:sp>
        <p:nvSpPr>
          <p:cNvPr id="5" name="Text 3"/>
          <p:cNvSpPr/>
          <p:nvPr/>
        </p:nvSpPr>
        <p:spPr>
          <a:xfrm>
            <a:off x="10241280" y="274320"/>
            <a:ext cx="1463040" cy="566928"/>
          </a:xfrm>
          <a:prstGeom prst="rect">
            <a:avLst/>
          </a:prstGeom>
          <a:noFill/>
          <a:ln/>
        </p:spPr>
        <p:txBody>
          <a:bodyPr wrap="square" lIns="0" tIns="0" rIns="0" bIns="0" rtlCol="0" anchor="ctr"/>
          <a:lstStyle/>
          <a:p>
            <a:pPr marL="0" indent="0" algn="ctr">
              <a:buNone/>
            </a:pPr>
            <a:r>
              <a:rPr lang="en-US" sz="1050" b="1" dirty="0">
                <a:solidFill>
                  <a:srgbClr val="5FBF8F"/>
                </a:solidFill>
                <a:latin typeface="Verdana" pitchFamily="34" charset="0"/>
                <a:ea typeface="Verdana" pitchFamily="34" charset="-122"/>
                <a:cs typeface="Verdana" pitchFamily="34" charset="-120"/>
              </a:rPr>
              <a:t>SUPPORTED</a:t>
            </a:r>
            <a:endParaRPr lang="en-US" sz="1050" dirty="0"/>
          </a:p>
        </p:txBody>
      </p:sp>
      <p:sp>
        <p:nvSpPr>
          <p:cNvPr id="6" name="Shape 4"/>
          <p:cNvSpPr/>
          <p:nvPr/>
        </p:nvSpPr>
        <p:spPr>
          <a:xfrm>
            <a:off x="502920" y="1280160"/>
            <a:ext cx="5532120" cy="246888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41732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EVIDENCE</a:t>
            </a:r>
            <a:endParaRPr lang="en-US" sz="1050" dirty="0"/>
          </a:p>
        </p:txBody>
      </p:sp>
      <p:sp>
        <p:nvSpPr>
          <p:cNvPr id="8" name="Text 6"/>
          <p:cNvSpPr/>
          <p:nvPr/>
        </p:nvSpPr>
        <p:spPr>
          <a:xfrm>
            <a:off x="685800" y="1737360"/>
            <a:ext cx="5166360" cy="192024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Test set: 0.805 PR-AUC and 0.708 F1, against 0.774 / 0.684 for tuned LR and 0.775 / 0.684 for the MLP</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Paired t-test on shared folds: p = 0.0002 vs LR, p = 0.0015 vs MLP</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Paired bootstrap: 0.022 to 0.040 on the difference, excluding zero, 1000 of 1000 resamples</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McNemar: p on the order of 1e−23</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And XGBoost led on all five folds with no exceptions</a:t>
            </a:r>
            <a:endParaRPr lang="en-US" sz="1050" dirty="0"/>
          </a:p>
        </p:txBody>
      </p:sp>
      <p:sp>
        <p:nvSpPr>
          <p:cNvPr id="9" name="Shape 7"/>
          <p:cNvSpPr/>
          <p:nvPr/>
        </p:nvSpPr>
        <p:spPr>
          <a:xfrm>
            <a:off x="6217920" y="1280160"/>
            <a:ext cx="5486400" cy="246888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41732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BOTH HALVES OF THE REASONING HELD</a:t>
            </a:r>
            <a:endParaRPr lang="en-US" sz="1050" dirty="0"/>
          </a:p>
        </p:txBody>
      </p:sp>
      <p:sp>
        <p:nvSpPr>
          <p:cNvPr id="11" name="Text 9"/>
          <p:cNvSpPr/>
          <p:nvPr/>
        </p:nvSpPr>
        <p:spPr>
          <a:xfrm>
            <a:off x="6400800" y="1737360"/>
            <a:ext cx="5120640" cy="1920240"/>
          </a:xfrm>
          <a:prstGeom prst="rect">
            <a:avLst/>
          </a:prstGeom>
          <a:noFill/>
          <a:ln/>
        </p:spPr>
        <p:txBody>
          <a:bodyPr wrap="square" lIns="0" tIns="0" rIns="0" bIns="0" rtlCol="0" anchor="t"/>
          <a:lstStyle/>
          <a:p>
            <a:pPr marL="342900" indent="-342900">
              <a:spcAft>
                <a:spcPts val="700"/>
              </a:spcAft>
              <a:buSzPct val="100000"/>
              <a:buChar char="•"/>
            </a:pPr>
            <a:r>
              <a:rPr lang="en-US" sz="1050" b="1" dirty="0">
                <a:solidFill>
                  <a:srgbClr val="F5F7FA"/>
                </a:solidFill>
                <a:latin typeface="Verdana" pitchFamily="34" charset="0"/>
                <a:ea typeface="Verdana" pitchFamily="34" charset="-122"/>
                <a:cs typeface="Verdana" pitchFamily="34" charset="-120"/>
              </a:rPr>
              <a:t>Non-linear structure was real</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The age curve, the capital-gain threshold, and the education-by-marital-status interaction gave the trees something a linear model cannot express</a:t>
            </a:r>
            <a:endParaRPr lang="en-US" sz="1050" dirty="0"/>
          </a:p>
          <a:p>
            <a:pPr marL="342900" indent="-342900">
              <a:spcAft>
                <a:spcPts val="700"/>
              </a:spcAft>
              <a:buSzPct val="100000"/>
              <a:buChar char="•"/>
            </a:pPr>
            <a:r>
              <a:rPr lang="en-US" sz="1050" b="1" dirty="0">
                <a:solidFill>
                  <a:srgbClr val="F5F7FA"/>
                </a:solidFill>
                <a:latin typeface="Verdana" pitchFamily="34" charset="0"/>
                <a:ea typeface="Verdana" pitchFamily="34" charset="-122"/>
                <a:cs typeface="Verdana" pitchFamily="34" charset="-120"/>
              </a:rPr>
              <a:t>The dataset was too small for the MLP</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It improved when I shrank it to one 50-neuron layer, and its learning curve is the most data-sensitive of the three</a:t>
            </a:r>
            <a:endParaRPr lang="en-US" sz="1050" dirty="0"/>
          </a:p>
        </p:txBody>
      </p:sp>
      <p:sp>
        <p:nvSpPr>
          <p:cNvPr id="12" name="Shape 10"/>
          <p:cNvSpPr/>
          <p:nvPr/>
        </p:nvSpPr>
        <p:spPr>
          <a:xfrm>
            <a:off x="502920" y="3931920"/>
            <a:ext cx="5532120" cy="242316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685800" y="406908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 WOULD NOT CLAIM</a:t>
            </a:r>
            <a:endParaRPr lang="en-US" sz="1050" dirty="0"/>
          </a:p>
        </p:txBody>
      </p:sp>
      <p:sp>
        <p:nvSpPr>
          <p:cNvPr id="14" name="Text 12"/>
          <p:cNvSpPr/>
          <p:nvPr/>
        </p:nvSpPr>
        <p:spPr>
          <a:xfrm>
            <a:off x="685800" y="4389120"/>
            <a:ext cx="516636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The MLP beating the logistic regression. The bootstrap interval on that difference contains zero, so the neural network bought nothing over a linear model on 32,500 rows.</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That is a finding, not a failure, and it is the second half of my H3 reasoning coming out as predicted.</a:t>
            </a:r>
            <a:endParaRPr lang="en-US" sz="1100" dirty="0"/>
          </a:p>
        </p:txBody>
      </p:sp>
      <p:sp>
        <p:nvSpPr>
          <p:cNvPr id="15" name="Shape 13"/>
          <p:cNvSpPr/>
          <p:nvPr/>
        </p:nvSpPr>
        <p:spPr>
          <a:xfrm>
            <a:off x="6217920" y="3931920"/>
            <a:ext cx="5486400" cy="2423160"/>
          </a:xfrm>
          <a:prstGeom prst="rect">
            <a:avLst/>
          </a:prstGeom>
          <a:solidFill>
            <a:srgbClr val="232631"/>
          </a:solidFill>
          <a:ln w="12700">
            <a:solidFill>
              <a:srgbClr val="3A3F4A"/>
            </a:solidFill>
            <a:prstDash val="solid"/>
          </a:ln>
        </p:spPr>
        <p:txBody>
          <a:bodyPr/>
          <a:lstStyle/>
          <a:p>
            <a:endParaRPr lang="en-US"/>
          </a:p>
        </p:txBody>
      </p:sp>
      <p:sp>
        <p:nvSpPr>
          <p:cNvPr id="16" name="Text 14"/>
          <p:cNvSpPr/>
          <p:nvPr/>
        </p:nvSpPr>
        <p:spPr>
          <a:xfrm>
            <a:off x="6400800" y="406908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COST SIDE OF THE VERDICT</a:t>
            </a:r>
            <a:endParaRPr lang="en-US" sz="1050" dirty="0"/>
          </a:p>
        </p:txBody>
      </p:sp>
      <p:sp>
        <p:nvSpPr>
          <p:cNvPr id="17" name="Text 15"/>
          <p:cNvSpPr/>
          <p:nvPr/>
        </p:nvSpPr>
        <p:spPr>
          <a:xfrm>
            <a:off x="6400800" y="4389120"/>
            <a:ext cx="5120640" cy="1828800"/>
          </a:xfrm>
          <a:prstGeom prst="rect">
            <a:avLst/>
          </a:prstGeom>
          <a:noFill/>
          <a:ln/>
        </p:spPr>
        <p:txBody>
          <a:bodyPr wrap="square" lIns="0" tIns="0" rIns="0" bIns="0" rtlCol="0" anchor="t"/>
          <a:lstStyle/>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Compute is not the issue: 3.5 seconds against 2.8, and all three predict on 6,508 rows in under a tenth of a second.</a:t>
            </a:r>
            <a:endParaRPr lang="en-US" sz="1100" dirty="0"/>
          </a:p>
          <a:p>
            <a:pPr marL="0" indent="0">
              <a:spcAft>
                <a:spcPts val="600"/>
              </a:spcAft>
              <a:buNone/>
            </a:pPr>
            <a:endParaRPr lang="en-US" sz="1100" dirty="0"/>
          </a:p>
          <a:p>
            <a:pPr marL="0" indent="0">
              <a:spcAft>
                <a:spcPts val="600"/>
              </a:spcAft>
              <a:buNone/>
            </a:pPr>
            <a:r>
              <a:rPr lang="en-US" sz="1100" dirty="0">
                <a:solidFill>
                  <a:srgbClr val="9AA7BD"/>
                </a:solidFill>
                <a:latin typeface="Verdana" pitchFamily="34" charset="0"/>
                <a:ea typeface="Verdana" pitchFamily="34" charset="-122"/>
                <a:cs typeface="Verdana" pitchFamily="34" charset="-120"/>
              </a:rPr>
              <a:t>The real cost is interpretability. Logistic regression gives one signed coefficient per feature. XGBoost has 400 trees and needs gain importance or a surrogate tree to be explained at all, which matters when a declined applicant can ask why.</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16</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Fairness audit: performance split by group</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Recall on real high earners, because that is the error that hurts the applicant and not the lender</a:t>
            </a:r>
            <a:endParaRPr lang="en-US" sz="1200" dirty="0"/>
          </a:p>
        </p:txBody>
      </p:sp>
      <p:sp>
        <p:nvSpPr>
          <p:cNvPr id="6" name="Shape 4"/>
          <p:cNvSpPr/>
          <p:nvPr/>
        </p:nvSpPr>
        <p:spPr>
          <a:xfrm>
            <a:off x="502920" y="1234440"/>
            <a:ext cx="4572000" cy="22860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42062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TWO GROUP IMBALANCES</a:t>
            </a:r>
            <a:endParaRPr lang="en-US" sz="10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4206240" cy="1405128"/>
        </p:xfrm>
        <a:graphic>
          <a:graphicData uri="http://schemas.openxmlformats.org/drawingml/2006/table">
            <a:tbl>
              <a:tblPr/>
              <a:tblGrid>
                <a:gridCol w="118872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Group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Test rows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Share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&gt;50K rate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High earners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US-born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5,819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89.4%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0.247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1,436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Foreign-born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576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8.9%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0.172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99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4,335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66.6%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0.306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1,327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2,173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33.4%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241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bl>
          </a:graphicData>
        </a:graphic>
      </p:graphicFrame>
      <p:sp>
        <p:nvSpPr>
          <p:cNvPr id="9" name="Shape 6"/>
          <p:cNvSpPr/>
          <p:nvPr/>
        </p:nvSpPr>
        <p:spPr>
          <a:xfrm>
            <a:off x="5257800" y="1234440"/>
            <a:ext cx="6446520" cy="228600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5440680" y="1371600"/>
            <a:ext cx="60807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WHY RECALL AND NOT ACCURACY</a:t>
            </a:r>
            <a:endParaRPr lang="en-US" sz="1050" dirty="0"/>
          </a:p>
        </p:txBody>
      </p:sp>
      <p:sp>
        <p:nvSpPr>
          <p:cNvPr id="11" name="Text 8"/>
          <p:cNvSpPr/>
          <p:nvPr/>
        </p:nvSpPr>
        <p:spPr>
          <a:xfrm>
            <a:off x="5440680" y="1737360"/>
            <a:ext cx="6080760" cy="169164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 missed high earner qualifies and does not get flagged. If a model misses more of them in one group, it works worse for that group</a:t>
            </a:r>
            <a:endParaRPr lang="en-US" sz="1050" dirty="0"/>
          </a:p>
          <a:p>
            <a:pPr marL="342900" indent="-342900">
              <a:spcAft>
                <a:spcPts val="700"/>
              </a:spcAft>
              <a:buSzPct val="100000"/>
              <a:buChar char="•"/>
            </a:pPr>
            <a:r>
              <a:rPr lang="en-US" sz="1050" b="1" dirty="0">
                <a:solidFill>
                  <a:srgbClr val="F5F7FA"/>
                </a:solidFill>
                <a:latin typeface="Verdana" pitchFamily="34" charset="0"/>
                <a:ea typeface="Verdana" pitchFamily="34" charset="-122"/>
                <a:cs typeface="Verdana" pitchFamily="34" charset="-120"/>
              </a:rPr>
              <a:t>Group accuracy points the wrong way here</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Every model is more accurate on the foreign-born group and far more accurate on women, which would read as the model serving them better</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It is not. Those groups have fewer high earners to find, so predicting under $50K is right more often</a:t>
            </a:r>
            <a:endParaRPr lang="en-US" sz="1050" dirty="0"/>
          </a:p>
        </p:txBody>
      </p:sp>
      <p:sp>
        <p:nvSpPr>
          <p:cNvPr id="12" name="Shape 9"/>
          <p:cNvSpPr/>
          <p:nvPr/>
        </p:nvSpPr>
        <p:spPr>
          <a:xfrm>
            <a:off x="502920" y="3657600"/>
            <a:ext cx="5532120" cy="2697480"/>
          </a:xfrm>
          <a:prstGeom prst="rect">
            <a:avLst/>
          </a:prstGeom>
          <a:solidFill>
            <a:srgbClr val="1C1E24"/>
          </a:solidFill>
          <a:ln w="12700">
            <a:solidFill>
              <a:srgbClr val="3A3F4A"/>
            </a:solidFill>
            <a:prstDash val="solid"/>
          </a:ln>
        </p:spPr>
        <p:txBody>
          <a:bodyPr/>
          <a:lstStyle/>
          <a:p>
            <a:endParaRPr lang="en-US"/>
          </a:p>
        </p:txBody>
      </p:sp>
      <p:sp>
        <p:nvSpPr>
          <p:cNvPr id="13" name="Text 10"/>
          <p:cNvSpPr/>
          <p:nvPr/>
        </p:nvSpPr>
        <p:spPr>
          <a:xfrm>
            <a:off x="685800" y="379476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RECALL BY NATIVITY, TEST SET</a:t>
            </a:r>
            <a:endParaRPr lang="en-US" sz="105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85800" y="4160520"/>
          <a:ext cx="5166360" cy="1024128"/>
        </p:xfrm>
        <a:graphic>
          <a:graphicData uri="http://schemas.openxmlformats.org/drawingml/2006/table">
            <a:tbl>
              <a:tblPr/>
              <a:tblGrid>
                <a:gridCol w="16002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Model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US-born</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Foreign-born</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Gap</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0.823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0.768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0.055</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MLP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0.793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0.747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5FBF8F"/>
                          </a:solidFill>
                          <a:latin typeface="Verdana" pitchFamily="34" charset="0"/>
                          <a:ea typeface="Verdana" pitchFamily="34" charset="-122"/>
                          <a:cs typeface="Verdana" pitchFamily="34" charset="-120"/>
                        </a:rPr>
                        <a:t>0.046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XGBoost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0.726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0.646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0.079</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5" name="Text 11"/>
          <p:cNvSpPr/>
          <p:nvPr/>
        </p:nvSpPr>
        <p:spPr>
          <a:xfrm>
            <a:off x="685800" y="5486400"/>
            <a:ext cx="5166360" cy="365760"/>
          </a:xfrm>
          <a:prstGeom prst="rect">
            <a:avLst/>
          </a:prstGeom>
          <a:noFill/>
          <a:ln/>
        </p:spPr>
        <p:txBody>
          <a:bodyPr wrap="square" lIns="0" tIns="0" rIns="0" bIns="0" rtlCol="0" anchor="t"/>
          <a:lstStyle/>
          <a:p>
            <a:pPr marL="0" indent="0">
              <a:spcAft>
                <a:spcPts val="600"/>
              </a:spcAft>
              <a:buNone/>
            </a:pPr>
            <a:r>
              <a:rPr lang="en-US" sz="1050" dirty="0">
                <a:solidFill>
                  <a:srgbClr val="E8C15A"/>
                </a:solidFill>
                <a:latin typeface="Verdana" pitchFamily="34" charset="0"/>
                <a:ea typeface="Verdana" pitchFamily="34" charset="-122"/>
                <a:cs typeface="Verdana" pitchFamily="34" charset="-120"/>
              </a:rPr>
              <a:t>H2 predicted XGBoost would have the smallest gap. It has the largest.</a:t>
            </a:r>
            <a:endParaRPr lang="en-US" sz="1050" dirty="0"/>
          </a:p>
        </p:txBody>
      </p:sp>
      <p:sp>
        <p:nvSpPr>
          <p:cNvPr id="16" name="Shape 12"/>
          <p:cNvSpPr/>
          <p:nvPr/>
        </p:nvSpPr>
        <p:spPr>
          <a:xfrm>
            <a:off x="6217920" y="3657600"/>
            <a:ext cx="5486400" cy="2697480"/>
          </a:xfrm>
          <a:prstGeom prst="rect">
            <a:avLst/>
          </a:prstGeom>
          <a:solidFill>
            <a:srgbClr val="1C1E24"/>
          </a:solidFill>
          <a:ln w="12700">
            <a:solidFill>
              <a:srgbClr val="3A3F4A"/>
            </a:solidFill>
            <a:prstDash val="solid"/>
          </a:ln>
        </p:spPr>
        <p:txBody>
          <a:bodyPr/>
          <a:lstStyle/>
          <a:p>
            <a:endParaRPr lang="en-US"/>
          </a:p>
        </p:txBody>
      </p:sp>
      <p:sp>
        <p:nvSpPr>
          <p:cNvPr id="17" name="Text 13"/>
          <p:cNvSpPr/>
          <p:nvPr/>
        </p:nvSpPr>
        <p:spPr>
          <a:xfrm>
            <a:off x="6400800" y="379476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RECALL BY SEX, TEST SET</a:t>
            </a:r>
            <a:endParaRPr lang="en-US" sz="1050" dirty="0"/>
          </a:p>
        </p:txBody>
      </p:sp>
      <p:graphicFrame>
        <p:nvGraphicFramePr>
          <p:cNvPr id="55" name="Table 2"/>
          <p:cNvGraphicFramePr>
            <a:graphicFrameLocks noGrp="1"/>
          </p:cNvGraphicFramePr>
          <p:nvPr>
            <p:extLst>
              <p:ext uri="{D42A27DB-BD31-4B8C-83A1-F6EECF244321}">
                <p14:modId xmlns:p14="http://schemas.microsoft.com/office/powerpoint/2010/main" val="1579011935"/>
              </p:ext>
            </p:extLst>
          </p:nvPr>
        </p:nvGraphicFramePr>
        <p:xfrm>
          <a:off x="6400800" y="4160520"/>
          <a:ext cx="5120640" cy="1024128"/>
        </p:xfrm>
        <a:graphic>
          <a:graphicData uri="http://schemas.openxmlformats.org/drawingml/2006/table">
            <a:tbl>
              <a:tblPr/>
              <a:tblGrid>
                <a:gridCol w="1600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256032">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Model</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Male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Female</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50" b="1" dirty="0">
                          <a:solidFill>
                            <a:srgbClr val="E8C15A"/>
                          </a:solidFill>
                          <a:latin typeface="Verdana" pitchFamily="34" charset="0"/>
                          <a:ea typeface="Verdana" pitchFamily="34" charset="-122"/>
                          <a:cs typeface="Verdana" pitchFamily="34" charset="-120"/>
                        </a:rPr>
                        <a:t>Gap</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LR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0.836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0.730</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0.106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MLP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0.806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0.697</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0.108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F5F7FA"/>
                          </a:solidFill>
                          <a:latin typeface="Verdana" pitchFamily="34" charset="0"/>
                          <a:ea typeface="Verdana" pitchFamily="34" charset="-122"/>
                          <a:cs typeface="Verdana" pitchFamily="34" charset="-120"/>
                        </a:rPr>
                        <a:t>XGBoost tuned</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0.743</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9AA7BD"/>
                          </a:solidFill>
                          <a:latin typeface="Verdana" pitchFamily="34" charset="0"/>
                          <a:ea typeface="Verdana" pitchFamily="34" charset="-122"/>
                          <a:cs typeface="Verdana" pitchFamily="34" charset="-120"/>
                        </a:rPr>
                        <a:t>0.598</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50" dirty="0">
                          <a:solidFill>
                            <a:srgbClr val="E07A5F"/>
                          </a:solidFill>
                          <a:latin typeface="Verdana" pitchFamily="34" charset="0"/>
                          <a:ea typeface="Verdana" pitchFamily="34" charset="-122"/>
                          <a:cs typeface="Verdana" pitchFamily="34" charset="-120"/>
                        </a:rPr>
                        <a:t>0.146</a:t>
                      </a:r>
                      <a:endParaRPr lang="en-US" sz="10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8" name="Text 14"/>
          <p:cNvSpPr/>
          <p:nvPr/>
        </p:nvSpPr>
        <p:spPr>
          <a:xfrm>
            <a:off x="6400800" y="5486400"/>
            <a:ext cx="5120640" cy="365760"/>
          </a:xfrm>
          <a:prstGeom prst="rect">
            <a:avLst/>
          </a:prstGeom>
          <a:noFill/>
          <a:ln/>
        </p:spPr>
        <p:txBody>
          <a:bodyPr wrap="square" lIns="0" tIns="0" rIns="0" bIns="0" rtlCol="0" anchor="t"/>
          <a:lstStyle/>
          <a:p>
            <a:pPr marL="0" indent="0">
              <a:spcAft>
                <a:spcPts val="600"/>
              </a:spcAft>
              <a:buNone/>
            </a:pPr>
            <a:r>
              <a:rPr lang="en-US" sz="1050" dirty="0">
                <a:solidFill>
                  <a:srgbClr val="E8C15A"/>
                </a:solidFill>
                <a:latin typeface="Verdana" pitchFamily="34" charset="0"/>
                <a:ea typeface="Verdana" pitchFamily="34" charset="-122"/>
                <a:cs typeface="Verdana" pitchFamily="34" charset="-120"/>
              </a:rPr>
              <a:t>Same ordering, and these gaps are larger. Every model finds male high earners more reliably.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17</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Putting intervals on the gaps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This is where the sample size problem becomes the finding</a:t>
            </a:r>
            <a:endParaRPr lang="en-US" sz="1200" dirty="0"/>
          </a:p>
        </p:txBody>
      </p:sp>
      <p:sp>
        <p:nvSpPr>
          <p:cNvPr id="6" name="Shape 4"/>
          <p:cNvSpPr/>
          <p:nvPr/>
        </p:nvSpPr>
        <p:spPr>
          <a:xfrm>
            <a:off x="502920" y="1234440"/>
            <a:ext cx="5760720" cy="288036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3949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BOOTSTRAP 95% CI ON EACH MODEL'S RECALL GAP</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394960" cy="1792224"/>
        </p:xfrm>
        <a:graphic>
          <a:graphicData uri="http://schemas.openxmlformats.org/drawingml/2006/table">
            <a:tbl>
              <a:tblPr/>
              <a:tblGrid>
                <a:gridCol w="13258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Gap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Model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Estimate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95% CI</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Real?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US − non-US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−0.037 – 0.111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US − non-US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−0.023 – 0.129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US − non-US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−0.025 – 0.146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no</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Male − 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0.106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0.050 – 0.163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Male − 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0.109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0.050 – 0.171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r h="256032">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Male − Female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0.146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0.081 – 0.213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yes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6"/>
                  </a:ext>
                </a:extLst>
              </a:tr>
            </a:tbl>
          </a:graphicData>
        </a:graphic>
      </p:graphicFrame>
      <p:sp>
        <p:nvSpPr>
          <p:cNvPr id="9" name="Shape 6"/>
          <p:cNvSpPr/>
          <p:nvPr/>
        </p:nvSpPr>
        <p:spPr>
          <a:xfrm>
            <a:off x="6446520" y="1234440"/>
            <a:ext cx="5257800" cy="2880360"/>
          </a:xfrm>
          <a:prstGeom prst="rect">
            <a:avLst/>
          </a:prstGeom>
          <a:solidFill>
            <a:srgbClr val="232631"/>
          </a:solidFill>
          <a:ln w="12700">
            <a:solidFill>
              <a:srgbClr val="3A3F4A"/>
            </a:solidFill>
            <a:prstDash val="solid"/>
          </a:ln>
        </p:spPr>
        <p:txBody>
          <a:bodyPr/>
          <a:lstStyle/>
          <a:p>
            <a:endParaRPr lang="en-US"/>
          </a:p>
        </p:txBody>
      </p:sp>
      <p:sp>
        <p:nvSpPr>
          <p:cNvPr id="10" name="Text 7"/>
          <p:cNvSpPr/>
          <p:nvPr/>
        </p:nvSpPr>
        <p:spPr>
          <a:xfrm>
            <a:off x="6629400" y="1371600"/>
            <a:ext cx="48920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HOW MUCH MORE DATA WOULD SETTLE IT</a:t>
            </a:r>
            <a:endParaRPr lang="en-US" sz="1050" dirty="0"/>
          </a:p>
        </p:txBody>
      </p:sp>
      <p:sp>
        <p:nvSpPr>
          <p:cNvPr id="11" name="Text 8"/>
          <p:cNvSpPr/>
          <p:nvPr/>
        </p:nvSpPr>
        <p:spPr>
          <a:xfrm>
            <a:off x="6629400" y="1691640"/>
            <a:ext cx="4892040" cy="6858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nativity gap rests on 99 foreign-born high earners, and the 95% interval spans 0.171, wider than any gap I could plausibly find.</a:t>
            </a:r>
            <a:endParaRPr lang="en-US" sz="105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629400" y="2468880"/>
          <a:ext cx="4892040" cy="768096"/>
        </p:xfrm>
        <a:graphic>
          <a:graphicData uri="http://schemas.openxmlformats.org/drawingml/2006/table">
            <a:tbl>
              <a:tblPr/>
              <a:tblGrid>
                <a:gridCol w="14630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Target width</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Multiple needed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High earners needed</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0.05</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11.6×</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1,153</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0.02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72.8×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7,208</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bl>
          </a:graphicData>
        </a:graphic>
      </p:graphicFrame>
      <p:sp>
        <p:nvSpPr>
          <p:cNvPr id="13" name="Text 9"/>
          <p:cNvSpPr/>
          <p:nvPr/>
        </p:nvSpPr>
        <p:spPr>
          <a:xfrm>
            <a:off x="6629400" y="3520440"/>
            <a:ext cx="4892040" cy="457200"/>
          </a:xfrm>
          <a:prstGeom prst="rect">
            <a:avLst/>
          </a:prstGeom>
          <a:noFill/>
          <a:ln/>
        </p:spPr>
        <p:txBody>
          <a:bodyPr wrap="square" lIns="0" tIns="0" rIns="0" bIns="0" rtlCol="0" anchor="t"/>
          <a:lstStyle/>
          <a:p>
            <a:pPr marL="0" indent="0">
              <a:spcAft>
                <a:spcPts val="600"/>
              </a:spcAft>
              <a:buNone/>
            </a:pPr>
            <a:r>
              <a:rPr lang="en-US" sz="1050" dirty="0">
                <a:solidFill>
                  <a:srgbClr val="E8C15A"/>
                </a:solidFill>
                <a:latin typeface="Verdana" pitchFamily="34" charset="0"/>
                <a:ea typeface="Verdana" pitchFamily="34" charset="-122"/>
                <a:cs typeface="Verdana" pitchFamily="34" charset="-120"/>
              </a:rPr>
              <a:t>The interval is not wide because the models are unstable. It is wide because the group is small.</a:t>
            </a:r>
            <a:endParaRPr lang="en-US" sz="1050" dirty="0"/>
          </a:p>
        </p:txBody>
      </p:sp>
      <p:sp>
        <p:nvSpPr>
          <p:cNvPr id="14" name="Shape 10"/>
          <p:cNvSpPr/>
          <p:nvPr/>
        </p:nvSpPr>
        <p:spPr>
          <a:xfrm>
            <a:off x="502920" y="4297680"/>
            <a:ext cx="11201400" cy="2057400"/>
          </a:xfrm>
          <a:prstGeom prst="rect">
            <a:avLst/>
          </a:prstGeom>
          <a:solidFill>
            <a:srgbClr val="1C1E24"/>
          </a:solidFill>
          <a:ln w="12700">
            <a:solidFill>
              <a:srgbClr val="3A3F4A"/>
            </a:solidFill>
            <a:prstDash val="solid"/>
          </a:ln>
        </p:spPr>
        <p:txBody>
          <a:bodyPr/>
          <a:lstStyle/>
          <a:p>
            <a:endParaRPr lang="en-US"/>
          </a:p>
        </p:txBody>
      </p:sp>
      <p:sp>
        <p:nvSpPr>
          <p:cNvPr id="15" name="Text 11"/>
          <p:cNvSpPr/>
          <p:nvPr/>
        </p:nvSpPr>
        <p:spPr>
          <a:xfrm>
            <a:off x="685800" y="443484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IS ONE MODEL'S GAP REALLY SMALLER THAN ANOTHER'S? PAIRED INSIDE EACH RESAMPLE</a:t>
            </a:r>
            <a:endParaRPr lang="en-US" sz="1050" dirty="0"/>
          </a:p>
        </p:txBody>
      </p:sp>
      <p:sp>
        <p:nvSpPr>
          <p:cNvPr id="16" name="Text 12"/>
          <p:cNvSpPr/>
          <p:nvPr/>
        </p:nvSpPr>
        <p:spPr>
          <a:xfrm>
            <a:off x="685800" y="4773168"/>
            <a:ext cx="3520440" cy="274320"/>
          </a:xfrm>
          <a:prstGeom prst="rect">
            <a:avLst/>
          </a:prstGeom>
          <a:noFill/>
          <a:ln/>
        </p:spPr>
        <p:txBody>
          <a:bodyPr wrap="square" lIns="0" tIns="0" rIns="0" bIns="0" rtlCol="0" anchor="ctr"/>
          <a:lstStyle/>
          <a:p>
            <a:pPr marL="0" indent="0">
              <a:buNone/>
            </a:pPr>
            <a:r>
              <a:rPr lang="en-US" sz="1150" b="1" dirty="0">
                <a:solidFill>
                  <a:srgbClr val="E8C15A"/>
                </a:solidFill>
                <a:latin typeface="Verdana" pitchFamily="34" charset="0"/>
                <a:ea typeface="Verdana" pitchFamily="34" charset="-122"/>
                <a:cs typeface="Verdana" pitchFamily="34" charset="-120"/>
              </a:rPr>
              <a:t>No difference is significant</a:t>
            </a:r>
            <a:endParaRPr lang="en-US" sz="1150" dirty="0"/>
          </a:p>
        </p:txBody>
      </p:sp>
      <p:sp>
        <p:nvSpPr>
          <p:cNvPr id="17" name="Text 13"/>
          <p:cNvSpPr/>
          <p:nvPr/>
        </p:nvSpPr>
        <p:spPr>
          <a:xfrm>
            <a:off x="685800" y="5074920"/>
            <a:ext cx="3520440" cy="118872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Every interval on a difference between two models' gaps contains zero, and the paired fold tests return p from 0.13 to 0.99.</a:t>
            </a:r>
            <a:endParaRPr lang="en-US" sz="1000" dirty="0"/>
          </a:p>
        </p:txBody>
      </p:sp>
      <p:sp>
        <p:nvSpPr>
          <p:cNvPr id="18" name="Text 14"/>
          <p:cNvSpPr/>
          <p:nvPr/>
        </p:nvSpPr>
        <p:spPr>
          <a:xfrm>
            <a:off x="4434840" y="4773168"/>
            <a:ext cx="3520440" cy="274320"/>
          </a:xfrm>
          <a:prstGeom prst="rect">
            <a:avLst/>
          </a:prstGeom>
          <a:noFill/>
          <a:ln/>
        </p:spPr>
        <p:txBody>
          <a:bodyPr wrap="square" lIns="0" tIns="0" rIns="0" bIns="0" rtlCol="0" anchor="ctr"/>
          <a:lstStyle/>
          <a:p>
            <a:pPr marL="0" indent="0">
              <a:buNone/>
            </a:pPr>
            <a:r>
              <a:rPr lang="en-US" sz="1150" b="1" dirty="0">
                <a:solidFill>
                  <a:srgbClr val="E8C15A"/>
                </a:solidFill>
                <a:latin typeface="Verdana" pitchFamily="34" charset="0"/>
                <a:ea typeface="Verdana" pitchFamily="34" charset="-122"/>
                <a:cs typeface="Verdana" pitchFamily="34" charset="-120"/>
              </a:rPr>
              <a:t>But the direction leans against H2</a:t>
            </a:r>
            <a:endParaRPr lang="en-US" sz="1150" dirty="0"/>
          </a:p>
        </p:txBody>
      </p:sp>
      <p:sp>
        <p:nvSpPr>
          <p:cNvPr id="19" name="Text 15"/>
          <p:cNvSpPr/>
          <p:nvPr/>
        </p:nvSpPr>
        <p:spPr>
          <a:xfrm>
            <a:off x="4434840" y="5074920"/>
            <a:ext cx="3520440" cy="118872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XGBoost's sex gap is smaller than the baseline's in only 6.9% of resamples, and its nativity gap in only 27.5%. Leaning is not showing.</a:t>
            </a:r>
            <a:endParaRPr lang="en-US" sz="1000" dirty="0"/>
          </a:p>
        </p:txBody>
      </p:sp>
      <p:sp>
        <p:nvSpPr>
          <p:cNvPr id="8" name="Text 16"/>
          <p:cNvSpPr/>
          <p:nvPr/>
        </p:nvSpPr>
        <p:spPr>
          <a:xfrm>
            <a:off x="8183880" y="4773168"/>
            <a:ext cx="3520440" cy="274320"/>
          </a:xfrm>
          <a:prstGeom prst="rect">
            <a:avLst/>
          </a:prstGeom>
          <a:noFill/>
          <a:ln/>
        </p:spPr>
        <p:txBody>
          <a:bodyPr wrap="square" lIns="0" tIns="0" rIns="0" bIns="0" rtlCol="0" anchor="ctr"/>
          <a:lstStyle/>
          <a:p>
            <a:pPr marL="0" indent="0">
              <a:buNone/>
            </a:pPr>
            <a:r>
              <a:rPr lang="en-US" sz="1150" b="1" dirty="0">
                <a:solidFill>
                  <a:srgbClr val="E8C15A"/>
                </a:solidFill>
                <a:latin typeface="Verdana" pitchFamily="34" charset="0"/>
                <a:ea typeface="Verdana" pitchFamily="34" charset="-122"/>
                <a:cs typeface="Verdana" pitchFamily="34" charset="-120"/>
              </a:rPr>
              <a:t>And the folds disagree with the test set</a:t>
            </a:r>
            <a:endParaRPr lang="en-US" sz="1150" dirty="0"/>
          </a:p>
        </p:txBody>
      </p:sp>
      <p:sp>
        <p:nvSpPr>
          <p:cNvPr id="21" name="Text 17"/>
          <p:cNvSpPr/>
          <p:nvPr/>
        </p:nvSpPr>
        <p:spPr>
          <a:xfrm>
            <a:off x="8183880" y="5074920"/>
            <a:ext cx="3520440" cy="118872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Cross-validation puts the MLP at the largest mean nativity gap, 0.091. Two splits disagreeing about the ordering is what underpowered looks like.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18</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Handling the group imbalance</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Finding a gap is half the job. The other half is trying to close it and measuring what that costs</a:t>
            </a:r>
            <a:endParaRPr lang="en-US" sz="1200" dirty="0"/>
          </a:p>
        </p:txBody>
      </p:sp>
      <p:sp>
        <p:nvSpPr>
          <p:cNvPr id="6" name="Shape 4"/>
          <p:cNvSpPr/>
          <p:nvPr/>
        </p:nvSpPr>
        <p:spPr>
          <a:xfrm>
            <a:off x="594360" y="1280160"/>
            <a:ext cx="5760720" cy="2651760"/>
          </a:xfrm>
          <a:prstGeom prst="rect">
            <a:avLst/>
          </a:prstGeom>
          <a:solidFill>
            <a:srgbClr val="FFFFFF"/>
          </a:solidFill>
          <a:ln w="12700">
            <a:solidFill>
              <a:srgbClr val="3A3F4A"/>
            </a:solidFill>
            <a:prstDash val="solid"/>
          </a:ln>
        </p:spPr>
        <p:txBody>
          <a:bodyPr/>
          <a:lstStyle/>
          <a:p>
            <a:endParaRPr lang="en-US"/>
          </a:p>
        </p:txBody>
      </p:sp>
      <p:pic>
        <p:nvPicPr>
          <p:cNvPr id="7" name="Image 0" descr="figs/fig4_cell77.png"/>
          <p:cNvPicPr>
            <a:picLocks noChangeAspect="1"/>
          </p:cNvPicPr>
          <p:nvPr/>
        </p:nvPicPr>
        <p:blipFill>
          <a:blip r:embed="rId3"/>
          <a:stretch>
            <a:fillRect/>
          </a:stretch>
        </p:blipFill>
        <p:spPr>
          <a:xfrm>
            <a:off x="685800" y="1371600"/>
            <a:ext cx="5577840" cy="2468880"/>
          </a:xfrm>
          <a:prstGeom prst="rect">
            <a:avLst/>
          </a:prstGeom>
        </p:spPr>
      </p:pic>
      <p:sp>
        <p:nvSpPr>
          <p:cNvPr id="8" name="Text 5"/>
          <p:cNvSpPr/>
          <p:nvPr/>
        </p:nvSpPr>
        <p:spPr>
          <a:xfrm>
            <a:off x="685800" y="4023360"/>
            <a:ext cx="5577840" cy="32004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Nativity recall gap for every model and strategy. Lower is fairer, zero is parity.</a:t>
            </a:r>
            <a:endParaRPr lang="en-US" sz="950" dirty="0"/>
          </a:p>
        </p:txBody>
      </p:sp>
      <p:sp>
        <p:nvSpPr>
          <p:cNvPr id="9" name="Shape 6"/>
          <p:cNvSpPr/>
          <p:nvPr/>
        </p:nvSpPr>
        <p:spPr>
          <a:xfrm>
            <a:off x="6675120" y="1234440"/>
            <a:ext cx="5029200" cy="5120640"/>
          </a:xfrm>
          <a:prstGeom prst="rect">
            <a:avLst/>
          </a:prstGeom>
          <a:solidFill>
            <a:srgbClr val="1C1E24"/>
          </a:solidFill>
          <a:ln w="12700">
            <a:solidFill>
              <a:srgbClr val="3A3F4A"/>
            </a:solidFill>
            <a:prstDash val="solid"/>
          </a:ln>
        </p:spPr>
        <p:txBody>
          <a:bodyPr/>
          <a:lstStyle/>
          <a:p>
            <a:endParaRPr lang="en-US"/>
          </a:p>
        </p:txBody>
      </p:sp>
      <p:sp>
        <p:nvSpPr>
          <p:cNvPr id="10" name="Text 7"/>
          <p:cNvSpPr/>
          <p:nvPr/>
        </p:nvSpPr>
        <p:spPr>
          <a:xfrm>
            <a:off x="6858000" y="1371600"/>
            <a:ext cx="46634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FOUR STRATEGIES, AND WHAT EACH ONE SHOWED</a:t>
            </a:r>
            <a:endParaRPr lang="en-US" sz="1050" dirty="0"/>
          </a:p>
        </p:txBody>
      </p:sp>
      <p:sp>
        <p:nvSpPr>
          <p:cNvPr id="11" name="Text 8"/>
          <p:cNvSpPr/>
          <p:nvPr/>
        </p:nvSpPr>
        <p:spPr>
          <a:xfrm>
            <a:off x="6858000" y="1737360"/>
            <a:ext cx="466344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Train on the minority group only</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Worst of the four, and the way it fails is useful. Foreign-born training is 1,680 rows against 19,521, and the female-only XGBoost collapses to 0.375 recall on men. Cutting to the group did not fix the gap, it moved who is served badly</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Group-balanced oversampling</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Upsample the minority group until both are equally represented. For XGBoost the nativity gap goes 0.079 to 0.024 and the sex gap 0.146 to 0.099, at an F1 cost of 0.002. Close to free</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Group-specific thresholds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Most effective by a distance. Closes the nativity gap to within a point of zero for all three, costing XGBoost 0.708 to 0.696 F1. It works because the imbalance is about where one cutoff falls on two different score distributions</a:t>
            </a:r>
            <a:endParaRPr lang="en-US" sz="1000" dirty="0"/>
          </a:p>
        </p:txBody>
      </p:sp>
      <p:sp>
        <p:nvSpPr>
          <p:cNvPr id="12" name="Shape 9"/>
          <p:cNvSpPr/>
          <p:nvPr/>
        </p:nvSpPr>
        <p:spPr>
          <a:xfrm>
            <a:off x="502920" y="4480560"/>
            <a:ext cx="5989320" cy="1874520"/>
          </a:xfrm>
          <a:prstGeom prst="rect">
            <a:avLst/>
          </a:prstGeom>
          <a:solidFill>
            <a:srgbClr val="232631"/>
          </a:solidFill>
          <a:ln w="12700">
            <a:solidFill>
              <a:srgbClr val="3A3F4A"/>
            </a:solidFill>
            <a:prstDash val="solid"/>
          </a:ln>
        </p:spPr>
        <p:txBody>
          <a:bodyPr/>
          <a:lstStyle/>
          <a:p>
            <a:endParaRPr lang="en-US"/>
          </a:p>
        </p:txBody>
      </p:sp>
      <p:sp>
        <p:nvSpPr>
          <p:cNvPr id="13" name="Text 10"/>
          <p:cNvSpPr/>
          <p:nvPr/>
        </p:nvSpPr>
        <p:spPr>
          <a:xfrm>
            <a:off x="685800" y="4599432"/>
            <a:ext cx="56235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 WOULD ACTUALLY DEPLOY</a:t>
            </a:r>
            <a:endParaRPr lang="en-US" sz="1050" dirty="0"/>
          </a:p>
        </p:txBody>
      </p:sp>
      <p:sp>
        <p:nvSpPr>
          <p:cNvPr id="14" name="Text 11"/>
          <p:cNvSpPr/>
          <p:nvPr/>
        </p:nvSpPr>
        <p:spPr>
          <a:xfrm>
            <a:off x="685800" y="4892040"/>
            <a:ext cx="5623560" cy="137160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Group thresholds close the gap best, but they mean using nativity or sex to decide an outcome, which in real lending is very likely illegal regardless of intent.</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the recommendation is group-balanced oversampling: it recovers most of the gap without the deployed model branching on a protected attribute. The thresholds are a diagnostic.</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H2 verdict: refuted</a:t>
            </a:r>
            <a:endParaRPr lang="en-US" sz="2700" dirty="0"/>
          </a:p>
        </p:txBody>
      </p:sp>
      <p:sp>
        <p:nvSpPr>
          <p:cNvPr id="3" name="Text 1"/>
          <p:cNvSpPr/>
          <p:nvPr/>
        </p:nvSpPr>
        <p:spPr>
          <a:xfrm>
            <a:off x="502920"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XGBoost does not have the smallest US-born vs foreign-born recall gap</a:t>
            </a:r>
            <a:endParaRPr lang="en-US" sz="1200" dirty="0"/>
          </a:p>
        </p:txBody>
      </p:sp>
      <p:sp>
        <p:nvSpPr>
          <p:cNvPr id="4" name="Shape 2"/>
          <p:cNvSpPr/>
          <p:nvPr/>
        </p:nvSpPr>
        <p:spPr>
          <a:xfrm>
            <a:off x="10241280" y="274320"/>
            <a:ext cx="1463040" cy="566928"/>
          </a:xfrm>
          <a:prstGeom prst="rect">
            <a:avLst/>
          </a:prstGeom>
          <a:solidFill>
            <a:srgbClr val="20242E"/>
          </a:solidFill>
          <a:ln w="19050">
            <a:solidFill>
              <a:srgbClr val="E07A5F"/>
            </a:solidFill>
            <a:prstDash val="solid"/>
          </a:ln>
        </p:spPr>
        <p:txBody>
          <a:bodyPr/>
          <a:lstStyle/>
          <a:p>
            <a:endParaRPr lang="en-US"/>
          </a:p>
        </p:txBody>
      </p:sp>
      <p:sp>
        <p:nvSpPr>
          <p:cNvPr id="5" name="Text 3"/>
          <p:cNvSpPr/>
          <p:nvPr/>
        </p:nvSpPr>
        <p:spPr>
          <a:xfrm>
            <a:off x="10241280" y="274320"/>
            <a:ext cx="1463040" cy="566928"/>
          </a:xfrm>
          <a:prstGeom prst="rect">
            <a:avLst/>
          </a:prstGeom>
          <a:noFill/>
          <a:ln/>
        </p:spPr>
        <p:txBody>
          <a:bodyPr wrap="square" lIns="0" tIns="0" rIns="0" bIns="0" rtlCol="0" anchor="ctr"/>
          <a:lstStyle/>
          <a:p>
            <a:pPr marL="0" indent="0" algn="ctr">
              <a:buNone/>
            </a:pPr>
            <a:r>
              <a:rPr lang="en-US" sz="1050" b="1" dirty="0">
                <a:solidFill>
                  <a:srgbClr val="E07A5F"/>
                </a:solidFill>
                <a:latin typeface="Verdana" pitchFamily="34" charset="0"/>
                <a:ea typeface="Verdana" pitchFamily="34" charset="-122"/>
                <a:cs typeface="Verdana" pitchFamily="34" charset="-120"/>
              </a:rPr>
              <a:t>REFUTED</a:t>
            </a:r>
            <a:endParaRPr lang="en-US" sz="1050" dirty="0"/>
          </a:p>
        </p:txBody>
      </p:sp>
      <p:sp>
        <p:nvSpPr>
          <p:cNvPr id="6" name="Shape 4"/>
          <p:cNvSpPr/>
          <p:nvPr/>
        </p:nvSpPr>
        <p:spPr>
          <a:xfrm>
            <a:off x="502920" y="1280160"/>
            <a:ext cx="5532120" cy="23774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41732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POINT ESTIMATES GO THE OTHER WAY</a:t>
            </a:r>
            <a:endParaRPr lang="en-US" sz="1050" dirty="0"/>
          </a:p>
        </p:txBody>
      </p:sp>
      <p:sp>
        <p:nvSpPr>
          <p:cNvPr id="8" name="Text 6"/>
          <p:cNvSpPr/>
          <p:nvPr/>
        </p:nvSpPr>
        <p:spPr>
          <a:xfrm>
            <a:off x="685800" y="1737360"/>
            <a:ext cx="5166360" cy="18288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XGBoost has the largest raw nativity gap at 0.079, against 0.055 for LR and 0.046 for the MLP</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Same ordering on sex: 0.146 against 0.106 and 0.108</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The hypothesis predicted the opposite direction, so on the numbers it is refuted</a:t>
            </a:r>
            <a:endParaRPr lang="en-US" sz="1100" dirty="0"/>
          </a:p>
        </p:txBody>
      </p:sp>
      <p:sp>
        <p:nvSpPr>
          <p:cNvPr id="9" name="Shape 7"/>
          <p:cNvSpPr/>
          <p:nvPr/>
        </p:nvSpPr>
        <p:spPr>
          <a:xfrm>
            <a:off x="6217920" y="1280160"/>
            <a:ext cx="5486400" cy="23774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41732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MORE CAREFUL STATEMENT</a:t>
            </a:r>
            <a:endParaRPr lang="en-US" sz="1050" dirty="0"/>
          </a:p>
        </p:txBody>
      </p:sp>
      <p:sp>
        <p:nvSpPr>
          <p:cNvPr id="11" name="Text 9"/>
          <p:cNvSpPr/>
          <p:nvPr/>
        </p:nvSpPr>
        <p:spPr>
          <a:xfrm>
            <a:off x="6400800" y="1737360"/>
            <a:ext cx="5120640" cy="182880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No model is statistically distinguishable from any other on this gap</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Every bootstrap interval on a difference contains zero, and the paired fold tests return p = 0.13 to 0.99</a:t>
            </a:r>
            <a:endParaRPr lang="en-US" sz="1100" dirty="0"/>
          </a:p>
          <a:p>
            <a:pPr marL="342900" indent="-342900">
              <a:spcAft>
                <a:spcPts val="700"/>
              </a:spcAft>
              <a:buSzPct val="100000"/>
              <a:buChar char="•"/>
            </a:pPr>
            <a:r>
              <a:rPr lang="en-US" sz="1100" dirty="0">
                <a:solidFill>
                  <a:srgbClr val="9AA7BD"/>
                </a:solidFill>
                <a:latin typeface="Verdana" pitchFamily="34" charset="0"/>
                <a:ea typeface="Verdana" pitchFamily="34" charset="-122"/>
                <a:cs typeface="Verdana" pitchFamily="34" charset="-120"/>
              </a:rPr>
              <a:t>So H2 is not supported and the reverse is not either. 99 foreign-born high earners cannot resolve a 0.03 difference</a:t>
            </a:r>
            <a:endParaRPr lang="en-US" sz="1100" dirty="0"/>
          </a:p>
        </p:txBody>
      </p:sp>
      <p:sp>
        <p:nvSpPr>
          <p:cNvPr id="12" name="Shape 10"/>
          <p:cNvSpPr/>
          <p:nvPr/>
        </p:nvSpPr>
        <p:spPr>
          <a:xfrm>
            <a:off x="502920" y="3840480"/>
            <a:ext cx="5532120" cy="2514600"/>
          </a:xfrm>
          <a:prstGeom prst="rect">
            <a:avLst/>
          </a:prstGeom>
          <a:solidFill>
            <a:srgbClr val="232631"/>
          </a:solidFill>
          <a:ln w="12700">
            <a:solidFill>
              <a:srgbClr val="3A3F4A"/>
            </a:solidFill>
            <a:prstDash val="solid"/>
          </a:ln>
        </p:spPr>
        <p:txBody>
          <a:bodyPr/>
          <a:lstStyle/>
          <a:p>
            <a:endParaRPr lang="en-US"/>
          </a:p>
        </p:txBody>
      </p:sp>
      <p:sp>
        <p:nvSpPr>
          <p:cNvPr id="13" name="Text 11"/>
          <p:cNvSpPr/>
          <p:nvPr/>
        </p:nvSpPr>
        <p:spPr>
          <a:xfrm>
            <a:off x="685800" y="397764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A CONFOUND I HAVE TO NAME</a:t>
            </a:r>
            <a:endParaRPr lang="en-US" sz="1050" dirty="0"/>
          </a:p>
        </p:txBody>
      </p:sp>
      <p:sp>
        <p:nvSpPr>
          <p:cNvPr id="14" name="Text 12"/>
          <p:cNvSpPr/>
          <p:nvPr/>
        </p:nvSpPr>
        <p:spPr>
          <a:xfrm>
            <a:off x="685800" y="4297680"/>
            <a:ext cx="516636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three models sit at different recall levels, 0.72 for XGBoost against 0.82 for LR, so their gaps are not measured at the same operating point.</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With group thresholds putting all three at about 0.78 recall, XGBoost's nativity gap becomes −0.011 and it still has the highest F1.</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part of its larger raw gap is where its threshold lands, not how it treats the groups.</a:t>
            </a:r>
            <a:endParaRPr lang="en-US" sz="1050" dirty="0"/>
          </a:p>
        </p:txBody>
      </p:sp>
      <p:sp>
        <p:nvSpPr>
          <p:cNvPr id="15" name="Shape 13"/>
          <p:cNvSpPr/>
          <p:nvPr/>
        </p:nvSpPr>
        <p:spPr>
          <a:xfrm>
            <a:off x="6217920" y="3840480"/>
            <a:ext cx="5486400" cy="2514600"/>
          </a:xfrm>
          <a:prstGeom prst="rect">
            <a:avLst/>
          </a:prstGeom>
          <a:solidFill>
            <a:srgbClr val="232631"/>
          </a:solidFill>
          <a:ln w="12700">
            <a:solidFill>
              <a:srgbClr val="3A3F4A"/>
            </a:solidFill>
            <a:prstDash val="solid"/>
          </a:ln>
        </p:spPr>
        <p:txBody>
          <a:bodyPr/>
          <a:lstStyle/>
          <a:p>
            <a:endParaRPr lang="en-US"/>
          </a:p>
        </p:txBody>
      </p:sp>
      <p:sp>
        <p:nvSpPr>
          <p:cNvPr id="16" name="Text 14"/>
          <p:cNvSpPr/>
          <p:nvPr/>
        </p:nvSpPr>
        <p:spPr>
          <a:xfrm>
            <a:off x="6400800" y="397764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IS SETTLED</a:t>
            </a:r>
            <a:endParaRPr lang="en-US" sz="1050" dirty="0"/>
          </a:p>
        </p:txBody>
      </p:sp>
      <p:sp>
        <p:nvSpPr>
          <p:cNvPr id="17" name="Text 15"/>
          <p:cNvSpPr/>
          <p:nvPr/>
        </p:nvSpPr>
        <p:spPr>
          <a:xfrm>
            <a:off x="6400800" y="4297680"/>
            <a:ext cx="512064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All three models miss female high earners by 11 to 15 points more than male ones, and all three intervals exclude zero. That gap is real whichever model I pick.</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base rates themselves also differ, 24.6% against 18.7% by nativity, with a 95% interval of 4.4 to 7.4 points. Some gap is inherited from the data rather than invented by the model.</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81D"/>
        </a:solidFill>
        <a:effectLst/>
      </p:bgPr>
    </p:bg>
    <p:spTree>
      <p:nvGrpSpPr>
        <p:cNvPr id="1" name=""/>
        <p:cNvGrpSpPr/>
        <p:nvPr/>
      </p:nvGrpSpPr>
      <p:grpSpPr>
        <a:xfrm>
          <a:off x="0" y="0"/>
          <a:ext cx="0" cy="0"/>
          <a:chOff x="0" y="0"/>
          <a:chExt cx="0" cy="0"/>
        </a:xfrm>
      </p:grpSpPr>
      <p:sp>
        <p:nvSpPr>
          <p:cNvPr id="2" name="Text 0"/>
          <p:cNvSpPr/>
          <p:nvPr/>
        </p:nvSpPr>
        <p:spPr>
          <a:xfrm>
            <a:off x="502920"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H1 verdict: supported</a:t>
            </a:r>
            <a:endParaRPr lang="en-US" sz="2700" dirty="0"/>
          </a:p>
        </p:txBody>
      </p:sp>
      <p:sp>
        <p:nvSpPr>
          <p:cNvPr id="3" name="Text 1"/>
          <p:cNvSpPr/>
          <p:nvPr/>
        </p:nvSpPr>
        <p:spPr>
          <a:xfrm>
            <a:off x="502920"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Education drives the over-$50K prediction more than hours worked, on all three models</a:t>
            </a:r>
            <a:endParaRPr lang="en-US" sz="1200" dirty="0"/>
          </a:p>
        </p:txBody>
      </p:sp>
      <p:sp>
        <p:nvSpPr>
          <p:cNvPr id="4" name="Shape 2"/>
          <p:cNvSpPr/>
          <p:nvPr/>
        </p:nvSpPr>
        <p:spPr>
          <a:xfrm>
            <a:off x="10241280" y="274320"/>
            <a:ext cx="1463040" cy="566928"/>
          </a:xfrm>
          <a:prstGeom prst="rect">
            <a:avLst/>
          </a:prstGeom>
          <a:solidFill>
            <a:srgbClr val="20242E"/>
          </a:solidFill>
          <a:ln w="19050">
            <a:solidFill>
              <a:srgbClr val="5FBF8F"/>
            </a:solidFill>
            <a:prstDash val="solid"/>
          </a:ln>
        </p:spPr>
        <p:txBody>
          <a:bodyPr/>
          <a:lstStyle/>
          <a:p>
            <a:endParaRPr lang="en-US"/>
          </a:p>
        </p:txBody>
      </p:sp>
      <p:sp>
        <p:nvSpPr>
          <p:cNvPr id="5" name="Text 3"/>
          <p:cNvSpPr/>
          <p:nvPr/>
        </p:nvSpPr>
        <p:spPr>
          <a:xfrm>
            <a:off x="10241280" y="274320"/>
            <a:ext cx="1463040" cy="566928"/>
          </a:xfrm>
          <a:prstGeom prst="rect">
            <a:avLst/>
          </a:prstGeom>
          <a:noFill/>
          <a:ln/>
        </p:spPr>
        <p:txBody>
          <a:bodyPr wrap="square" lIns="0" tIns="0" rIns="0" bIns="0" rtlCol="0" anchor="ctr"/>
          <a:lstStyle/>
          <a:p>
            <a:pPr marL="0" indent="0" algn="ctr">
              <a:buNone/>
            </a:pPr>
            <a:r>
              <a:rPr lang="en-US" sz="1050" b="1" dirty="0">
                <a:solidFill>
                  <a:srgbClr val="5FBF8F"/>
                </a:solidFill>
                <a:latin typeface="Verdana" pitchFamily="34" charset="0"/>
                <a:ea typeface="Verdana" pitchFamily="34" charset="-122"/>
                <a:cs typeface="Verdana" pitchFamily="34" charset="-120"/>
              </a:rPr>
              <a:t>SUPPORTED</a:t>
            </a:r>
            <a:endParaRPr lang="en-US" sz="1050" dirty="0"/>
          </a:p>
        </p:txBody>
      </p:sp>
      <p:sp>
        <p:nvSpPr>
          <p:cNvPr id="6" name="Shape 4"/>
          <p:cNvSpPr/>
          <p:nvPr/>
        </p:nvSpPr>
        <p:spPr>
          <a:xfrm>
            <a:off x="502920" y="1280160"/>
            <a:ext cx="6492240" cy="246888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417320"/>
            <a:ext cx="61264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PERMUTATION IMPORTANCE ON PR-AUC, TEST SET, 20 REPEATS EACH</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6126480" cy="1024128"/>
        </p:xfrm>
        <a:graphic>
          <a:graphicData uri="http://schemas.openxmlformats.org/drawingml/2006/table">
            <a:tbl>
              <a:tblPr/>
              <a:tblGrid>
                <a:gridCol w="15087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256032">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Model</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Edu. drop</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Hrs drop</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Diff</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95% CI</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00" b="1" dirty="0">
                          <a:solidFill>
                            <a:srgbClr val="E8C15A"/>
                          </a:solidFill>
                          <a:latin typeface="Verdana" pitchFamily="34" charset="0"/>
                          <a:ea typeface="Verdana" pitchFamily="34" charset="-122"/>
                          <a:cs typeface="Verdana" pitchFamily="34" charset="-120"/>
                        </a:rPr>
                        <a:t>Wins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00" b="1" dirty="0">
                          <a:solidFill>
                            <a:srgbClr val="F5F7FA"/>
                          </a:solidFill>
                          <a:latin typeface="Verdana" pitchFamily="34" charset="0"/>
                          <a:ea typeface="Verdana" pitchFamily="34" charset="-122"/>
                          <a:cs typeface="Verdana" pitchFamily="34" charset="-120"/>
                        </a:rPr>
                        <a:t>Logistic regression</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0.0729</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0.0288</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0.0441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0.0415 – 0.0467</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5FBF8F"/>
                          </a:solidFill>
                          <a:latin typeface="Verdana" pitchFamily="34" charset="0"/>
                          <a:ea typeface="Verdana" pitchFamily="34" charset="-122"/>
                          <a:cs typeface="Verdana" pitchFamily="34" charset="-120"/>
                        </a:rPr>
                        <a:t>yes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00" b="1" dirty="0">
                          <a:solidFill>
                            <a:srgbClr val="F5F7FA"/>
                          </a:solidFill>
                          <a:latin typeface="Verdana" pitchFamily="34" charset="0"/>
                          <a:ea typeface="Verdana" pitchFamily="34" charset="-122"/>
                          <a:cs typeface="Verdana" pitchFamily="34" charset="-120"/>
                        </a:rPr>
                        <a:t>XGBoost</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0.0588</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0.0196</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0.0392</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0.0374 – 0.0411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5FBF8F"/>
                          </a:solidFill>
                          <a:latin typeface="Verdana" pitchFamily="34" charset="0"/>
                          <a:ea typeface="Verdana" pitchFamily="34" charset="-122"/>
                          <a:cs typeface="Verdana" pitchFamily="34" charset="-120"/>
                        </a:rPr>
                        <a:t>yes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00" b="1" dirty="0">
                          <a:solidFill>
                            <a:srgbClr val="F5F7FA"/>
                          </a:solidFill>
                          <a:latin typeface="Verdana" pitchFamily="34" charset="0"/>
                          <a:ea typeface="Verdana" pitchFamily="34" charset="-122"/>
                          <a:cs typeface="Verdana" pitchFamily="34" charset="-120"/>
                        </a:rPr>
                        <a:t>MLP</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0.0692</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0.0251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0.0441</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9AA7BD"/>
                          </a:solidFill>
                          <a:latin typeface="Verdana" pitchFamily="34" charset="0"/>
                          <a:ea typeface="Verdana" pitchFamily="34" charset="-122"/>
                          <a:cs typeface="Verdana" pitchFamily="34" charset="-120"/>
                        </a:rPr>
                        <a:t>0.0415 – 0.0467</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00" dirty="0">
                          <a:solidFill>
                            <a:srgbClr val="5FBF8F"/>
                          </a:solidFill>
                          <a:latin typeface="Verdana" pitchFamily="34" charset="0"/>
                          <a:ea typeface="Verdana" pitchFamily="34" charset="-122"/>
                          <a:cs typeface="Verdana" pitchFamily="34" charset="-120"/>
                        </a:rPr>
                        <a:t>yes</a:t>
                      </a:r>
                      <a:endParaRPr lang="en-US" sz="9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Text 6"/>
          <p:cNvSpPr/>
          <p:nvPr/>
        </p:nvSpPr>
        <p:spPr>
          <a:xfrm>
            <a:off x="685800" y="3127248"/>
            <a:ext cx="6126480" cy="5486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Education is worth two and a half to three times as much as hours to every model, and all three intervals exclude zero by a wide margin.</a:t>
            </a:r>
            <a:endParaRPr lang="en-US" sz="1050" dirty="0"/>
          </a:p>
        </p:txBody>
      </p:sp>
      <p:sp>
        <p:nvSpPr>
          <p:cNvPr id="10" name="Shape 7"/>
          <p:cNvSpPr/>
          <p:nvPr/>
        </p:nvSpPr>
        <p:spPr>
          <a:xfrm>
            <a:off x="7178040" y="1280160"/>
            <a:ext cx="4526280" cy="2468880"/>
          </a:xfrm>
          <a:prstGeom prst="rect">
            <a:avLst/>
          </a:prstGeom>
          <a:solidFill>
            <a:srgbClr val="232631"/>
          </a:solidFill>
          <a:ln w="12700">
            <a:solidFill>
              <a:srgbClr val="3A3F4A"/>
            </a:solidFill>
            <a:prstDash val="solid"/>
          </a:ln>
        </p:spPr>
        <p:txBody>
          <a:bodyPr/>
          <a:lstStyle/>
          <a:p>
            <a:endParaRPr lang="en-US"/>
          </a:p>
        </p:txBody>
      </p:sp>
      <p:sp>
        <p:nvSpPr>
          <p:cNvPr id="11" name="Text 8"/>
          <p:cNvSpPr/>
          <p:nvPr/>
        </p:nvSpPr>
        <p:spPr>
          <a:xfrm>
            <a:off x="7360920" y="1417320"/>
            <a:ext cx="41605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ONE METHODOLOGICAL DETAIL</a:t>
            </a:r>
            <a:endParaRPr lang="en-US" sz="1050" dirty="0"/>
          </a:p>
        </p:txBody>
      </p:sp>
      <p:sp>
        <p:nvSpPr>
          <p:cNvPr id="12" name="Text 9"/>
          <p:cNvSpPr/>
          <p:nvPr/>
        </p:nvSpPr>
        <p:spPr>
          <a:xfrm>
            <a:off x="7360920" y="1737360"/>
            <a:ext cx="4160520" cy="19202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Education is one column, but hours is hours_per_week plus six hours_group dummies I engineered.</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Shuffling only hours_per_week would leave those dummies telling the model the answer, making hours look weaker than it is.</a:t>
            </a:r>
            <a:endParaRPr lang="en-US" sz="1050" dirty="0"/>
          </a:p>
          <a:p>
            <a:pPr marL="0" indent="0">
              <a:spcAft>
                <a:spcPts val="600"/>
              </a:spcAft>
              <a:buNone/>
            </a:pPr>
            <a:endParaRPr lang="en-US" sz="1050" dirty="0"/>
          </a:p>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So I shuffle the whole hours block together, which gives hours a fair shot.</a:t>
            </a:r>
            <a:endParaRPr lang="en-US" sz="1050" dirty="0"/>
          </a:p>
        </p:txBody>
      </p:sp>
      <p:sp>
        <p:nvSpPr>
          <p:cNvPr id="13" name="Shape 10"/>
          <p:cNvSpPr/>
          <p:nvPr/>
        </p:nvSpPr>
        <p:spPr>
          <a:xfrm>
            <a:off x="594360" y="4023360"/>
            <a:ext cx="6675120" cy="2304288"/>
          </a:xfrm>
          <a:prstGeom prst="rect">
            <a:avLst/>
          </a:prstGeom>
          <a:solidFill>
            <a:srgbClr val="FFFFFF"/>
          </a:solidFill>
          <a:ln w="12700">
            <a:solidFill>
              <a:srgbClr val="3A3F4A"/>
            </a:solidFill>
            <a:prstDash val="solid"/>
          </a:ln>
        </p:spPr>
        <p:txBody>
          <a:bodyPr/>
          <a:lstStyle/>
          <a:p>
            <a:endParaRPr lang="en-US"/>
          </a:p>
        </p:txBody>
      </p:sp>
      <p:pic>
        <p:nvPicPr>
          <p:cNvPr id="14" name="Image 0" descr="figs/fig5_cell83.png"/>
          <p:cNvPicPr>
            <a:picLocks noChangeAspect="1"/>
          </p:cNvPicPr>
          <p:nvPr/>
        </p:nvPicPr>
        <p:blipFill>
          <a:blip r:embed="rId3"/>
          <a:stretch>
            <a:fillRect/>
          </a:stretch>
        </p:blipFill>
        <p:spPr>
          <a:xfrm>
            <a:off x="685800" y="4114800"/>
            <a:ext cx="6492240" cy="2121408"/>
          </a:xfrm>
          <a:prstGeom prst="rect">
            <a:avLst/>
          </a:prstGeom>
        </p:spPr>
      </p:pic>
      <p:sp>
        <p:nvSpPr>
          <p:cNvPr id="15" name="Shape 11"/>
          <p:cNvSpPr/>
          <p:nvPr/>
        </p:nvSpPr>
        <p:spPr>
          <a:xfrm>
            <a:off x="7178040" y="3931920"/>
            <a:ext cx="4526280" cy="2423160"/>
          </a:xfrm>
          <a:prstGeom prst="rect">
            <a:avLst/>
          </a:prstGeom>
          <a:solidFill>
            <a:srgbClr val="232631"/>
          </a:solidFill>
          <a:ln w="12700">
            <a:solidFill>
              <a:srgbClr val="3A3F4A"/>
            </a:solidFill>
            <a:prstDash val="solid"/>
          </a:ln>
        </p:spPr>
        <p:txBody>
          <a:bodyPr/>
          <a:lstStyle/>
          <a:p>
            <a:endParaRPr lang="en-US"/>
          </a:p>
        </p:txBody>
      </p:sp>
      <p:sp>
        <p:nvSpPr>
          <p:cNvPr id="16" name="Text 12"/>
          <p:cNvSpPr/>
          <p:nvPr/>
        </p:nvSpPr>
        <p:spPr>
          <a:xfrm>
            <a:off x="7360920" y="4069080"/>
            <a:ext cx="41605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H1 DOES NOT CLAIM</a:t>
            </a:r>
            <a:endParaRPr lang="en-US" sz="1050" dirty="0"/>
          </a:p>
        </p:txBody>
      </p:sp>
      <p:sp>
        <p:nvSpPr>
          <p:cNvPr id="17" name="Text 13"/>
          <p:cNvSpPr/>
          <p:nvPr/>
        </p:nvSpPr>
        <p:spPr>
          <a:xfrm>
            <a:off x="7360920" y="4389120"/>
            <a:ext cx="4160520" cy="182880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It does not claim education is the most important feature overall. Capital gain and marital status outrank it on every model, as the plots show.</a:t>
            </a:r>
            <a:endParaRPr lang="en-US" sz="1000" dirty="0"/>
          </a:p>
          <a:p>
            <a:pPr marL="0" indent="0">
              <a:spcAft>
                <a:spcPts val="600"/>
              </a:spcAft>
              <a:buNone/>
            </a:pPr>
            <a:endParaRPr lang="en-US" sz="1000" dirty="0"/>
          </a:p>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H1 is a claim about education against hours specifically, and that is what the test supports.</a:t>
            </a:r>
            <a:endParaRPr lang="en-US" sz="1000" dirty="0"/>
          </a:p>
          <a:p>
            <a:pPr marL="0" indent="0">
              <a:spcAft>
                <a:spcPts val="600"/>
              </a:spcAft>
              <a:buNone/>
            </a:pPr>
            <a:endParaRPr lang="en-US" sz="1000" dirty="0"/>
          </a:p>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This is the fourth independent method to give the same answer, after the rate spread, the decision tree, and the Cohen's d effect sizes from my EDA milestone.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19</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Error analysis: who each model gets wrong</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And whether XGBoost's advantage comes from fixing the weakness I found in the baseline</a:t>
            </a:r>
            <a:endParaRPr lang="en-US" sz="1200" dirty="0"/>
          </a:p>
        </p:txBody>
      </p:sp>
      <p:sp>
        <p:nvSpPr>
          <p:cNvPr id="6" name="Shape 4"/>
          <p:cNvSpPr/>
          <p:nvPr/>
        </p:nvSpPr>
        <p:spPr>
          <a:xfrm>
            <a:off x="502920" y="1234440"/>
            <a:ext cx="5532120" cy="251460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ERROR COUNTS AND THE MISSED-EARNER PROFILE</a:t>
            </a:r>
            <a:endParaRPr lang="en-US" sz="10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1737360"/>
          <a:ext cx="5166360" cy="1293876"/>
        </p:xfrm>
        <a:graphic>
          <a:graphicData uri="http://schemas.openxmlformats.org/drawingml/2006/table">
            <a:tbl>
              <a:tblPr/>
              <a:tblGrid>
                <a:gridCol w="1371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Model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Missed &gt;50K</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Caught</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False alarms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Missed with $0 cap. gain</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LR 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282</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1,286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905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94.7%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MLP 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331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1,237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811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93.4%</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XGBoost tuned</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1,130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495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96.6%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9" name="Text 6"/>
          <p:cNvSpPr/>
          <p:nvPr/>
        </p:nvSpPr>
        <p:spPr>
          <a:xfrm>
            <a:off x="685800" y="2834640"/>
            <a:ext cx="5166360" cy="86868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The pattern from the baseline milestone holds for all three. The high earners they miss look ordinary on the strongest features: almost no capital gain, younger, less educated. XGBoost misses more in total because of its lower recall, but nearly halves the false alarms.</a:t>
            </a:r>
            <a:endParaRPr lang="en-US" sz="1000" dirty="0"/>
          </a:p>
        </p:txBody>
      </p:sp>
      <p:sp>
        <p:nvSpPr>
          <p:cNvPr id="10" name="Shape 7"/>
          <p:cNvSpPr/>
          <p:nvPr/>
        </p:nvSpPr>
        <p:spPr>
          <a:xfrm>
            <a:off x="6217920" y="1234440"/>
            <a:ext cx="5486400" cy="2514600"/>
          </a:xfrm>
          <a:prstGeom prst="rect">
            <a:avLst/>
          </a:prstGeom>
          <a:solidFill>
            <a:srgbClr val="1C1E24"/>
          </a:solidFill>
          <a:ln w="12700">
            <a:solidFill>
              <a:srgbClr val="3A3F4A"/>
            </a:solidFill>
            <a:prstDash val="solid"/>
          </a:ln>
        </p:spPr>
        <p:txBody>
          <a:bodyPr/>
          <a:lstStyle/>
          <a:p>
            <a:endParaRPr lang="en-US"/>
          </a:p>
        </p:txBody>
      </p:sp>
      <p:sp>
        <p:nvSpPr>
          <p:cNvPr id="11"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WHERE XGBOOST'S ADVANTAGE ACTUALLY LIVES</a:t>
            </a:r>
            <a:endParaRPr lang="en-US" sz="1050" dirty="0"/>
          </a:p>
        </p:txBody>
      </p:sp>
      <p:sp>
        <p:nvSpPr>
          <p:cNvPr id="12" name="Text 9"/>
          <p:cNvSpPr/>
          <p:nvPr/>
        </p:nvSpPr>
        <p:spPr>
          <a:xfrm>
            <a:off x="6400800" y="1737360"/>
            <a:ext cx="5120640" cy="192024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On the 654 rows where XGBoost and LR disagree, XGBoost is right on 454 and LR on 200</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The rows XGBoost fixes have almost twice the average capital gain of the rows it breaks, 460 against 254</a:t>
            </a:r>
            <a:endParaRPr lang="en-US" sz="1050" dirty="0"/>
          </a:p>
          <a:p>
            <a:pPr marL="342900" indent="-342900">
              <a:spcAft>
                <a:spcPts val="700"/>
              </a:spcAft>
              <a:buSzPct val="100000"/>
              <a:buChar char="•"/>
            </a:pPr>
            <a:r>
              <a:rPr lang="en-US" sz="1050" b="1" dirty="0">
                <a:solidFill>
                  <a:srgbClr val="F5F7FA"/>
                </a:solidFill>
                <a:latin typeface="Verdana" pitchFamily="34" charset="0"/>
                <a:ea typeface="Verdana" pitchFamily="34" charset="-122"/>
                <a:cs typeface="Verdana" pitchFamily="34" charset="-120"/>
              </a:rPr>
              <a:t>That fits the mechanism</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XGBoost can split on capital gain and then split again inside that region. The linear model gives capital gain one coefficient for everybody</a:t>
            </a:r>
            <a:endParaRPr lang="en-US" sz="1050" dirty="0"/>
          </a:p>
        </p:txBody>
      </p:sp>
      <p:sp>
        <p:nvSpPr>
          <p:cNvPr id="13" name="Shape 10"/>
          <p:cNvSpPr/>
          <p:nvPr/>
        </p:nvSpPr>
        <p:spPr>
          <a:xfrm>
            <a:off x="502920" y="3931920"/>
            <a:ext cx="11201400" cy="2423160"/>
          </a:xfrm>
          <a:prstGeom prst="rect">
            <a:avLst/>
          </a:prstGeom>
          <a:solidFill>
            <a:srgbClr val="1C1E24"/>
          </a:solidFill>
          <a:ln w="12700">
            <a:solidFill>
              <a:srgbClr val="3A3F4A"/>
            </a:solidFill>
            <a:prstDash val="solid"/>
          </a:ln>
        </p:spPr>
        <p:txBody>
          <a:bodyPr/>
          <a:lstStyle/>
          <a:p>
            <a:endParaRPr lang="en-US"/>
          </a:p>
        </p:txBody>
      </p:sp>
      <p:sp>
        <p:nvSpPr>
          <p:cNvPr id="14" name="Text 11"/>
          <p:cNvSpPr/>
          <p:nvPr/>
        </p:nvSpPr>
        <p:spPr>
          <a:xfrm>
            <a:off x="685800" y="406908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RECALL BY SUBGROUP: EVERY MODEL FAILS ON THE SAME KIND OF PERSON</a:t>
            </a:r>
            <a:endParaRPr lang="en-US" sz="105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85800" y="4434840"/>
          <a:ext cx="10835640" cy="1536192"/>
        </p:xfrm>
        <a:graphic>
          <a:graphicData uri="http://schemas.openxmlformats.org/drawingml/2006/table">
            <a:tbl>
              <a:tblPr/>
              <a:tblGrid>
                <a:gridCol w="2788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256032">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Subgroup</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Rows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True &gt;50K rate</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LR recall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MLP recall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950" b="1" dirty="0">
                          <a:solidFill>
                            <a:srgbClr val="E8C15A"/>
                          </a:solidFill>
                          <a:latin typeface="Verdana" pitchFamily="34" charset="0"/>
                          <a:ea typeface="Verdana" pitchFamily="34" charset="-122"/>
                          <a:cs typeface="Verdana" pitchFamily="34" charset="-120"/>
                        </a:rPr>
                        <a:t>XGBoost recall</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Education ≤ 9 years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2,946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0.133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0.647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0.578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0.488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Education 10–12 years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1,931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0.199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0.795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0.761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0.668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Education 13+ years</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1,631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0.486</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0.918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0.907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0.861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Age 17–30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2,038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0.069</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0.603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0.475</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0.433</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4"/>
                  </a:ext>
                </a:extLst>
              </a:tr>
              <a:tr h="256032">
                <a:tc>
                  <a:txBody>
                    <a:bodyPr/>
                    <a:lstStyle/>
                    <a:p>
                      <a:pPr marL="0" indent="0" algn="l">
                        <a:buNone/>
                      </a:pPr>
                      <a:r>
                        <a:rPr lang="en-US" sz="950" b="1" dirty="0">
                          <a:solidFill>
                            <a:srgbClr val="F5F7FA"/>
                          </a:solidFill>
                          <a:latin typeface="Verdana" pitchFamily="34" charset="0"/>
                          <a:ea typeface="Verdana" pitchFamily="34" charset="-122"/>
                          <a:cs typeface="Verdana" pitchFamily="34" charset="-120"/>
                        </a:rPr>
                        <a:t>Age 60+</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491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0.238</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5FBF8F"/>
                          </a:solidFill>
                          <a:latin typeface="Verdana" pitchFamily="34" charset="0"/>
                          <a:ea typeface="Verdana" pitchFamily="34" charset="-122"/>
                          <a:cs typeface="Verdana" pitchFamily="34" charset="-120"/>
                        </a:rPr>
                        <a:t>0.897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9AA7BD"/>
                          </a:solidFill>
                          <a:latin typeface="Verdana" pitchFamily="34" charset="0"/>
                          <a:ea typeface="Verdana" pitchFamily="34" charset="-122"/>
                          <a:cs typeface="Verdana" pitchFamily="34" charset="-120"/>
                        </a:rPr>
                        <a:t>0.701</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950" dirty="0">
                          <a:solidFill>
                            <a:srgbClr val="E07A5F"/>
                          </a:solidFill>
                          <a:latin typeface="Verdana" pitchFamily="34" charset="0"/>
                          <a:ea typeface="Verdana" pitchFamily="34" charset="-122"/>
                          <a:cs typeface="Verdana" pitchFamily="34" charset="-120"/>
                        </a:rPr>
                        <a:t>0.607</a:t>
                      </a:r>
                      <a:endParaRPr lang="en-US" sz="95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20</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Overfitting, underfitting, and generalization</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Two plots, two different questions</a:t>
            </a:r>
            <a:endParaRPr lang="en-US" sz="1200" dirty="0"/>
          </a:p>
        </p:txBody>
      </p:sp>
      <p:sp>
        <p:nvSpPr>
          <p:cNvPr id="6" name="Shape 4"/>
          <p:cNvSpPr/>
          <p:nvPr/>
        </p:nvSpPr>
        <p:spPr>
          <a:xfrm>
            <a:off x="594360" y="1280160"/>
            <a:ext cx="7498080" cy="2194560"/>
          </a:xfrm>
          <a:prstGeom prst="rect">
            <a:avLst/>
          </a:prstGeom>
          <a:solidFill>
            <a:srgbClr val="FFFFFF"/>
          </a:solidFill>
          <a:ln w="12700">
            <a:solidFill>
              <a:srgbClr val="3A3F4A"/>
            </a:solidFill>
            <a:prstDash val="solid"/>
          </a:ln>
        </p:spPr>
        <p:txBody>
          <a:bodyPr/>
          <a:lstStyle/>
          <a:p>
            <a:endParaRPr lang="en-US"/>
          </a:p>
        </p:txBody>
      </p:sp>
      <p:pic>
        <p:nvPicPr>
          <p:cNvPr id="7" name="Image 0" descr="figs/fig6_cell93.png"/>
          <p:cNvPicPr>
            <a:picLocks noChangeAspect="1"/>
          </p:cNvPicPr>
          <p:nvPr/>
        </p:nvPicPr>
        <p:blipFill>
          <a:blip r:embed="rId3"/>
          <a:stretch>
            <a:fillRect/>
          </a:stretch>
        </p:blipFill>
        <p:spPr>
          <a:xfrm>
            <a:off x="685800" y="1371600"/>
            <a:ext cx="7315200" cy="2011680"/>
          </a:xfrm>
          <a:prstGeom prst="rect">
            <a:avLst/>
          </a:prstGeom>
        </p:spPr>
      </p:pic>
      <p:sp>
        <p:nvSpPr>
          <p:cNvPr id="8" name="Text 5"/>
          <p:cNvSpPr/>
          <p:nvPr/>
        </p:nvSpPr>
        <p:spPr>
          <a:xfrm>
            <a:off x="685800" y="3520440"/>
            <a:ext cx="7315200" cy="365760"/>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Learning curves ask whether more rows would help. All three flatten after a few thousand rows, so none is starved of data.</a:t>
            </a:r>
            <a:endParaRPr lang="en-US" sz="950" dirty="0"/>
          </a:p>
        </p:txBody>
      </p:sp>
      <p:sp>
        <p:nvSpPr>
          <p:cNvPr id="9" name="Shape 6"/>
          <p:cNvSpPr/>
          <p:nvPr/>
        </p:nvSpPr>
        <p:spPr>
          <a:xfrm>
            <a:off x="594360" y="4023360"/>
            <a:ext cx="4023360" cy="2359152"/>
          </a:xfrm>
          <a:prstGeom prst="rect">
            <a:avLst/>
          </a:prstGeom>
          <a:solidFill>
            <a:srgbClr val="FFFFFF"/>
          </a:solidFill>
          <a:ln w="12700">
            <a:solidFill>
              <a:srgbClr val="3A3F4A"/>
            </a:solidFill>
            <a:prstDash val="solid"/>
          </a:ln>
        </p:spPr>
        <p:txBody>
          <a:bodyPr/>
          <a:lstStyle/>
          <a:p>
            <a:endParaRPr lang="en-US"/>
          </a:p>
        </p:txBody>
      </p:sp>
      <p:pic>
        <p:nvPicPr>
          <p:cNvPr id="10" name="Image 1" descr="figs/fig7_cell94.png"/>
          <p:cNvPicPr>
            <a:picLocks noChangeAspect="1"/>
          </p:cNvPicPr>
          <p:nvPr/>
        </p:nvPicPr>
        <p:blipFill>
          <a:blip r:embed="rId4"/>
          <a:stretch>
            <a:fillRect/>
          </a:stretch>
        </p:blipFill>
        <p:spPr>
          <a:xfrm>
            <a:off x="685800" y="4114800"/>
            <a:ext cx="3840480" cy="2176272"/>
          </a:xfrm>
          <a:prstGeom prst="rect">
            <a:avLst/>
          </a:prstGeom>
        </p:spPr>
      </p:pic>
      <p:sp>
        <p:nvSpPr>
          <p:cNvPr id="11" name="Text 7"/>
          <p:cNvSpPr/>
          <p:nvPr/>
        </p:nvSpPr>
        <p:spPr>
          <a:xfrm>
            <a:off x="4846320" y="4206240"/>
            <a:ext cx="4069080" cy="201168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The validation curve asks whether the model fits too hard. Training PR-AUC keeps climbing with depth while validation peaks and flattens, which is overfitting past the peak. The tuned depth of 7 sits at that peak.</a:t>
            </a:r>
            <a:endParaRPr lang="en-US" sz="1000" dirty="0"/>
          </a:p>
        </p:txBody>
      </p:sp>
      <p:sp>
        <p:nvSpPr>
          <p:cNvPr id="12" name="Shape 8"/>
          <p:cNvSpPr/>
          <p:nvPr/>
        </p:nvSpPr>
        <p:spPr>
          <a:xfrm>
            <a:off x="9189720" y="1234440"/>
            <a:ext cx="2514600" cy="5120640"/>
          </a:xfrm>
          <a:prstGeom prst="rect">
            <a:avLst/>
          </a:prstGeom>
          <a:solidFill>
            <a:srgbClr val="1C1E24"/>
          </a:solidFill>
          <a:ln w="12700">
            <a:solidFill>
              <a:srgbClr val="3A3F4A"/>
            </a:solidFill>
            <a:prstDash val="solid"/>
          </a:ln>
        </p:spPr>
        <p:txBody>
          <a:bodyPr/>
          <a:lstStyle/>
          <a:p>
            <a:endParaRPr lang="en-US"/>
          </a:p>
        </p:txBody>
      </p:sp>
      <p:sp>
        <p:nvSpPr>
          <p:cNvPr id="13" name="Text 9"/>
          <p:cNvSpPr/>
          <p:nvPr/>
        </p:nvSpPr>
        <p:spPr>
          <a:xfrm>
            <a:off x="9372600" y="1371600"/>
            <a:ext cx="21488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WHAT SEPARATES THEM</a:t>
            </a:r>
            <a:endParaRPr lang="en-US" sz="1050" dirty="0"/>
          </a:p>
        </p:txBody>
      </p:sp>
      <p:sp>
        <p:nvSpPr>
          <p:cNvPr id="14" name="Text 10"/>
          <p:cNvSpPr/>
          <p:nvPr/>
        </p:nvSpPr>
        <p:spPr>
          <a:xfrm>
            <a:off x="9372600" y="1691640"/>
            <a:ext cx="2148840" cy="4480560"/>
          </a:xfrm>
          <a:prstGeom prst="rect">
            <a:avLst/>
          </a:prstGeom>
          <a:noFill/>
          <a:ln/>
        </p:spPr>
        <p:txBody>
          <a:bodyPr wrap="square" lIns="0" tIns="0" rIns="0" bIns="0" rtlCol="0" anchor="t"/>
          <a:lstStyle/>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Logistic regression</a:t>
            </a:r>
            <a:endParaRPr lang="en-US" sz="950" dirty="0"/>
          </a:p>
          <a:p>
            <a:pPr marL="342900" indent="-342900">
              <a:spcAft>
                <a:spcPts val="700"/>
              </a:spcAft>
              <a:buSzPct val="100000"/>
              <a:buChar char="•"/>
            </a:pPr>
            <a:r>
              <a:rPr lang="en-US" sz="950" dirty="0">
                <a:solidFill>
                  <a:srgbClr val="9AA7BD"/>
                </a:solidFill>
                <a:latin typeface="Verdana" pitchFamily="34" charset="0"/>
                <a:ea typeface="Verdana" pitchFamily="34" charset="-122"/>
                <a:cs typeface="Verdana" pitchFamily="34" charset="-120"/>
              </a:rPr>
              <a:t>Two lines almost on top of each other. Low variance, underfitting if anything</a:t>
            </a:r>
            <a:endParaRPr lang="en-US" sz="950" dirty="0"/>
          </a:p>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XGBoost</a:t>
            </a:r>
            <a:endParaRPr lang="en-US" sz="950" dirty="0"/>
          </a:p>
          <a:p>
            <a:pPr marL="342900" indent="-342900">
              <a:spcAft>
                <a:spcPts val="700"/>
              </a:spcAft>
              <a:buSzPct val="100000"/>
              <a:buChar char="•"/>
            </a:pPr>
            <a:r>
              <a:rPr lang="en-US" sz="950" dirty="0">
                <a:solidFill>
                  <a:srgbClr val="9AA7BD"/>
                </a:solidFill>
                <a:latin typeface="Verdana" pitchFamily="34" charset="0"/>
                <a:ea typeface="Verdana" pitchFamily="34" charset="-122"/>
                <a:cs typeface="Verdana" pitchFamily="34" charset="-120"/>
              </a:rPr>
              <a:t>A clear persistent gap, which a 400-tree depth-7 ensemble is expected to show. Not a problem in itself, since its validation score is still highest</a:t>
            </a:r>
            <a:endParaRPr lang="en-US" sz="950" dirty="0"/>
          </a:p>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MLP</a:t>
            </a:r>
            <a:endParaRPr lang="en-US" sz="950" dirty="0"/>
          </a:p>
          <a:p>
            <a:pPr marL="342900" indent="-342900">
              <a:spcAft>
                <a:spcPts val="700"/>
              </a:spcAft>
              <a:buSzPct val="100000"/>
              <a:buChar char="•"/>
            </a:pPr>
            <a:r>
              <a:rPr lang="en-US" sz="950" dirty="0">
                <a:solidFill>
                  <a:srgbClr val="9AA7BD"/>
                </a:solidFill>
                <a:latin typeface="Verdana" pitchFamily="34" charset="0"/>
                <a:ea typeface="Verdana" pitchFamily="34" charset="-122"/>
                <a:cs typeface="Verdana" pitchFamily="34" charset="-120"/>
              </a:rPr>
              <a:t>The most movement between sizes: the model most sensitive to how much data it gets</a:t>
            </a:r>
            <a:endParaRPr lang="en-US" sz="950" dirty="0"/>
          </a:p>
          <a:p>
            <a:pPr marL="342900" indent="-342900">
              <a:spcAft>
                <a:spcPts val="700"/>
              </a:spcAft>
              <a:buSzPct val="100000"/>
              <a:buChar char="•"/>
            </a:pPr>
            <a:r>
              <a:rPr lang="en-US" sz="950" b="1" dirty="0">
                <a:solidFill>
                  <a:srgbClr val="F5F7FA"/>
                </a:solidFill>
                <a:latin typeface="Verdana" pitchFamily="34" charset="0"/>
                <a:ea typeface="Verdana" pitchFamily="34" charset="-122"/>
                <a:cs typeface="Verdana" pitchFamily="34" charset="-120"/>
              </a:rPr>
              <a:t>Verdict</a:t>
            </a:r>
            <a:endParaRPr lang="en-US" sz="950" dirty="0"/>
          </a:p>
          <a:p>
            <a:pPr marL="342900" indent="-342900">
              <a:spcAft>
                <a:spcPts val="700"/>
              </a:spcAft>
              <a:buSzPct val="100000"/>
              <a:buChar char="•"/>
            </a:pPr>
            <a:r>
              <a:rPr lang="en-US" sz="950" dirty="0">
                <a:solidFill>
                  <a:srgbClr val="9AA7BD"/>
                </a:solidFill>
                <a:latin typeface="Verdana" pitchFamily="34" charset="0"/>
                <a:ea typeface="Verdana" pitchFamily="34" charset="-122"/>
                <a:cs typeface="Verdana" pitchFamily="34" charset="-120"/>
              </a:rPr>
              <a:t>Nothing suggests XGBoost's advantage is an overfitting artifact, since it shows on held-out rows and on every fold</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21</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Strengths and limitations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What the methodology did well, and where it specifically falls short</a:t>
            </a:r>
            <a:endParaRPr lang="en-US" sz="1200" dirty="0"/>
          </a:p>
        </p:txBody>
      </p:sp>
      <p:sp>
        <p:nvSpPr>
          <p:cNvPr id="6" name="Shape 4"/>
          <p:cNvSpPr/>
          <p:nvPr/>
        </p:nvSpPr>
        <p:spPr>
          <a:xfrm>
            <a:off x="502920" y="1234440"/>
            <a:ext cx="5532120"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STRENGTHS</a:t>
            </a:r>
            <a:endParaRPr lang="en-US" sz="1050" dirty="0"/>
          </a:p>
        </p:txBody>
      </p:sp>
      <p:sp>
        <p:nvSpPr>
          <p:cNvPr id="8" name="Text 6"/>
          <p:cNvSpPr/>
          <p:nvPr/>
        </p:nvSpPr>
        <p:spPr>
          <a:xfrm>
            <a:off x="685800" y="1737360"/>
            <a:ext cx="516636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Every comparison is backed by a test with an interval</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Not by one number being larger than another. Where tests disagreed I said so instead of picking the one I liked</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cross-validation is properly paired</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All three models saw the same five folds, which is what makes a paired t-test valid at n = 5</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Leakage is structurally difficult, not remembered</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Scaler and SMOTE live inside the pipeline so they refit inside every fold, and each model builds its own scaler</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fairness work goes past reporting a gap</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Measured it, put an interval on it, tested whether models differ, tried three fixes, and priced each one</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hypotheses could be refuted, and one was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Stated with their reasoning before the results, including the H3 reasoning about non-linear structure and dataset size</a:t>
            </a:r>
            <a:endParaRPr lang="en-US" sz="1000" dirty="0"/>
          </a:p>
        </p:txBody>
      </p:sp>
      <p:sp>
        <p:nvSpPr>
          <p:cNvPr id="9" name="Shape 7"/>
          <p:cNvSpPr/>
          <p:nvPr/>
        </p:nvSpPr>
        <p:spPr>
          <a:xfrm>
            <a:off x="6217920" y="1234440"/>
            <a:ext cx="5486400" cy="51206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LIMITATIONS</a:t>
            </a:r>
            <a:endParaRPr lang="en-US" sz="1050" dirty="0"/>
          </a:p>
        </p:txBody>
      </p:sp>
      <p:sp>
        <p:nvSpPr>
          <p:cNvPr id="11" name="Text 9"/>
          <p:cNvSpPr/>
          <p:nvPr/>
        </p:nvSpPr>
        <p:spPr>
          <a:xfrm>
            <a:off x="6400800" y="1737360"/>
            <a:ext cx="512064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nativity comparison is underpowered and I could not fix it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99 foreign-born high earners makes the interval wider than any difference worth detecting</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Grid search on one validation split, not nested CV</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The final numbers are clean, but the chosen parameters could be slightly overfit to those 6,508 rows</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models are compared at the default 0.5 threshold</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Fair for the models out of the box, but it makes the raw group gap comparison partly about operating points</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No calibration analysis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 probability that ranks well is not one that is well calibrated, and a lender needs the latter</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SMOTE on one-hot columns is questionable</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It interpolates between real rows, and a value between two categories is not a real category</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22</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Bias and broader societal impact</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Who is affected if this is deployed, and how it could cause harm</a:t>
            </a:r>
            <a:endParaRPr lang="en-US" sz="1200" dirty="0"/>
          </a:p>
        </p:txBody>
      </p:sp>
      <p:sp>
        <p:nvSpPr>
          <p:cNvPr id="6" name="Shape 4"/>
          <p:cNvSpPr/>
          <p:nvPr/>
        </p:nvSpPr>
        <p:spPr>
          <a:xfrm>
            <a:off x="502920" y="1234440"/>
            <a:ext cx="5532120" cy="51206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BIASES IN THE DATA, THE LABEL, AND THE SAMPLING</a:t>
            </a:r>
            <a:endParaRPr lang="en-US" sz="1050" dirty="0"/>
          </a:p>
        </p:txBody>
      </p:sp>
      <p:sp>
        <p:nvSpPr>
          <p:cNvPr id="8" name="Text 6"/>
          <p:cNvSpPr/>
          <p:nvPr/>
        </p:nvSpPr>
        <p:spPr>
          <a:xfrm>
            <a:off x="685800" y="1737360"/>
            <a:ext cx="516636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data is a 1994 census extract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Any model trained on it inherits the occupational segregation, education access, and wage gaps of that period, and the numbers are three decades out of date</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label is itself a bias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$50K was a meaningful threshold in 1994 and is not now, and using recorded income as a proxy for creditworthiness bakes in whatever inequity produced that distribution</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sampling is uneven where it matters most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Foreign-born people are 9% of the data and women are 33%, so both contribute far less to what every model learns</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model does perform differently across subgroups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Recall on female high earners is 11 to 15 points below male, significant for all three models. I measured it instead of assuming it</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Missingness is not random</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Workclass and occupation go missing together, so the Unknown bucket is a feature with meaning attached</a:t>
            </a:r>
            <a:endParaRPr lang="en-US" sz="1000" dirty="0"/>
          </a:p>
        </p:txBody>
      </p:sp>
      <p:sp>
        <p:nvSpPr>
          <p:cNvPr id="9" name="Shape 7"/>
          <p:cNvSpPr/>
          <p:nvPr/>
        </p:nvSpPr>
        <p:spPr>
          <a:xfrm>
            <a:off x="6217920" y="1234440"/>
            <a:ext cx="5486400" cy="5120640"/>
          </a:xfrm>
          <a:prstGeom prst="rect">
            <a:avLst/>
          </a:prstGeom>
          <a:solidFill>
            <a:srgbClr val="1C1E24"/>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IF THIS WERE DEPLOYED</a:t>
            </a:r>
            <a:endParaRPr lang="en-US" sz="1050" dirty="0"/>
          </a:p>
        </p:txBody>
      </p:sp>
      <p:sp>
        <p:nvSpPr>
          <p:cNvPr id="11" name="Text 9"/>
          <p:cNvSpPr/>
          <p:nvPr/>
        </p:nvSpPr>
        <p:spPr>
          <a:xfrm>
            <a:off x="6400800" y="1737360"/>
            <a:ext cx="5120640" cy="4480560"/>
          </a:xfrm>
          <a:prstGeom prst="rect">
            <a:avLst/>
          </a:prstGeom>
          <a:noFill/>
          <a:ln/>
        </p:spPr>
        <p:txBody>
          <a:bodyPr wrap="square" lIns="0" tIns="0" rIns="0" bIns="0" rtlCol="0" anchor="t"/>
          <a:lstStyle/>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Who is affected</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Applicants who get screened out. A false negative here is a qualified person not offered something they would have qualified for, and the audit shows those land more often on women</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obvious misuse</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Treating a prediction of low income as a reason for an adverse decision. The model has no causal content, so using it to justify a decision about a specific person dresses up a correlation as a judgment about them</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A second misuse: the fairness fix itself</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Group-specific thresholds close the gap by explicitly using nativity or sex at prediction time, which is very likely illegal under fair lending rules however good the intent</a:t>
            </a:r>
            <a:endParaRPr lang="en-US" sz="1000" dirty="0"/>
          </a:p>
          <a:p>
            <a:pPr marL="342900" indent="-342900">
              <a:spcAft>
                <a:spcPts val="700"/>
              </a:spcAft>
              <a:buSzPct val="100000"/>
              <a:buChar char="•"/>
            </a:pPr>
            <a:r>
              <a:rPr lang="en-US" sz="1000" b="1" dirty="0">
                <a:solidFill>
                  <a:srgbClr val="F5F7FA"/>
                </a:solidFill>
                <a:latin typeface="Verdana" pitchFamily="34" charset="0"/>
                <a:ea typeface="Verdana" pitchFamily="34" charset="-122"/>
                <a:cs typeface="Verdana" pitchFamily="34" charset="-120"/>
              </a:rPr>
              <a:t>The deeper problem</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A model can be fair on one metric and unfair on another at the same time. Every model here looks more accurate on women and misses far more of their high earners, and a report leading with group accuracy would have concluded the opposite of what is actually happening</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23</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Takeaway lessons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Technical and process, from doing this project, not from reading about it</a:t>
            </a:r>
            <a:endParaRPr lang="en-US" sz="1200" dirty="0"/>
          </a:p>
        </p:txBody>
      </p:sp>
      <p:sp>
        <p:nvSpPr>
          <p:cNvPr id="6" name="Shape 4"/>
          <p:cNvSpPr/>
          <p:nvPr/>
        </p:nvSpPr>
        <p:spPr>
          <a:xfrm>
            <a:off x="502920" y="1234440"/>
            <a:ext cx="3657600" cy="23774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1</a:t>
            </a:r>
            <a:endParaRPr lang="en-US" sz="1400" dirty="0"/>
          </a:p>
        </p:txBody>
      </p:sp>
      <p:sp>
        <p:nvSpPr>
          <p:cNvPr id="8" name="Text 6"/>
          <p:cNvSpPr/>
          <p:nvPr/>
        </p:nvSpPr>
        <p:spPr>
          <a:xfrm>
            <a:off x="1051560" y="1371600"/>
            <a:ext cx="292608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A test can be structurally incapable of answering</a:t>
            </a:r>
            <a:endParaRPr lang="en-US" sz="1200" dirty="0"/>
          </a:p>
        </p:txBody>
      </p:sp>
      <p:sp>
        <p:nvSpPr>
          <p:cNvPr id="9" name="Text 7"/>
          <p:cNvSpPr/>
          <p:nvPr/>
        </p:nvSpPr>
        <p:spPr>
          <a:xfrm>
            <a:off x="685800" y="2148840"/>
            <a:ext cx="3291840" cy="13258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Wilcoxon came back at exactly 0.0625 on every clean result because that is its floor at five folds. Reading it as weak evidence would have been a mistake about the test, not about the models.</a:t>
            </a:r>
            <a:endParaRPr lang="en-US" sz="1050" dirty="0"/>
          </a:p>
        </p:txBody>
      </p:sp>
      <p:sp>
        <p:nvSpPr>
          <p:cNvPr id="10" name="Shape 8"/>
          <p:cNvSpPr/>
          <p:nvPr/>
        </p:nvSpPr>
        <p:spPr>
          <a:xfrm>
            <a:off x="4343400" y="1234440"/>
            <a:ext cx="3657600" cy="2377440"/>
          </a:xfrm>
          <a:prstGeom prst="rect">
            <a:avLst/>
          </a:prstGeom>
          <a:solidFill>
            <a:srgbClr val="1C1E24"/>
          </a:solidFill>
          <a:ln w="12700">
            <a:solidFill>
              <a:srgbClr val="3A3F4A"/>
            </a:solidFill>
            <a:prstDash val="solid"/>
          </a:ln>
        </p:spPr>
        <p:txBody>
          <a:bodyPr/>
          <a:lstStyle/>
          <a:p>
            <a:endParaRPr lang="en-US"/>
          </a:p>
        </p:txBody>
      </p:sp>
      <p:sp>
        <p:nvSpPr>
          <p:cNvPr id="11" name="Text 9"/>
          <p:cNvSpPr/>
          <p:nvPr/>
        </p:nvSpPr>
        <p:spPr>
          <a:xfrm>
            <a:off x="4526280" y="137160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2</a:t>
            </a:r>
            <a:endParaRPr lang="en-US" sz="1400" dirty="0"/>
          </a:p>
        </p:txBody>
      </p:sp>
      <p:sp>
        <p:nvSpPr>
          <p:cNvPr id="12" name="Text 10"/>
          <p:cNvSpPr/>
          <p:nvPr/>
        </p:nvSpPr>
        <p:spPr>
          <a:xfrm>
            <a:off x="4892040" y="1371600"/>
            <a:ext cx="292608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Shared mutable objects silently corrupt results</a:t>
            </a:r>
            <a:endParaRPr lang="en-US" sz="1200" dirty="0"/>
          </a:p>
        </p:txBody>
      </p:sp>
      <p:sp>
        <p:nvSpPr>
          <p:cNvPr id="13" name="Text 11"/>
          <p:cNvSpPr/>
          <p:nvPr/>
        </p:nvSpPr>
        <p:spPr>
          <a:xfrm>
            <a:off x="4526280" y="2148840"/>
            <a:ext cx="3291840" cy="13258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All three pipelines pointed at one scaler object. Because scikit-learn pipelines do not copy their steps, refitting one model later changed the preprocessing of models I had already scored. XGBoost's test PR-AUC read 0.744 instead of 0.805 and nothing raised an error.</a:t>
            </a:r>
            <a:endParaRPr lang="en-US" sz="1050" dirty="0"/>
          </a:p>
        </p:txBody>
      </p:sp>
      <p:sp>
        <p:nvSpPr>
          <p:cNvPr id="14" name="Shape 12"/>
          <p:cNvSpPr/>
          <p:nvPr/>
        </p:nvSpPr>
        <p:spPr>
          <a:xfrm>
            <a:off x="8183880" y="1234440"/>
            <a:ext cx="3520440" cy="2377440"/>
          </a:xfrm>
          <a:prstGeom prst="rect">
            <a:avLst/>
          </a:prstGeom>
          <a:solidFill>
            <a:srgbClr val="1C1E24"/>
          </a:solidFill>
          <a:ln w="12700">
            <a:solidFill>
              <a:srgbClr val="3A3F4A"/>
            </a:solidFill>
            <a:prstDash val="solid"/>
          </a:ln>
        </p:spPr>
        <p:txBody>
          <a:bodyPr/>
          <a:lstStyle/>
          <a:p>
            <a:endParaRPr lang="en-US"/>
          </a:p>
        </p:txBody>
      </p:sp>
      <p:sp>
        <p:nvSpPr>
          <p:cNvPr id="15" name="Text 13"/>
          <p:cNvSpPr/>
          <p:nvPr/>
        </p:nvSpPr>
        <p:spPr>
          <a:xfrm>
            <a:off x="8366760" y="137160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3</a:t>
            </a:r>
            <a:endParaRPr lang="en-US" sz="1400" dirty="0"/>
          </a:p>
        </p:txBody>
      </p:sp>
      <p:sp>
        <p:nvSpPr>
          <p:cNvPr id="16" name="Text 14"/>
          <p:cNvSpPr/>
          <p:nvPr/>
        </p:nvSpPr>
        <p:spPr>
          <a:xfrm>
            <a:off x="8732520" y="1371600"/>
            <a:ext cx="278892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Confidence intervals beat p-values when the answer is 'you cannot tell'</a:t>
            </a:r>
            <a:endParaRPr lang="en-US" sz="1200" dirty="0"/>
          </a:p>
        </p:txBody>
      </p:sp>
      <p:sp>
        <p:nvSpPr>
          <p:cNvPr id="17" name="Text 15"/>
          <p:cNvSpPr/>
          <p:nvPr/>
        </p:nvSpPr>
        <p:spPr>
          <a:xfrm>
            <a:off x="8366760" y="2148840"/>
            <a:ext cx="3154680" cy="132588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The nativity result is not that the models are equal, it is that 99 people cannot distinguish them. Only an interval says that.</a:t>
            </a:r>
            <a:endParaRPr lang="en-US" sz="1050" dirty="0"/>
          </a:p>
        </p:txBody>
      </p:sp>
      <p:sp>
        <p:nvSpPr>
          <p:cNvPr id="18" name="Shape 16"/>
          <p:cNvSpPr/>
          <p:nvPr/>
        </p:nvSpPr>
        <p:spPr>
          <a:xfrm>
            <a:off x="502920" y="3840480"/>
            <a:ext cx="5532120" cy="2514600"/>
          </a:xfrm>
          <a:prstGeom prst="rect">
            <a:avLst/>
          </a:prstGeom>
          <a:solidFill>
            <a:srgbClr val="232631"/>
          </a:solidFill>
          <a:ln w="12700">
            <a:solidFill>
              <a:srgbClr val="3A3F4A"/>
            </a:solidFill>
            <a:prstDash val="solid"/>
          </a:ln>
        </p:spPr>
        <p:txBody>
          <a:bodyPr/>
          <a:lstStyle/>
          <a:p>
            <a:endParaRPr lang="en-US"/>
          </a:p>
        </p:txBody>
      </p:sp>
      <p:sp>
        <p:nvSpPr>
          <p:cNvPr id="19" name="Text 17"/>
          <p:cNvSpPr/>
          <p:nvPr/>
        </p:nvSpPr>
        <p:spPr>
          <a:xfrm>
            <a:off x="685800" y="397764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4</a:t>
            </a:r>
            <a:endParaRPr lang="en-US" sz="1400" dirty="0"/>
          </a:p>
        </p:txBody>
      </p:sp>
      <p:sp>
        <p:nvSpPr>
          <p:cNvPr id="20" name="Text 18"/>
          <p:cNvSpPr/>
          <p:nvPr/>
        </p:nvSpPr>
        <p:spPr>
          <a:xfrm>
            <a:off x="1051560" y="3977640"/>
            <a:ext cx="480060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The most accurate model is not automatically the fairest</a:t>
            </a:r>
            <a:endParaRPr lang="en-US" sz="1200" dirty="0"/>
          </a:p>
        </p:txBody>
      </p:sp>
      <p:sp>
        <p:nvSpPr>
          <p:cNvPr id="21" name="Text 19"/>
          <p:cNvSpPr/>
          <p:nvPr/>
        </p:nvSpPr>
        <p:spPr>
          <a:xfrm>
            <a:off x="685800" y="4754880"/>
            <a:ext cx="5166360" cy="14630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And on this data it was the least fair on the raw numbers. Building the audit into the comparison instead of adding it at the end is what made that visible.</a:t>
            </a:r>
            <a:endParaRPr lang="en-US" sz="1050" dirty="0"/>
          </a:p>
        </p:txBody>
      </p:sp>
      <p:sp>
        <p:nvSpPr>
          <p:cNvPr id="22" name="Shape 20"/>
          <p:cNvSpPr/>
          <p:nvPr/>
        </p:nvSpPr>
        <p:spPr>
          <a:xfrm>
            <a:off x="6217920" y="3840480"/>
            <a:ext cx="5486400" cy="2514600"/>
          </a:xfrm>
          <a:prstGeom prst="rect">
            <a:avLst/>
          </a:prstGeom>
          <a:solidFill>
            <a:srgbClr val="232631"/>
          </a:solidFill>
          <a:ln w="12700">
            <a:solidFill>
              <a:srgbClr val="3A3F4A"/>
            </a:solidFill>
            <a:prstDash val="solid"/>
          </a:ln>
        </p:spPr>
        <p:txBody>
          <a:bodyPr/>
          <a:lstStyle/>
          <a:p>
            <a:endParaRPr lang="en-US"/>
          </a:p>
        </p:txBody>
      </p:sp>
      <p:sp>
        <p:nvSpPr>
          <p:cNvPr id="23" name="Text 21"/>
          <p:cNvSpPr/>
          <p:nvPr/>
        </p:nvSpPr>
        <p:spPr>
          <a:xfrm>
            <a:off x="6400800" y="3977640"/>
            <a:ext cx="274320" cy="274320"/>
          </a:xfrm>
          <a:prstGeom prst="rect">
            <a:avLst/>
          </a:prstGeom>
          <a:noFill/>
          <a:ln/>
        </p:spPr>
        <p:txBody>
          <a:bodyPr wrap="square" lIns="0" tIns="0" rIns="0" bIns="0" rtlCol="0" anchor="ctr"/>
          <a:lstStyle/>
          <a:p>
            <a:pPr marL="0" indent="0">
              <a:buNone/>
            </a:pPr>
            <a:r>
              <a:rPr lang="en-US" sz="1400" b="1" dirty="0">
                <a:solidFill>
                  <a:srgbClr val="E8C15A"/>
                </a:solidFill>
                <a:latin typeface="Verdana" pitchFamily="34" charset="0"/>
                <a:ea typeface="Verdana" pitchFamily="34" charset="-122"/>
                <a:cs typeface="Verdana" pitchFamily="34" charset="-120"/>
              </a:rPr>
              <a:t>5</a:t>
            </a:r>
            <a:endParaRPr lang="en-US" sz="1400" dirty="0"/>
          </a:p>
        </p:txBody>
      </p:sp>
      <p:sp>
        <p:nvSpPr>
          <p:cNvPr id="24" name="Text 22"/>
          <p:cNvSpPr/>
          <p:nvPr/>
        </p:nvSpPr>
        <p:spPr>
          <a:xfrm>
            <a:off x="6766560" y="3977640"/>
            <a:ext cx="4754880" cy="685800"/>
          </a:xfrm>
          <a:prstGeom prst="rect">
            <a:avLst/>
          </a:prstGeom>
          <a:noFill/>
          <a:ln/>
        </p:spPr>
        <p:txBody>
          <a:bodyPr wrap="square" lIns="0" tIns="0" rIns="0" bIns="0" rtlCol="0" anchor="t"/>
          <a:lstStyle/>
          <a:p>
            <a:pPr marL="0" indent="0">
              <a:buNone/>
            </a:pPr>
            <a:r>
              <a:rPr lang="en-US" sz="1200" b="1" dirty="0">
                <a:solidFill>
                  <a:srgbClr val="F5F7FA"/>
                </a:solidFill>
                <a:latin typeface="Verdana" pitchFamily="34" charset="0"/>
                <a:ea typeface="Verdana" pitchFamily="34" charset="-122"/>
                <a:cs typeface="Verdana" pitchFamily="34" charset="-120"/>
              </a:rPr>
              <a:t>Group accuracy and group recall can point in opposite directions</a:t>
            </a:r>
            <a:endParaRPr lang="en-US" sz="1200" dirty="0"/>
          </a:p>
        </p:txBody>
      </p:sp>
      <p:sp>
        <p:nvSpPr>
          <p:cNvPr id="25" name="Text 23"/>
          <p:cNvSpPr/>
          <p:nvPr/>
        </p:nvSpPr>
        <p:spPr>
          <a:xfrm>
            <a:off x="6400800" y="4754880"/>
            <a:ext cx="5120640" cy="1463040"/>
          </a:xfrm>
          <a:prstGeom prst="rect">
            <a:avLst/>
          </a:prstGeom>
          <a:noFill/>
          <a:ln/>
        </p:spPr>
        <p:txBody>
          <a:bodyPr wrap="square" lIns="0" tIns="0" rIns="0" bIns="0" rtlCol="0" anchor="t"/>
          <a:lstStyle/>
          <a:p>
            <a:pPr marL="0" indent="0">
              <a:spcAft>
                <a:spcPts val="600"/>
              </a:spcAft>
              <a:buNone/>
            </a:pPr>
            <a:r>
              <a:rPr lang="en-US" sz="1050" dirty="0">
                <a:solidFill>
                  <a:srgbClr val="9AA7BD"/>
                </a:solidFill>
                <a:latin typeface="Verdana" pitchFamily="34" charset="0"/>
                <a:ea typeface="Verdana" pitchFamily="34" charset="-122"/>
                <a:cs typeface="Verdana" pitchFamily="34" charset="-120"/>
              </a:rPr>
              <a:t>On imbalanced groups, the one that looks reassuring is usually the wrong one to read.</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24</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Conclusion</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Restating the research questions and the verdicts</a:t>
            </a:r>
            <a:endParaRPr lang="en-US" sz="1200" dirty="0"/>
          </a:p>
        </p:txBody>
      </p:sp>
      <p:sp>
        <p:nvSpPr>
          <p:cNvPr id="6" name="Shape 4"/>
          <p:cNvSpPr/>
          <p:nvPr/>
        </p:nvSpPr>
        <p:spPr>
          <a:xfrm>
            <a:off x="502920" y="1234440"/>
            <a:ext cx="7863840" cy="109728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44168"/>
            <a:ext cx="502920" cy="320040"/>
          </a:xfrm>
          <a:prstGeom prst="rect">
            <a:avLst/>
          </a:prstGeom>
          <a:noFill/>
          <a:ln/>
        </p:spPr>
        <p:txBody>
          <a:bodyPr wrap="square" lIns="0" tIns="0" rIns="0" bIns="0" rtlCol="0" anchor="ctr"/>
          <a:lstStyle/>
          <a:p>
            <a:pPr marL="0" indent="0">
              <a:buNone/>
            </a:pPr>
            <a:r>
              <a:rPr lang="en-US" sz="1500" b="1" dirty="0">
                <a:solidFill>
                  <a:srgbClr val="E8C15A"/>
                </a:solidFill>
                <a:latin typeface="Verdana" pitchFamily="34" charset="0"/>
                <a:ea typeface="Verdana" pitchFamily="34" charset="-122"/>
                <a:cs typeface="Verdana" pitchFamily="34" charset="-120"/>
              </a:rPr>
              <a:t>H1</a:t>
            </a:r>
            <a:endParaRPr lang="en-US" sz="1500" dirty="0"/>
          </a:p>
        </p:txBody>
      </p:sp>
      <p:sp>
        <p:nvSpPr>
          <p:cNvPr id="8" name="Shape 6"/>
          <p:cNvSpPr/>
          <p:nvPr/>
        </p:nvSpPr>
        <p:spPr>
          <a:xfrm>
            <a:off x="658368" y="1783080"/>
            <a:ext cx="1051560" cy="310896"/>
          </a:xfrm>
          <a:prstGeom prst="rect">
            <a:avLst/>
          </a:prstGeom>
          <a:solidFill>
            <a:srgbClr val="20242E"/>
          </a:solidFill>
          <a:ln w="12700">
            <a:solidFill>
              <a:srgbClr val="5FBF8F"/>
            </a:solidFill>
            <a:prstDash val="solid"/>
          </a:ln>
        </p:spPr>
        <p:txBody>
          <a:bodyPr/>
          <a:lstStyle/>
          <a:p>
            <a:endParaRPr lang="en-US"/>
          </a:p>
        </p:txBody>
      </p:sp>
      <p:sp>
        <p:nvSpPr>
          <p:cNvPr id="9" name="Text 7"/>
          <p:cNvSpPr/>
          <p:nvPr/>
        </p:nvSpPr>
        <p:spPr>
          <a:xfrm>
            <a:off x="658368" y="1783080"/>
            <a:ext cx="1051560" cy="310896"/>
          </a:xfrm>
          <a:prstGeom prst="rect">
            <a:avLst/>
          </a:prstGeom>
          <a:noFill/>
          <a:ln/>
        </p:spPr>
        <p:txBody>
          <a:bodyPr wrap="square" lIns="0" tIns="0" rIns="0" bIns="0" rtlCol="0" anchor="ctr"/>
          <a:lstStyle/>
          <a:p>
            <a:pPr marL="0" indent="0" algn="ctr">
              <a:buNone/>
            </a:pPr>
            <a:r>
              <a:rPr lang="en-US" sz="800" b="1" dirty="0">
                <a:solidFill>
                  <a:srgbClr val="5FBF8F"/>
                </a:solidFill>
                <a:latin typeface="Verdana" pitchFamily="34" charset="0"/>
                <a:ea typeface="Verdana" pitchFamily="34" charset="-122"/>
                <a:cs typeface="Verdana" pitchFamily="34" charset="-120"/>
              </a:rPr>
              <a:t>SUPPORTED</a:t>
            </a:r>
            <a:endParaRPr lang="en-US" sz="800" dirty="0"/>
          </a:p>
        </p:txBody>
      </p:sp>
      <p:sp>
        <p:nvSpPr>
          <p:cNvPr id="10" name="Text 8"/>
          <p:cNvSpPr/>
          <p:nvPr/>
        </p:nvSpPr>
        <p:spPr>
          <a:xfrm>
            <a:off x="1874520" y="1325880"/>
            <a:ext cx="6309360" cy="274320"/>
          </a:xfrm>
          <a:prstGeom prst="rect">
            <a:avLst/>
          </a:prstGeom>
          <a:noFill/>
          <a:ln/>
        </p:spPr>
        <p:txBody>
          <a:bodyPr wrap="square" lIns="0" tIns="0" rIns="0" bIns="0" rtlCol="0" anchor="ctr"/>
          <a:lstStyle/>
          <a:p>
            <a:pPr marL="0" indent="0">
              <a:buNone/>
            </a:pPr>
            <a:r>
              <a:rPr lang="en-US" sz="1100" b="1" dirty="0">
                <a:solidFill>
                  <a:srgbClr val="F5F7FA"/>
                </a:solidFill>
                <a:latin typeface="Verdana" pitchFamily="34" charset="0"/>
                <a:ea typeface="Verdana" pitchFamily="34" charset="-122"/>
                <a:cs typeface="Verdana" pitchFamily="34" charset="-120"/>
              </a:rPr>
              <a:t>Which feature drives the prediction more, education or hours worked?</a:t>
            </a:r>
            <a:endParaRPr lang="en-US" sz="1100" dirty="0"/>
          </a:p>
        </p:txBody>
      </p:sp>
      <p:sp>
        <p:nvSpPr>
          <p:cNvPr id="11" name="Text 9"/>
          <p:cNvSpPr/>
          <p:nvPr/>
        </p:nvSpPr>
        <p:spPr>
          <a:xfrm>
            <a:off x="1874520" y="1618488"/>
            <a:ext cx="6309360" cy="658368"/>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Education is worth 2.5 to 3× as much as hours on permutation importance for every model, with all three CIs on the difference excluding zero. The fourth independent method in this project to reach the same conclusion.</a:t>
            </a:r>
            <a:endParaRPr lang="en-US" sz="950" dirty="0"/>
          </a:p>
        </p:txBody>
      </p:sp>
      <p:sp>
        <p:nvSpPr>
          <p:cNvPr id="12" name="Shape 10"/>
          <p:cNvSpPr/>
          <p:nvPr/>
        </p:nvSpPr>
        <p:spPr>
          <a:xfrm>
            <a:off x="502920" y="2468880"/>
            <a:ext cx="7863840" cy="1097280"/>
          </a:xfrm>
          <a:prstGeom prst="rect">
            <a:avLst/>
          </a:prstGeom>
          <a:solidFill>
            <a:srgbClr val="1C1E24"/>
          </a:solidFill>
          <a:ln w="12700">
            <a:solidFill>
              <a:srgbClr val="3A3F4A"/>
            </a:solidFill>
            <a:prstDash val="solid"/>
          </a:ln>
        </p:spPr>
        <p:txBody>
          <a:bodyPr/>
          <a:lstStyle/>
          <a:p>
            <a:endParaRPr lang="en-US"/>
          </a:p>
        </p:txBody>
      </p:sp>
      <p:sp>
        <p:nvSpPr>
          <p:cNvPr id="13" name="Text 11"/>
          <p:cNvSpPr/>
          <p:nvPr/>
        </p:nvSpPr>
        <p:spPr>
          <a:xfrm>
            <a:off x="685800" y="2578608"/>
            <a:ext cx="502920" cy="320040"/>
          </a:xfrm>
          <a:prstGeom prst="rect">
            <a:avLst/>
          </a:prstGeom>
          <a:noFill/>
          <a:ln/>
        </p:spPr>
        <p:txBody>
          <a:bodyPr wrap="square" lIns="0" tIns="0" rIns="0" bIns="0" rtlCol="0" anchor="ctr"/>
          <a:lstStyle/>
          <a:p>
            <a:pPr marL="0" indent="0">
              <a:buNone/>
            </a:pPr>
            <a:r>
              <a:rPr lang="en-US" sz="1500" b="1" dirty="0">
                <a:solidFill>
                  <a:srgbClr val="E8C15A"/>
                </a:solidFill>
                <a:latin typeface="Verdana" pitchFamily="34" charset="0"/>
                <a:ea typeface="Verdana" pitchFamily="34" charset="-122"/>
                <a:cs typeface="Verdana" pitchFamily="34" charset="-120"/>
              </a:rPr>
              <a:t>H2</a:t>
            </a:r>
            <a:endParaRPr lang="en-US" sz="1500" dirty="0"/>
          </a:p>
        </p:txBody>
      </p:sp>
      <p:sp>
        <p:nvSpPr>
          <p:cNvPr id="14" name="Shape 12"/>
          <p:cNvSpPr/>
          <p:nvPr/>
        </p:nvSpPr>
        <p:spPr>
          <a:xfrm>
            <a:off x="658368" y="3017520"/>
            <a:ext cx="1051560" cy="310896"/>
          </a:xfrm>
          <a:prstGeom prst="rect">
            <a:avLst/>
          </a:prstGeom>
          <a:solidFill>
            <a:srgbClr val="20242E"/>
          </a:solidFill>
          <a:ln w="12700">
            <a:solidFill>
              <a:srgbClr val="E07A5F"/>
            </a:solidFill>
            <a:prstDash val="solid"/>
          </a:ln>
        </p:spPr>
        <p:txBody>
          <a:bodyPr/>
          <a:lstStyle/>
          <a:p>
            <a:endParaRPr lang="en-US"/>
          </a:p>
        </p:txBody>
      </p:sp>
      <p:sp>
        <p:nvSpPr>
          <p:cNvPr id="15" name="Text 13"/>
          <p:cNvSpPr/>
          <p:nvPr/>
        </p:nvSpPr>
        <p:spPr>
          <a:xfrm>
            <a:off x="658368" y="3017520"/>
            <a:ext cx="1051560" cy="310896"/>
          </a:xfrm>
          <a:prstGeom prst="rect">
            <a:avLst/>
          </a:prstGeom>
          <a:noFill/>
          <a:ln/>
        </p:spPr>
        <p:txBody>
          <a:bodyPr wrap="square" lIns="0" tIns="0" rIns="0" bIns="0" rtlCol="0" anchor="ctr"/>
          <a:lstStyle/>
          <a:p>
            <a:pPr marL="0" indent="0" algn="ctr">
              <a:buNone/>
            </a:pPr>
            <a:r>
              <a:rPr lang="en-US" sz="800" b="1" dirty="0">
                <a:solidFill>
                  <a:srgbClr val="E07A5F"/>
                </a:solidFill>
                <a:latin typeface="Verdana" pitchFamily="34" charset="0"/>
                <a:ea typeface="Verdana" pitchFamily="34" charset="-122"/>
                <a:cs typeface="Verdana" pitchFamily="34" charset="-120"/>
              </a:rPr>
              <a:t>REFUTED</a:t>
            </a:r>
            <a:endParaRPr lang="en-US" sz="800" dirty="0"/>
          </a:p>
        </p:txBody>
      </p:sp>
      <p:sp>
        <p:nvSpPr>
          <p:cNvPr id="16" name="Text 14"/>
          <p:cNvSpPr/>
          <p:nvPr/>
        </p:nvSpPr>
        <p:spPr>
          <a:xfrm>
            <a:off x="1874520" y="2560320"/>
            <a:ext cx="6309360" cy="274320"/>
          </a:xfrm>
          <a:prstGeom prst="rect">
            <a:avLst/>
          </a:prstGeom>
          <a:noFill/>
          <a:ln/>
        </p:spPr>
        <p:txBody>
          <a:bodyPr wrap="square" lIns="0" tIns="0" rIns="0" bIns="0" rtlCol="0" anchor="ctr"/>
          <a:lstStyle/>
          <a:p>
            <a:pPr marL="0" indent="0">
              <a:buNone/>
            </a:pPr>
            <a:r>
              <a:rPr lang="en-US" sz="1100" b="1" dirty="0">
                <a:solidFill>
                  <a:srgbClr val="F5F7FA"/>
                </a:solidFill>
                <a:latin typeface="Verdana" pitchFamily="34" charset="0"/>
                <a:ea typeface="Verdana" pitchFamily="34" charset="-122"/>
                <a:cs typeface="Verdana" pitchFamily="34" charset="-120"/>
              </a:rPr>
              <a:t>Which model has the smallest US-born vs foreign-born recall gap?</a:t>
            </a:r>
            <a:endParaRPr lang="en-US" sz="1100" dirty="0"/>
          </a:p>
        </p:txBody>
      </p:sp>
      <p:sp>
        <p:nvSpPr>
          <p:cNvPr id="17" name="Text 15"/>
          <p:cNvSpPr/>
          <p:nvPr/>
        </p:nvSpPr>
        <p:spPr>
          <a:xfrm>
            <a:off x="1874520" y="2852928"/>
            <a:ext cx="6309360" cy="658368"/>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XGBoost has the largest gap of the three, not the smallest, and no difference between models is statistically distinguishable, because 99 foreign-born high earners cannot resolve a 0.03 difference. What is measurable: all three models miss female high earners 11 to 15 points more often.</a:t>
            </a:r>
            <a:endParaRPr lang="en-US" sz="950" dirty="0"/>
          </a:p>
        </p:txBody>
      </p:sp>
      <p:sp>
        <p:nvSpPr>
          <p:cNvPr id="18" name="Shape 16"/>
          <p:cNvSpPr/>
          <p:nvPr/>
        </p:nvSpPr>
        <p:spPr>
          <a:xfrm>
            <a:off x="502920" y="3703320"/>
            <a:ext cx="7863840" cy="1097280"/>
          </a:xfrm>
          <a:prstGeom prst="rect">
            <a:avLst/>
          </a:prstGeom>
          <a:solidFill>
            <a:srgbClr val="1C1E24"/>
          </a:solidFill>
          <a:ln w="12700">
            <a:solidFill>
              <a:srgbClr val="3A3F4A"/>
            </a:solidFill>
            <a:prstDash val="solid"/>
          </a:ln>
        </p:spPr>
        <p:txBody>
          <a:bodyPr/>
          <a:lstStyle/>
          <a:p>
            <a:endParaRPr lang="en-US"/>
          </a:p>
        </p:txBody>
      </p:sp>
      <p:sp>
        <p:nvSpPr>
          <p:cNvPr id="19" name="Text 17"/>
          <p:cNvSpPr/>
          <p:nvPr/>
        </p:nvSpPr>
        <p:spPr>
          <a:xfrm>
            <a:off x="685800" y="3813048"/>
            <a:ext cx="502920" cy="320040"/>
          </a:xfrm>
          <a:prstGeom prst="rect">
            <a:avLst/>
          </a:prstGeom>
          <a:noFill/>
          <a:ln/>
        </p:spPr>
        <p:txBody>
          <a:bodyPr wrap="square" lIns="0" tIns="0" rIns="0" bIns="0" rtlCol="0" anchor="ctr"/>
          <a:lstStyle/>
          <a:p>
            <a:pPr marL="0" indent="0">
              <a:buNone/>
            </a:pPr>
            <a:r>
              <a:rPr lang="en-US" sz="1500" b="1" dirty="0">
                <a:solidFill>
                  <a:srgbClr val="E8C15A"/>
                </a:solidFill>
                <a:latin typeface="Verdana" pitchFamily="34" charset="0"/>
                <a:ea typeface="Verdana" pitchFamily="34" charset="-122"/>
                <a:cs typeface="Verdana" pitchFamily="34" charset="-120"/>
              </a:rPr>
              <a:t>H3</a:t>
            </a:r>
            <a:endParaRPr lang="en-US" sz="1500" dirty="0"/>
          </a:p>
        </p:txBody>
      </p:sp>
      <p:sp>
        <p:nvSpPr>
          <p:cNvPr id="20" name="Shape 18"/>
          <p:cNvSpPr/>
          <p:nvPr/>
        </p:nvSpPr>
        <p:spPr>
          <a:xfrm>
            <a:off x="658368" y="4251960"/>
            <a:ext cx="1051560" cy="310896"/>
          </a:xfrm>
          <a:prstGeom prst="rect">
            <a:avLst/>
          </a:prstGeom>
          <a:solidFill>
            <a:srgbClr val="20242E"/>
          </a:solidFill>
          <a:ln w="12700">
            <a:solidFill>
              <a:srgbClr val="5FBF8F"/>
            </a:solidFill>
            <a:prstDash val="solid"/>
          </a:ln>
        </p:spPr>
        <p:txBody>
          <a:bodyPr/>
          <a:lstStyle/>
          <a:p>
            <a:endParaRPr lang="en-US"/>
          </a:p>
        </p:txBody>
      </p:sp>
      <p:sp>
        <p:nvSpPr>
          <p:cNvPr id="21" name="Text 19"/>
          <p:cNvSpPr/>
          <p:nvPr/>
        </p:nvSpPr>
        <p:spPr>
          <a:xfrm>
            <a:off x="658368" y="4251960"/>
            <a:ext cx="1051560" cy="310896"/>
          </a:xfrm>
          <a:prstGeom prst="rect">
            <a:avLst/>
          </a:prstGeom>
          <a:noFill/>
          <a:ln/>
        </p:spPr>
        <p:txBody>
          <a:bodyPr wrap="square" lIns="0" tIns="0" rIns="0" bIns="0" rtlCol="0" anchor="ctr"/>
          <a:lstStyle/>
          <a:p>
            <a:pPr marL="0" indent="0" algn="ctr">
              <a:buNone/>
            </a:pPr>
            <a:r>
              <a:rPr lang="en-US" sz="800" b="1" dirty="0">
                <a:solidFill>
                  <a:srgbClr val="5FBF8F"/>
                </a:solidFill>
                <a:latin typeface="Verdana" pitchFamily="34" charset="0"/>
                <a:ea typeface="Verdana" pitchFamily="34" charset="-122"/>
                <a:cs typeface="Verdana" pitchFamily="34" charset="-120"/>
              </a:rPr>
              <a:t>SUPPORTED</a:t>
            </a:r>
            <a:endParaRPr lang="en-US" sz="800" dirty="0"/>
          </a:p>
        </p:txBody>
      </p:sp>
      <p:sp>
        <p:nvSpPr>
          <p:cNvPr id="22" name="Text 20"/>
          <p:cNvSpPr/>
          <p:nvPr/>
        </p:nvSpPr>
        <p:spPr>
          <a:xfrm>
            <a:off x="1874520" y="3794760"/>
            <a:ext cx="6309360" cy="274320"/>
          </a:xfrm>
          <a:prstGeom prst="rect">
            <a:avLst/>
          </a:prstGeom>
          <a:noFill/>
          <a:ln/>
        </p:spPr>
        <p:txBody>
          <a:bodyPr wrap="square" lIns="0" tIns="0" rIns="0" bIns="0" rtlCol="0" anchor="ctr"/>
          <a:lstStyle/>
          <a:p>
            <a:pPr marL="0" indent="0">
              <a:buNone/>
            </a:pPr>
            <a:r>
              <a:rPr lang="en-US" sz="1100" b="1" dirty="0">
                <a:solidFill>
                  <a:srgbClr val="F5F7FA"/>
                </a:solidFill>
                <a:latin typeface="Verdana" pitchFamily="34" charset="0"/>
                <a:ea typeface="Verdana" pitchFamily="34" charset="-122"/>
                <a:cs typeface="Verdana" pitchFamily="34" charset="-120"/>
              </a:rPr>
              <a:t>Which model classifies best on held-out PR-AUC and F1?</a:t>
            </a:r>
            <a:endParaRPr lang="en-US" sz="1100" dirty="0"/>
          </a:p>
        </p:txBody>
      </p:sp>
      <p:sp>
        <p:nvSpPr>
          <p:cNvPr id="23" name="Text 21"/>
          <p:cNvSpPr/>
          <p:nvPr/>
        </p:nvSpPr>
        <p:spPr>
          <a:xfrm>
            <a:off x="1874520" y="4087368"/>
            <a:ext cx="6309360" cy="658368"/>
          </a:xfrm>
          <a:prstGeom prst="rect">
            <a:avLst/>
          </a:prstGeom>
          <a:noFill/>
          <a:ln/>
        </p:spPr>
        <p:txBody>
          <a:bodyPr wrap="square" lIns="0" tIns="0" rIns="0" bIns="0" rtlCol="0" anchor="t"/>
          <a:lstStyle/>
          <a:p>
            <a:pPr marL="0" indent="0">
              <a:spcAft>
                <a:spcPts val="600"/>
              </a:spcAft>
              <a:buNone/>
            </a:pPr>
            <a:r>
              <a:rPr lang="en-US" sz="950" dirty="0">
                <a:solidFill>
                  <a:srgbClr val="9AA7BD"/>
                </a:solidFill>
                <a:latin typeface="Verdana" pitchFamily="34" charset="0"/>
                <a:ea typeface="Verdana" pitchFamily="34" charset="-122"/>
                <a:cs typeface="Verdana" pitchFamily="34" charset="-120"/>
              </a:rPr>
              <a:t>XGBoost reaches 0.805 PR-AUC and 0.708 F1 against 0.774 and 0.684 for the tuned baseline, winning on all five folds and in 1000 of 1000 bootstrap resamples, with the t-test, McNemar, and the bootstrap all agreeing.</a:t>
            </a:r>
            <a:endParaRPr lang="en-US" sz="950" dirty="0"/>
          </a:p>
        </p:txBody>
      </p:sp>
      <p:sp>
        <p:nvSpPr>
          <p:cNvPr id="24" name="Shape 22"/>
          <p:cNvSpPr/>
          <p:nvPr/>
        </p:nvSpPr>
        <p:spPr>
          <a:xfrm>
            <a:off x="502920" y="4937760"/>
            <a:ext cx="7863840" cy="1417320"/>
          </a:xfrm>
          <a:prstGeom prst="rect">
            <a:avLst/>
          </a:prstGeom>
          <a:solidFill>
            <a:srgbClr val="232631"/>
          </a:solidFill>
          <a:ln w="12700">
            <a:solidFill>
              <a:srgbClr val="3A3F4A"/>
            </a:solidFill>
            <a:prstDash val="solid"/>
          </a:ln>
        </p:spPr>
        <p:txBody>
          <a:bodyPr/>
          <a:lstStyle/>
          <a:p>
            <a:endParaRPr lang="en-US"/>
          </a:p>
        </p:txBody>
      </p:sp>
      <p:sp>
        <p:nvSpPr>
          <p:cNvPr id="25" name="Text 23"/>
          <p:cNvSpPr/>
          <p:nvPr/>
        </p:nvSpPr>
        <p:spPr>
          <a:xfrm>
            <a:off x="685800" y="5056632"/>
            <a:ext cx="749808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THE MAIN FINDING, AND I DID NOT EXPECT IT</a:t>
            </a:r>
            <a:endParaRPr lang="en-US" sz="1050" dirty="0"/>
          </a:p>
        </p:txBody>
      </p:sp>
      <p:sp>
        <p:nvSpPr>
          <p:cNvPr id="26" name="Text 24"/>
          <p:cNvSpPr/>
          <p:nvPr/>
        </p:nvSpPr>
        <p:spPr>
          <a:xfrm>
            <a:off x="685800" y="5394960"/>
            <a:ext cx="7498080" cy="868680"/>
          </a:xfrm>
          <a:prstGeom prst="rect">
            <a:avLst/>
          </a:prstGeom>
          <a:noFill/>
          <a:ln/>
        </p:spPr>
        <p:txBody>
          <a:bodyPr wrap="square" lIns="0" tIns="0" rIns="0" bIns="0" rtlCol="0" anchor="t"/>
          <a:lstStyle/>
          <a:p>
            <a:pPr marL="0" indent="0">
              <a:spcAft>
                <a:spcPts val="600"/>
              </a:spcAft>
              <a:buNone/>
            </a:pPr>
            <a:r>
              <a:rPr lang="en-US" sz="1100" dirty="0">
                <a:solidFill>
                  <a:srgbClr val="F5F7FA"/>
                </a:solidFill>
                <a:latin typeface="Verdana" pitchFamily="34" charset="0"/>
                <a:ea typeface="Verdana" pitchFamily="34" charset="-122"/>
                <a:cs typeface="Verdana" pitchFamily="34" charset="-120"/>
              </a:rPr>
              <a:t>The most accurate model was not the fairest, and the two questions had to be answered separately, and one did not follow from the other. Group-balanced oversampling recovers most of the fairness gap at almost no cost to F1, and that is the configuration I would actually deploy.</a:t>
            </a:r>
            <a:endParaRPr lang="en-US" sz="1100" dirty="0"/>
          </a:p>
        </p:txBody>
      </p:sp>
      <p:sp>
        <p:nvSpPr>
          <p:cNvPr id="27" name="Shape 25"/>
          <p:cNvSpPr/>
          <p:nvPr/>
        </p:nvSpPr>
        <p:spPr>
          <a:xfrm>
            <a:off x="8549640" y="1234440"/>
            <a:ext cx="3154680" cy="5120640"/>
          </a:xfrm>
          <a:prstGeom prst="rect">
            <a:avLst/>
          </a:prstGeom>
          <a:solidFill>
            <a:srgbClr val="1C1E24"/>
          </a:solidFill>
          <a:ln w="12700">
            <a:solidFill>
              <a:srgbClr val="3A3F4A"/>
            </a:solidFill>
            <a:prstDash val="solid"/>
          </a:ln>
        </p:spPr>
        <p:txBody>
          <a:bodyPr/>
          <a:lstStyle/>
          <a:p>
            <a:endParaRPr lang="en-US"/>
          </a:p>
        </p:txBody>
      </p:sp>
      <p:sp>
        <p:nvSpPr>
          <p:cNvPr id="28" name="Text 26"/>
          <p:cNvSpPr/>
          <p:nvPr/>
        </p:nvSpPr>
        <p:spPr>
          <a:xfrm>
            <a:off x="8732520" y="1371600"/>
            <a:ext cx="278892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FUTURE WORK</a:t>
            </a:r>
            <a:endParaRPr lang="en-US" sz="1050" dirty="0"/>
          </a:p>
        </p:txBody>
      </p:sp>
      <p:sp>
        <p:nvSpPr>
          <p:cNvPr id="29" name="Text 27"/>
          <p:cNvSpPr/>
          <p:nvPr/>
        </p:nvSpPr>
        <p:spPr>
          <a:xfrm>
            <a:off x="8732520" y="1737360"/>
            <a:ext cx="2788920" cy="448056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More foreign-born rows or a recent census extract, so the nativity comparison has the sample size to settle. The single change that would do the most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Compare the models at a matched recall instead of at 0.5, so the gaps are not confounded with operating points</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Calibration curves and Brier scores, since a lender needs probabilities that mean what they say</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Nested cross-validation, so the reported performance accounts for the tuning as well</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Fairness-aware training that constrains the gap while the model is fitting, compared against the oversampling I used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29184"/>
            <a:ext cx="566928" cy="566928"/>
          </a:xfrm>
          <a:prstGeom prst="rect">
            <a:avLst/>
          </a:prstGeom>
          <a:solidFill>
            <a:srgbClr val="232631"/>
          </a:solidFill>
          <a:ln w="12700">
            <a:solidFill>
              <a:srgbClr val="E8C15A"/>
            </a:solidFill>
            <a:prstDash val="solid"/>
          </a:ln>
        </p:spPr>
        <p:txBody>
          <a:bodyPr/>
          <a:lstStyle/>
          <a:p>
            <a:endParaRPr lang="en-US"/>
          </a:p>
        </p:txBody>
      </p:sp>
      <p:sp>
        <p:nvSpPr>
          <p:cNvPr id="3" name="Text 1"/>
          <p:cNvSpPr/>
          <p:nvPr/>
        </p:nvSpPr>
        <p:spPr>
          <a:xfrm>
            <a:off x="502920" y="329184"/>
            <a:ext cx="566928" cy="566928"/>
          </a:xfrm>
          <a:prstGeom prst="rect">
            <a:avLst/>
          </a:prstGeom>
          <a:noFill/>
          <a:ln/>
        </p:spPr>
        <p:txBody>
          <a:bodyPr wrap="square" lIns="0" tIns="0" rIns="0" bIns="0" rtlCol="0" anchor="ctr"/>
          <a:lstStyle/>
          <a:p>
            <a:pPr marL="0" indent="0" algn="ctr">
              <a:buNone/>
            </a:pPr>
            <a:r>
              <a:rPr lang="en-US" sz="2000" b="1" dirty="0">
                <a:solidFill>
                  <a:srgbClr val="E8C15A"/>
                </a:solidFill>
                <a:latin typeface="Verdana" pitchFamily="34" charset="0"/>
                <a:ea typeface="Verdana" pitchFamily="34" charset="-122"/>
                <a:cs typeface="Verdana" pitchFamily="34" charset="-120"/>
              </a:rPr>
              <a:t>25</a:t>
            </a:r>
            <a:endParaRPr lang="en-US" sz="2000" dirty="0"/>
          </a:p>
        </p:txBody>
      </p:sp>
      <p:sp>
        <p:nvSpPr>
          <p:cNvPr id="4" name="Text 2"/>
          <p:cNvSpPr/>
          <p:nvPr/>
        </p:nvSpPr>
        <p:spPr>
          <a:xfrm>
            <a:off x="1298448" y="274320"/>
            <a:ext cx="10424160" cy="475488"/>
          </a:xfrm>
          <a:prstGeom prst="rect">
            <a:avLst/>
          </a:prstGeom>
          <a:noFill/>
          <a:ln/>
        </p:spPr>
        <p:txBody>
          <a:bodyPr wrap="square" lIns="0" tIns="0" rIns="0" bIns="0" rtlCol="0" anchor="ctr"/>
          <a:lstStyle/>
          <a:p>
            <a:pPr marL="0" indent="0">
              <a:buNone/>
            </a:pPr>
            <a:r>
              <a:rPr lang="en-US" sz="2700" b="1" dirty="0">
                <a:solidFill>
                  <a:srgbClr val="F5F7FA"/>
                </a:solidFill>
                <a:latin typeface="Verdana" pitchFamily="34" charset="0"/>
                <a:ea typeface="Verdana" pitchFamily="34" charset="-122"/>
                <a:cs typeface="Verdana" pitchFamily="34" charset="-120"/>
              </a:rPr>
              <a:t>Reproducibility and references</a:t>
            </a:r>
            <a:endParaRPr lang="en-US" sz="2700" dirty="0"/>
          </a:p>
        </p:txBody>
      </p:sp>
      <p:sp>
        <p:nvSpPr>
          <p:cNvPr id="5" name="Text 3"/>
          <p:cNvSpPr/>
          <p:nvPr/>
        </p:nvSpPr>
        <p:spPr>
          <a:xfrm>
            <a:off x="1298448" y="758952"/>
            <a:ext cx="10424160" cy="292608"/>
          </a:xfrm>
          <a:prstGeom prst="rect">
            <a:avLst/>
          </a:prstGeom>
          <a:noFill/>
          <a:ln/>
        </p:spPr>
        <p:txBody>
          <a:bodyPr wrap="square" lIns="0" tIns="0" rIns="0" bIns="0" rtlCol="0" anchor="t"/>
          <a:lstStyle/>
          <a:p>
            <a:pPr marL="0" indent="0">
              <a:buNone/>
            </a:pPr>
            <a:r>
              <a:rPr lang="en-US" sz="1200" i="1" dirty="0">
                <a:solidFill>
                  <a:srgbClr val="9AA7BD"/>
                </a:solidFill>
                <a:latin typeface="Verdana" pitchFamily="34" charset="0"/>
                <a:ea typeface="Verdana" pitchFamily="34" charset="-122"/>
                <a:cs typeface="Verdana" pitchFamily="34" charset="-120"/>
              </a:rPr>
              <a:t>Everything needed to rerun this to the same numbers</a:t>
            </a:r>
            <a:endParaRPr lang="en-US" sz="1200" dirty="0"/>
          </a:p>
        </p:txBody>
      </p:sp>
      <p:sp>
        <p:nvSpPr>
          <p:cNvPr id="6" name="Shape 4"/>
          <p:cNvSpPr/>
          <p:nvPr/>
        </p:nvSpPr>
        <p:spPr>
          <a:xfrm>
            <a:off x="502920" y="1234440"/>
            <a:ext cx="5532120" cy="2606040"/>
          </a:xfrm>
          <a:prstGeom prst="rect">
            <a:avLst/>
          </a:prstGeom>
          <a:solidFill>
            <a:srgbClr val="1C1E24"/>
          </a:solidFill>
          <a:ln w="12700">
            <a:solidFill>
              <a:srgbClr val="3A3F4A"/>
            </a:solidFill>
            <a:prstDash val="solid"/>
          </a:ln>
        </p:spPr>
        <p:txBody>
          <a:bodyPr/>
          <a:lstStyle/>
          <a:p>
            <a:endParaRPr lang="en-US"/>
          </a:p>
        </p:txBody>
      </p:sp>
      <p:sp>
        <p:nvSpPr>
          <p:cNvPr id="7" name="Text 5"/>
          <p:cNvSpPr/>
          <p:nvPr/>
        </p:nvSpPr>
        <p:spPr>
          <a:xfrm>
            <a:off x="685800" y="1371600"/>
            <a:ext cx="516636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REPRODUCIBILITY</a:t>
            </a:r>
            <a:endParaRPr lang="en-US" sz="1050" dirty="0"/>
          </a:p>
        </p:txBody>
      </p:sp>
      <p:sp>
        <p:nvSpPr>
          <p:cNvPr id="8" name="Text 6"/>
          <p:cNvSpPr/>
          <p:nvPr/>
        </p:nvSpPr>
        <p:spPr>
          <a:xfrm>
            <a:off x="685800" y="1737360"/>
            <a:ext cx="5166360" cy="201168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One fixed seed (42) on the split, the CV folds, SMOTE, and all three models</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A single load path from the database, which stays the source of truth</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The notebook runs top to bottom on a clean environment with no manual steps</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Preprocessing, training, and evaluation sit in separate blocks, and pipeline factories build every model the same way</a:t>
            </a:r>
            <a:endParaRPr lang="en-US" sz="1050" dirty="0"/>
          </a:p>
          <a:p>
            <a:pPr marL="342900" indent="-342900">
              <a:spcAft>
                <a:spcPts val="700"/>
              </a:spcAft>
              <a:buSzPct val="100000"/>
              <a:buChar char="•"/>
            </a:pPr>
            <a:r>
              <a:rPr lang="en-US" sz="1050" dirty="0">
                <a:solidFill>
                  <a:srgbClr val="9AA7BD"/>
                </a:solidFill>
                <a:latin typeface="Verdana" pitchFamily="34" charset="0"/>
                <a:ea typeface="Verdana" pitchFamily="34" charset="-122"/>
                <a:cs typeface="Verdana" pitchFamily="34" charset="-120"/>
              </a:rPr>
              <a:t>requirements.txt pins the versions, and the notebook prints them at the end</a:t>
            </a:r>
            <a:endParaRPr lang="en-US" sz="1050" dirty="0"/>
          </a:p>
        </p:txBody>
      </p:sp>
      <p:sp>
        <p:nvSpPr>
          <p:cNvPr id="9" name="Shape 7"/>
          <p:cNvSpPr/>
          <p:nvPr/>
        </p:nvSpPr>
        <p:spPr>
          <a:xfrm>
            <a:off x="6217920" y="1234440"/>
            <a:ext cx="5486400" cy="2606040"/>
          </a:xfrm>
          <a:prstGeom prst="rect">
            <a:avLst/>
          </a:prstGeom>
          <a:solidFill>
            <a:srgbClr val="232631"/>
          </a:solidFill>
          <a:ln w="12700">
            <a:solidFill>
              <a:srgbClr val="3A3F4A"/>
            </a:solidFill>
            <a:prstDash val="solid"/>
          </a:ln>
        </p:spPr>
        <p:txBody>
          <a:bodyPr/>
          <a:lstStyle/>
          <a:p>
            <a:endParaRPr lang="en-US"/>
          </a:p>
        </p:txBody>
      </p:sp>
      <p:sp>
        <p:nvSpPr>
          <p:cNvPr id="10" name="Text 8"/>
          <p:cNvSpPr/>
          <p:nvPr/>
        </p:nvSpPr>
        <p:spPr>
          <a:xfrm>
            <a:off x="6400800" y="1371600"/>
            <a:ext cx="5120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ENVIRONMENT</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0" y="1783080"/>
          <a:ext cx="5120640" cy="1024128"/>
        </p:xfrm>
        <a:graphic>
          <a:graphicData uri="http://schemas.openxmlformats.org/drawingml/2006/table">
            <a:tbl>
              <a:tblPr/>
              <a:tblGrid>
                <a:gridCol w="1371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256032">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Library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Version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Library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tc>
                  <a:txBody>
                    <a:bodyPr/>
                    <a:lstStyle/>
                    <a:p>
                      <a:pPr marL="0" indent="0" algn="ctr">
                        <a:buNone/>
                      </a:pPr>
                      <a:r>
                        <a:rPr lang="en-US" sz="1000" b="1" dirty="0">
                          <a:solidFill>
                            <a:srgbClr val="E8C15A"/>
                          </a:solidFill>
                          <a:latin typeface="Verdana" pitchFamily="34" charset="0"/>
                          <a:ea typeface="Verdana" pitchFamily="34" charset="-122"/>
                          <a:cs typeface="Verdana" pitchFamily="34" charset="-120"/>
                        </a:rPr>
                        <a:t>Version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0242E"/>
                    </a:solidFill>
                  </a:tcPr>
                </a:tc>
                <a:extLst>
                  <a:ext uri="{0D108BD9-81ED-4DB2-BD59-A6C34878D82A}">
                    <a16:rowId xmlns:a16="http://schemas.microsoft.com/office/drawing/2014/main" val="10000"/>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numpy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2.4.4</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imbalanced-learn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0.14.2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pandas</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3.0.2</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xgboost</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3.3.0</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2"/>
                  </a:ext>
                </a:extLst>
              </a:tr>
              <a:tr h="256032">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scikit-learn</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1.8.0</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l">
                        <a:buNone/>
                      </a:pPr>
                      <a:r>
                        <a:rPr lang="en-US" sz="1000" b="1" dirty="0">
                          <a:solidFill>
                            <a:srgbClr val="F5F7FA"/>
                          </a:solidFill>
                          <a:latin typeface="Verdana" pitchFamily="34" charset="0"/>
                          <a:ea typeface="Verdana" pitchFamily="34" charset="-122"/>
                          <a:cs typeface="Verdana" pitchFamily="34" charset="-120"/>
                        </a:rPr>
                        <a:t>scipy</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000" dirty="0">
                          <a:solidFill>
                            <a:srgbClr val="9AA7BD"/>
                          </a:solidFill>
                          <a:latin typeface="Verdana" pitchFamily="34" charset="0"/>
                          <a:ea typeface="Verdana" pitchFamily="34" charset="-122"/>
                          <a:cs typeface="Verdana" pitchFamily="34" charset="-120"/>
                        </a:rPr>
                        <a:t>1.17.1</a:t>
                      </a:r>
                      <a:endParaRPr lang="en-US" sz="1000" dirty="0">
                        <a:latin typeface="Verdana" charset="0"/>
                        <a:ea typeface="Verdana" charset="0"/>
                        <a:cs typeface="Verdana" charset="0"/>
                      </a:endParaRPr>
                    </a:p>
                  </a:txBody>
                  <a:tcPr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2" name="Text 9"/>
          <p:cNvSpPr/>
          <p:nvPr/>
        </p:nvSpPr>
        <p:spPr>
          <a:xfrm>
            <a:off x="6400800" y="3200400"/>
            <a:ext cx="5120640" cy="548640"/>
          </a:xfrm>
          <a:prstGeom prst="rect">
            <a:avLst/>
          </a:prstGeom>
          <a:noFill/>
          <a:ln/>
        </p:spPr>
        <p:txBody>
          <a:bodyPr wrap="square" lIns="0" tIns="0" rIns="0" bIns="0" rtlCol="0" anchor="t"/>
          <a:lstStyle/>
          <a:p>
            <a:pPr marL="0" indent="0">
              <a:spcAft>
                <a:spcPts val="600"/>
              </a:spcAft>
              <a:buNone/>
            </a:pPr>
            <a:r>
              <a:rPr lang="en-US" sz="1000" dirty="0">
                <a:solidFill>
                  <a:srgbClr val="9AA7BD"/>
                </a:solidFill>
                <a:latin typeface="Verdana" pitchFamily="34" charset="0"/>
                <a:ea typeface="Verdana" pitchFamily="34" charset="-122"/>
                <a:cs typeface="Verdana" pitchFamily="34" charset="-120"/>
              </a:rPr>
              <a:t>Fit time: LR 2.8s · XGBoost 3.5s · MLP 5.3s. Prediction on 6,508 rows is under 0.07s for all three.</a:t>
            </a:r>
            <a:endParaRPr lang="en-US" sz="1000" dirty="0"/>
          </a:p>
        </p:txBody>
      </p:sp>
      <p:sp>
        <p:nvSpPr>
          <p:cNvPr id="13" name="Shape 10"/>
          <p:cNvSpPr/>
          <p:nvPr/>
        </p:nvSpPr>
        <p:spPr>
          <a:xfrm>
            <a:off x="502920" y="4023360"/>
            <a:ext cx="11201400" cy="2331720"/>
          </a:xfrm>
          <a:prstGeom prst="rect">
            <a:avLst/>
          </a:prstGeom>
          <a:solidFill>
            <a:srgbClr val="1C1E24"/>
          </a:solidFill>
          <a:ln w="12700">
            <a:solidFill>
              <a:srgbClr val="3A3F4A"/>
            </a:solidFill>
            <a:prstDash val="solid"/>
          </a:ln>
        </p:spPr>
        <p:txBody>
          <a:bodyPr/>
          <a:lstStyle/>
          <a:p>
            <a:endParaRPr lang="en-US"/>
          </a:p>
        </p:txBody>
      </p:sp>
      <p:sp>
        <p:nvSpPr>
          <p:cNvPr id="14" name="Text 11"/>
          <p:cNvSpPr/>
          <p:nvPr/>
        </p:nvSpPr>
        <p:spPr>
          <a:xfrm>
            <a:off x="685800" y="4160520"/>
            <a:ext cx="10835640" cy="256032"/>
          </a:xfrm>
          <a:prstGeom prst="rect">
            <a:avLst/>
          </a:prstGeom>
          <a:noFill/>
          <a:ln/>
        </p:spPr>
        <p:txBody>
          <a:bodyPr wrap="square" lIns="0" tIns="0" rIns="0" bIns="0" rtlCol="0" anchor="ctr"/>
          <a:lstStyle/>
          <a:p>
            <a:pPr marL="0" indent="0">
              <a:buNone/>
            </a:pPr>
            <a:r>
              <a:rPr lang="en-US" sz="1050" b="1" kern="0" spc="120" dirty="0">
                <a:solidFill>
                  <a:srgbClr val="E8C15A"/>
                </a:solidFill>
                <a:latin typeface="Verdana" pitchFamily="34" charset="0"/>
                <a:ea typeface="Verdana" pitchFamily="34" charset="-122"/>
                <a:cs typeface="Verdana" pitchFamily="34" charset="-120"/>
              </a:rPr>
              <a:t>REFERENCES</a:t>
            </a:r>
            <a:endParaRPr lang="en-US" sz="1050" dirty="0"/>
          </a:p>
        </p:txBody>
      </p:sp>
      <p:sp>
        <p:nvSpPr>
          <p:cNvPr id="15" name="Text 12"/>
          <p:cNvSpPr/>
          <p:nvPr/>
        </p:nvSpPr>
        <p:spPr>
          <a:xfrm>
            <a:off x="685800" y="4480560"/>
            <a:ext cx="10835640" cy="1783080"/>
          </a:xfrm>
          <a:prstGeom prst="rect">
            <a:avLst/>
          </a:prstGeom>
          <a:noFill/>
          <a:ln/>
        </p:spPr>
        <p:txBody>
          <a:bodyPr wrap="square" lIns="0" tIns="0" rIns="0" bIns="0" rtlCol="0" anchor="t"/>
          <a:lstStyle/>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Becker, B. and Kohavi, R. (1996). Adult. UCI Machine Learning Repository. archive.ics.uci.edu/dataset/2/adult</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Chawla, N., Bowyer, K., Hall, L., Kegelmeyer, W. (2002). SMOTE: Synthetic Minority Over-sampling Technique. JAIR 16, 321–357</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Chen, T. and Guestrin, C. (2016). XGBoost: A Scalable Tree Boosting System. KDD '16</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Dietterich, T. (1998). Approximate Statistical Tests for Comparing Supervised Classification Learning Algorithms. Neural Computation 10(7), 1895–1923</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Efron, B. and Tibshirani, R. (1993). An Introduction to the Bootstrap · Breiman, L. (2001). Random Forests. Machine Learning 45, 5–32</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Pedregosa et al. (2011). Scikit-learn: Machine Learning in Python. JMLR 12, 2825–2830 · Lemaitre, Nogueira, Aridas (2017). imbalanced-learn. JMLR 18(17), 1–5</a:t>
            </a:r>
            <a:endParaRPr lang="en-US" sz="1000" dirty="0"/>
          </a:p>
          <a:p>
            <a:pPr marL="342900" indent="-342900">
              <a:spcAft>
                <a:spcPts val="700"/>
              </a:spcAft>
              <a:buSzPct val="100000"/>
              <a:buChar char="•"/>
            </a:pPr>
            <a:r>
              <a:rPr lang="en-US" sz="1000" dirty="0">
                <a:solidFill>
                  <a:srgbClr val="9AA7BD"/>
                </a:solidFill>
                <a:latin typeface="Verdana" pitchFamily="34" charset="0"/>
                <a:ea typeface="Verdana" pitchFamily="34" charset="-122"/>
                <a:cs typeface="Verdana" pitchFamily="34" charset="-120"/>
              </a:rPr>
              <a:t>Repository, notebook, and all earlier milestones: github.com/ErikHerb/MSDS640-coursework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12263</Words>
  <Application>Microsoft Office PowerPoint</Application>
  <PresentationFormat>Widescreen</PresentationFormat>
  <Paragraphs>1082</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Census Income: Final Model Comparison and Fairness Audit</dc:title>
  <dc:subject>PptxGenJS Presentation</dc:subject>
  <dc:creator>Erik Herb</dc:creator>
  <cp:lastModifiedBy>Erik Herb</cp:lastModifiedBy>
  <cp:revision>2</cp:revision>
  <dcterms:created xsi:type="dcterms:W3CDTF">2026-08-03T23:25:45Z</dcterms:created>
  <dcterms:modified xsi:type="dcterms:W3CDTF">2026-08-04T00:13:29Z</dcterms:modified>
</cp:coreProperties>
</file>