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2DFD1B1-267B-4687-A7B4-1F91C1862331}" v="1" dt="2026-07-14T23:44:48.611"/>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5039" autoAdjust="0"/>
  </p:normalViewPr>
  <p:slideViewPr>
    <p:cSldViewPr snapToGrid="0" snapToObjects="1">
      <p:cViewPr varScale="1">
        <p:scale>
          <a:sx n="82" d="100"/>
          <a:sy n="82" d="100"/>
        </p:scale>
        <p:origin x="720"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 Id="rId20" Type="http://schemas.microsoft.com/office/2016/11/relationships/changesInfo" Target="changesInfos/changesInfo1.xml"/><Relationship Id="rId21"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Erik Herb" userId="0f28f5b0af101864" providerId="LiveId" clId="{B89B4A7F-E6AC-4820-B61E-1E3BA66D7C70}"/>
    <pc:docChg chg="modSld">
      <pc:chgData name="Erik Herb" userId="0f28f5b0af101864" providerId="LiveId" clId="{B89B4A7F-E6AC-4820-B61E-1E3BA66D7C70}" dt="2026-07-14T23:48:53.227" v="111" actId="20577"/>
      <pc:docMkLst>
        <pc:docMk/>
      </pc:docMkLst>
      <pc:sldChg chg="modSp mod">
        <pc:chgData name="Erik Herb" userId="0f28f5b0af101864" providerId="LiveId" clId="{B89B4A7F-E6AC-4820-B61E-1E3BA66D7C70}" dt="2026-07-14T22:33:10.630" v="0" actId="20577"/>
        <pc:sldMkLst>
          <pc:docMk/>
          <pc:sldMk cId="0" sldId="257"/>
        </pc:sldMkLst>
        <pc:spChg chg="mod">
          <ac:chgData name="Erik Herb" userId="0f28f5b0af101864" providerId="LiveId" clId="{B89B4A7F-E6AC-4820-B61E-1E3BA66D7C70}" dt="2026-07-14T22:33:10.630" v="0" actId="20577"/>
          <ac:spMkLst>
            <pc:docMk/>
            <pc:sldMk cId="0" sldId="257"/>
            <ac:spMk id="8" creationId="{00000000-0000-0000-0000-000000000000}"/>
          </ac:spMkLst>
        </pc:spChg>
      </pc:sldChg>
      <pc:sldChg chg="modSp mod">
        <pc:chgData name="Erik Herb" userId="0f28f5b0af101864" providerId="LiveId" clId="{B89B4A7F-E6AC-4820-B61E-1E3BA66D7C70}" dt="2026-07-14T23:48:53.227" v="111" actId="20577"/>
        <pc:sldMkLst>
          <pc:docMk/>
          <pc:sldMk cId="0" sldId="264"/>
        </pc:sldMkLst>
        <pc:spChg chg="mod">
          <ac:chgData name="Erik Herb" userId="0f28f5b0af101864" providerId="LiveId" clId="{B89B4A7F-E6AC-4820-B61E-1E3BA66D7C70}" dt="2026-07-14T23:48:53.227" v="111" actId="20577"/>
          <ac:spMkLst>
            <pc:docMk/>
            <pc:sldMk cId="0" sldId="264"/>
            <ac:spMk id="13" creationId="{00000000-0000-0000-0000-000000000000}"/>
          </ac:spMkLst>
        </pc:spChg>
        <pc:spChg chg="mod">
          <ac:chgData name="Erik Herb" userId="0f28f5b0af101864" providerId="LiveId" clId="{B89B4A7F-E6AC-4820-B61E-1E3BA66D7C70}" dt="2026-07-14T23:47:35.595" v="61" actId="1076"/>
          <ac:spMkLst>
            <pc:docMk/>
            <pc:sldMk cId="0" sldId="264"/>
            <ac:spMk id="14" creationId="{00000000-0000-0000-0000-000000000000}"/>
          </ac:spMkLst>
        </pc:spChg>
        <pc:spChg chg="mod">
          <ac:chgData name="Erik Herb" userId="0f28f5b0af101864" providerId="LiveId" clId="{B89B4A7F-E6AC-4820-B61E-1E3BA66D7C70}" dt="2026-07-14T23:47:30.296" v="60" actId="1076"/>
          <ac:spMkLst>
            <pc:docMk/>
            <pc:sldMk cId="0" sldId="264"/>
            <ac:spMk id="1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04816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Quick framing: this is the data prep and EDA milestone for my capstone. The dataset is the UCI Adult Census Income data from the 1994 census, about 32,500 rows, and the task is predicting whether someone earns over 50K a year. Everything I do here is aimed at three hypotheses I'll show on the next slide. The one thing that's new since last time is that I use a decision tree to estimate feature importance, which came out of the feedback I got on the last milestone.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project is built around three hypotheses. H1 is a drivers question: does education matter more than hours. H2 is the fairness question: whether XGBoost has the smallest recall gap between US-born and foreign-born high earners. H3 is a straight model comparison. EDA can't fully settle any of these, but it can give early hints, and that's how I framed every plot.</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Only three columns had missing values, all categorical, all under six percent. I filled them with an Unknown category rather than dropping, because dropping would lose about 2,400 people and the missingness isn't random, so it could bias things. I also removed 24 exact duplicates, and dropped fnlwgt because it's a sampling weight the docs say not to use, and education because it duplicates education_num.</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target is imbalanced, about 76 to 24, roughly 3.2 to 1. That means accuracy is misleading, because a model that says nobody earns over 50K is right 76 percent of the time but useless. So I lead with recall and PR-AUC. PR-AUC is the key one because it focuses on the positive class and doesn't get credit for the easy negatives the way ROC-AUC can. For the fix I plan SMOTE on the training split only plus class weights, oversampling instead of undersampling so I keep every real row, and I leave the test set alone so it stays realistic.</a:t>
            </a:r>
          </a:p>
          <a:p>
            <a:endParaRPr lang="en-US" dirty="0"/>
          </a:p>
          <a:p>
            <a:endParaRPr lang="en-US" dirty="0"/>
          </a:p>
          <a:p>
            <a:r>
              <a:rPr lang="en-US" dirty="0"/>
              <a:t>Class weights: model is forced to pay more close attention to the rare or underrepresented class and faces a much higher penalty for misclassifying the rare class compared to the majority class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engineered three features, each tied to a hypothesis. native_region gives me the US vs non-US split the fairness audit needs. The capital gain and loss flags turn two heavily-zero columns into a clean wealth signal. hours_group bins hours because the effect isn't linear. Then one-hot encoding takes me to 52 features, standard scaling puts the numerics on the same range, and I checked PCA but skipped it: the variance is spread evenly and H1 depends on knowing which original feature matters.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where I show it mattered. Missing values go from a few percent to zero, duplicates to zero, and the training balance from 3.2 to 1 down to 1 to 1 after SMOTE, but only on the training split. Then a quick default logistic regression makes the point: on the raw imbalanced data it catches only 39 percent of real high earners, and after scaling, encoding and oversampling the recall jumps way up while accuracy barely moves. That's exactly the trade I want for a lending use case. It's just a sanity check though, the real modeling is next milestone.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For summary stats, age is centered near 38, education around 10 years, hours piled at 40, and capital gain is mostly zero with a giant max. On the categorical side, Private workclass and married dominate.</a:t>
            </a:r>
          </a:p>
          <a:p/>
          <a:p>
            <a:r>
              <a:t>For outliers I used the IQR rule instead of z-scores, because z-scores assume a normal shape and capital gain has a skew around 12, so z-scores would flag a lot of ordinary points.</a:t>
            </a:r>
          </a:p>
          <a:p/>
          <a:p>
            <a:r>
              <a:t>The more important question is what I do about the flagged rows, because the rule flags a lot of them. I keep all of them, and I checked what dropping them would cost rather than just asserting it.</a:t>
            </a:r>
          </a:p>
          <a:p/>
          <a:p>
            <a:r>
              <a:t>First, dropping every flagged row would delete about 40 percent of my data and 47 percent of all my high earners. Nearly half the class I'm trying to predict. For a project about finding high earners, that ends the argument by itself.</a:t>
            </a:r>
          </a:p>
          <a:p/>
          <a:p>
            <a:r>
              <a:t>Second, the flagged rows are the signal, not noise. Rows flagged on capital gain are 62 percent high earners against 21 percent for everyone else, and they're about a fifth of every high earner in the dataset. Capital gain is also my strongest feature on permutation importance. So the outliers on my best feature are exactly the people I most want to catch.</a:t>
            </a:r>
          </a:p>
          <a:p/>
          <a:p>
            <a:r>
              <a:t>Third, the hours flag rate is an artifact of the rule. Because 47 percent of people work exactly 40 hours, the interquartile range collapses to 5, from Q1 of 40 to Q3 of 45, which puts the fence at 32 to 52 hours. So a 55-hour week gets called an outlier. That's not an anomaly, that's a job. The 27.7 percent is measuring the spike at 40, not measuring errors.</a:t>
            </a:r>
          </a:p>
          <a:p/>
          <a:p>
            <a:r>
              <a:t>Fourth, and this is the one I'd lead with if asked: dropping would bias my fairness audit. Foreign-born people get flagged at 45 percent against 39 percent for US-born, so I'd be disproportionately removing people from the smaller group that H2 audits, and then measuring the nativity gap on a sample I'd already skewed by nativity.</a:t>
            </a:r>
          </a:p>
          <a:p/>
          <a:p>
            <a:r>
              <a:t>The short version: an IQR flag means a value is far from the middle. It does not mean the value is wrong. These are real people with real recorded incomes, and tree models split on order rather than magnitude, so the skew doesn't hurt them.</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quick look at the raw shape of the data. The histograms confirm what the stats said: age bell-shaped, education clustered at high school, hours spiking at 40, and capital gain and loss basically all zero, which is why I built the flags. The correlation heatmap shows every numeric pair is only weakly related, so there's no multicollinearity to worry about. That matters because the logistic regression coefficients stay stable and readable, and H1 depends on reading those coefficients.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H1 asks whether education drives income more than hours. The rate spread is the one-feature view: education spreads the over 50K rate 0.74 against 0.36 for hours, roughly double. But that doesn't control for anything, so I fit a decision tree, which my professor suggested. A tree picks its splits with every feature competing at once, which is exactly what H1 needs.</a:t>
            </a:r>
          </a:p>
          <a:p/>
          <a:p>
            <a:r>
              <a:t>Education wins there too, about eight times larger on the tree's own importance and about four times on permutation importance.</a:t>
            </a:r>
          </a:p>
          <a:p/>
          <a:p>
            <a:r>
              <a:t>I report both on purpose. The tree's built-in measure is based on impurity reduction and it's known to favor continuous features. Education is a single numeric column while my categorical features are spread across a lot of one-hot columns, so the built-in number could flatter education for the wrong reason. Permutation importance on held-out rows is the cross-check, and the fact that both agree on direction is what makes me trust it. The drop from 0.223 to 0.099 between the two is that bias showing up right where I expected.</a:t>
            </a:r>
          </a:p>
          <a:p/>
          <a:p>
            <a:r>
              <a:t>One thing to be straight about: marital status ranks above education on the tree at 0.426, and capital gain ranks first on permutation importance. H1 only claims education beats hours worked, which it does, so that doesn't change the result. It just means I can't say education leads every feature.</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H2 is the fairness question, and here I'm just showing the base-rate gap the models will be audited against. US-born earn over 50K at about 25 percent versus 19 percent for foreign-born. If a model simply learns that gap, it'll miss real high earners among foreign-born people, which shows up as lower recall for that group, and that recall gap is what the audit measures. Breaking it out by sex shows men are higher in both groups, so nativity isn't the only thing moving the base rate, which is why the audit checks sex and race too.</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the model comparison. EDA can't test it, but it can show whether the data has the kind of patterns flexible models exploit. Three things: the over-50K rate by age is a clear curve that rises and falls, which a linear model can't bend to on its own. Having any capital gain flips the rate from low to high, a threshold that tree splits handle naturally. And the education-by-marital-status heatmap shows an interaction, married plus high education is higher than either alone. All three favor XGBoost and the MLP over the linear baseline, consistent with H3. Whether XGBoost actually wins, and whether it's significant, is the McNemar and bootstrap test next milestone.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Where each hypothesis stands. H1 has real support now: education beats hours on both importance measures once the decision tree puts every feature in competition. H2 has a real base-rate gap for the fairness audit to measure. H3 sees the non-linear, threshold and interaction structure that flexible models exploit. None of these are settled by EDA, but nothing in the data cuts against them either.</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3.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7.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181D"/>
        </a:solidFill>
        <a:effectLst/>
      </p:bgPr>
    </p:bg>
    <p:spTree>
      <p:nvGrpSpPr>
        <p:cNvPr id="1" name=""/>
        <p:cNvGrpSpPr/>
        <p:nvPr/>
      </p:nvGrpSpPr>
      <p:grpSpPr>
        <a:xfrm>
          <a:off x="0" y="0"/>
          <a:ext cx="0" cy="0"/>
          <a:chOff x="0" y="0"/>
          <a:chExt cx="0" cy="0"/>
        </a:xfrm>
      </p:grpSpPr>
      <p:sp>
        <p:nvSpPr>
          <p:cNvPr id="2" name="Right Panel"/>
          <p:cNvSpPr/>
          <p:nvPr/>
        </p:nvSpPr>
        <p:spPr>
          <a:xfrm>
            <a:off x="9906000" y="0"/>
            <a:ext cx="2286000" cy="6858000"/>
          </a:xfrm>
          <a:prstGeom prst="rect">
            <a:avLst/>
          </a:prstGeom>
          <a:solidFill>
            <a:srgbClr val="1C1E24"/>
          </a:solidFill>
          <a:ln/>
        </p:spPr>
        <p:txBody>
          <a:bodyPr/>
          <a:lstStyle/>
          <a:p>
            <a:endParaRPr lang="en-US"/>
          </a:p>
        </p:txBody>
      </p:sp>
      <p:sp>
        <p:nvSpPr>
          <p:cNvPr id="3" name="Panel Rule"/>
          <p:cNvSpPr/>
          <p:nvPr/>
        </p:nvSpPr>
        <p:spPr>
          <a:xfrm>
            <a:off x="9906000" y="0"/>
            <a:ext cx="27432" cy="6858000"/>
          </a:xfrm>
          <a:prstGeom prst="rect">
            <a:avLst/>
          </a:prstGeom>
          <a:solidFill>
            <a:srgbClr val="6AA0FF"/>
          </a:solidFill>
          <a:ln/>
        </p:spPr>
        <p:txBody>
          <a:bodyPr/>
          <a:lstStyle/>
          <a:p>
            <a:endParaRPr lang="en-US"/>
          </a:p>
        </p:txBody>
      </p:sp>
      <p:sp>
        <p:nvSpPr>
          <p:cNvPr id="4" name="Accent Bar"/>
          <p:cNvSpPr/>
          <p:nvPr/>
        </p:nvSpPr>
        <p:spPr>
          <a:xfrm>
            <a:off x="548640" y="1417320"/>
            <a:ext cx="50292" cy="2167128"/>
          </a:xfrm>
          <a:prstGeom prst="rect">
            <a:avLst/>
          </a:prstGeom>
          <a:solidFill>
            <a:srgbClr val="6AA0FF"/>
          </a:solidFill>
          <a:ln/>
        </p:spPr>
        <p:txBody>
          <a:bodyPr/>
          <a:lstStyle/>
          <a:p>
            <a:endParaRPr lang="en-US"/>
          </a:p>
        </p:txBody>
      </p:sp>
      <p:sp>
        <p:nvSpPr>
          <p:cNvPr id="5" name="Text 3"/>
          <p:cNvSpPr/>
          <p:nvPr/>
        </p:nvSpPr>
        <p:spPr>
          <a:xfrm>
            <a:off x="685800" y="1417320"/>
            <a:ext cx="9144000" cy="365760"/>
          </a:xfrm>
          <a:prstGeom prst="rect">
            <a:avLst/>
          </a:prstGeom>
          <a:noFill/>
          <a:ln/>
          <a:effectLst/>
        </p:spPr>
        <p:txBody>
          <a:bodyPr wrap="square" lIns="0" tIns="0" rIns="0" bIns="0" rtlCol="0" anchor="ctr"/>
          <a:lstStyle/>
          <a:p>
            <a:pPr marL="0" indent="0">
              <a:buNone/>
            </a:pPr>
            <a:r>
              <a:rPr lang="en-US" sz="1500" b="1" kern="0" spc="300" dirty="0">
                <a:solidFill>
                  <a:srgbClr val="E8C15A"/>
                </a:solidFill>
                <a:latin typeface="Calibri" pitchFamily="34" charset="0"/>
                <a:ea typeface="Calibri" pitchFamily="34" charset="-122"/>
                <a:cs typeface="Calibri" pitchFamily="34" charset="-120"/>
              </a:rPr>
              <a:t>DATA SCIENCE CAPSTONE   ·   MSDS640</a:t>
            </a:r>
            <a:endParaRPr lang="en-US" sz="1500" dirty="0"/>
          </a:p>
        </p:txBody>
      </p:sp>
      <p:sp>
        <p:nvSpPr>
          <p:cNvPr id="6" name="Text 4"/>
          <p:cNvSpPr/>
          <p:nvPr/>
        </p:nvSpPr>
        <p:spPr>
          <a:xfrm>
            <a:off x="658368" y="1965960"/>
            <a:ext cx="10607040" cy="960120"/>
          </a:xfrm>
          <a:prstGeom prst="rect">
            <a:avLst/>
          </a:prstGeom>
          <a:noFill/>
          <a:ln/>
          <a:effectLst/>
        </p:spPr>
        <p:txBody>
          <a:bodyPr wrap="square" lIns="0" tIns="0" rIns="0" bIns="0" rtlCol="0" anchor="ctr"/>
          <a:lstStyle/>
          <a:p>
            <a:pPr marL="0" indent="0">
              <a:buNone/>
            </a:pPr>
            <a:r>
              <a:rPr lang="en-US" sz="5400" b="1">
                <a:solidFill>
                  <a:srgbClr val="F5F7FA"/>
                </a:solidFill>
                <a:latin typeface="Trebuchet MS" pitchFamily="34" charset="0"/>
                <a:ea typeface="Trebuchet MS" pitchFamily="34" charset="-122"/>
                <a:cs typeface="Trebuchet MS" pitchFamily="34" charset="-120"/>
              </a:rPr>
              <a:t>Adult Census Income</a:t>
            </a:r>
            <a:endParaRPr lang="en-US" sz="5400" dirty="0"/>
          </a:p>
        </p:txBody>
      </p:sp>
      <p:sp>
        <p:nvSpPr>
          <p:cNvPr id="7" name="Text 5"/>
          <p:cNvSpPr/>
          <p:nvPr/>
        </p:nvSpPr>
        <p:spPr>
          <a:xfrm>
            <a:off x="685800" y="3035808"/>
            <a:ext cx="10424160" cy="548640"/>
          </a:xfrm>
          <a:prstGeom prst="rect">
            <a:avLst/>
          </a:prstGeom>
          <a:noFill/>
          <a:ln/>
        </p:spPr>
        <p:txBody>
          <a:bodyPr wrap="square" lIns="0" tIns="0" rIns="0" bIns="0" rtlCol="0" anchor="ctr"/>
          <a:lstStyle/>
          <a:p>
            <a:pPr marL="0" indent="0">
              <a:buNone/>
            </a:pPr>
            <a:r>
              <a:rPr lang="en-US" sz="2500">
                <a:solidFill>
                  <a:srgbClr val="6AA0FF"/>
                </a:solidFill>
                <a:latin typeface="Trebuchet MS" pitchFamily="34" charset="0"/>
                <a:ea typeface="Trebuchet MS" pitchFamily="34" charset="-122"/>
                <a:cs typeface="Trebuchet MS" pitchFamily="34" charset="-120"/>
              </a:rPr>
              <a:t>Data Preparation and Exploratory Data Analysis</a:t>
            </a:r>
            <a:endParaRPr lang="en-US" sz="2500" dirty="0"/>
          </a:p>
        </p:txBody>
      </p:sp>
      <p:sp>
        <p:nvSpPr>
          <p:cNvPr id="8" name="Shape 6"/>
          <p:cNvSpPr/>
          <p:nvPr/>
        </p:nvSpPr>
        <p:spPr>
          <a:xfrm>
            <a:off x="713232" y="3840480"/>
            <a:ext cx="3017520" cy="0"/>
          </a:xfrm>
          <a:prstGeom prst="line">
            <a:avLst/>
          </a:prstGeom>
          <a:noFill/>
          <a:ln w="25400">
            <a:solidFill>
              <a:srgbClr val="6AA0FF"/>
            </a:solidFill>
            <a:prstDash val="solid"/>
          </a:ln>
          <a:effectLst/>
        </p:spPr>
        <p:txBody>
          <a:bodyPr/>
          <a:lstStyle/>
          <a:p>
            <a:endParaRPr lang="en-US"/>
          </a:p>
        </p:txBody>
      </p:sp>
      <p:sp>
        <p:nvSpPr>
          <p:cNvPr id="9" name="Text 7"/>
          <p:cNvSpPr/>
          <p:nvPr/>
        </p:nvSpPr>
        <p:spPr>
          <a:xfrm>
            <a:off x="713232" y="4114800"/>
            <a:ext cx="7315200" cy="1097280"/>
          </a:xfrm>
          <a:prstGeom prst="rect">
            <a:avLst/>
          </a:prstGeom>
          <a:noFill/>
          <a:ln/>
        </p:spPr>
        <p:txBody>
          <a:bodyPr wrap="square" lIns="0" tIns="0" rIns="0" bIns="0" rtlCol="0" anchor="ctr"/>
          <a:lstStyle/>
          <a:p>
            <a:pPr marL="0" indent="0">
              <a:spcAft>
                <a:spcPts val="400"/>
              </a:spcAft>
              <a:buNone/>
            </a:pPr>
            <a:r>
              <a:rPr lang="en-US" sz="1700" b="1" dirty="0">
                <a:solidFill>
                  <a:srgbClr val="F5F7FA"/>
                </a:solidFill>
                <a:latin typeface="Calibri" pitchFamily="34" charset="0"/>
                <a:ea typeface="Calibri" pitchFamily="34" charset="-122"/>
                <a:cs typeface="Calibri" pitchFamily="34" charset="-120"/>
              </a:rPr>
              <a:t>Erik Herb</a:t>
            </a:r>
            <a:endParaRPr lang="en-US" sz="1700" dirty="0"/>
          </a:p>
          <a:p>
            <a:pPr marL="0" indent="0">
              <a:spcAft>
                <a:spcPts val="200"/>
              </a:spcAft>
              <a:buNone/>
            </a:pPr>
            <a:r>
              <a:rPr lang="en-US" sz="1350" dirty="0">
                <a:solidFill>
                  <a:srgbClr val="9AA7BD"/>
                </a:solidFill>
                <a:latin typeface="Calibri" pitchFamily="34" charset="0"/>
                <a:ea typeface="Calibri" pitchFamily="34" charset="-122"/>
                <a:cs typeface="Calibri" pitchFamily="34" charset="-120"/>
              </a:rPr>
              <a:t>M.S. Data Science   ·   Bryant University</a:t>
            </a:r>
            <a:endParaRPr lang="en-US" sz="1700" dirty="0"/>
          </a:p>
        </p:txBody>
      </p:sp>
      <p:sp>
        <p:nvSpPr>
          <p:cNvPr id="10" name="Text 8"/>
          <p:cNvSpPr/>
          <p:nvPr/>
        </p:nvSpPr>
        <p:spPr>
          <a:xfrm>
            <a:off x="713232" y="6172200"/>
            <a:ext cx="10058400" cy="365760"/>
          </a:xfrm>
          <a:prstGeom prst="rect">
            <a:avLst/>
          </a:prstGeom>
          <a:noFill/>
          <a:ln/>
        </p:spPr>
        <p:txBody>
          <a:bodyPr wrap="square" lIns="0" tIns="0" rIns="0" bIns="0" rtlCol="0" anchor="ctr"/>
          <a:lstStyle/>
          <a:p>
            <a:pPr marL="0" indent="0">
              <a:buNone/>
            </a:pPr>
            <a:r>
              <a:rPr lang="en-US" sz="1200" i="1" dirty="0">
                <a:solidFill>
                  <a:srgbClr val="6E7C94"/>
                </a:solidFill>
                <a:latin typeface="Calibri" pitchFamily="34" charset="0"/>
                <a:ea typeface="Calibri" pitchFamily="34" charset="-122"/>
                <a:cs typeface="Calibri" pitchFamily="34" charset="-120"/>
              </a:rPr>
              <a:t>UCI Adult Census, 1994 U.S. Census   ·   ~32,500 rows   </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6AA0FF"/>
          </a:solidFill>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endParaRPr lang="en-US" sz="22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The task and the three hypotheses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I explored the data with these questions in mind, not just plotting for the sake of plotting</a:t>
            </a:r>
            <a:endParaRPr lang="en-US" sz="1250" dirty="0"/>
          </a:p>
        </p:txBody>
      </p:sp>
      <p:sp>
        <p:nvSpPr>
          <p:cNvPr id="6" name="Shape 4"/>
          <p:cNvSpPr/>
          <p:nvPr/>
        </p:nvSpPr>
        <p:spPr>
          <a:xfrm>
            <a:off x="502920" y="1371600"/>
            <a:ext cx="3383280" cy="484632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7" name="Text 5"/>
          <p:cNvSpPr/>
          <p:nvPr/>
        </p:nvSpPr>
        <p:spPr>
          <a:xfrm>
            <a:off x="749808" y="1600200"/>
            <a:ext cx="2926080" cy="320040"/>
          </a:xfrm>
          <a:prstGeom prst="rect">
            <a:avLst/>
          </a:prstGeom>
          <a:noFill/>
          <a:ln/>
        </p:spPr>
        <p:txBody>
          <a:bodyPr wrap="square" lIns="0" tIns="0" rIns="0" bIns="0" rtlCol="0" anchor="ctr"/>
          <a:lstStyle/>
          <a:p>
            <a:pPr marL="0" indent="0">
              <a:buNone/>
            </a:pPr>
            <a:r>
              <a:rPr lang="en-US" sz="1200" b="1" kern="0" spc="150" dirty="0">
                <a:solidFill>
                  <a:srgbClr val="6AA0FF"/>
                </a:solidFill>
                <a:latin typeface="Calibri" pitchFamily="34" charset="0"/>
                <a:ea typeface="Calibri" pitchFamily="34" charset="-122"/>
                <a:cs typeface="Calibri" pitchFamily="34" charset="-120"/>
              </a:rPr>
              <a:t>THE PREDICTION TASK</a:t>
            </a:r>
            <a:endParaRPr lang="en-US" sz="1200" dirty="0"/>
          </a:p>
        </p:txBody>
      </p:sp>
      <p:sp>
        <p:nvSpPr>
          <p:cNvPr id="8" name="Text 6"/>
          <p:cNvSpPr/>
          <p:nvPr/>
        </p:nvSpPr>
        <p:spPr>
          <a:xfrm>
            <a:off x="749808" y="2011680"/>
            <a:ext cx="2889504" cy="4023360"/>
          </a:xfrm>
          <a:prstGeom prst="rect">
            <a:avLst/>
          </a:prstGeom>
          <a:noFill/>
          <a:ln/>
        </p:spPr>
        <p:txBody>
          <a:bodyPr wrap="square" lIns="0" tIns="0" rIns="0" bIns="0" rtlCol="0" anchor="t"/>
          <a:lstStyle/>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Target</a:t>
            </a:r>
            <a:endParaRPr lang="en-US" sz="1100" dirty="0"/>
          </a:p>
          <a:p>
            <a:pPr marL="0" indent="0">
              <a:spcAft>
                <a:spcPts val="1300"/>
              </a:spcAft>
              <a:buNone/>
            </a:pPr>
            <a:r>
              <a:rPr lang="en-US" sz="1400" b="1" dirty="0">
                <a:solidFill>
                  <a:srgbClr val="E8C15A"/>
                </a:solidFill>
                <a:latin typeface="Calibri" pitchFamily="34" charset="0"/>
                <a:ea typeface="Calibri" pitchFamily="34" charset="-122"/>
                <a:cs typeface="Calibri" pitchFamily="34" charset="-120"/>
              </a:rPr>
              <a:t>income  &gt;50K  vs  ≤50K</a:t>
            </a:r>
            <a:endParaRPr lang="en-US" sz="1100" dirty="0"/>
          </a:p>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Rows</a:t>
            </a:r>
            <a:endParaRPr lang="en-US" sz="1100" dirty="0"/>
          </a:p>
          <a:p>
            <a:pPr marL="0" indent="0">
              <a:spcAft>
                <a:spcPts val="1300"/>
              </a:spcAft>
              <a:buNone/>
            </a:pPr>
            <a:r>
              <a:rPr lang="en-US" sz="1400" dirty="0">
                <a:solidFill>
                  <a:srgbClr val="F5F7FA"/>
                </a:solidFill>
                <a:latin typeface="Calibri" pitchFamily="34" charset="0"/>
                <a:ea typeface="Calibri" pitchFamily="34" charset="-122"/>
                <a:cs typeface="Calibri" pitchFamily="34" charset="-120"/>
              </a:rPr>
              <a:t>32,537 after cleaning</a:t>
            </a:r>
            <a:endParaRPr lang="en-US" sz="1100" dirty="0"/>
          </a:p>
          <a:p>
            <a:pPr>
              <a:spcAft>
                <a:spcPts val="200"/>
              </a:spcAft>
            </a:pPr>
            <a:endParaRPr lang="en-US" sz="1100" dirty="0">
              <a:solidFill>
                <a:schemeClr val="bg1"/>
              </a:solidFill>
            </a:endParaRPr>
          </a:p>
          <a:p>
            <a:pPr marL="0" indent="0">
              <a:spcAft>
                <a:spcPts val="200"/>
              </a:spcAft>
              <a:buNone/>
            </a:pPr>
            <a:r>
              <a:rPr lang="en-US" sz="1100" b="1" kern="0" spc="100" dirty="0">
                <a:solidFill>
                  <a:srgbClr val="6E7C94"/>
                </a:solidFill>
                <a:latin typeface="Calibri" pitchFamily="34" charset="0"/>
                <a:ea typeface="Calibri" pitchFamily="34" charset="-122"/>
                <a:cs typeface="Calibri" pitchFamily="34" charset="-120"/>
              </a:rPr>
              <a:t>Models to come</a:t>
            </a:r>
            <a:endParaRPr lang="en-US" sz="1100" dirty="0"/>
          </a:p>
          <a:p>
            <a:pPr marL="0" indent="0">
              <a:buNone/>
            </a:pPr>
            <a:r>
              <a:rPr lang="en-US" sz="1300" dirty="0">
                <a:solidFill>
                  <a:srgbClr val="F5F7FA"/>
                </a:solidFill>
                <a:latin typeface="Calibri" pitchFamily="34" charset="0"/>
                <a:ea typeface="Calibri" pitchFamily="34" charset="-122"/>
                <a:cs typeface="Calibri" pitchFamily="34" charset="-120"/>
              </a:rPr>
              <a:t>Logistic Regression · XGBoost · MLP</a:t>
            </a:r>
            <a:endParaRPr lang="en-US" sz="1100" dirty="0"/>
          </a:p>
        </p:txBody>
      </p:sp>
      <p:sp>
        <p:nvSpPr>
          <p:cNvPr id="9" name="Shape 7"/>
          <p:cNvSpPr/>
          <p:nvPr/>
        </p:nvSpPr>
        <p:spPr>
          <a:xfrm>
            <a:off x="4114800" y="1371600"/>
            <a:ext cx="7571232" cy="148132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0" name="Shape 8"/>
          <p:cNvSpPr/>
          <p:nvPr/>
        </p:nvSpPr>
        <p:spPr>
          <a:xfrm>
            <a:off x="4370832" y="1636776"/>
            <a:ext cx="960120" cy="960120"/>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1" name="Text 9"/>
          <p:cNvSpPr/>
          <p:nvPr/>
        </p:nvSpPr>
        <p:spPr>
          <a:xfrm>
            <a:off x="4370832" y="1636776"/>
            <a:ext cx="960120" cy="960120"/>
          </a:xfrm>
          <a:prstGeom prst="rect">
            <a:avLst/>
          </a:prstGeom>
          <a:noFill/>
          <a:ln/>
        </p:spPr>
        <p:txBody>
          <a:bodyPr wrap="square" rtlCol="0" anchor="ctr"/>
          <a:lstStyle/>
          <a:p>
            <a:pPr marL="0" indent="0" algn="ctr">
              <a:buNone/>
            </a:pPr>
            <a:r>
              <a:rPr lang="en-US" sz="2600" b="1">
                <a:solidFill>
                  <a:srgbClr val="E8C15A"/>
                </a:solidFill>
                <a:latin typeface="Trebuchet MS" pitchFamily="34" charset="0"/>
                <a:ea typeface="Trebuchet MS" pitchFamily="34" charset="-122"/>
                <a:cs typeface="Trebuchet MS" pitchFamily="34" charset="-120"/>
              </a:rPr>
              <a:t>H1</a:t>
            </a:r>
            <a:endParaRPr lang="en-US" sz="2600" dirty="0"/>
          </a:p>
        </p:txBody>
      </p:sp>
      <p:sp>
        <p:nvSpPr>
          <p:cNvPr id="12" name="Text 10"/>
          <p:cNvSpPr/>
          <p:nvPr/>
        </p:nvSpPr>
        <p:spPr>
          <a:xfrm>
            <a:off x="5532120" y="1600200"/>
            <a:ext cx="5943600" cy="365760"/>
          </a:xfrm>
          <a:prstGeom prst="rect">
            <a:avLst/>
          </a:prstGeom>
          <a:noFill/>
          <a:ln/>
        </p:spPr>
        <p:txBody>
          <a:bodyPr wrap="square" lIns="0" tIns="0" rIns="0" bIns="0" rtlCol="0" anchor="ctr"/>
          <a:lstStyle/>
          <a:p>
            <a:pPr marL="0" indent="0">
              <a:buNone/>
            </a:pPr>
            <a:r>
              <a:rPr lang="en-US" sz="1800" b="1">
                <a:solidFill>
                  <a:srgbClr val="F5F7FA"/>
                </a:solidFill>
                <a:latin typeface="Trebuchet MS" pitchFamily="34" charset="0"/>
                <a:ea typeface="Trebuchet MS" pitchFamily="34" charset="-122"/>
                <a:cs typeface="Trebuchet MS" pitchFamily="34" charset="-120"/>
              </a:rPr>
              <a:t>Education over hours</a:t>
            </a:r>
            <a:endParaRPr lang="en-US" sz="1800" dirty="0"/>
          </a:p>
        </p:txBody>
      </p:sp>
      <p:sp>
        <p:nvSpPr>
          <p:cNvPr id="13" name="Text 11"/>
          <p:cNvSpPr/>
          <p:nvPr/>
        </p:nvSpPr>
        <p:spPr>
          <a:xfrm>
            <a:off x="5532120" y="2002536"/>
            <a:ext cx="5943600" cy="749808"/>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Education level is a stronger driver of the &gt;50K prediction than hours worked.</a:t>
            </a:r>
            <a:endParaRPr lang="en-US" sz="1300" dirty="0"/>
          </a:p>
        </p:txBody>
      </p:sp>
      <p:sp>
        <p:nvSpPr>
          <p:cNvPr id="14" name="Shape 12"/>
          <p:cNvSpPr/>
          <p:nvPr/>
        </p:nvSpPr>
        <p:spPr>
          <a:xfrm>
            <a:off x="4114800" y="2999232"/>
            <a:ext cx="7571232" cy="148132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5" name="Shape 13"/>
          <p:cNvSpPr/>
          <p:nvPr/>
        </p:nvSpPr>
        <p:spPr>
          <a:xfrm>
            <a:off x="4370832" y="3264408"/>
            <a:ext cx="960120" cy="960120"/>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6" name="Text 14"/>
          <p:cNvSpPr/>
          <p:nvPr/>
        </p:nvSpPr>
        <p:spPr>
          <a:xfrm>
            <a:off x="4370832" y="3264408"/>
            <a:ext cx="960120" cy="960120"/>
          </a:xfrm>
          <a:prstGeom prst="rect">
            <a:avLst/>
          </a:prstGeom>
          <a:noFill/>
          <a:ln/>
        </p:spPr>
        <p:txBody>
          <a:bodyPr wrap="square" rtlCol="0" anchor="ctr"/>
          <a:lstStyle/>
          <a:p>
            <a:pPr marL="0" indent="0" algn="ctr">
              <a:buNone/>
            </a:pPr>
            <a:r>
              <a:rPr lang="en-US" sz="2600" b="1">
                <a:solidFill>
                  <a:srgbClr val="E8C15A"/>
                </a:solidFill>
                <a:latin typeface="Trebuchet MS" pitchFamily="34" charset="0"/>
                <a:ea typeface="Trebuchet MS" pitchFamily="34" charset="-122"/>
                <a:cs typeface="Trebuchet MS" pitchFamily="34" charset="-120"/>
              </a:rPr>
              <a:t>H2</a:t>
            </a:r>
            <a:endParaRPr lang="en-US" sz="2600" dirty="0"/>
          </a:p>
        </p:txBody>
      </p:sp>
      <p:sp>
        <p:nvSpPr>
          <p:cNvPr id="17" name="Text 15"/>
          <p:cNvSpPr/>
          <p:nvPr/>
        </p:nvSpPr>
        <p:spPr>
          <a:xfrm>
            <a:off x="5532120" y="3227832"/>
            <a:ext cx="5943600" cy="365760"/>
          </a:xfrm>
          <a:prstGeom prst="rect">
            <a:avLst/>
          </a:prstGeom>
          <a:noFill/>
          <a:ln/>
        </p:spPr>
        <p:txBody>
          <a:bodyPr wrap="square" lIns="0" tIns="0" rIns="0" bIns="0" rtlCol="0" anchor="ctr"/>
          <a:lstStyle/>
          <a:p>
            <a:pPr marL="0" indent="0">
              <a:buNone/>
            </a:pPr>
            <a:r>
              <a:rPr lang="en-US" sz="1800" b="1">
                <a:solidFill>
                  <a:srgbClr val="F5F7FA"/>
                </a:solidFill>
                <a:latin typeface="Trebuchet MS" pitchFamily="34" charset="0"/>
                <a:ea typeface="Trebuchet MS" pitchFamily="34" charset="-122"/>
                <a:cs typeface="Trebuchet MS" pitchFamily="34" charset="-120"/>
              </a:rPr>
              <a:t>Fairness across nativity</a:t>
            </a:r>
            <a:endParaRPr lang="en-US" sz="1800" dirty="0"/>
          </a:p>
        </p:txBody>
      </p:sp>
      <p:sp>
        <p:nvSpPr>
          <p:cNvPr id="18" name="Text 16"/>
          <p:cNvSpPr/>
          <p:nvPr/>
        </p:nvSpPr>
        <p:spPr>
          <a:xfrm>
            <a:off x="5532120" y="3630168"/>
            <a:ext cx="5943600" cy="749808"/>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XGBoost is the fairest of the three models toward true high earners, with the smallest US-born vs foreign-born recall gap.</a:t>
            </a:r>
            <a:endParaRPr lang="en-US" sz="1300" dirty="0"/>
          </a:p>
        </p:txBody>
      </p:sp>
      <p:sp>
        <p:nvSpPr>
          <p:cNvPr id="19" name="Shape 17"/>
          <p:cNvSpPr/>
          <p:nvPr/>
        </p:nvSpPr>
        <p:spPr>
          <a:xfrm>
            <a:off x="4114800" y="4626864"/>
            <a:ext cx="7571232" cy="148132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20" name="Shape 18"/>
          <p:cNvSpPr/>
          <p:nvPr/>
        </p:nvSpPr>
        <p:spPr>
          <a:xfrm>
            <a:off x="4370832" y="4892040"/>
            <a:ext cx="960120" cy="960120"/>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21" name="Text 19"/>
          <p:cNvSpPr/>
          <p:nvPr/>
        </p:nvSpPr>
        <p:spPr>
          <a:xfrm>
            <a:off x="4370832" y="4892040"/>
            <a:ext cx="960120" cy="960120"/>
          </a:xfrm>
          <a:prstGeom prst="rect">
            <a:avLst/>
          </a:prstGeom>
          <a:noFill/>
          <a:ln/>
        </p:spPr>
        <p:txBody>
          <a:bodyPr wrap="square" rtlCol="0" anchor="ctr"/>
          <a:lstStyle/>
          <a:p>
            <a:pPr marL="0" indent="0" algn="ctr">
              <a:buNone/>
            </a:pPr>
            <a:r>
              <a:rPr lang="en-US" sz="2600" b="1">
                <a:solidFill>
                  <a:srgbClr val="E8C15A"/>
                </a:solidFill>
                <a:latin typeface="Trebuchet MS" pitchFamily="34" charset="0"/>
                <a:ea typeface="Trebuchet MS" pitchFamily="34" charset="-122"/>
                <a:cs typeface="Trebuchet MS" pitchFamily="34" charset="-120"/>
              </a:rPr>
              <a:t>H3</a:t>
            </a:r>
            <a:endParaRPr lang="en-US" sz="2600" dirty="0"/>
          </a:p>
        </p:txBody>
      </p:sp>
      <p:sp>
        <p:nvSpPr>
          <p:cNvPr id="22" name="Text 20"/>
          <p:cNvSpPr/>
          <p:nvPr/>
        </p:nvSpPr>
        <p:spPr>
          <a:xfrm>
            <a:off x="5532120" y="4855464"/>
            <a:ext cx="5943600" cy="365760"/>
          </a:xfrm>
          <a:prstGeom prst="rect">
            <a:avLst/>
          </a:prstGeom>
          <a:noFill/>
          <a:ln/>
        </p:spPr>
        <p:txBody>
          <a:bodyPr wrap="square" lIns="0" tIns="0" rIns="0" bIns="0" rtlCol="0" anchor="ctr"/>
          <a:lstStyle/>
          <a:p>
            <a:pPr marL="0" indent="0">
              <a:buNone/>
            </a:pPr>
            <a:r>
              <a:rPr lang="en-US" sz="1800" b="1">
                <a:solidFill>
                  <a:srgbClr val="F5F7FA"/>
                </a:solidFill>
                <a:latin typeface="Trebuchet MS" pitchFamily="34" charset="0"/>
                <a:ea typeface="Trebuchet MS" pitchFamily="34" charset="-122"/>
                <a:cs typeface="Trebuchet MS" pitchFamily="34" charset="-120"/>
              </a:rPr>
              <a:t>XGBoost classifies best</a:t>
            </a:r>
            <a:endParaRPr lang="en-US" sz="1800" dirty="0"/>
          </a:p>
        </p:txBody>
      </p:sp>
      <p:sp>
        <p:nvSpPr>
          <p:cNvPr id="23" name="Text 21"/>
          <p:cNvSpPr/>
          <p:nvPr/>
        </p:nvSpPr>
        <p:spPr>
          <a:xfrm>
            <a:off x="5532120" y="5257800"/>
            <a:ext cx="5943600" cy="749808"/>
          </a:xfrm>
          <a:prstGeom prst="rect">
            <a:avLst/>
          </a:prstGeom>
          <a:noFill/>
          <a:ln/>
        </p:spPr>
        <p:txBody>
          <a:bodyPr wrap="square" lIns="0" tIns="0" rIns="0" bIns="0" rtlCol="0" anchor="t"/>
          <a:lstStyle/>
          <a:p>
            <a:pPr marL="0" indent="0">
              <a:buNone/>
            </a:pPr>
            <a:r>
              <a:rPr lang="en-US" sz="1300" dirty="0">
                <a:solidFill>
                  <a:srgbClr val="9AA7BD"/>
                </a:solidFill>
                <a:latin typeface="Calibri" pitchFamily="34" charset="0"/>
                <a:ea typeface="Calibri" pitchFamily="34" charset="-122"/>
                <a:cs typeface="Calibri" pitchFamily="34" charset="-120"/>
              </a:rPr>
              <a:t>XGBoost beats the logistic baseline and the MLP on PR-AUC and F1.</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1</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Handling missing values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Only three columns had gaps, none badly affected</a:t>
            </a:r>
            <a:endParaRPr lang="en-US" sz="1250" dirty="0"/>
          </a:p>
        </p:txBody>
      </p:sp>
      <p:sp>
        <p:nvSpPr>
          <p:cNvPr id="8" name="Shape 6"/>
          <p:cNvSpPr/>
          <p:nvPr/>
        </p:nvSpPr>
        <p:spPr>
          <a:xfrm>
            <a:off x="502920" y="1371600"/>
            <a:ext cx="5257800" cy="283464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9" name="Text 7"/>
          <p:cNvSpPr/>
          <p:nvPr/>
        </p:nvSpPr>
        <p:spPr>
          <a:xfrm>
            <a:off x="749808" y="1536192"/>
            <a:ext cx="475488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MISSINGNESS BY COLUMN</a:t>
            </a:r>
            <a:endParaRPr lang="en-US" sz="1250" dirty="0"/>
          </a:p>
        </p:txBody>
      </p:sp>
      <p:graphicFrame>
        <p:nvGraphicFramePr>
          <p:cNvPr id="10" name="Table 0"/>
          <p:cNvGraphicFramePr>
            <a:graphicFrameLocks noGrp="1"/>
          </p:cNvGraphicFramePr>
          <p:nvPr>
            <p:extLst>
              <p:ext uri="{D42A27DB-BD31-4B8C-83A1-F6EECF244321}">
                <p14:modId xmlns:p14="http://schemas.microsoft.com/office/powerpoint/2010/main" val="200387295"/>
              </p:ext>
            </p:extLst>
          </p:nvPr>
        </p:nvGraphicFramePr>
        <p:xfrm>
          <a:off x="749808" y="1965960"/>
          <a:ext cx="4754880" cy="1691640"/>
        </p:xfrm>
        <a:graphic>
          <a:graphicData uri="http://schemas.openxmlformats.org/drawingml/2006/table">
            <a:tbl>
              <a:tblPr/>
              <a:tblGrid>
                <a:gridCol w="2468880">
                  <a:extLst>
                    <a:ext uri="{9D8B030D-6E8A-4147-A177-3AD203B41FA5}">
                      <a16:colId xmlns:a16="http://schemas.microsoft.com/office/drawing/2014/main" val="20000"/>
                    </a:ext>
                  </a:extLst>
                </a:gridCol>
                <a:gridCol w="128016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tblGrid>
              <a:tr h="422910">
                <a:tc>
                  <a:txBody>
                    <a:bodyPr/>
                    <a:lstStyle/>
                    <a:p>
                      <a:pPr marL="0" indent="0" algn="l">
                        <a:buNone/>
                      </a:pPr>
                      <a:r>
                        <a:rPr lang="en-US" sz="1300" b="1" dirty="0">
                          <a:solidFill>
                            <a:srgbClr val="E8C15A"/>
                          </a:solidFill>
                          <a:latin typeface="Calibri" pitchFamily="34" charset="0"/>
                          <a:ea typeface="Calibri" pitchFamily="34" charset="-122"/>
                          <a:cs typeface="Calibri" pitchFamily="34" charset="-120"/>
                        </a:rPr>
                        <a:t>Column</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300" b="1" dirty="0">
                          <a:solidFill>
                            <a:srgbClr val="E8C15A"/>
                          </a:solidFill>
                          <a:latin typeface="Calibri" pitchFamily="34" charset="0"/>
                          <a:ea typeface="Calibri" pitchFamily="34" charset="-122"/>
                          <a:cs typeface="Calibri" pitchFamily="34" charset="-120"/>
                        </a:rPr>
                        <a:t>Missing</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300" b="1" dirty="0">
                          <a:solidFill>
                            <a:srgbClr val="E8C15A"/>
                          </a:solidFill>
                          <a:latin typeface="Calibri" pitchFamily="34" charset="0"/>
                          <a:ea typeface="Calibri" pitchFamily="34" charset="-122"/>
                          <a:cs typeface="Calibri" pitchFamily="34" charset="-120"/>
                        </a:rPr>
                        <a:t>%</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extLst>
                  <a:ext uri="{0D108BD9-81ED-4DB2-BD59-A6C34878D82A}">
                    <a16:rowId xmlns:a16="http://schemas.microsoft.com/office/drawing/2014/main" val="10000"/>
                  </a:ext>
                </a:extLst>
              </a:tr>
              <a:tr h="422910">
                <a:tc>
                  <a:txBody>
                    <a:bodyPr/>
                    <a:lstStyle/>
                    <a:p>
                      <a:pPr marL="0" indent="0" algn="l">
                        <a:buNone/>
                      </a:pPr>
                      <a:r>
                        <a:rPr lang="en-US" sz="1300" b="1" dirty="0">
                          <a:solidFill>
                            <a:srgbClr val="F5F7FA"/>
                          </a:solidFill>
                          <a:latin typeface="Calibri" pitchFamily="34" charset="0"/>
                          <a:ea typeface="Calibri" pitchFamily="34" charset="-122"/>
                          <a:cs typeface="Calibri" pitchFamily="34" charset="-120"/>
                        </a:rPr>
                        <a:t>occupation</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1,843</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5.66%</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422910">
                <a:tc>
                  <a:txBody>
                    <a:bodyPr/>
                    <a:lstStyle/>
                    <a:p>
                      <a:pPr marL="0" indent="0" algn="l">
                        <a:buNone/>
                      </a:pPr>
                      <a:r>
                        <a:rPr lang="en-US" sz="1300" b="1" dirty="0">
                          <a:solidFill>
                            <a:srgbClr val="F5F7FA"/>
                          </a:solidFill>
                          <a:latin typeface="Calibri" pitchFamily="34" charset="0"/>
                          <a:ea typeface="Calibri" pitchFamily="34" charset="-122"/>
                          <a:cs typeface="Calibri" pitchFamily="34" charset="-120"/>
                        </a:rPr>
                        <a:t>workclass</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1,836</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5.64%</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extLst>
                  <a:ext uri="{0D108BD9-81ED-4DB2-BD59-A6C34878D82A}">
                    <a16:rowId xmlns:a16="http://schemas.microsoft.com/office/drawing/2014/main" val="10002"/>
                  </a:ext>
                </a:extLst>
              </a:tr>
              <a:tr h="422910">
                <a:tc>
                  <a:txBody>
                    <a:bodyPr/>
                    <a:lstStyle/>
                    <a:p>
                      <a:pPr marL="0" indent="0" algn="l">
                        <a:buNone/>
                      </a:pPr>
                      <a:r>
                        <a:rPr lang="en-US" sz="1300" b="1" dirty="0">
                          <a:solidFill>
                            <a:srgbClr val="F5F7FA"/>
                          </a:solidFill>
                          <a:latin typeface="Calibri" pitchFamily="34" charset="0"/>
                          <a:ea typeface="Calibri" pitchFamily="34" charset="-122"/>
                          <a:cs typeface="Calibri" pitchFamily="34" charset="-120"/>
                        </a:rPr>
                        <a:t>native_country</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583</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300" dirty="0">
                          <a:solidFill>
                            <a:srgbClr val="9AA7BD"/>
                          </a:solidFill>
                          <a:latin typeface="Calibri" pitchFamily="34" charset="0"/>
                          <a:ea typeface="Calibri" pitchFamily="34" charset="-122"/>
                          <a:cs typeface="Calibri" pitchFamily="34" charset="-120"/>
                        </a:rPr>
                        <a:t>1.79%</a:t>
                      </a:r>
                      <a:endParaRPr lang="en-US" sz="1300" dirty="0">
                        <a:latin typeface="Calibri" charset="0"/>
                        <a:ea typeface="Calibri" charset="0"/>
                        <a:cs typeface="Calibri" charset="0"/>
                      </a:endParaRPr>
                    </a:p>
                  </a:txBody>
                  <a:tcPr marL="101600" marR="1016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bl>
          </a:graphicData>
        </a:graphic>
      </p:graphicFrame>
      <p:sp>
        <p:nvSpPr>
          <p:cNvPr id="11" name="Text 8"/>
          <p:cNvSpPr/>
          <p:nvPr/>
        </p:nvSpPr>
        <p:spPr>
          <a:xfrm>
            <a:off x="749808" y="3767328"/>
            <a:ext cx="4754880" cy="320040"/>
          </a:xfrm>
          <a:prstGeom prst="rect">
            <a:avLst/>
          </a:prstGeom>
          <a:noFill/>
          <a:ln/>
        </p:spPr>
        <p:txBody>
          <a:bodyPr wrap="square" lIns="0" tIns="0" rIns="0" bIns="0" rtlCol="0" anchor="ctr"/>
          <a:lstStyle/>
          <a:p>
            <a:pPr marL="0" indent="0">
              <a:buNone/>
            </a:pPr>
            <a:r>
              <a:rPr lang="en-US" sz="1200" i="1" dirty="0">
                <a:solidFill>
                  <a:srgbClr val="6E7C94"/>
                </a:solidFill>
                <a:latin typeface="Calibri" pitchFamily="34" charset="0"/>
                <a:ea typeface="Calibri" pitchFamily="34" charset="-122"/>
                <a:cs typeface="Calibri" pitchFamily="34" charset="-120"/>
              </a:rPr>
              <a:t>All three are categorical and well under any drop threshold.</a:t>
            </a:r>
            <a:endParaRPr lang="en-US" sz="1200" dirty="0"/>
          </a:p>
        </p:txBody>
      </p:sp>
      <p:sp>
        <p:nvSpPr>
          <p:cNvPr id="12" name="Shape 9"/>
          <p:cNvSpPr/>
          <p:nvPr/>
        </p:nvSpPr>
        <p:spPr>
          <a:xfrm>
            <a:off x="5989320" y="1371600"/>
            <a:ext cx="5696712" cy="484632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3" name="Text 10"/>
          <p:cNvSpPr/>
          <p:nvPr/>
        </p:nvSpPr>
        <p:spPr>
          <a:xfrm>
            <a:off x="6236208" y="1536192"/>
            <a:ext cx="521208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WHAT I DID AND WHY</a:t>
            </a:r>
            <a:endParaRPr lang="en-US" sz="1250" dirty="0"/>
          </a:p>
        </p:txBody>
      </p:sp>
      <p:sp>
        <p:nvSpPr>
          <p:cNvPr id="14" name="Text 11"/>
          <p:cNvSpPr/>
          <p:nvPr/>
        </p:nvSpPr>
        <p:spPr>
          <a:xfrm>
            <a:off x="6236208" y="1938528"/>
            <a:ext cx="5230368" cy="3931920"/>
          </a:xfrm>
          <a:prstGeom prst="rect">
            <a:avLst/>
          </a:prstGeom>
          <a:noFill/>
          <a:ln/>
        </p:spPr>
        <p:txBody>
          <a:bodyPr wrap="square" lIns="0" tIns="0" rIns="0" bIns="0" rtlCol="0" anchor="t"/>
          <a:lstStyle/>
          <a:p>
            <a:pPr marL="177800" indent="-177800">
              <a:spcAft>
                <a:spcPts val="700"/>
              </a:spcAft>
              <a:buSzPct val="100000"/>
              <a:buChar char="•"/>
            </a:pPr>
            <a:r>
              <a:rPr lang="en-US" sz="1250" b="1" dirty="0">
                <a:solidFill>
                  <a:srgbClr val="F5F7FA"/>
                </a:solidFill>
                <a:latin typeface="Calibri" pitchFamily="34" charset="0"/>
                <a:ea typeface="Calibri" pitchFamily="34" charset="-122"/>
                <a:cs typeface="Calibri" pitchFamily="34" charset="-120"/>
              </a:rPr>
              <a:t>Filled all three with an explicit Unknown category instead of dropping rows.</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Dropping every row with a gap would remove ~2,400 people </a:t>
            </a:r>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Missingness is not totally random (a missing workclass often pairs with a missing occupation), so dropping could bias the income analysis.</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Unknown lets the model treat missingness as its own signal.</a:t>
            </a:r>
            <a:endParaRPr lang="en-US" sz="1250" dirty="0"/>
          </a:p>
          <a:p>
            <a:pPr marL="177800" indent="-177800">
              <a:spcAft>
                <a:spcPts val="700"/>
              </a:spcAft>
              <a:buSzPct val="100000"/>
              <a:buChar char="•"/>
            </a:pPr>
            <a:r>
              <a:rPr lang="en-US" sz="1250" b="1" dirty="0">
                <a:solidFill>
                  <a:srgbClr val="F5F7FA"/>
                </a:solidFill>
                <a:latin typeface="Calibri" pitchFamily="34" charset="0"/>
                <a:ea typeface="Calibri" pitchFamily="34" charset="-122"/>
                <a:cs typeface="Calibri" pitchFamily="34" charset="-120"/>
              </a:rPr>
              <a:t>Removed 24 exact duplicate rows.</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Done while fnlwgt was still in the table, since it is near-unique per row, so I only cut truly identical people.</a:t>
            </a:r>
            <a:endParaRPr lang="en-US" sz="1250" dirty="0"/>
          </a:p>
          <a:p>
            <a:pPr marL="177800" indent="-177800">
              <a:spcAft>
                <a:spcPts val="700"/>
              </a:spcAft>
              <a:buSzPct val="100000"/>
              <a:buChar char="•"/>
            </a:pPr>
            <a:r>
              <a:rPr lang="en-US" sz="1250" b="1" dirty="0">
                <a:solidFill>
                  <a:srgbClr val="F5F7FA"/>
                </a:solidFill>
                <a:latin typeface="Calibri" pitchFamily="34" charset="0"/>
                <a:ea typeface="Calibri" pitchFamily="34" charset="-122"/>
                <a:cs typeface="Calibri" pitchFamily="34" charset="-120"/>
              </a:rPr>
              <a:t>Dropped fnlwgt and education.</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fnlwgt is a survey sampling weight and education is redundant with the numeric education_num.</a:t>
            </a:r>
            <a:endParaRPr lang="en-US" sz="1250" dirty="0"/>
          </a:p>
        </p:txBody>
      </p:sp>
      <p:sp>
        <p:nvSpPr>
          <p:cNvPr id="15" name="Shape 12"/>
          <p:cNvSpPr/>
          <p:nvPr/>
        </p:nvSpPr>
        <p:spPr>
          <a:xfrm>
            <a:off x="6236208" y="5650992"/>
            <a:ext cx="5212080" cy="402336"/>
          </a:xfrm>
          <a:prstGeom prst="roundRect">
            <a:avLst>
              <a:gd name="adj" fmla="val 1600"/>
            </a:avLst>
          </a:prstGeom>
          <a:solidFill>
            <a:srgbClr val="2A2E39"/>
          </a:solidFill>
          <a:ln w="12700">
            <a:solidFill>
              <a:srgbClr val="6AA0FF">
                <a:alpha val="55000"/>
              </a:srgbClr>
            </a:solidFill>
            <a:prstDash val="solid"/>
          </a:ln>
          <a:effectLst/>
        </p:spPr>
        <p:txBody>
          <a:bodyPr/>
          <a:lstStyle/>
          <a:p>
            <a:endParaRPr lang="en-US"/>
          </a:p>
        </p:txBody>
      </p:sp>
      <p:sp>
        <p:nvSpPr>
          <p:cNvPr id="16" name="Text 13"/>
          <p:cNvSpPr/>
          <p:nvPr/>
        </p:nvSpPr>
        <p:spPr>
          <a:xfrm>
            <a:off x="6236208" y="5650992"/>
            <a:ext cx="5212080" cy="402336"/>
          </a:xfrm>
          <a:prstGeom prst="rect">
            <a:avLst/>
          </a:prstGeom>
          <a:noFill/>
          <a:ln/>
        </p:spPr>
        <p:txBody>
          <a:bodyPr wrap="square" rtlCol="0" anchor="ctr"/>
          <a:lstStyle/>
          <a:p>
            <a:pPr marL="0" indent="0" algn="ctr">
              <a:buNone/>
            </a:pPr>
            <a:r>
              <a:rPr lang="en-US" sz="1250" b="1" dirty="0">
                <a:solidFill>
                  <a:srgbClr val="E8C15A"/>
                </a:solidFill>
                <a:latin typeface="Calibri" pitchFamily="34" charset="0"/>
                <a:ea typeface="Calibri" pitchFamily="34" charset="-122"/>
                <a:cs typeface="Calibri" pitchFamily="34" charset="-120"/>
              </a:rPr>
              <a:t>Result: 0 missing values  ·  final shape 32,537 × 14</a:t>
            </a:r>
            <a:endParaRPr lang="en-US" sz="12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2</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Class imbalance and metrics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About a 3.2 to 1 split, so accuracy alone would be misleading</a:t>
            </a:r>
            <a:endParaRPr lang="en-US" sz="1250" dirty="0"/>
          </a:p>
        </p:txBody>
      </p:sp>
      <p:sp>
        <p:nvSpPr>
          <p:cNvPr id="6" name="Shape 4"/>
          <p:cNvSpPr/>
          <p:nvPr/>
        </p:nvSpPr>
        <p:spPr>
          <a:xfrm>
            <a:off x="502920" y="1371600"/>
            <a:ext cx="4160520" cy="384048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7" name="Image 0" descr="/home/claude/imgs/cell21_0.png"/>
          <p:cNvPicPr>
            <a:picLocks noChangeAspect="1"/>
          </p:cNvPicPr>
          <p:nvPr/>
        </p:nvPicPr>
        <p:blipFill>
          <a:blip r:embed="rId3"/>
          <a:stretch>
            <a:fillRect/>
          </a:stretch>
        </p:blipFill>
        <p:spPr>
          <a:xfrm>
            <a:off x="649224" y="1803262"/>
            <a:ext cx="3867912" cy="2977156"/>
          </a:xfrm>
          <a:prstGeom prst="rect">
            <a:avLst/>
          </a:prstGeom>
        </p:spPr>
      </p:pic>
      <p:sp>
        <p:nvSpPr>
          <p:cNvPr id="8" name="Shape 5"/>
          <p:cNvSpPr/>
          <p:nvPr/>
        </p:nvSpPr>
        <p:spPr>
          <a:xfrm>
            <a:off x="502920" y="5349240"/>
            <a:ext cx="4160520" cy="777240"/>
          </a:xfrm>
          <a:prstGeom prst="roundRect">
            <a:avLst>
              <a:gd name="adj" fmla="val 1600"/>
            </a:avLst>
          </a:prstGeom>
          <a:solidFill>
            <a:srgbClr val="1C1E24"/>
          </a:solidFill>
          <a:ln w="12700">
            <a:solidFill>
              <a:srgbClr val="3A3F4A">
                <a:alpha val="75000"/>
              </a:srgbClr>
            </a:solidFill>
            <a:prstDash val="solid"/>
          </a:ln>
        </p:spPr>
        <p:txBody>
          <a:bodyPr/>
          <a:lstStyle/>
          <a:p>
            <a:endParaRPr lang="en-US"/>
          </a:p>
        </p:txBody>
      </p:sp>
      <p:sp>
        <p:nvSpPr>
          <p:cNvPr id="9" name="Text 6"/>
          <p:cNvSpPr/>
          <p:nvPr/>
        </p:nvSpPr>
        <p:spPr>
          <a:xfrm>
            <a:off x="502920" y="5349240"/>
            <a:ext cx="4160520" cy="777240"/>
          </a:xfrm>
          <a:prstGeom prst="rect">
            <a:avLst/>
          </a:prstGeom>
          <a:noFill/>
          <a:ln/>
        </p:spPr>
        <p:txBody>
          <a:bodyPr wrap="square" lIns="0" tIns="0" rIns="0" bIns="0" rtlCol="0" anchor="ctr"/>
          <a:lstStyle/>
          <a:p>
            <a:pPr marL="0" indent="0" algn="ctr">
              <a:buNone/>
            </a:pPr>
            <a:r>
              <a:rPr lang="en-US" sz="2000" b="1">
                <a:solidFill>
                  <a:srgbClr val="F5F7FA"/>
                </a:solidFill>
                <a:latin typeface="Trebuchet MS" pitchFamily="34" charset="0"/>
                <a:ea typeface="Trebuchet MS" pitchFamily="34" charset="-122"/>
                <a:cs typeface="Trebuchet MS" pitchFamily="34" charset="-120"/>
              </a:rPr>
              <a:t>75.9%</a:t>
            </a:r>
            <a:r>
              <a:rPr lang="en-US" sz="1300" dirty="0">
                <a:solidFill>
                  <a:srgbClr val="9AA7BD"/>
                </a:solidFill>
                <a:latin typeface="Calibri" pitchFamily="34" charset="0"/>
                <a:ea typeface="Calibri" pitchFamily="34" charset="-122"/>
                <a:cs typeface="Calibri" pitchFamily="34" charset="-120"/>
              </a:rPr>
              <a:t>  ≤50K        </a:t>
            </a:r>
            <a:r>
              <a:rPr lang="en-US" sz="2000" b="1">
                <a:solidFill>
                  <a:srgbClr val="E8C15A"/>
                </a:solidFill>
                <a:latin typeface="Trebuchet MS" pitchFamily="34" charset="0"/>
                <a:ea typeface="Trebuchet MS" pitchFamily="34" charset="-122"/>
                <a:cs typeface="Trebuchet MS" pitchFamily="34" charset="-120"/>
              </a:rPr>
              <a:t>24.1%</a:t>
            </a:r>
            <a:r>
              <a:rPr lang="en-US" sz="1300" dirty="0">
                <a:solidFill>
                  <a:srgbClr val="9AA7BD"/>
                </a:solidFill>
                <a:latin typeface="Calibri" pitchFamily="34" charset="0"/>
                <a:ea typeface="Calibri" pitchFamily="34" charset="-122"/>
                <a:cs typeface="Calibri" pitchFamily="34" charset="-120"/>
              </a:rPr>
              <a:t>  &gt;50K</a:t>
            </a:r>
            <a:endParaRPr lang="en-US" sz="2000" dirty="0"/>
          </a:p>
        </p:txBody>
      </p:sp>
      <p:sp>
        <p:nvSpPr>
          <p:cNvPr id="10" name="Shape 7"/>
          <p:cNvSpPr/>
          <p:nvPr/>
        </p:nvSpPr>
        <p:spPr>
          <a:xfrm>
            <a:off x="4892040" y="1371600"/>
            <a:ext cx="6793992" cy="2487168"/>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1" name="Text 8"/>
          <p:cNvSpPr/>
          <p:nvPr/>
        </p:nvSpPr>
        <p:spPr>
          <a:xfrm>
            <a:off x="5138928" y="1536192"/>
            <a:ext cx="630936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WHY I LEAD WITH PR-AUC AND RECALL</a:t>
            </a:r>
            <a:endParaRPr lang="en-US" sz="1250" dirty="0"/>
          </a:p>
        </p:txBody>
      </p:sp>
      <p:sp>
        <p:nvSpPr>
          <p:cNvPr id="12" name="Text 9"/>
          <p:cNvSpPr/>
          <p:nvPr/>
        </p:nvSpPr>
        <p:spPr>
          <a:xfrm>
            <a:off x="5138928" y="1938528"/>
            <a:ext cx="6355080" cy="18745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Accuracy can be a trap when classes are heavily imbalanced: predicting nobody earns &gt;50K scores ~76% while catching zero high earners.</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Precision and recall split that apart; F1 combines them and is far more honest about the model’s performance</a:t>
            </a:r>
          </a:p>
          <a:p>
            <a:pPr marL="177800" indent="-177800">
              <a:spcAft>
                <a:spcPts val="600"/>
              </a:spcAft>
              <a:buSzPct val="100000"/>
              <a:buFontTx/>
              <a:buChar char="•"/>
            </a:pPr>
            <a:r>
              <a:rPr lang="en-US" sz="1400" dirty="0">
                <a:solidFill>
                  <a:srgbClr val="9AA7BD"/>
                </a:solidFill>
                <a:latin typeface="Calibri" pitchFamily="34" charset="0"/>
                <a:ea typeface="Calibri" pitchFamily="34" charset="-122"/>
                <a:cs typeface="Calibri" pitchFamily="34" charset="-120"/>
              </a:rPr>
              <a:t>ROC-AUC can look strong just because the easy majority class will bring the score up</a:t>
            </a:r>
            <a:r>
              <a:rPr lang="en-US" sz="1400" dirty="0"/>
              <a:t>.</a:t>
            </a:r>
          </a:p>
          <a:p>
            <a:pPr marL="177800" indent="-177800">
              <a:spcAft>
                <a:spcPts val="600"/>
              </a:spcAft>
              <a:buSzPct val="100000"/>
              <a:buFontTx/>
              <a:buChar char="•"/>
            </a:pPr>
            <a:r>
              <a:rPr lang="en-US" sz="1400" b="1" dirty="0">
                <a:solidFill>
                  <a:schemeClr val="bg1"/>
                </a:solidFill>
              </a:rPr>
              <a:t>PR-AUC only rewards finding the high earners I want to find, so it is my most reliable single number.</a:t>
            </a:r>
            <a:endParaRPr lang="en-US" sz="1250" b="1" dirty="0">
              <a:solidFill>
                <a:schemeClr val="bg1"/>
              </a:solidFill>
            </a:endParaRPr>
          </a:p>
        </p:txBody>
      </p:sp>
      <p:sp>
        <p:nvSpPr>
          <p:cNvPr id="13" name="Shape 10"/>
          <p:cNvSpPr/>
          <p:nvPr/>
        </p:nvSpPr>
        <p:spPr>
          <a:xfrm>
            <a:off x="4892040" y="4114800"/>
            <a:ext cx="6793992" cy="201168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4" name="Text 11"/>
          <p:cNvSpPr/>
          <p:nvPr/>
        </p:nvSpPr>
        <p:spPr>
          <a:xfrm>
            <a:off x="5138928" y="4279392"/>
            <a:ext cx="630936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PLAN FOR THE IMBALANCE</a:t>
            </a:r>
            <a:endParaRPr lang="en-US" sz="1250" dirty="0"/>
          </a:p>
        </p:txBody>
      </p:sp>
      <p:sp>
        <p:nvSpPr>
          <p:cNvPr id="15" name="Text 12"/>
          <p:cNvSpPr/>
          <p:nvPr/>
        </p:nvSpPr>
        <p:spPr>
          <a:xfrm>
            <a:off x="5138928" y="4681728"/>
            <a:ext cx="6355080" cy="137160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SMOTE oversampling on the training split only, plus class weights, both compared against the raw imbalance.</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Oversample the minority rather than undersample, so I keep every real row instead of throwing majority rows away.</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Validation and test sets will stay untouched, so they still reflect the true population.</a:t>
            </a:r>
            <a:endParaRPr lang="en-US" sz="12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3</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Feature engineering and dimensionality</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Three new features, each tied to a hypothesis</a:t>
            </a:r>
            <a:endParaRPr lang="en-US" sz="1250" dirty="0"/>
          </a:p>
        </p:txBody>
      </p:sp>
      <p:sp>
        <p:nvSpPr>
          <p:cNvPr id="6" name="Shape 4"/>
          <p:cNvSpPr/>
          <p:nvPr/>
        </p:nvSpPr>
        <p:spPr>
          <a:xfrm>
            <a:off x="502920" y="1371600"/>
            <a:ext cx="3675888" cy="265176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7" name="Shape 5"/>
          <p:cNvSpPr/>
          <p:nvPr/>
        </p:nvSpPr>
        <p:spPr>
          <a:xfrm>
            <a:off x="749808" y="1609344"/>
            <a:ext cx="475488" cy="475488"/>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8" name="Shape 6"/>
          <p:cNvSpPr/>
          <p:nvPr/>
        </p:nvSpPr>
        <p:spPr>
          <a:xfrm>
            <a:off x="868680" y="1728216"/>
            <a:ext cx="237744" cy="237744"/>
          </a:xfrm>
          <a:prstGeom prst="ellipse">
            <a:avLst/>
          </a:prstGeom>
          <a:solidFill>
            <a:srgbClr val="E8C15A"/>
          </a:solidFill>
          <a:ln/>
          <a:effectLst/>
        </p:spPr>
        <p:txBody>
          <a:bodyPr/>
          <a:lstStyle/>
          <a:p>
            <a:endParaRPr lang="en-US"/>
          </a:p>
        </p:txBody>
      </p:sp>
      <p:sp>
        <p:nvSpPr>
          <p:cNvPr id="9" name="Text 7"/>
          <p:cNvSpPr/>
          <p:nvPr/>
        </p:nvSpPr>
        <p:spPr>
          <a:xfrm>
            <a:off x="1371600" y="1572768"/>
            <a:ext cx="2697480" cy="54864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native_region</a:t>
            </a:r>
            <a:endParaRPr lang="en-US" sz="1400" dirty="0"/>
          </a:p>
        </p:txBody>
      </p:sp>
      <p:sp>
        <p:nvSpPr>
          <p:cNvPr id="10" name="Text 8"/>
          <p:cNvSpPr/>
          <p:nvPr/>
        </p:nvSpPr>
        <p:spPr>
          <a:xfrm>
            <a:off x="749808" y="2212848"/>
            <a:ext cx="3246120" cy="274320"/>
          </a:xfrm>
          <a:prstGeom prst="rect">
            <a:avLst/>
          </a:prstGeom>
          <a:noFill/>
          <a:ln/>
        </p:spPr>
        <p:txBody>
          <a:bodyPr wrap="square" lIns="0" tIns="0" rIns="0" bIns="0" rtlCol="0" anchor="ctr"/>
          <a:lstStyle/>
          <a:p>
            <a:pPr marL="0" indent="0">
              <a:buNone/>
            </a:pPr>
            <a:r>
              <a:rPr lang="en-US" sz="1150" i="1" dirty="0">
                <a:solidFill>
                  <a:srgbClr val="E8C15A"/>
                </a:solidFill>
                <a:latin typeface="Calibri" pitchFamily="34" charset="0"/>
                <a:ea typeface="Calibri" pitchFamily="34" charset="-122"/>
                <a:cs typeface="Calibri" pitchFamily="34" charset="-120"/>
              </a:rPr>
              <a:t>US · non-US · Unknown</a:t>
            </a:r>
            <a:endParaRPr lang="en-US" sz="1150" dirty="0"/>
          </a:p>
        </p:txBody>
      </p:sp>
      <p:sp>
        <p:nvSpPr>
          <p:cNvPr id="11" name="Text 9"/>
          <p:cNvSpPr/>
          <p:nvPr/>
        </p:nvSpPr>
        <p:spPr>
          <a:xfrm>
            <a:off x="749808" y="2542032"/>
            <a:ext cx="3200400" cy="1371600"/>
          </a:xfrm>
          <a:prstGeom prst="rect">
            <a:avLst/>
          </a:prstGeom>
          <a:noFill/>
          <a:ln/>
        </p:spPr>
        <p:txBody>
          <a:bodyPr wrap="square" lIns="0" tIns="0" rIns="0" bIns="0" rtlCol="0" anchor="t"/>
          <a:lstStyle/>
          <a:p>
            <a:pPr marL="0" indent="0">
              <a:buNone/>
            </a:pPr>
            <a:r>
              <a:rPr lang="en-US" sz="1250" dirty="0">
                <a:solidFill>
                  <a:srgbClr val="9AA7BD"/>
                </a:solidFill>
                <a:latin typeface="Calibri" pitchFamily="34" charset="0"/>
                <a:ea typeface="Calibri" pitchFamily="34" charset="-122"/>
                <a:cs typeface="Calibri" pitchFamily="34" charset="-120"/>
              </a:rPr>
              <a:t>Replaced original column “</a:t>
            </a:r>
            <a:r>
              <a:rPr lang="en-US" sz="1250" dirty="0" err="1">
                <a:solidFill>
                  <a:srgbClr val="9AA7BD"/>
                </a:solidFill>
                <a:latin typeface="Calibri" pitchFamily="34" charset="0"/>
                <a:ea typeface="Calibri" pitchFamily="34" charset="-122"/>
                <a:cs typeface="Calibri" pitchFamily="34" charset="-120"/>
              </a:rPr>
              <a:t>native_region</a:t>
            </a:r>
            <a:r>
              <a:rPr lang="en-US" sz="1250" dirty="0">
                <a:solidFill>
                  <a:srgbClr val="9AA7BD"/>
                </a:solidFill>
                <a:latin typeface="Calibri" pitchFamily="34" charset="0"/>
                <a:ea typeface="Calibri" pitchFamily="34" charset="-122"/>
                <a:cs typeface="Calibri" pitchFamily="34" charset="-120"/>
              </a:rPr>
              <a:t>” that is 90% United States into the split my fairness audit categories (Hypothesis 2) needs, keeping Unknown separate.</a:t>
            </a:r>
            <a:endParaRPr lang="en-US" sz="1250" dirty="0"/>
          </a:p>
        </p:txBody>
      </p:sp>
      <p:sp>
        <p:nvSpPr>
          <p:cNvPr id="12" name="Shape 10"/>
          <p:cNvSpPr/>
          <p:nvPr/>
        </p:nvSpPr>
        <p:spPr>
          <a:xfrm>
            <a:off x="4279392" y="1371600"/>
            <a:ext cx="3675888" cy="265176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3" name="Shape 11"/>
          <p:cNvSpPr/>
          <p:nvPr/>
        </p:nvSpPr>
        <p:spPr>
          <a:xfrm>
            <a:off x="4526280" y="1609344"/>
            <a:ext cx="475488" cy="475488"/>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4" name="Shape 12"/>
          <p:cNvSpPr/>
          <p:nvPr/>
        </p:nvSpPr>
        <p:spPr>
          <a:xfrm>
            <a:off x="4645152" y="1728216"/>
            <a:ext cx="237744" cy="237744"/>
          </a:xfrm>
          <a:prstGeom prst="ellipse">
            <a:avLst/>
          </a:prstGeom>
          <a:solidFill>
            <a:srgbClr val="E8C15A"/>
          </a:solidFill>
          <a:ln/>
          <a:effectLst/>
        </p:spPr>
        <p:txBody>
          <a:bodyPr/>
          <a:lstStyle/>
          <a:p>
            <a:endParaRPr lang="en-US"/>
          </a:p>
        </p:txBody>
      </p:sp>
      <p:sp>
        <p:nvSpPr>
          <p:cNvPr id="15" name="Text 13"/>
          <p:cNvSpPr/>
          <p:nvPr/>
        </p:nvSpPr>
        <p:spPr>
          <a:xfrm>
            <a:off x="5148072" y="1572768"/>
            <a:ext cx="2697480" cy="54864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has_capital_gain / _loss</a:t>
            </a:r>
            <a:endParaRPr lang="en-US" sz="1400" dirty="0"/>
          </a:p>
        </p:txBody>
      </p:sp>
      <p:sp>
        <p:nvSpPr>
          <p:cNvPr id="16" name="Text 14"/>
          <p:cNvSpPr/>
          <p:nvPr/>
        </p:nvSpPr>
        <p:spPr>
          <a:xfrm>
            <a:off x="4526280" y="2212848"/>
            <a:ext cx="3246120" cy="274320"/>
          </a:xfrm>
          <a:prstGeom prst="rect">
            <a:avLst/>
          </a:prstGeom>
          <a:noFill/>
          <a:ln/>
        </p:spPr>
        <p:txBody>
          <a:bodyPr wrap="square" lIns="0" tIns="0" rIns="0" bIns="0" rtlCol="0" anchor="ctr"/>
          <a:lstStyle/>
          <a:p>
            <a:pPr marL="0" indent="0">
              <a:buNone/>
            </a:pPr>
            <a:r>
              <a:rPr lang="en-US" sz="1150" i="1" dirty="0">
                <a:solidFill>
                  <a:srgbClr val="E8C15A"/>
                </a:solidFill>
                <a:latin typeface="Calibri" pitchFamily="34" charset="0"/>
                <a:ea typeface="Calibri" pitchFamily="34" charset="-122"/>
                <a:cs typeface="Calibri" pitchFamily="34" charset="-120"/>
              </a:rPr>
              <a:t>binary flags</a:t>
            </a:r>
            <a:endParaRPr lang="en-US" sz="1150" dirty="0"/>
          </a:p>
        </p:txBody>
      </p:sp>
      <p:sp>
        <p:nvSpPr>
          <p:cNvPr id="17" name="Text 15"/>
          <p:cNvSpPr/>
          <p:nvPr/>
        </p:nvSpPr>
        <p:spPr>
          <a:xfrm>
            <a:off x="4526280" y="2542032"/>
            <a:ext cx="3200400" cy="1371600"/>
          </a:xfrm>
          <a:prstGeom prst="rect">
            <a:avLst/>
          </a:prstGeom>
          <a:noFill/>
          <a:ln/>
        </p:spPr>
        <p:txBody>
          <a:bodyPr wrap="square" lIns="0" tIns="0" rIns="0" bIns="0" rtlCol="0" anchor="t"/>
          <a:lstStyle/>
          <a:p>
            <a:r>
              <a:rPr lang="en-US" sz="1250" dirty="0">
                <a:solidFill>
                  <a:srgbClr val="9AA7BD"/>
                </a:solidFill>
                <a:latin typeface="Calibri" pitchFamily="34" charset="0"/>
                <a:ea typeface="Calibri" pitchFamily="34" charset="-122"/>
                <a:cs typeface="Calibri" pitchFamily="34" charset="-120"/>
              </a:rPr>
              <a:t>Almost everyone has zero capital gain or loss, with a few very large values</a:t>
            </a:r>
          </a:p>
          <a:p>
            <a:endParaRPr lang="en-US" sz="1250" dirty="0">
              <a:solidFill>
                <a:srgbClr val="9AA7BD"/>
              </a:solidFill>
              <a:latin typeface="Calibri" pitchFamily="34" charset="0"/>
              <a:ea typeface="Calibri" pitchFamily="34" charset="-122"/>
              <a:cs typeface="Calibri" pitchFamily="34" charset="-120"/>
            </a:endParaRPr>
          </a:p>
          <a:p>
            <a:r>
              <a:rPr lang="en-US" sz="1250" dirty="0">
                <a:solidFill>
                  <a:srgbClr val="9AA7BD"/>
                </a:solidFill>
                <a:latin typeface="Calibri" pitchFamily="34" charset="0"/>
                <a:ea typeface="Calibri" pitchFamily="34" charset="-122"/>
                <a:cs typeface="Calibri" pitchFamily="34" charset="-120"/>
              </a:rPr>
              <a:t>Using a yes or no flag column for having capital gains or not is a clearer signal than using the exact dollar amount</a:t>
            </a:r>
            <a:endParaRPr lang="en-US" sz="1250" dirty="0">
              <a:solidFill>
                <a:schemeClr val="bg1"/>
              </a:solidFill>
            </a:endParaRPr>
          </a:p>
        </p:txBody>
      </p:sp>
      <p:sp>
        <p:nvSpPr>
          <p:cNvPr id="18" name="Shape 16"/>
          <p:cNvSpPr/>
          <p:nvPr/>
        </p:nvSpPr>
        <p:spPr>
          <a:xfrm>
            <a:off x="8055864" y="1371600"/>
            <a:ext cx="3675888" cy="265176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9" name="Shape 17"/>
          <p:cNvSpPr/>
          <p:nvPr/>
        </p:nvSpPr>
        <p:spPr>
          <a:xfrm>
            <a:off x="8302752" y="1609344"/>
            <a:ext cx="475488" cy="475488"/>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20" name="Shape 18"/>
          <p:cNvSpPr/>
          <p:nvPr/>
        </p:nvSpPr>
        <p:spPr>
          <a:xfrm>
            <a:off x="8421624" y="1728216"/>
            <a:ext cx="237744" cy="237744"/>
          </a:xfrm>
          <a:prstGeom prst="ellipse">
            <a:avLst/>
          </a:prstGeom>
          <a:solidFill>
            <a:srgbClr val="E8C15A"/>
          </a:solidFill>
          <a:ln/>
          <a:effectLst/>
        </p:spPr>
        <p:txBody>
          <a:bodyPr/>
          <a:lstStyle/>
          <a:p>
            <a:endParaRPr lang="en-US"/>
          </a:p>
        </p:txBody>
      </p:sp>
      <p:sp>
        <p:nvSpPr>
          <p:cNvPr id="21" name="Text 19"/>
          <p:cNvSpPr/>
          <p:nvPr/>
        </p:nvSpPr>
        <p:spPr>
          <a:xfrm>
            <a:off x="8924544" y="1572768"/>
            <a:ext cx="2697480" cy="548640"/>
          </a:xfrm>
          <a:prstGeom prst="rect">
            <a:avLst/>
          </a:prstGeom>
          <a:noFill/>
          <a:ln/>
        </p:spPr>
        <p:txBody>
          <a:bodyPr wrap="square" lIns="0" tIns="0" rIns="0" bIns="0" rtlCol="0" anchor="ctr"/>
          <a:lstStyle/>
          <a:p>
            <a:pPr marL="0" indent="0">
              <a:buNone/>
            </a:pPr>
            <a:r>
              <a:rPr lang="en-US" sz="1400" b="1" dirty="0">
                <a:solidFill>
                  <a:srgbClr val="F5F7FA"/>
                </a:solidFill>
                <a:latin typeface="Calibri" pitchFamily="34" charset="0"/>
                <a:ea typeface="Calibri" pitchFamily="34" charset="-122"/>
                <a:cs typeface="Calibri" pitchFamily="34" charset="-120"/>
              </a:rPr>
              <a:t>hours_group</a:t>
            </a:r>
            <a:endParaRPr lang="en-US" sz="1400" dirty="0"/>
          </a:p>
        </p:txBody>
      </p:sp>
      <p:sp>
        <p:nvSpPr>
          <p:cNvPr id="22" name="Text 20"/>
          <p:cNvSpPr/>
          <p:nvPr/>
        </p:nvSpPr>
        <p:spPr>
          <a:xfrm>
            <a:off x="8302752" y="2212848"/>
            <a:ext cx="3246120" cy="274320"/>
          </a:xfrm>
          <a:prstGeom prst="rect">
            <a:avLst/>
          </a:prstGeom>
          <a:noFill/>
          <a:ln/>
        </p:spPr>
        <p:txBody>
          <a:bodyPr wrap="square" lIns="0" tIns="0" rIns="0" bIns="0" rtlCol="0" anchor="ctr"/>
          <a:lstStyle/>
          <a:p>
            <a:pPr marL="0" indent="0">
              <a:buNone/>
            </a:pPr>
            <a:r>
              <a:rPr lang="en-US" sz="1150" i="1" dirty="0">
                <a:solidFill>
                  <a:srgbClr val="E8C15A"/>
                </a:solidFill>
                <a:latin typeface="Calibri" pitchFamily="34" charset="0"/>
                <a:ea typeface="Calibri" pitchFamily="34" charset="-122"/>
                <a:cs typeface="Calibri" pitchFamily="34" charset="-120"/>
              </a:rPr>
              <a:t>6 ranges</a:t>
            </a:r>
            <a:endParaRPr lang="en-US" sz="1150" dirty="0"/>
          </a:p>
        </p:txBody>
      </p:sp>
      <p:sp>
        <p:nvSpPr>
          <p:cNvPr id="23" name="Text 21"/>
          <p:cNvSpPr/>
          <p:nvPr/>
        </p:nvSpPr>
        <p:spPr>
          <a:xfrm>
            <a:off x="8302752" y="2542032"/>
            <a:ext cx="3200400" cy="1371600"/>
          </a:xfrm>
          <a:prstGeom prst="rect">
            <a:avLst/>
          </a:prstGeom>
          <a:noFill/>
          <a:ln/>
        </p:spPr>
        <p:txBody>
          <a:bodyPr wrap="square" lIns="0" tIns="0" rIns="0" bIns="0" rtlCol="0" anchor="t"/>
          <a:lstStyle/>
          <a:p>
            <a:pPr marL="0" indent="0">
              <a:buNone/>
            </a:pPr>
            <a:r>
              <a:rPr lang="en-US" sz="1250" dirty="0">
                <a:solidFill>
                  <a:srgbClr val="9AA7BD"/>
                </a:solidFill>
                <a:latin typeface="Calibri" pitchFamily="34" charset="0"/>
                <a:ea typeface="Calibri" pitchFamily="34" charset="-122"/>
                <a:cs typeface="Calibri" pitchFamily="34" charset="-120"/>
              </a:rPr>
              <a:t>Bins hours worked, since the effect is not a straight line, part-time to full-time matters more than 50 to 60. Feeds the Hypothesis 1 comparison.</a:t>
            </a:r>
            <a:endParaRPr lang="en-US" sz="1250" dirty="0"/>
          </a:p>
        </p:txBody>
      </p:sp>
      <p:sp>
        <p:nvSpPr>
          <p:cNvPr id="24" name="Shape 22"/>
          <p:cNvSpPr/>
          <p:nvPr/>
        </p:nvSpPr>
        <p:spPr>
          <a:xfrm>
            <a:off x="502920" y="4206240"/>
            <a:ext cx="11183112" cy="196596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25" name="Text 23"/>
          <p:cNvSpPr/>
          <p:nvPr/>
        </p:nvSpPr>
        <p:spPr>
          <a:xfrm>
            <a:off x="822960" y="4434840"/>
            <a:ext cx="3383280" cy="365760"/>
          </a:xfrm>
          <a:prstGeom prst="rect">
            <a:avLst/>
          </a:prstGeom>
          <a:noFill/>
          <a:ln/>
          <a:effectLst/>
        </p:spPr>
        <p:txBody>
          <a:bodyPr wrap="square" lIns="0" tIns="0" rIns="0" bIns="0" rtlCol="0" anchor="ctr"/>
          <a:lstStyle/>
          <a:p>
            <a:pPr marL="0" indent="0">
              <a:buNone/>
            </a:pPr>
            <a:r>
              <a:rPr lang="en-US" sz="1500" b="1">
                <a:solidFill>
                  <a:srgbClr val="E8C15A"/>
                </a:solidFill>
                <a:latin typeface="Trebuchet MS" pitchFamily="34" charset="0"/>
                <a:ea typeface="Trebuchet MS" pitchFamily="34" charset="-122"/>
                <a:cs typeface="Trebuchet MS" pitchFamily="34" charset="-120"/>
              </a:rPr>
              <a:t>One-hot encoding</a:t>
            </a:r>
            <a:endParaRPr lang="en-US" sz="1500" dirty="0"/>
          </a:p>
        </p:txBody>
      </p:sp>
      <p:sp>
        <p:nvSpPr>
          <p:cNvPr id="26" name="Text 24"/>
          <p:cNvSpPr/>
          <p:nvPr/>
        </p:nvSpPr>
        <p:spPr>
          <a:xfrm>
            <a:off x="822960" y="4828032"/>
            <a:ext cx="3383280" cy="1188720"/>
          </a:xfrm>
          <a:prstGeom prst="rect">
            <a:avLst/>
          </a:prstGeom>
          <a:noFill/>
          <a:ln/>
        </p:spPr>
        <p:txBody>
          <a:bodyPr wrap="square" lIns="0" tIns="0" rIns="0" bIns="0" rtlCol="0" anchor="t"/>
          <a:lstStyle/>
          <a:p>
            <a:r>
              <a:rPr lang="en-US" sz="1200" dirty="0">
                <a:solidFill>
                  <a:srgbClr val="9AA7BD"/>
                </a:solidFill>
                <a:latin typeface="Calibri" pitchFamily="34" charset="0"/>
                <a:ea typeface="Calibri" pitchFamily="34" charset="-122"/>
                <a:cs typeface="Calibri" pitchFamily="34" charset="-120"/>
              </a:rPr>
              <a:t>One-hot encoding turned each text column with each category into 52 numeric columns that the model can interpret from the original 8 categorical columns</a:t>
            </a:r>
            <a:endParaRPr lang="en-US" sz="1200" dirty="0"/>
          </a:p>
          <a:p>
            <a:endParaRPr lang="en-US" sz="1200" dirty="0">
              <a:solidFill>
                <a:schemeClr val="bg1"/>
              </a:solidFill>
            </a:endParaRPr>
          </a:p>
        </p:txBody>
      </p:sp>
      <p:sp>
        <p:nvSpPr>
          <p:cNvPr id="27" name="Shape 25"/>
          <p:cNvSpPr/>
          <p:nvPr/>
        </p:nvSpPr>
        <p:spPr>
          <a:xfrm>
            <a:off x="4343400" y="4480560"/>
            <a:ext cx="0" cy="1371600"/>
          </a:xfrm>
          <a:prstGeom prst="line">
            <a:avLst/>
          </a:prstGeom>
          <a:noFill/>
          <a:ln w="12700">
            <a:solidFill>
              <a:srgbClr val="3A3F4A"/>
            </a:solidFill>
            <a:prstDash val="solid"/>
          </a:ln>
        </p:spPr>
        <p:txBody>
          <a:bodyPr/>
          <a:lstStyle/>
          <a:p>
            <a:endParaRPr lang="en-US"/>
          </a:p>
        </p:txBody>
      </p:sp>
      <p:sp>
        <p:nvSpPr>
          <p:cNvPr id="28" name="Text 26"/>
          <p:cNvSpPr/>
          <p:nvPr/>
        </p:nvSpPr>
        <p:spPr>
          <a:xfrm>
            <a:off x="4535424" y="4434840"/>
            <a:ext cx="3383280" cy="365760"/>
          </a:xfrm>
          <a:prstGeom prst="rect">
            <a:avLst/>
          </a:prstGeom>
          <a:noFill/>
          <a:ln/>
          <a:effectLst/>
        </p:spPr>
        <p:txBody>
          <a:bodyPr wrap="square" lIns="0" tIns="0" rIns="0" bIns="0" rtlCol="0" anchor="ctr"/>
          <a:lstStyle/>
          <a:p>
            <a:pPr marL="0" indent="0">
              <a:buNone/>
            </a:pPr>
            <a:r>
              <a:rPr lang="en-US" sz="1500" b="1">
                <a:solidFill>
                  <a:srgbClr val="E8C15A"/>
                </a:solidFill>
                <a:latin typeface="Trebuchet MS" pitchFamily="34" charset="0"/>
                <a:ea typeface="Trebuchet MS" pitchFamily="34" charset="-122"/>
                <a:cs typeface="Trebuchet MS" pitchFamily="34" charset="-120"/>
              </a:rPr>
              <a:t>Standard scaling</a:t>
            </a:r>
            <a:endParaRPr lang="en-US" sz="1500" dirty="0"/>
          </a:p>
        </p:txBody>
      </p:sp>
      <p:sp>
        <p:nvSpPr>
          <p:cNvPr id="29" name="Text 27"/>
          <p:cNvSpPr/>
          <p:nvPr/>
        </p:nvSpPr>
        <p:spPr>
          <a:xfrm>
            <a:off x="4535424" y="4828032"/>
            <a:ext cx="3383280" cy="1188720"/>
          </a:xfrm>
          <a:prstGeom prst="rect">
            <a:avLst/>
          </a:prstGeom>
          <a:noFill/>
          <a:ln/>
        </p:spPr>
        <p:txBody>
          <a:bodyPr wrap="square" lIns="0" tIns="0" rIns="0" bIns="0" rtlCol="0" anchor="t"/>
          <a:lstStyle/>
          <a:p>
            <a:pPr marL="0" indent="0">
              <a:buNone/>
            </a:pPr>
            <a:r>
              <a:rPr lang="en-US" sz="1200" dirty="0">
                <a:solidFill>
                  <a:srgbClr val="9AA7BD"/>
                </a:solidFill>
                <a:latin typeface="Calibri" pitchFamily="34" charset="0"/>
                <a:ea typeface="Calibri" pitchFamily="34" charset="-122"/>
                <a:cs typeface="Calibri" pitchFamily="34" charset="-120"/>
              </a:rPr>
              <a:t>Numeric features adjusted to mean of 0, standard deviation of 1, and fit on training only in the real pipeline.</a:t>
            </a:r>
            <a:endParaRPr lang="en-US" sz="1200" dirty="0"/>
          </a:p>
        </p:txBody>
      </p:sp>
      <p:sp>
        <p:nvSpPr>
          <p:cNvPr id="30" name="Shape 28"/>
          <p:cNvSpPr/>
          <p:nvPr/>
        </p:nvSpPr>
        <p:spPr>
          <a:xfrm>
            <a:off x="8055864" y="4480560"/>
            <a:ext cx="0" cy="1371600"/>
          </a:xfrm>
          <a:prstGeom prst="line">
            <a:avLst/>
          </a:prstGeom>
          <a:noFill/>
          <a:ln w="12700">
            <a:solidFill>
              <a:srgbClr val="3A3F4A"/>
            </a:solidFill>
            <a:prstDash val="solid"/>
          </a:ln>
        </p:spPr>
        <p:txBody>
          <a:bodyPr/>
          <a:lstStyle/>
          <a:p>
            <a:endParaRPr lang="en-US"/>
          </a:p>
        </p:txBody>
      </p:sp>
      <p:sp>
        <p:nvSpPr>
          <p:cNvPr id="31" name="Text 29"/>
          <p:cNvSpPr/>
          <p:nvPr/>
        </p:nvSpPr>
        <p:spPr>
          <a:xfrm>
            <a:off x="8247888" y="4434840"/>
            <a:ext cx="3383280" cy="365760"/>
          </a:xfrm>
          <a:prstGeom prst="rect">
            <a:avLst/>
          </a:prstGeom>
          <a:noFill/>
          <a:ln/>
          <a:effectLst/>
        </p:spPr>
        <p:txBody>
          <a:bodyPr wrap="square" lIns="0" tIns="0" rIns="0" bIns="0" rtlCol="0" anchor="ctr"/>
          <a:lstStyle/>
          <a:p>
            <a:pPr marL="0" indent="0">
              <a:buNone/>
            </a:pPr>
            <a:r>
              <a:rPr lang="en-US" sz="1500" b="1">
                <a:solidFill>
                  <a:srgbClr val="E8C15A"/>
                </a:solidFill>
                <a:latin typeface="Trebuchet MS" pitchFamily="34" charset="0"/>
                <a:ea typeface="Trebuchet MS" pitchFamily="34" charset="-122"/>
                <a:cs typeface="Trebuchet MS" pitchFamily="34" charset="-120"/>
              </a:rPr>
              <a:t>No PCA</a:t>
            </a:r>
            <a:endParaRPr lang="en-US" sz="1500" dirty="0"/>
          </a:p>
        </p:txBody>
      </p:sp>
      <p:sp>
        <p:nvSpPr>
          <p:cNvPr id="32" name="Text 30"/>
          <p:cNvSpPr/>
          <p:nvPr/>
        </p:nvSpPr>
        <p:spPr>
          <a:xfrm>
            <a:off x="8247888" y="4828032"/>
            <a:ext cx="3383280" cy="1188720"/>
          </a:xfrm>
          <a:prstGeom prst="rect">
            <a:avLst/>
          </a:prstGeom>
          <a:noFill/>
          <a:ln/>
        </p:spPr>
        <p:txBody>
          <a:bodyPr wrap="square" lIns="0" tIns="0" rIns="0" bIns="0" rtlCol="0" anchor="t"/>
          <a:lstStyle/>
          <a:p>
            <a:pPr marL="0" indent="0">
              <a:buNone/>
            </a:pPr>
            <a:r>
              <a:rPr lang="en-US" sz="1200" dirty="0">
                <a:solidFill>
                  <a:srgbClr val="9AA7BD"/>
                </a:solidFill>
                <a:latin typeface="Calibri" pitchFamily="34" charset="0"/>
                <a:ea typeface="Calibri" pitchFamily="34" charset="-122"/>
                <a:cs typeface="Calibri" pitchFamily="34" charset="-120"/>
              </a:rPr>
              <a:t>Variance spread evenly across all principal components (26/21/20/18/16%). </a:t>
            </a:r>
          </a:p>
          <a:p>
            <a:pPr marL="0" indent="0">
              <a:buNone/>
            </a:pPr>
            <a:endParaRPr lang="en-US" sz="1200" dirty="0">
              <a:solidFill>
                <a:srgbClr val="9AA7BD"/>
              </a:solidFill>
              <a:latin typeface="Calibri" pitchFamily="34" charset="0"/>
              <a:ea typeface="Calibri" pitchFamily="34" charset="-122"/>
              <a:cs typeface="Calibri" pitchFamily="34" charset="-120"/>
            </a:endParaRPr>
          </a:p>
          <a:p>
            <a:pPr marL="0" indent="0">
              <a:buNone/>
            </a:pPr>
            <a:r>
              <a:rPr lang="en-US" sz="1200" dirty="0">
                <a:solidFill>
                  <a:srgbClr val="9AA7BD"/>
                </a:solidFill>
                <a:latin typeface="Calibri" pitchFamily="34" charset="0"/>
                <a:ea typeface="Calibri" pitchFamily="34" charset="-122"/>
                <a:cs typeface="Calibri" pitchFamily="34" charset="-120"/>
              </a:rPr>
              <a:t>Hypothesis 1 needs the original features, so reducing dimensionality using PCA would cost interpretability for little gain.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4</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The impact of preprocessing</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Before and after, plus a quick baseline to prove it mattered</a:t>
            </a:r>
            <a:endParaRPr lang="en-US" sz="1250" dirty="0"/>
          </a:p>
        </p:txBody>
      </p:sp>
      <p:sp>
        <p:nvSpPr>
          <p:cNvPr id="6" name="Shape 4"/>
          <p:cNvSpPr/>
          <p:nvPr/>
        </p:nvSpPr>
        <p:spPr>
          <a:xfrm>
            <a:off x="502920" y="1371600"/>
            <a:ext cx="5212080" cy="219456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7" name="Text 5"/>
          <p:cNvSpPr/>
          <p:nvPr/>
        </p:nvSpPr>
        <p:spPr>
          <a:xfrm>
            <a:off x="749808" y="1517904"/>
            <a:ext cx="475488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BEFORE  →  AFTER</a:t>
            </a:r>
            <a:endParaRPr lang="en-US" sz="1250" dirty="0"/>
          </a:p>
        </p:txBody>
      </p:sp>
      <p:sp>
        <p:nvSpPr>
          <p:cNvPr id="8" name="Text 6"/>
          <p:cNvSpPr/>
          <p:nvPr/>
        </p:nvSpPr>
        <p:spPr>
          <a:xfrm>
            <a:off x="749808" y="1938528"/>
            <a:ext cx="4754880" cy="1463040"/>
          </a:xfrm>
          <a:prstGeom prst="rect">
            <a:avLst/>
          </a:prstGeom>
          <a:noFill/>
          <a:ln/>
        </p:spPr>
        <p:txBody>
          <a:bodyPr wrap="square" lIns="0" tIns="0" rIns="0" bIns="0" rtlCol="0" anchor="t"/>
          <a:lstStyle/>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Missing: workclass 5.64%, occupation 5.66%, native_country 1.79%  →  0%</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Exact duplicates: 24  →  0</a:t>
            </a:r>
            <a:endParaRPr lang="en-US" sz="1250" dirty="0"/>
          </a:p>
          <a:p>
            <a:pPr marL="177800" indent="-177800">
              <a:spcAft>
                <a:spcPts val="700"/>
              </a:spcAft>
              <a:buSzPct val="100000"/>
              <a:buChar char="•"/>
            </a:pPr>
            <a:r>
              <a:rPr lang="en-US" sz="1250" dirty="0">
                <a:solidFill>
                  <a:srgbClr val="9AA7BD"/>
                </a:solidFill>
                <a:latin typeface="Calibri" pitchFamily="34" charset="0"/>
                <a:ea typeface="Calibri" pitchFamily="34" charset="-122"/>
                <a:cs typeface="Calibri" pitchFamily="34" charset="-120"/>
              </a:rPr>
              <a:t>Train balance: 3.2 : 1  →  1 : 1 after SMOTE (training split only)</a:t>
            </a:r>
            <a:endParaRPr lang="en-US" sz="1250" dirty="0"/>
          </a:p>
        </p:txBody>
      </p:sp>
      <p:sp>
        <p:nvSpPr>
          <p:cNvPr id="9" name="Shape 7"/>
          <p:cNvSpPr/>
          <p:nvPr/>
        </p:nvSpPr>
        <p:spPr>
          <a:xfrm>
            <a:off x="5943600" y="1371600"/>
            <a:ext cx="5742432" cy="219456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0" name="Image 0" descr="/home/claude/imgs/cell36_0.png"/>
          <p:cNvPicPr>
            <a:picLocks noChangeAspect="1"/>
          </p:cNvPicPr>
          <p:nvPr/>
        </p:nvPicPr>
        <p:blipFill>
          <a:blip r:embed="rId3"/>
          <a:stretch>
            <a:fillRect/>
          </a:stretch>
        </p:blipFill>
        <p:spPr>
          <a:xfrm>
            <a:off x="6159177" y="1517904"/>
            <a:ext cx="5311279" cy="1901952"/>
          </a:xfrm>
          <a:prstGeom prst="rect">
            <a:avLst/>
          </a:prstGeom>
        </p:spPr>
      </p:pic>
      <p:sp>
        <p:nvSpPr>
          <p:cNvPr id="11" name="Shape 8"/>
          <p:cNvSpPr/>
          <p:nvPr/>
        </p:nvSpPr>
        <p:spPr>
          <a:xfrm>
            <a:off x="502920" y="3749040"/>
            <a:ext cx="11183112" cy="237744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2" name="Text 9"/>
          <p:cNvSpPr/>
          <p:nvPr/>
        </p:nvSpPr>
        <p:spPr>
          <a:xfrm>
            <a:off x="777240" y="3913632"/>
            <a:ext cx="1051560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QUICK BASELINE LOGISTIC REGRESSION  ·  SAME HELD-OUT TEST ROWS</a:t>
            </a:r>
            <a:endParaRPr lang="en-US" sz="1250" dirty="0"/>
          </a:p>
        </p:txBody>
      </p:sp>
      <p:sp>
        <p:nvSpPr>
          <p:cNvPr id="13" name="Text 10"/>
          <p:cNvSpPr/>
          <p:nvPr/>
        </p:nvSpPr>
        <p:spPr>
          <a:xfrm>
            <a:off x="777240" y="4407408"/>
            <a:ext cx="2651760" cy="731520"/>
          </a:xfrm>
          <a:prstGeom prst="rect">
            <a:avLst/>
          </a:prstGeom>
          <a:noFill/>
          <a:ln/>
          <a:effectLst/>
        </p:spPr>
        <p:txBody>
          <a:bodyPr wrap="square" lIns="0" tIns="0" rIns="0" bIns="0" rtlCol="0" anchor="ctr"/>
          <a:lstStyle/>
          <a:p>
            <a:pPr marL="0" indent="0" algn="ctr">
              <a:buNone/>
            </a:pPr>
            <a:r>
              <a:rPr lang="en-US" sz="3800" b="1">
                <a:solidFill>
                  <a:srgbClr val="F5F7FA"/>
                </a:solidFill>
                <a:latin typeface="Trebuchet MS" pitchFamily="34" charset="0"/>
                <a:ea typeface="Trebuchet MS" pitchFamily="34" charset="-122"/>
                <a:cs typeface="Trebuchet MS" pitchFamily="34" charset="-120"/>
              </a:rPr>
              <a:t>0.39</a:t>
            </a:r>
            <a:endParaRPr lang="en-US" sz="3800" dirty="0"/>
          </a:p>
        </p:txBody>
      </p:sp>
      <p:sp>
        <p:nvSpPr>
          <p:cNvPr id="14" name="Text 11"/>
          <p:cNvSpPr/>
          <p:nvPr/>
        </p:nvSpPr>
        <p:spPr>
          <a:xfrm>
            <a:off x="777240" y="5175504"/>
            <a:ext cx="2651760" cy="274320"/>
          </a:xfrm>
          <a:prstGeom prst="rect">
            <a:avLst/>
          </a:prstGeom>
          <a:noFill/>
          <a:ln/>
        </p:spPr>
        <p:txBody>
          <a:bodyPr wrap="square" lIns="0" tIns="0" rIns="0" bIns="0" rtlCol="0" anchor="ctr"/>
          <a:lstStyle/>
          <a:p>
            <a:pPr marL="0" indent="0" algn="ctr">
              <a:buNone/>
            </a:pPr>
            <a:r>
              <a:rPr lang="en-US" sz="1250" b="1" dirty="0">
                <a:solidFill>
                  <a:srgbClr val="F5F7FA"/>
                </a:solidFill>
                <a:latin typeface="Calibri" pitchFamily="34" charset="0"/>
                <a:ea typeface="Calibri" pitchFamily="34" charset="-122"/>
                <a:cs typeface="Calibri" pitchFamily="34" charset="-120"/>
              </a:rPr>
              <a:t>Recall before</a:t>
            </a:r>
            <a:endParaRPr lang="en-US" sz="1250" dirty="0"/>
          </a:p>
        </p:txBody>
      </p:sp>
      <p:sp>
        <p:nvSpPr>
          <p:cNvPr id="15" name="Text 12"/>
          <p:cNvSpPr/>
          <p:nvPr/>
        </p:nvSpPr>
        <p:spPr>
          <a:xfrm>
            <a:off x="777240" y="5449824"/>
            <a:ext cx="2651760" cy="457200"/>
          </a:xfrm>
          <a:prstGeom prst="rect">
            <a:avLst/>
          </a:prstGeom>
          <a:noFill/>
          <a:ln/>
        </p:spPr>
        <p:txBody>
          <a:bodyPr wrap="square" lIns="0" tIns="0" rIns="0" bIns="0" rtlCol="0" anchor="ctr"/>
          <a:lstStyle/>
          <a:p>
            <a:pPr marL="0" indent="0" algn="ctr">
              <a:buNone/>
            </a:pPr>
            <a:r>
              <a:rPr lang="en-US" sz="1100" dirty="0">
                <a:solidFill>
                  <a:srgbClr val="6E7C94"/>
                </a:solidFill>
                <a:latin typeface="Calibri" pitchFamily="34" charset="0"/>
                <a:ea typeface="Calibri" pitchFamily="34" charset="-122"/>
                <a:cs typeface="Calibri" pitchFamily="34" charset="-120"/>
              </a:rPr>
              <a:t>&gt;50K earners caught</a:t>
            </a:r>
            <a:endParaRPr lang="en-US" sz="1100" dirty="0"/>
          </a:p>
          <a:p>
            <a:pPr marL="0" indent="0" algn="ctr">
              <a:buNone/>
            </a:pPr>
            <a:r>
              <a:rPr lang="en-US" sz="1100" dirty="0">
                <a:solidFill>
                  <a:srgbClr val="6E7C94"/>
                </a:solidFill>
                <a:latin typeface="Calibri" pitchFamily="34" charset="0"/>
                <a:ea typeface="Calibri" pitchFamily="34" charset="-122"/>
                <a:cs typeface="Calibri" pitchFamily="34" charset="-120"/>
              </a:rPr>
              <a:t>on raw imbalanced data</a:t>
            </a:r>
            <a:endParaRPr lang="en-US" sz="1100" dirty="0"/>
          </a:p>
        </p:txBody>
      </p:sp>
      <p:sp>
        <p:nvSpPr>
          <p:cNvPr id="16" name="Text 13"/>
          <p:cNvSpPr/>
          <p:nvPr/>
        </p:nvSpPr>
        <p:spPr>
          <a:xfrm>
            <a:off x="3429000" y="4480560"/>
            <a:ext cx="914400" cy="640080"/>
          </a:xfrm>
          <a:prstGeom prst="rect">
            <a:avLst/>
          </a:prstGeom>
          <a:noFill/>
          <a:ln/>
          <a:effectLst/>
        </p:spPr>
        <p:txBody>
          <a:bodyPr wrap="square" lIns="0" tIns="0" rIns="0" bIns="0" rtlCol="0" anchor="ctr"/>
          <a:lstStyle/>
          <a:p>
            <a:pPr marL="0" indent="0" algn="ctr">
              <a:buNone/>
            </a:pPr>
            <a:r>
              <a:rPr lang="en-US" sz="3400" b="1" dirty="0">
                <a:solidFill>
                  <a:srgbClr val="E8C15A"/>
                </a:solidFill>
                <a:latin typeface="Calibri" pitchFamily="34" charset="0"/>
                <a:ea typeface="Calibri" pitchFamily="34" charset="-122"/>
                <a:cs typeface="Calibri" pitchFamily="34" charset="-120"/>
              </a:rPr>
              <a:t>→</a:t>
            </a:r>
            <a:endParaRPr lang="en-US" sz="3400" dirty="0"/>
          </a:p>
        </p:txBody>
      </p:sp>
      <p:sp>
        <p:nvSpPr>
          <p:cNvPr id="17" name="Text 14"/>
          <p:cNvSpPr/>
          <p:nvPr/>
        </p:nvSpPr>
        <p:spPr>
          <a:xfrm>
            <a:off x="4389120" y="4407408"/>
            <a:ext cx="2651760" cy="731520"/>
          </a:xfrm>
          <a:prstGeom prst="rect">
            <a:avLst/>
          </a:prstGeom>
          <a:noFill/>
          <a:ln/>
          <a:effectLst/>
        </p:spPr>
        <p:txBody>
          <a:bodyPr wrap="square" lIns="0" tIns="0" rIns="0" bIns="0" rtlCol="0" anchor="ctr"/>
          <a:lstStyle/>
          <a:p>
            <a:pPr marL="0" indent="0" algn="ctr">
              <a:buNone/>
            </a:pPr>
            <a:r>
              <a:rPr lang="en-US" sz="3600" b="1" dirty="0">
                <a:solidFill>
                  <a:schemeClr val="bg1"/>
                </a:solidFill>
                <a:latin typeface="Trebuchet MS" pitchFamily="34" charset="0"/>
                <a:ea typeface="Trebuchet MS" pitchFamily="34" charset="-122"/>
                <a:cs typeface="Trebuchet MS" pitchFamily="34" charset="-120"/>
              </a:rPr>
              <a:t>0.79</a:t>
            </a:r>
            <a:endParaRPr lang="en-US" sz="3600" dirty="0">
              <a:solidFill>
                <a:schemeClr val="bg1"/>
              </a:solidFill>
            </a:endParaRPr>
          </a:p>
        </p:txBody>
      </p:sp>
      <p:sp>
        <p:nvSpPr>
          <p:cNvPr id="18" name="Text 15"/>
          <p:cNvSpPr/>
          <p:nvPr/>
        </p:nvSpPr>
        <p:spPr>
          <a:xfrm>
            <a:off x="4389120" y="5175504"/>
            <a:ext cx="2651760" cy="274320"/>
          </a:xfrm>
          <a:prstGeom prst="rect">
            <a:avLst/>
          </a:prstGeom>
          <a:noFill/>
          <a:ln/>
        </p:spPr>
        <p:txBody>
          <a:bodyPr wrap="square" lIns="0" tIns="0" rIns="0" bIns="0" rtlCol="0" anchor="ctr"/>
          <a:lstStyle/>
          <a:p>
            <a:pPr marL="0" indent="0" algn="ctr">
              <a:buNone/>
            </a:pPr>
            <a:r>
              <a:rPr lang="en-US" sz="1250" b="1" dirty="0">
                <a:solidFill>
                  <a:srgbClr val="F5F7FA"/>
                </a:solidFill>
                <a:latin typeface="Calibri" pitchFamily="34" charset="0"/>
                <a:ea typeface="Calibri" pitchFamily="34" charset="-122"/>
                <a:cs typeface="Calibri" pitchFamily="34" charset="-120"/>
              </a:rPr>
              <a:t>Recall after</a:t>
            </a:r>
            <a:endParaRPr lang="en-US" sz="1250" dirty="0"/>
          </a:p>
        </p:txBody>
      </p:sp>
      <p:sp>
        <p:nvSpPr>
          <p:cNvPr id="19" name="Text 16"/>
          <p:cNvSpPr/>
          <p:nvPr/>
        </p:nvSpPr>
        <p:spPr>
          <a:xfrm>
            <a:off x="4389120" y="5449824"/>
            <a:ext cx="2651760" cy="457200"/>
          </a:xfrm>
          <a:prstGeom prst="rect">
            <a:avLst/>
          </a:prstGeom>
          <a:noFill/>
          <a:ln/>
        </p:spPr>
        <p:txBody>
          <a:bodyPr wrap="square" lIns="0" tIns="0" rIns="0" bIns="0" rtlCol="0" anchor="ctr"/>
          <a:lstStyle/>
          <a:p>
            <a:pPr marL="0" indent="0" algn="ctr">
              <a:buNone/>
            </a:pPr>
            <a:r>
              <a:rPr lang="en-US" sz="1100" dirty="0">
                <a:solidFill>
                  <a:srgbClr val="6E7C94"/>
                </a:solidFill>
                <a:latin typeface="Calibri" pitchFamily="34" charset="0"/>
                <a:ea typeface="Calibri" pitchFamily="34" charset="-122"/>
                <a:cs typeface="Calibri" pitchFamily="34" charset="-120"/>
              </a:rPr>
              <a:t>scaling + encoding</a:t>
            </a:r>
            <a:endParaRPr lang="en-US" sz="1100" dirty="0"/>
          </a:p>
          <a:p>
            <a:pPr marL="0" indent="0" algn="ctr">
              <a:buNone/>
            </a:pPr>
            <a:r>
              <a:rPr lang="en-US" sz="1100" dirty="0">
                <a:solidFill>
                  <a:srgbClr val="6E7C94"/>
                </a:solidFill>
                <a:latin typeface="Calibri" pitchFamily="34" charset="0"/>
                <a:ea typeface="Calibri" pitchFamily="34" charset="-122"/>
                <a:cs typeface="Calibri" pitchFamily="34" charset="-120"/>
              </a:rPr>
              <a:t>+ SMOTE oversampling</a:t>
            </a:r>
            <a:endParaRPr lang="en-US" sz="1100" dirty="0"/>
          </a:p>
        </p:txBody>
      </p:sp>
      <p:sp>
        <p:nvSpPr>
          <p:cNvPr id="20" name="Shape 17"/>
          <p:cNvSpPr/>
          <p:nvPr/>
        </p:nvSpPr>
        <p:spPr>
          <a:xfrm>
            <a:off x="7360920" y="4462272"/>
            <a:ext cx="0" cy="1463040"/>
          </a:xfrm>
          <a:prstGeom prst="line">
            <a:avLst/>
          </a:prstGeom>
          <a:noFill/>
          <a:ln w="12700">
            <a:solidFill>
              <a:srgbClr val="3A3F4A"/>
            </a:solidFill>
            <a:prstDash val="solid"/>
          </a:ln>
        </p:spPr>
        <p:txBody>
          <a:bodyPr/>
          <a:lstStyle/>
          <a:p>
            <a:endParaRPr lang="en-US"/>
          </a:p>
        </p:txBody>
      </p:sp>
      <p:sp>
        <p:nvSpPr>
          <p:cNvPr id="21" name="Text 18"/>
          <p:cNvSpPr/>
          <p:nvPr/>
        </p:nvSpPr>
        <p:spPr>
          <a:xfrm>
            <a:off x="7680960" y="4434840"/>
            <a:ext cx="3840480" cy="1554480"/>
          </a:xfrm>
          <a:prstGeom prst="rect">
            <a:avLst/>
          </a:prstGeom>
          <a:noFill/>
          <a:ln/>
        </p:spPr>
        <p:txBody>
          <a:bodyPr wrap="square" lIns="0" tIns="0" rIns="0" bIns="0" rtlCol="0" anchor="ctr"/>
          <a:lstStyle/>
          <a:p>
            <a:pPr marL="0" indent="0">
              <a:spcAft>
                <a:spcPts val="600"/>
              </a:spcAft>
              <a:buNone/>
            </a:pPr>
            <a:r>
              <a:rPr lang="en-US" sz="1300" b="1" dirty="0">
                <a:solidFill>
                  <a:srgbClr val="F5F7FA"/>
                </a:solidFill>
                <a:latin typeface="Calibri" pitchFamily="34" charset="0"/>
                <a:ea typeface="Calibri" pitchFamily="34" charset="-122"/>
                <a:cs typeface="Calibri" pitchFamily="34" charset="-120"/>
              </a:rPr>
              <a:t>Accuracy barely moved (0.815 → 0.819) But Recall Jumped Way Up</a:t>
            </a:r>
          </a:p>
          <a:p>
            <a:r>
              <a:rPr lang="en-US" sz="1400" dirty="0">
                <a:solidFill>
                  <a:srgbClr val="6E7C94"/>
                </a:solidFill>
                <a:latin typeface="Calibri" pitchFamily="34" charset="0"/>
                <a:ea typeface="Calibri" pitchFamily="34" charset="-122"/>
                <a:cs typeface="Calibri" pitchFamily="34" charset="-120"/>
              </a:rPr>
              <a:t>After preprocessing the model catches far more of the real high earners above $50k</a:t>
            </a:r>
            <a:endParaRPr lang="en-US" sz="1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5</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Summary statistics and outliers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describe(), frequency tables, and the IQR rule — and why I keep every flagged row</a:t>
            </a:r>
            <a:endParaRPr lang="en-US" sz="1250" dirty="0"/>
          </a:p>
        </p:txBody>
      </p:sp>
      <p:sp>
        <p:nvSpPr>
          <p:cNvPr id="6" name="Shape 4"/>
          <p:cNvSpPr/>
          <p:nvPr/>
        </p:nvSpPr>
        <p:spPr>
          <a:xfrm>
            <a:off x="502920" y="1371600"/>
            <a:ext cx="5806440" cy="233172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7" name="Text 5"/>
          <p:cNvSpPr/>
          <p:nvPr/>
        </p:nvSpPr>
        <p:spPr>
          <a:xfrm>
            <a:off x="749808" y="1517904"/>
            <a:ext cx="530352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NUMERIC SNAPSHOT</a:t>
            </a:r>
            <a:endParaRPr lang="en-US" sz="1250" dirty="0"/>
          </a:p>
        </p:txBody>
      </p:sp>
      <p:graphicFrame>
        <p:nvGraphicFramePr>
          <p:cNvPr id="8" name="Table 0"/>
          <p:cNvGraphicFramePr>
            <a:graphicFrameLocks noGrp="1"/>
          </p:cNvGraphicFramePr>
          <p:nvPr>
            <p:extLst>
              <p:ext uri="{D42A27DB-BD31-4B8C-83A1-F6EECF244321}">
                <p14:modId xmlns:p14="http://schemas.microsoft.com/office/powerpoint/2010/main" val="3199726317"/>
              </p:ext>
            </p:extLst>
          </p:nvPr>
        </p:nvGraphicFramePr>
        <p:xfrm>
          <a:off x="749808" y="1920240"/>
          <a:ext cx="5349240" cy="1554480"/>
        </p:xfrm>
        <a:graphic>
          <a:graphicData uri="http://schemas.openxmlformats.org/drawingml/2006/table">
            <a:tbl>
              <a:tblPr/>
              <a:tblGrid>
                <a:gridCol w="2331720">
                  <a:extLst>
                    <a:ext uri="{9D8B030D-6E8A-4147-A177-3AD203B41FA5}">
                      <a16:colId xmlns:a16="http://schemas.microsoft.com/office/drawing/2014/main" val="20000"/>
                    </a:ext>
                  </a:extLst>
                </a:gridCol>
                <a:gridCol w="1005840">
                  <a:extLst>
                    <a:ext uri="{9D8B030D-6E8A-4147-A177-3AD203B41FA5}">
                      <a16:colId xmlns:a16="http://schemas.microsoft.com/office/drawing/2014/main" val="20001"/>
                    </a:ext>
                  </a:extLst>
                </a:gridCol>
                <a:gridCol w="1005840">
                  <a:extLst>
                    <a:ext uri="{9D8B030D-6E8A-4147-A177-3AD203B41FA5}">
                      <a16:colId xmlns:a16="http://schemas.microsoft.com/office/drawing/2014/main" val="20002"/>
                    </a:ext>
                  </a:extLst>
                </a:gridCol>
                <a:gridCol w="1005840">
                  <a:extLst>
                    <a:ext uri="{9D8B030D-6E8A-4147-A177-3AD203B41FA5}">
                      <a16:colId xmlns:a16="http://schemas.microsoft.com/office/drawing/2014/main" val="20003"/>
                    </a:ext>
                  </a:extLst>
                </a:gridCol>
              </a:tblGrid>
              <a:tr h="310896">
                <a:tc>
                  <a:txBody>
                    <a:bodyPr/>
                    <a:lstStyle/>
                    <a:p>
                      <a:pPr marL="0" indent="0" algn="l">
                        <a:buNone/>
                      </a:pP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250" b="1" dirty="0">
                          <a:solidFill>
                            <a:srgbClr val="E8C15A"/>
                          </a:solidFill>
                          <a:latin typeface="Calibri" pitchFamily="34" charset="0"/>
                          <a:ea typeface="Calibri" pitchFamily="34" charset="-122"/>
                          <a:cs typeface="Calibri" pitchFamily="34" charset="-120"/>
                        </a:rPr>
                        <a:t>mean</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250" b="1" dirty="0">
                          <a:solidFill>
                            <a:srgbClr val="E8C15A"/>
                          </a:solidFill>
                          <a:latin typeface="Calibri" pitchFamily="34" charset="0"/>
                          <a:ea typeface="Calibri" pitchFamily="34" charset="-122"/>
                          <a:cs typeface="Calibri" pitchFamily="34" charset="-120"/>
                        </a:rPr>
                        <a:t>median</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tc>
                  <a:txBody>
                    <a:bodyPr/>
                    <a:lstStyle/>
                    <a:p>
                      <a:pPr marL="0" indent="0" algn="ctr">
                        <a:buNone/>
                      </a:pPr>
                      <a:r>
                        <a:rPr lang="en-US" sz="1250" b="1" dirty="0">
                          <a:solidFill>
                            <a:srgbClr val="E8C15A"/>
                          </a:solidFill>
                          <a:latin typeface="Calibri" pitchFamily="34" charset="0"/>
                          <a:ea typeface="Calibri" pitchFamily="34" charset="-122"/>
                          <a:cs typeface="Calibri" pitchFamily="34" charset="-120"/>
                        </a:rPr>
                        <a:t>max</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A2E39"/>
                    </a:solidFill>
                  </a:tcPr>
                </a:tc>
                <a:extLst>
                  <a:ext uri="{0D108BD9-81ED-4DB2-BD59-A6C34878D82A}">
                    <a16:rowId xmlns:a16="http://schemas.microsoft.com/office/drawing/2014/main" val="10000"/>
                  </a:ext>
                </a:extLst>
              </a:tr>
              <a:tr h="310896">
                <a:tc>
                  <a:txBody>
                    <a:bodyPr/>
                    <a:lstStyle/>
                    <a:p>
                      <a:pPr marL="0" indent="0" algn="l">
                        <a:buNone/>
                      </a:pPr>
                      <a:r>
                        <a:rPr lang="en-US" sz="1250" b="1" dirty="0">
                          <a:solidFill>
                            <a:srgbClr val="F5F7FA"/>
                          </a:solidFill>
                          <a:latin typeface="Calibri" pitchFamily="34" charset="0"/>
                          <a:ea typeface="Calibri" pitchFamily="34" charset="-122"/>
                          <a:cs typeface="Calibri" pitchFamily="34" charset="-120"/>
                        </a:rPr>
                        <a:t>age</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38.6</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37</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90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1"/>
                  </a:ext>
                </a:extLst>
              </a:tr>
              <a:tr h="310896">
                <a:tc>
                  <a:txBody>
                    <a:bodyPr/>
                    <a:lstStyle/>
                    <a:p>
                      <a:pPr marL="0" indent="0" algn="l">
                        <a:buNone/>
                      </a:pPr>
                      <a:r>
                        <a:rPr lang="en-US" sz="1250" b="1" dirty="0">
                          <a:solidFill>
                            <a:srgbClr val="F5F7FA"/>
                          </a:solidFill>
                          <a:latin typeface="Calibri" pitchFamily="34" charset="0"/>
                          <a:ea typeface="Calibri" pitchFamily="34" charset="-122"/>
                          <a:cs typeface="Calibri" pitchFamily="34" charset="-120"/>
                        </a:rPr>
                        <a:t>education_num</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10.1</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16</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extLst>
                  <a:ext uri="{0D108BD9-81ED-4DB2-BD59-A6C34878D82A}">
                    <a16:rowId xmlns:a16="http://schemas.microsoft.com/office/drawing/2014/main" val="10002"/>
                  </a:ext>
                </a:extLst>
              </a:tr>
              <a:tr h="310896">
                <a:tc>
                  <a:txBody>
                    <a:bodyPr/>
                    <a:lstStyle/>
                    <a:p>
                      <a:pPr marL="0" indent="0" algn="l">
                        <a:buNone/>
                      </a:pPr>
                      <a:r>
                        <a:rPr lang="en-US" sz="1250" b="1" dirty="0">
                          <a:solidFill>
                            <a:srgbClr val="F5F7FA"/>
                          </a:solidFill>
                          <a:latin typeface="Calibri" pitchFamily="34" charset="0"/>
                          <a:ea typeface="Calibri" pitchFamily="34" charset="-122"/>
                          <a:cs typeface="Calibri" pitchFamily="34" charset="-120"/>
                        </a:rPr>
                        <a:t>hours_per_week</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40.4</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40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99</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232631"/>
                    </a:solidFill>
                  </a:tcPr>
                </a:tc>
                <a:extLst>
                  <a:ext uri="{0D108BD9-81ED-4DB2-BD59-A6C34878D82A}">
                    <a16:rowId xmlns:a16="http://schemas.microsoft.com/office/drawing/2014/main" val="10003"/>
                  </a:ext>
                </a:extLst>
              </a:tr>
              <a:tr h="310896">
                <a:tc>
                  <a:txBody>
                    <a:bodyPr/>
                    <a:lstStyle/>
                    <a:p>
                      <a:pPr marL="0" indent="0" algn="l">
                        <a:buNone/>
                      </a:pPr>
                      <a:r>
                        <a:rPr lang="en-US" sz="1250" b="1" dirty="0" err="1">
                          <a:solidFill>
                            <a:srgbClr val="F5F7FA"/>
                          </a:solidFill>
                          <a:latin typeface="Calibri" pitchFamily="34" charset="0"/>
                          <a:ea typeface="Calibri" pitchFamily="34" charset="-122"/>
                          <a:cs typeface="Calibri" pitchFamily="34" charset="-120"/>
                        </a:rPr>
                        <a:t>capital_gain</a:t>
                      </a:r>
                      <a:r>
                        <a:rPr lang="en-US" sz="1250" b="1" dirty="0">
                          <a:solidFill>
                            <a:srgbClr val="F5F7FA"/>
                          </a:solidFill>
                          <a:latin typeface="Calibri" pitchFamily="34" charset="0"/>
                          <a:ea typeface="Calibri" pitchFamily="34" charset="-122"/>
                          <a:cs typeface="Calibri" pitchFamily="34" charset="-120"/>
                        </a:rPr>
                        <a:t> ($ amount)</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1,078</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0</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tc>
                  <a:txBody>
                    <a:bodyPr/>
                    <a:lstStyle/>
                    <a:p>
                      <a:pPr marL="0" indent="0" algn="ctr">
                        <a:buNone/>
                      </a:pPr>
                      <a:r>
                        <a:rPr lang="en-US" sz="1250" dirty="0">
                          <a:solidFill>
                            <a:srgbClr val="9AA7BD"/>
                          </a:solidFill>
                          <a:latin typeface="Calibri" pitchFamily="34" charset="0"/>
                          <a:ea typeface="Calibri" pitchFamily="34" charset="-122"/>
                          <a:cs typeface="Calibri" pitchFamily="34" charset="-120"/>
                        </a:rPr>
                        <a:t>99,999</a:t>
                      </a:r>
                      <a:endParaRPr lang="en-US" sz="1250" dirty="0">
                        <a:latin typeface="Calibri" charset="0"/>
                        <a:ea typeface="Calibri" charset="0"/>
                        <a:cs typeface="Calibri" charset="0"/>
                      </a:endParaRPr>
                    </a:p>
                  </a:txBody>
                  <a:tcPr marL="88900" marR="88900" marT="38100" marB="38100" anchor="ctr">
                    <a:lnL w="12700" cap="flat" cmpd="sng" algn="ctr">
                      <a:solidFill>
                        <a:srgbClr val="3A3F4A"/>
                      </a:solidFill>
                      <a:prstDash val="solid"/>
                      <a:round/>
                      <a:headEnd type="none" w="med" len="med"/>
                      <a:tailEnd type="none" w="med" len="med"/>
                    </a:lnL>
                    <a:lnR w="12700" cap="flat" cmpd="sng" algn="ctr">
                      <a:solidFill>
                        <a:srgbClr val="3A3F4A"/>
                      </a:solidFill>
                      <a:prstDash val="solid"/>
                      <a:round/>
                      <a:headEnd type="none" w="med" len="med"/>
                      <a:tailEnd type="none" w="med" len="med"/>
                    </a:lnR>
                    <a:lnT w="12700" cap="flat" cmpd="sng" algn="ctr">
                      <a:solidFill>
                        <a:srgbClr val="3A3F4A"/>
                      </a:solidFill>
                      <a:prstDash val="solid"/>
                      <a:round/>
                      <a:headEnd type="none" w="med" len="med"/>
                      <a:tailEnd type="none" w="med" len="med"/>
                    </a:lnT>
                    <a:lnB w="12700" cap="flat" cmpd="sng" algn="ctr">
                      <a:solidFill>
                        <a:srgbClr val="3A3F4A"/>
                      </a:solidFill>
                      <a:prstDash val="solid"/>
                      <a:round/>
                      <a:headEnd type="none" w="med" len="med"/>
                      <a:tailEnd type="none" w="med" len="med"/>
                    </a:lnB>
                    <a:solidFill>
                      <a:srgbClr val="1C1E24"/>
                    </a:solidFill>
                  </a:tcPr>
                </a:tc>
                <a:extLst>
                  <a:ext uri="{0D108BD9-81ED-4DB2-BD59-A6C34878D82A}">
                    <a16:rowId xmlns:a16="http://schemas.microsoft.com/office/drawing/2014/main" val="10004"/>
                  </a:ext>
                </a:extLst>
              </a:tr>
            </a:tbl>
          </a:graphicData>
        </a:graphic>
      </p:graphicFrame>
      <p:sp>
        <p:nvSpPr>
          <p:cNvPr id="9" name="Shape 6"/>
          <p:cNvSpPr/>
          <p:nvPr/>
        </p:nvSpPr>
        <p:spPr>
          <a:xfrm>
            <a:off x="502920" y="3886200"/>
            <a:ext cx="5806440" cy="228600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0" name="Text 7"/>
          <p:cNvSpPr/>
          <p:nvPr/>
        </p:nvSpPr>
        <p:spPr>
          <a:xfrm>
            <a:off x="749808" y="4032504"/>
            <a:ext cx="530352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CATEGORICAL FREQUENCY  (TOP VALUES)</a:t>
            </a:r>
            <a:endParaRPr lang="en-US" sz="1250" dirty="0"/>
          </a:p>
        </p:txBody>
      </p:sp>
      <p:sp>
        <p:nvSpPr>
          <p:cNvPr id="11" name="Text 8"/>
          <p:cNvSpPr/>
          <p:nvPr/>
        </p:nvSpPr>
        <p:spPr>
          <a:xfrm>
            <a:off x="749808" y="4443984"/>
            <a:ext cx="5394960" cy="1645920"/>
          </a:xfrm>
          <a:prstGeom prst="rect">
            <a:avLst/>
          </a:prstGeom>
          <a:noFill/>
          <a:ln/>
        </p:spPr>
        <p:txBody>
          <a:bodyPr wrap="square" lIns="0" tIns="0" rIns="0" bIns="0" rtlCol="0" anchor="t"/>
          <a:lstStyle/>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workclass: Private 22,673 dominates; Unknown 1,836</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marital_status: Married-civ-spouse 14,970, Never-married 10,667</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sex: Male 21,775, Female 10,762</a:t>
            </a:r>
            <a:endParaRPr lang="en-US" sz="1250" dirty="0"/>
          </a:p>
          <a:p>
            <a:pPr marL="177800" indent="-177800">
              <a:spcAft>
                <a:spcPts val="600"/>
              </a:spcAft>
              <a:buSzPct val="100000"/>
              <a:buChar char="•"/>
            </a:pPr>
            <a:r>
              <a:rPr lang="en-US" sz="1250" dirty="0">
                <a:solidFill>
                  <a:srgbClr val="9AA7BD"/>
                </a:solidFill>
                <a:latin typeface="Calibri" pitchFamily="34" charset="0"/>
                <a:ea typeface="Calibri" pitchFamily="34" charset="-122"/>
                <a:cs typeface="Calibri" pitchFamily="34" charset="-120"/>
              </a:rPr>
              <a:t>native_region: US 29,153, non-US 2,802, Unknown 582</a:t>
            </a:r>
            <a:endParaRPr lang="en-US" sz="1250" dirty="0"/>
          </a:p>
        </p:txBody>
      </p:sp>
      <p:sp>
        <p:nvSpPr>
          <p:cNvPr id="12" name="Shape 9"/>
          <p:cNvSpPr/>
          <p:nvPr/>
        </p:nvSpPr>
        <p:spPr>
          <a:xfrm>
            <a:off x="6537960" y="1371600"/>
            <a:ext cx="5148072" cy="480060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3" name="Text 10"/>
          <p:cNvSpPr/>
          <p:nvPr/>
        </p:nvSpPr>
        <p:spPr>
          <a:xfrm>
            <a:off x="6784848" y="1517904"/>
            <a:ext cx="4663440" cy="320040"/>
          </a:xfrm>
          <a:prstGeom prst="rect">
            <a:avLst/>
          </a:prstGeom>
          <a:noFill/>
          <a:ln/>
        </p:spPr>
        <p:txBody>
          <a:bodyPr wrap="square" lIns="0" tIns="0" rIns="0" bIns="0" rtlCol="0" anchor="ctr"/>
          <a:lstStyle/>
          <a:p>
            <a:pPr marL="0" indent="0">
              <a:buNone/>
            </a:pPr>
            <a:r>
              <a:rPr lang="en-US" sz="1250" b="1" kern="0" spc="150" dirty="0">
                <a:solidFill>
                  <a:srgbClr val="E8C15A"/>
                </a:solidFill>
                <a:latin typeface="Calibri" pitchFamily="34" charset="0"/>
                <a:ea typeface="Calibri" pitchFamily="34" charset="-122"/>
                <a:cs typeface="Calibri" pitchFamily="34" charset="-120"/>
              </a:rPr>
              <a:t>OUTLIERS BY THE IQR RULE</a:t>
            </a:r>
            <a:endParaRPr lang="en-US" sz="1250" dirty="0"/>
          </a:p>
        </p:txBody>
      </p:sp>
      <p:sp>
        <p:nvSpPr>
          <p:cNvPr id="14" name="Text 11"/>
          <p:cNvSpPr/>
          <p:nvPr/>
        </p:nvSpPr>
        <p:spPr>
          <a:xfrm>
            <a:off x="6784848" y="2011680"/>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hours_per_week</a:t>
            </a:r>
            <a:endParaRPr lang="en-US" sz="1300" dirty="0"/>
          </a:p>
        </p:txBody>
      </p:sp>
      <p:sp>
        <p:nvSpPr>
          <p:cNvPr id="15" name="Text 12"/>
          <p:cNvSpPr/>
          <p:nvPr/>
        </p:nvSpPr>
        <p:spPr>
          <a:xfrm>
            <a:off x="9829800" y="2011680"/>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27.7%</a:t>
            </a:r>
            <a:endParaRPr lang="en-US" sz="1500" dirty="0"/>
          </a:p>
        </p:txBody>
      </p:sp>
      <p:sp>
        <p:nvSpPr>
          <p:cNvPr id="16" name="Shape 13"/>
          <p:cNvSpPr/>
          <p:nvPr/>
        </p:nvSpPr>
        <p:spPr>
          <a:xfrm>
            <a:off x="6784848" y="2404872"/>
            <a:ext cx="4709160" cy="0"/>
          </a:xfrm>
          <a:prstGeom prst="line">
            <a:avLst/>
          </a:prstGeom>
          <a:noFill/>
          <a:ln w="9525">
            <a:solidFill>
              <a:srgbClr val="3A3F4A"/>
            </a:solidFill>
            <a:prstDash val="solid"/>
          </a:ln>
        </p:spPr>
        <p:txBody>
          <a:bodyPr/>
          <a:lstStyle/>
          <a:p>
            <a:endParaRPr lang="en-US"/>
          </a:p>
        </p:txBody>
      </p:sp>
      <p:sp>
        <p:nvSpPr>
          <p:cNvPr id="17" name="Text 14"/>
          <p:cNvSpPr/>
          <p:nvPr/>
        </p:nvSpPr>
        <p:spPr>
          <a:xfrm>
            <a:off x="6784848" y="2450592"/>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capital_gain</a:t>
            </a:r>
            <a:endParaRPr lang="en-US" sz="1300" dirty="0"/>
          </a:p>
        </p:txBody>
      </p:sp>
      <p:sp>
        <p:nvSpPr>
          <p:cNvPr id="18" name="Text 15"/>
          <p:cNvSpPr/>
          <p:nvPr/>
        </p:nvSpPr>
        <p:spPr>
          <a:xfrm>
            <a:off x="9829800" y="2450592"/>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8.3%</a:t>
            </a:r>
            <a:endParaRPr lang="en-US" sz="1500" dirty="0"/>
          </a:p>
        </p:txBody>
      </p:sp>
      <p:sp>
        <p:nvSpPr>
          <p:cNvPr id="19" name="Shape 16"/>
          <p:cNvSpPr/>
          <p:nvPr/>
        </p:nvSpPr>
        <p:spPr>
          <a:xfrm>
            <a:off x="6784848" y="2843784"/>
            <a:ext cx="4709160" cy="0"/>
          </a:xfrm>
          <a:prstGeom prst="line">
            <a:avLst/>
          </a:prstGeom>
          <a:noFill/>
          <a:ln w="9525">
            <a:solidFill>
              <a:srgbClr val="3A3F4A"/>
            </a:solidFill>
            <a:prstDash val="solid"/>
          </a:ln>
        </p:spPr>
        <p:txBody>
          <a:bodyPr/>
          <a:lstStyle/>
          <a:p>
            <a:endParaRPr lang="en-US"/>
          </a:p>
        </p:txBody>
      </p:sp>
      <p:sp>
        <p:nvSpPr>
          <p:cNvPr id="20" name="Text 17"/>
          <p:cNvSpPr/>
          <p:nvPr/>
        </p:nvSpPr>
        <p:spPr>
          <a:xfrm>
            <a:off x="6784848" y="2889504"/>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capital_loss</a:t>
            </a:r>
            <a:endParaRPr lang="en-US" sz="1300" dirty="0"/>
          </a:p>
        </p:txBody>
      </p:sp>
      <p:sp>
        <p:nvSpPr>
          <p:cNvPr id="21" name="Text 18"/>
          <p:cNvSpPr/>
          <p:nvPr/>
        </p:nvSpPr>
        <p:spPr>
          <a:xfrm>
            <a:off x="9829800" y="2889504"/>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4.7%</a:t>
            </a:r>
            <a:endParaRPr lang="en-US" sz="1500" dirty="0"/>
          </a:p>
        </p:txBody>
      </p:sp>
      <p:sp>
        <p:nvSpPr>
          <p:cNvPr id="22" name="Shape 19"/>
          <p:cNvSpPr/>
          <p:nvPr/>
        </p:nvSpPr>
        <p:spPr>
          <a:xfrm>
            <a:off x="6784848" y="3282696"/>
            <a:ext cx="4709160" cy="0"/>
          </a:xfrm>
          <a:prstGeom prst="line">
            <a:avLst/>
          </a:prstGeom>
          <a:noFill/>
          <a:ln w="9525">
            <a:solidFill>
              <a:srgbClr val="3A3F4A"/>
            </a:solidFill>
            <a:prstDash val="solid"/>
          </a:ln>
        </p:spPr>
        <p:txBody>
          <a:bodyPr/>
          <a:lstStyle/>
          <a:p>
            <a:endParaRPr lang="en-US"/>
          </a:p>
        </p:txBody>
      </p:sp>
      <p:sp>
        <p:nvSpPr>
          <p:cNvPr id="23" name="Text 20"/>
          <p:cNvSpPr/>
          <p:nvPr/>
        </p:nvSpPr>
        <p:spPr>
          <a:xfrm>
            <a:off x="6784848" y="3328416"/>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education_num</a:t>
            </a:r>
            <a:endParaRPr lang="en-US" sz="1300" dirty="0"/>
          </a:p>
        </p:txBody>
      </p:sp>
      <p:sp>
        <p:nvSpPr>
          <p:cNvPr id="24" name="Text 21"/>
          <p:cNvSpPr/>
          <p:nvPr/>
        </p:nvSpPr>
        <p:spPr>
          <a:xfrm>
            <a:off x="9829800" y="3328416"/>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3.7%</a:t>
            </a:r>
            <a:endParaRPr lang="en-US" sz="1500" dirty="0"/>
          </a:p>
        </p:txBody>
      </p:sp>
      <p:sp>
        <p:nvSpPr>
          <p:cNvPr id="25" name="Shape 22"/>
          <p:cNvSpPr/>
          <p:nvPr/>
        </p:nvSpPr>
        <p:spPr>
          <a:xfrm>
            <a:off x="6784848" y="3721608"/>
            <a:ext cx="4709160" cy="0"/>
          </a:xfrm>
          <a:prstGeom prst="line">
            <a:avLst/>
          </a:prstGeom>
          <a:noFill/>
          <a:ln w="9525">
            <a:solidFill>
              <a:srgbClr val="3A3F4A"/>
            </a:solidFill>
            <a:prstDash val="solid"/>
          </a:ln>
        </p:spPr>
        <p:txBody>
          <a:bodyPr/>
          <a:lstStyle/>
          <a:p>
            <a:endParaRPr lang="en-US"/>
          </a:p>
        </p:txBody>
      </p:sp>
      <p:sp>
        <p:nvSpPr>
          <p:cNvPr id="26" name="Text 23"/>
          <p:cNvSpPr/>
          <p:nvPr/>
        </p:nvSpPr>
        <p:spPr>
          <a:xfrm>
            <a:off x="6784848" y="3767328"/>
            <a:ext cx="3017520" cy="365760"/>
          </a:xfrm>
          <a:prstGeom prst="rect">
            <a:avLst/>
          </a:prstGeom>
          <a:noFill/>
          <a:ln/>
        </p:spPr>
        <p:txBody>
          <a:bodyPr wrap="square" lIns="0" tIns="0" rIns="0" bIns="0" rtlCol="0" anchor="ctr"/>
          <a:lstStyle/>
          <a:p>
            <a:pPr marL="0" indent="0">
              <a:buNone/>
            </a:pPr>
            <a:r>
              <a:rPr lang="en-US" sz="1300" dirty="0">
                <a:solidFill>
                  <a:srgbClr val="F5F7FA"/>
                </a:solidFill>
                <a:latin typeface="Calibri" pitchFamily="34" charset="0"/>
                <a:ea typeface="Calibri" pitchFamily="34" charset="-122"/>
                <a:cs typeface="Calibri" pitchFamily="34" charset="-120"/>
              </a:rPr>
              <a:t>age</a:t>
            </a:r>
            <a:endParaRPr lang="en-US" sz="1300" dirty="0"/>
          </a:p>
        </p:txBody>
      </p:sp>
      <p:sp>
        <p:nvSpPr>
          <p:cNvPr id="27" name="Text 24"/>
          <p:cNvSpPr/>
          <p:nvPr/>
        </p:nvSpPr>
        <p:spPr>
          <a:xfrm>
            <a:off x="9829800" y="3767328"/>
            <a:ext cx="1645920" cy="365760"/>
          </a:xfrm>
          <a:prstGeom prst="rect">
            <a:avLst/>
          </a:prstGeom>
          <a:noFill/>
          <a:ln/>
        </p:spPr>
        <p:txBody>
          <a:bodyPr wrap="square" lIns="0" tIns="0" rIns="0" bIns="0" rtlCol="0" anchor="ctr"/>
          <a:lstStyle/>
          <a:p>
            <a:pPr marL="0" indent="0" algn="r">
              <a:buNone/>
            </a:pPr>
            <a:r>
              <a:rPr lang="en-US" sz="1500" b="1">
                <a:solidFill>
                  <a:srgbClr val="E8C15A"/>
                </a:solidFill>
                <a:latin typeface="Trebuchet MS" pitchFamily="34" charset="0"/>
                <a:ea typeface="Trebuchet MS" pitchFamily="34" charset="-122"/>
                <a:cs typeface="Trebuchet MS" pitchFamily="34" charset="-120"/>
              </a:rPr>
              <a:t>0.4%</a:t>
            </a:r>
            <a:endParaRPr lang="en-US" sz="1500" dirty="0"/>
          </a:p>
        </p:txBody>
      </p:sp>
      <p:sp>
        <p:nvSpPr>
          <p:cNvPr id="28" name="Text 25"/>
          <p:cNvSpPr/>
          <p:nvPr/>
        </p:nvSpPr>
        <p:spPr>
          <a:xfrm>
            <a:off x="6784848" y="4343400"/>
            <a:ext cx="4709160" cy="1051560"/>
          </a:xfrm>
          <a:prstGeom prst="rect">
            <a:avLst/>
          </a:prstGeom>
          <a:noFill/>
          <a:ln/>
        </p:spPr>
        <p:txBody>
          <a:bodyPr wrap="square" lIns="0" tIns="0" rIns="0" bIns="0" rtlCol="0" anchor="t"/>
          <a:lstStyle/>
          <a:p>
            <a:pPr marL="0" indent="0">
              <a:buNone/>
            </a:pPr>
            <a:r>
              <a:rPr lang="en-US" sz="1250" b="1" dirty="0">
                <a:solidFill>
                  <a:srgbClr val="E8C15A"/>
                </a:solidFill>
                <a:latin typeface="Calibri" pitchFamily="34" charset="0"/>
                <a:ea typeface="Calibri" pitchFamily="34" charset="-122"/>
                <a:cs typeface="Calibri" pitchFamily="34" charset="-120"/>
              </a:rPr>
              <a:t>Why IQR, not z-scores:  z-scores assume a symmetric normal shape, but capital gain (skew ~12) and hours are skewed, so they would mislabel ordinary points. IQR makes no such assumption.</a:t>
            </a:r>
            <a:r>
              <a:rPr lang="en-US" sz="1250" dirty="0">
                <a:solidFill>
                  <a:srgbClr val="9AA7BD"/>
                </a:solidFill>
                <a:latin typeface="Calibri" pitchFamily="34" charset="0"/>
                <a:ea typeface="Calibri" pitchFamily="34" charset="-122"/>
                <a:cs typeface="Calibri" pitchFamily="34" charset="-120"/>
              </a:rPr>
              <a:t/>
            </a:r>
            <a:endParaRPr lang="en-US" sz="1250" dirty="0"/>
          </a:p>
        </p:txBody>
      </p:sp>
      <p:sp>
        <p:nvSpPr>
          <p:cNvPr id="29" name="Text 26"/>
          <p:cNvSpPr/>
          <p:nvPr/>
        </p:nvSpPr>
        <p:spPr>
          <a:xfrm>
            <a:off x="6784848" y="5440680"/>
            <a:ext cx="4709160" cy="685800"/>
          </a:xfrm>
          <a:prstGeom prst="rect">
            <a:avLst/>
          </a:prstGeom>
          <a:noFill/>
          <a:ln/>
        </p:spPr>
        <p:txBody>
          <a:bodyPr wrap="square" lIns="0" tIns="0" rIns="0" bIns="0" rtlCol="0" anchor="t"/>
          <a:lstStyle/>
          <a:p>
            <a:pPr marL="0" indent="0">
              <a:buNone/>
            </a:pPr>
            <a:r>
              <a:rPr lang="en-US" sz="1150" i="1" dirty="0">
                <a:solidFill>
                  <a:srgbClr val="6E7C94"/>
                </a:solidFill>
                <a:latin typeface="Calibri" pitchFamily="34" charset="0"/>
                <a:ea typeface="Calibri" pitchFamily="34" charset="-122"/>
                <a:cs typeface="Calibri" pitchFamily="34" charset="-120"/>
              </a:rPr>
              <a:t>Why I keep them:  dropping every flagged row deletes 39.7% of the data and 47.2% of ALL high earners. Capital-gain outliers are 61.8% high earners — they ARE the signal. Hours flags 27.7% only because 46.7% work exactly 40h — the IQR collapses to 5.</a:t>
            </a:r>
            <a:endParaRPr lang="en-US" sz="11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6</a:t>
            </a:r>
            <a:endParaRPr lang="en-US" sz="24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Core distributions and correlations</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The shape of the data before reading it against the hypotheses</a:t>
            </a:r>
            <a:endParaRPr lang="en-US" sz="1250" dirty="0"/>
          </a:p>
        </p:txBody>
      </p:sp>
      <p:sp>
        <p:nvSpPr>
          <p:cNvPr id="6" name="Text 4"/>
          <p:cNvSpPr/>
          <p:nvPr/>
        </p:nvSpPr>
        <p:spPr>
          <a:xfrm>
            <a:off x="548640" y="1371600"/>
            <a:ext cx="667512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NUMERIC DISTRIBUTIONS</a:t>
            </a:r>
            <a:endParaRPr lang="en-US" sz="1200" dirty="0"/>
          </a:p>
        </p:txBody>
      </p:sp>
      <p:sp>
        <p:nvSpPr>
          <p:cNvPr id="7" name="Shape 5"/>
          <p:cNvSpPr/>
          <p:nvPr/>
        </p:nvSpPr>
        <p:spPr>
          <a:xfrm>
            <a:off x="502920" y="1737360"/>
            <a:ext cx="6766560" cy="35204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50_0.png"/>
          <p:cNvPicPr>
            <a:picLocks noChangeAspect="1"/>
          </p:cNvPicPr>
          <p:nvPr/>
        </p:nvPicPr>
        <p:blipFill>
          <a:blip r:embed="rId3"/>
          <a:stretch>
            <a:fillRect/>
          </a:stretch>
        </p:blipFill>
        <p:spPr>
          <a:xfrm>
            <a:off x="1247782" y="1883664"/>
            <a:ext cx="5276836" cy="3227832"/>
          </a:xfrm>
          <a:prstGeom prst="rect">
            <a:avLst/>
          </a:prstGeom>
        </p:spPr>
      </p:pic>
      <p:sp>
        <p:nvSpPr>
          <p:cNvPr id="9" name="Text 6"/>
          <p:cNvSpPr/>
          <p:nvPr/>
        </p:nvSpPr>
        <p:spPr>
          <a:xfrm>
            <a:off x="548640" y="5349240"/>
            <a:ext cx="6675120" cy="731520"/>
          </a:xfrm>
          <a:prstGeom prst="rect">
            <a:avLst/>
          </a:prstGeom>
          <a:noFill/>
          <a:ln/>
        </p:spPr>
        <p:txBody>
          <a:bodyPr wrap="square" lIns="0" tIns="0" rIns="0" bIns="0" rtlCol="0" anchor="t"/>
          <a:lstStyle/>
          <a:p>
            <a:pPr marL="0" indent="0">
              <a:buNone/>
            </a:pPr>
            <a:r>
              <a:rPr lang="en-US" sz="1000" i="1" dirty="0">
                <a:solidFill>
                  <a:srgbClr val="9AA7BD"/>
                </a:solidFill>
                <a:latin typeface="Calibri" pitchFamily="34" charset="0"/>
                <a:ea typeface="Calibri" pitchFamily="34" charset="-122"/>
                <a:cs typeface="Calibri" pitchFamily="34" charset="-120"/>
              </a:rPr>
              <a:t>Age is right skewed</a:t>
            </a:r>
          </a:p>
          <a:p>
            <a:pPr marL="0" indent="0">
              <a:buNone/>
            </a:pPr>
            <a:endParaRPr lang="en-US" sz="1000" i="1" dirty="0">
              <a:solidFill>
                <a:srgbClr val="9AA7BD"/>
              </a:solidFill>
              <a:latin typeface="Calibri" pitchFamily="34" charset="0"/>
              <a:ea typeface="Calibri" pitchFamily="34" charset="-122"/>
              <a:cs typeface="Calibri" pitchFamily="34" charset="-120"/>
            </a:endParaRPr>
          </a:p>
          <a:p>
            <a:pPr marL="0" indent="0">
              <a:buNone/>
            </a:pPr>
            <a:r>
              <a:rPr lang="en-US" sz="1000" i="1" dirty="0">
                <a:solidFill>
                  <a:srgbClr val="9AA7BD"/>
                </a:solidFill>
                <a:latin typeface="Calibri" pitchFamily="34" charset="0"/>
                <a:ea typeface="Calibri" pitchFamily="34" charset="-122"/>
                <a:cs typeface="Calibri" pitchFamily="34" charset="-120"/>
              </a:rPr>
              <a:t>Education clusters at 9 to 10 (high school)</a:t>
            </a:r>
          </a:p>
          <a:p>
            <a:pPr marL="0" indent="0">
              <a:buNone/>
            </a:pPr>
            <a:endParaRPr lang="en-US" sz="1000" i="1" dirty="0">
              <a:solidFill>
                <a:srgbClr val="9AA7BD"/>
              </a:solidFill>
              <a:latin typeface="Calibri" pitchFamily="34" charset="0"/>
              <a:ea typeface="Calibri" pitchFamily="34" charset="-122"/>
              <a:cs typeface="Calibri" pitchFamily="34" charset="-120"/>
            </a:endParaRPr>
          </a:p>
          <a:p>
            <a:pPr marL="0" indent="0">
              <a:buNone/>
            </a:pPr>
            <a:r>
              <a:rPr lang="en-US" sz="1000" i="1" dirty="0">
                <a:solidFill>
                  <a:srgbClr val="9AA7BD"/>
                </a:solidFill>
                <a:latin typeface="Calibri" pitchFamily="34" charset="0"/>
                <a:ea typeface="Calibri" pitchFamily="34" charset="-122"/>
                <a:cs typeface="Calibri" pitchFamily="34" charset="-120"/>
              </a:rPr>
              <a:t>Hours are highly concentrated at 40</a:t>
            </a:r>
          </a:p>
          <a:p>
            <a:pPr marL="0" indent="0">
              <a:buNone/>
            </a:pPr>
            <a:endParaRPr lang="en-US" sz="1000" i="1" dirty="0">
              <a:solidFill>
                <a:srgbClr val="9AA7BD"/>
              </a:solidFill>
              <a:latin typeface="Calibri" pitchFamily="34" charset="0"/>
              <a:ea typeface="Calibri" pitchFamily="34" charset="-122"/>
              <a:cs typeface="Calibri" pitchFamily="34" charset="-120"/>
            </a:endParaRPr>
          </a:p>
          <a:p>
            <a:pPr marL="0" indent="0">
              <a:buNone/>
            </a:pPr>
            <a:r>
              <a:rPr lang="en-US" sz="1000" i="1" dirty="0">
                <a:solidFill>
                  <a:srgbClr val="9AA7BD"/>
                </a:solidFill>
                <a:latin typeface="Calibri" pitchFamily="34" charset="0"/>
                <a:ea typeface="Calibri" pitchFamily="34" charset="-122"/>
                <a:cs typeface="Calibri" pitchFamily="34" charset="-120"/>
              </a:rPr>
              <a:t>Capital gain and loss are almost all zero.</a:t>
            </a:r>
            <a:endParaRPr lang="en-US" sz="1000" dirty="0"/>
          </a:p>
        </p:txBody>
      </p:sp>
      <p:sp>
        <p:nvSpPr>
          <p:cNvPr id="10" name="Text 7"/>
          <p:cNvSpPr/>
          <p:nvPr/>
        </p:nvSpPr>
        <p:spPr>
          <a:xfrm>
            <a:off x="7543800" y="1371600"/>
            <a:ext cx="411480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NUMERIC CORRELATIONS</a:t>
            </a:r>
            <a:endParaRPr lang="en-US" sz="1200" dirty="0"/>
          </a:p>
        </p:txBody>
      </p:sp>
      <p:sp>
        <p:nvSpPr>
          <p:cNvPr id="11" name="Shape 8"/>
          <p:cNvSpPr/>
          <p:nvPr/>
        </p:nvSpPr>
        <p:spPr>
          <a:xfrm>
            <a:off x="7498080" y="1737360"/>
            <a:ext cx="4187952" cy="35204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2" name="Image 1" descr="/home/claude/imgs/cell52_0.png"/>
          <p:cNvPicPr>
            <a:picLocks noChangeAspect="1"/>
          </p:cNvPicPr>
          <p:nvPr/>
        </p:nvPicPr>
        <p:blipFill>
          <a:blip r:embed="rId4"/>
          <a:stretch>
            <a:fillRect/>
          </a:stretch>
        </p:blipFill>
        <p:spPr>
          <a:xfrm>
            <a:off x="7644384" y="1984028"/>
            <a:ext cx="3895344" cy="3027105"/>
          </a:xfrm>
          <a:prstGeom prst="rect">
            <a:avLst/>
          </a:prstGeom>
        </p:spPr>
      </p:pic>
      <p:sp>
        <p:nvSpPr>
          <p:cNvPr id="13" name="Text 9"/>
          <p:cNvSpPr/>
          <p:nvPr/>
        </p:nvSpPr>
        <p:spPr>
          <a:xfrm>
            <a:off x="7543800" y="5349240"/>
            <a:ext cx="4114800" cy="731520"/>
          </a:xfrm>
          <a:prstGeom prst="rect">
            <a:avLst/>
          </a:prstGeom>
          <a:noFill/>
          <a:ln/>
        </p:spPr>
        <p:txBody>
          <a:bodyPr wrap="square" lIns="0" tIns="0" rIns="0" bIns="0" rtlCol="0" anchor="t"/>
          <a:lstStyle/>
          <a:p>
            <a:pPr marL="0" indent="0">
              <a:buNone/>
            </a:pPr>
            <a:r>
              <a:rPr lang="en-US" sz="1000" i="1" dirty="0">
                <a:solidFill>
                  <a:srgbClr val="9AA7BD"/>
                </a:solidFill>
                <a:latin typeface="Calibri" pitchFamily="34" charset="0"/>
                <a:ea typeface="Calibri" pitchFamily="34" charset="-122"/>
                <a:cs typeface="Calibri" pitchFamily="34" charset="-120"/>
              </a:rPr>
              <a:t>Every off-diagonal correlation is small: no multicollinearity, which keeps the logistic regression coefficients stable and readable (Hypothesis 1)</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000" b="1">
                <a:solidFill>
                  <a:srgbClr val="E8C15A"/>
                </a:solidFill>
                <a:latin typeface="Trebuchet MS" pitchFamily="34" charset="0"/>
                <a:ea typeface="Trebuchet MS" pitchFamily="34" charset="-122"/>
                <a:cs typeface="Trebuchet MS" pitchFamily="34" charset="-120"/>
              </a:rPr>
              <a:t>H1</a:t>
            </a:r>
            <a:endParaRPr lang="en-US" sz="20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H1: education beats hours worked</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Rate spread first, then a decision tree with every feature competing at once</a:t>
            </a:r>
            <a:endParaRPr lang="en-US" sz="1250" dirty="0"/>
          </a:p>
        </p:txBody>
      </p:sp>
      <p:sp>
        <p:nvSpPr>
          <p:cNvPr id="6" name="Text 4"/>
          <p:cNvSpPr/>
          <p:nvPr/>
        </p:nvSpPr>
        <p:spPr>
          <a:xfrm>
            <a:off x="548640" y="1371600"/>
            <a:ext cx="4023360" cy="274320"/>
          </a:xfrm>
          <a:prstGeom prst="rect">
            <a:avLst/>
          </a:prstGeom>
          <a:noFill/>
          <a:ln/>
        </p:spPr>
        <p:txBody>
          <a:bodyPr wrap="square" lIns="0" tIns="0" rIns="0" bIns="0" rtlCol="0" anchor="ctr"/>
          <a:lstStyle/>
          <a:p>
            <a:pPr marL="0" indent="0" algn="ctr">
              <a:buNone/>
            </a:pPr>
            <a:r>
              <a:rPr lang="en-US" sz="1150" b="1" kern="0" spc="100" dirty="0">
                <a:solidFill>
                  <a:srgbClr val="9AA7BD"/>
                </a:solidFill>
                <a:latin typeface="Calibri" pitchFamily="34" charset="0"/>
                <a:ea typeface="Calibri" pitchFamily="34" charset="-122"/>
                <a:cs typeface="Calibri" pitchFamily="34" charset="-120"/>
              </a:rPr>
              <a:t>&gt;50K RATE BY EDUCATION</a:t>
            </a:r>
            <a:endParaRPr lang="en-US" sz="1150" dirty="0"/>
          </a:p>
        </p:txBody>
      </p:sp>
      <p:sp>
        <p:nvSpPr>
          <p:cNvPr id="7" name="Shape 5"/>
          <p:cNvSpPr/>
          <p:nvPr/>
        </p:nvSpPr>
        <p:spPr>
          <a:xfrm>
            <a:off x="502920" y="1691640"/>
            <a:ext cx="4114800" cy="361188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60_0.png"/>
          <p:cNvPicPr>
            <a:picLocks noChangeAspect="1"/>
          </p:cNvPicPr>
          <p:nvPr/>
        </p:nvPicPr>
        <p:blipFill>
          <a:blip r:embed="rId3"/>
          <a:stretch>
            <a:fillRect/>
          </a:stretch>
        </p:blipFill>
        <p:spPr>
          <a:xfrm>
            <a:off x="649224" y="1957660"/>
            <a:ext cx="3822192" cy="3079840"/>
          </a:xfrm>
          <a:prstGeom prst="rect">
            <a:avLst/>
          </a:prstGeom>
        </p:spPr>
      </p:pic>
      <p:sp>
        <p:nvSpPr>
          <p:cNvPr id="9" name="Text 6"/>
          <p:cNvSpPr/>
          <p:nvPr/>
        </p:nvSpPr>
        <p:spPr>
          <a:xfrm>
            <a:off x="4800600" y="1371600"/>
            <a:ext cx="4023360" cy="274320"/>
          </a:xfrm>
          <a:prstGeom prst="rect">
            <a:avLst/>
          </a:prstGeom>
          <a:noFill/>
          <a:ln/>
        </p:spPr>
        <p:txBody>
          <a:bodyPr wrap="square" lIns="0" tIns="0" rIns="0" bIns="0" rtlCol="0" anchor="ctr"/>
          <a:lstStyle/>
          <a:p>
            <a:pPr marL="0" indent="0" algn="ctr">
              <a:buNone/>
            </a:pPr>
            <a:r>
              <a:rPr lang="en-US" sz="1150" b="1" kern="0" spc="100" dirty="0">
                <a:solidFill>
                  <a:srgbClr val="9AA7BD"/>
                </a:solidFill>
                <a:latin typeface="Calibri" pitchFamily="34" charset="0"/>
                <a:ea typeface="Calibri" pitchFamily="34" charset="-122"/>
                <a:cs typeface="Calibri" pitchFamily="34" charset="-120"/>
              </a:rPr>
              <a:t>&gt;50K RATE BY HOURS</a:t>
            </a:r>
            <a:endParaRPr lang="en-US" sz="1150" dirty="0"/>
          </a:p>
        </p:txBody>
      </p:sp>
      <p:sp>
        <p:nvSpPr>
          <p:cNvPr id="10" name="Shape 7"/>
          <p:cNvSpPr/>
          <p:nvPr/>
        </p:nvSpPr>
        <p:spPr>
          <a:xfrm>
            <a:off x="4754880" y="1691640"/>
            <a:ext cx="4114800" cy="361188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1" name="Image 1" descr="/home/claude/imgs/cell61_0.png"/>
          <p:cNvPicPr>
            <a:picLocks noChangeAspect="1"/>
          </p:cNvPicPr>
          <p:nvPr/>
        </p:nvPicPr>
        <p:blipFill>
          <a:blip r:embed="rId4"/>
          <a:stretch>
            <a:fillRect/>
          </a:stretch>
        </p:blipFill>
        <p:spPr>
          <a:xfrm>
            <a:off x="4901184" y="1994064"/>
            <a:ext cx="3822192" cy="3007033"/>
          </a:xfrm>
          <a:prstGeom prst="rect">
            <a:avLst/>
          </a:prstGeom>
        </p:spPr>
      </p:pic>
      <p:sp>
        <p:nvSpPr>
          <p:cNvPr id="12" name="Shape 8"/>
          <p:cNvSpPr/>
          <p:nvPr/>
        </p:nvSpPr>
        <p:spPr>
          <a:xfrm>
            <a:off x="9006840" y="1691640"/>
            <a:ext cx="2679192" cy="361188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3" name="Text 9"/>
          <p:cNvSpPr/>
          <p:nvPr/>
        </p:nvSpPr>
        <p:spPr>
          <a:xfrm>
            <a:off x="9144000" y="1920240"/>
            <a:ext cx="2423160" cy="274320"/>
          </a:xfrm>
          <a:prstGeom prst="rect">
            <a:avLst/>
          </a:prstGeom>
          <a:noFill/>
          <a:ln/>
        </p:spPr>
        <p:txBody>
          <a:bodyPr wrap="square" lIns="0" tIns="0" rIns="0" bIns="0" rtlCol="0" anchor="ctr"/>
          <a:lstStyle/>
          <a:p>
            <a:pPr marL="0" indent="0" algn="ctr">
              <a:buNone/>
            </a:pPr>
            <a:endParaRPr lang="en-US" sz="1200" b="1" kern="0" spc="150" dirty="0">
              <a:solidFill>
                <a:schemeClr val="accent4"/>
              </a:solidFill>
              <a:latin typeface="Calibri" pitchFamily="34" charset="0"/>
              <a:ea typeface="Calibri" pitchFamily="34" charset="-122"/>
              <a:cs typeface="Calibri" pitchFamily="34" charset="-120"/>
            </a:endParaRPr>
          </a:p>
          <a:p>
            <a:pPr marL="0" indent="0" algn="ctr">
              <a:buNone/>
            </a:pPr>
            <a:endParaRPr lang="en-US" sz="1200" b="1" kern="0" spc="150" dirty="0">
              <a:solidFill>
                <a:schemeClr val="accent4"/>
              </a:solidFill>
              <a:latin typeface="Calibri" pitchFamily="34" charset="0"/>
              <a:ea typeface="Calibri" pitchFamily="34" charset="-122"/>
              <a:cs typeface="Calibri" pitchFamily="34" charset="-120"/>
            </a:endParaRPr>
          </a:p>
          <a:p>
            <a:pPr marL="0" indent="0" algn="ctr">
              <a:buNone/>
            </a:pPr>
            <a:r>
              <a:rPr lang="en-US" sz="1200" b="1" kern="0" spc="150" dirty="0">
                <a:solidFill>
                  <a:schemeClr val="accent4"/>
                </a:solidFill>
                <a:latin typeface="Calibri" pitchFamily="34" charset="0"/>
                <a:ea typeface="Calibri" pitchFamily="34" charset="-122"/>
                <a:cs typeface="Calibri" pitchFamily="34" charset="-120"/>
              </a:rPr>
              <a:t>RATE SPREAD </a:t>
            </a:r>
          </a:p>
          <a:p>
            <a:pPr algn="ctr"/>
            <a:r>
              <a:rPr lang="en-US" sz="1000" dirty="0">
                <a:solidFill>
                  <a:schemeClr val="accent4"/>
                </a:solidFill>
              </a:rPr>
              <a:t>share of people (taken from mean count of individuals from </a:t>
            </a:r>
            <a:r>
              <a:rPr lang="en-US" sz="1000" dirty="0" err="1">
                <a:solidFill>
                  <a:schemeClr val="accent4"/>
                </a:solidFill>
              </a:rPr>
              <a:t>high_income</a:t>
            </a:r>
            <a:r>
              <a:rPr lang="en-US" sz="1000" dirty="0">
                <a:solidFill>
                  <a:schemeClr val="accent4"/>
                </a:solidFill>
              </a:rPr>
              <a:t> binary target variable) within each education level or hours bin who earn over 50K </a:t>
            </a:r>
          </a:p>
        </p:txBody>
      </p:sp>
      <p:sp>
        <p:nvSpPr>
          <p:cNvPr id="14" name="Text 10"/>
          <p:cNvSpPr/>
          <p:nvPr/>
        </p:nvSpPr>
        <p:spPr>
          <a:xfrm>
            <a:off x="9134856" y="2674620"/>
            <a:ext cx="2423160" cy="685800"/>
          </a:xfrm>
          <a:prstGeom prst="rect">
            <a:avLst/>
          </a:prstGeom>
          <a:noFill/>
          <a:ln/>
          <a:effectLst/>
        </p:spPr>
        <p:txBody>
          <a:bodyPr wrap="square" lIns="0" tIns="0" rIns="0" bIns="0" rtlCol="0" anchor="ctr"/>
          <a:lstStyle/>
          <a:p>
            <a:pPr marL="0" indent="0" algn="ctr">
              <a:buNone/>
            </a:pPr>
            <a:r>
              <a:rPr lang="en-US" sz="4000" b="1" dirty="0">
                <a:solidFill>
                  <a:srgbClr val="F5F7FA"/>
                </a:solidFill>
                <a:latin typeface="Trebuchet MS" pitchFamily="34" charset="0"/>
                <a:ea typeface="Trebuchet MS" pitchFamily="34" charset="-122"/>
                <a:cs typeface="Trebuchet MS" pitchFamily="34" charset="-120"/>
              </a:rPr>
              <a:t>0.741</a:t>
            </a:r>
            <a:endParaRPr lang="en-US" sz="4000" dirty="0"/>
          </a:p>
        </p:txBody>
      </p:sp>
      <p:sp>
        <p:nvSpPr>
          <p:cNvPr id="15" name="Text 11"/>
          <p:cNvSpPr/>
          <p:nvPr/>
        </p:nvSpPr>
        <p:spPr>
          <a:xfrm>
            <a:off x="9134856" y="3240055"/>
            <a:ext cx="2423160" cy="274320"/>
          </a:xfrm>
          <a:prstGeom prst="rect">
            <a:avLst/>
          </a:prstGeom>
          <a:noFill/>
          <a:ln/>
        </p:spPr>
        <p:txBody>
          <a:bodyPr wrap="square" lIns="0" tIns="0" rIns="0" bIns="0" rtlCol="0" anchor="ctr"/>
          <a:lstStyle/>
          <a:p>
            <a:pPr marL="0" indent="0" algn="ctr">
              <a:buNone/>
            </a:pPr>
            <a:r>
              <a:rPr lang="en-US" sz="1200" dirty="0">
                <a:solidFill>
                  <a:srgbClr val="9AA7BD"/>
                </a:solidFill>
                <a:latin typeface="Calibri" pitchFamily="34" charset="0"/>
                <a:ea typeface="Calibri" pitchFamily="34" charset="-122"/>
                <a:cs typeface="Calibri" pitchFamily="34" charset="-120"/>
              </a:rPr>
              <a:t>education</a:t>
            </a:r>
            <a:endParaRPr lang="en-US" sz="1200" dirty="0"/>
          </a:p>
        </p:txBody>
      </p:sp>
      <p:sp>
        <p:nvSpPr>
          <p:cNvPr id="16" name="Text 12"/>
          <p:cNvSpPr/>
          <p:nvPr/>
        </p:nvSpPr>
        <p:spPr>
          <a:xfrm>
            <a:off x="9144000" y="3611880"/>
            <a:ext cx="2423160" cy="685800"/>
          </a:xfrm>
          <a:prstGeom prst="rect">
            <a:avLst/>
          </a:prstGeom>
          <a:noFill/>
          <a:ln/>
          <a:effectLst/>
        </p:spPr>
        <p:txBody>
          <a:bodyPr wrap="square" lIns="0" tIns="0" rIns="0" bIns="0" rtlCol="0" anchor="ctr"/>
          <a:lstStyle/>
          <a:p>
            <a:pPr marL="0" indent="0" algn="ctr">
              <a:buNone/>
            </a:pPr>
            <a:r>
              <a:rPr lang="en-US" sz="4000" b="1">
                <a:solidFill>
                  <a:schemeClr val="bg1"/>
                </a:solidFill>
                <a:latin typeface="Trebuchet MS" pitchFamily="34" charset="0"/>
                <a:ea typeface="Trebuchet MS" pitchFamily="34" charset="-122"/>
                <a:cs typeface="Trebuchet MS" pitchFamily="34" charset="-120"/>
              </a:rPr>
              <a:t>0.361</a:t>
            </a:r>
            <a:endParaRPr lang="en-US" sz="4000" dirty="0">
              <a:solidFill>
                <a:schemeClr val="bg1"/>
              </a:solidFill>
            </a:endParaRPr>
          </a:p>
        </p:txBody>
      </p:sp>
      <p:sp>
        <p:nvSpPr>
          <p:cNvPr id="17" name="Text 13"/>
          <p:cNvSpPr/>
          <p:nvPr/>
        </p:nvSpPr>
        <p:spPr>
          <a:xfrm>
            <a:off x="9144000" y="4297680"/>
            <a:ext cx="2423160" cy="274320"/>
          </a:xfrm>
          <a:prstGeom prst="rect">
            <a:avLst/>
          </a:prstGeom>
          <a:noFill/>
          <a:ln/>
        </p:spPr>
        <p:txBody>
          <a:bodyPr wrap="square" lIns="0" tIns="0" rIns="0" bIns="0" rtlCol="0" anchor="ctr"/>
          <a:lstStyle/>
          <a:p>
            <a:pPr marL="0" indent="0" algn="ctr">
              <a:buNone/>
            </a:pPr>
            <a:r>
              <a:rPr lang="en-US" sz="1200" dirty="0">
                <a:solidFill>
                  <a:srgbClr val="9AA7BD"/>
                </a:solidFill>
                <a:latin typeface="Calibri" pitchFamily="34" charset="0"/>
                <a:ea typeface="Calibri" pitchFamily="34" charset="-122"/>
                <a:cs typeface="Calibri" pitchFamily="34" charset="-120"/>
              </a:rPr>
              <a:t>hours</a:t>
            </a:r>
            <a:endParaRPr lang="en-US" sz="1200" dirty="0"/>
          </a:p>
        </p:txBody>
      </p:sp>
      <p:sp>
        <p:nvSpPr>
          <p:cNvPr id="18" name="Text 14"/>
          <p:cNvSpPr/>
          <p:nvPr/>
        </p:nvSpPr>
        <p:spPr>
          <a:xfrm>
            <a:off x="9144000" y="4663440"/>
            <a:ext cx="2423160" cy="548640"/>
          </a:xfrm>
          <a:prstGeom prst="rect">
            <a:avLst/>
          </a:prstGeom>
          <a:noFill/>
          <a:ln/>
        </p:spPr>
        <p:txBody>
          <a:bodyPr wrap="square" lIns="0" tIns="0" rIns="0" bIns="0" rtlCol="0" anchor="t"/>
          <a:lstStyle/>
          <a:p>
            <a:pPr marL="0" indent="0" algn="ctr">
              <a:buNone/>
            </a:pPr>
            <a:r>
              <a:rPr lang="en-US" sz="1150" i="1" dirty="0">
                <a:solidFill>
                  <a:srgbClr val="6E7C94"/>
                </a:solidFill>
                <a:latin typeface="Calibri" pitchFamily="34" charset="0"/>
                <a:ea typeface="Calibri" pitchFamily="34" charset="-122"/>
                <a:cs typeface="Calibri" pitchFamily="34" charset="-120"/>
              </a:rPr>
              <a:t>Education spreads the rate roughly 2× wider.</a:t>
            </a:r>
            <a:endParaRPr lang="en-US" sz="1150" dirty="0"/>
          </a:p>
        </p:txBody>
      </p:sp>
      <p:sp>
        <p:nvSpPr>
          <p:cNvPr id="19" name="Shape 15"/>
          <p:cNvSpPr/>
          <p:nvPr/>
        </p:nvSpPr>
        <p:spPr>
          <a:xfrm>
            <a:off x="502920" y="5486400"/>
            <a:ext cx="11183112" cy="86868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20" name="Text 16"/>
          <p:cNvSpPr/>
          <p:nvPr/>
        </p:nvSpPr>
        <p:spPr>
          <a:xfrm>
            <a:off x="777240" y="5532120"/>
            <a:ext cx="10698480" cy="777240"/>
          </a:xfrm>
          <a:prstGeom prst="rect">
            <a:avLst/>
          </a:prstGeom>
          <a:noFill/>
          <a:ln/>
        </p:spPr>
        <p:txBody>
          <a:bodyPr wrap="square" lIns="0" tIns="0" rIns="0" bIns="0" rtlCol="0" anchor="ctr"/>
          <a:lstStyle/>
          <a:p>
            <a:pPr marL="0" indent="0">
              <a:buNone/>
            </a:pPr>
            <a:r>
              <a:rPr lang="en-US" sz="1300" b="1" dirty="0">
                <a:solidFill>
                  <a:srgbClr val="E8C15A"/>
                </a:solidFill>
                <a:latin typeface="Calibri" pitchFamily="34" charset="0"/>
                <a:ea typeface="Calibri" pitchFamily="34" charset="-122"/>
                <a:cs typeface="Calibri" pitchFamily="34" charset="-120"/>
              </a:rPr>
              <a:t>Takeaway   The rate spread is only a one-feature view, so I fit a decision tree that puts every feature in competition. Education still wins: 0.223 vs 0.028 on tree importance and 0.099 vs 0.023 on permutation importance measured on held-out rows. Both measures agree on the direction, so H1 has real support. Marital status and capital gain do rank above education, which H1 does not claim either way.</a:t>
            </a:r>
            <a:r>
              <a:rPr lang="en-US" sz="1250" dirty="0">
                <a:solidFill>
                  <a:srgbClr val="9AA7BD"/>
                </a:solidFill>
                <a:latin typeface="Calibri" pitchFamily="34" charset="0"/>
                <a:ea typeface="Calibri" pitchFamily="34" charset="-122"/>
                <a:cs typeface="Calibri" pitchFamily="34" charset="-120"/>
              </a:rPr>
              <a:t/>
            </a:r>
            <a:endParaRPr lang="en-US" sz="13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000" b="1">
                <a:solidFill>
                  <a:srgbClr val="E8C15A"/>
                </a:solidFill>
                <a:latin typeface="Trebuchet MS" pitchFamily="34" charset="0"/>
                <a:ea typeface="Trebuchet MS" pitchFamily="34" charset="-122"/>
                <a:cs typeface="Trebuchet MS" pitchFamily="34" charset="-120"/>
              </a:rPr>
              <a:t>H2</a:t>
            </a:r>
            <a:endParaRPr lang="en-US" sz="20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A real base-rate gap across nativity</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The gap the fairness audit will measure as a recall gap</a:t>
            </a:r>
            <a:endParaRPr lang="en-US" sz="1250" dirty="0"/>
          </a:p>
        </p:txBody>
      </p:sp>
      <p:sp>
        <p:nvSpPr>
          <p:cNvPr id="6" name="Text 4"/>
          <p:cNvSpPr/>
          <p:nvPr/>
        </p:nvSpPr>
        <p:spPr>
          <a:xfrm>
            <a:off x="548640" y="1371600"/>
            <a:ext cx="5486400" cy="274320"/>
          </a:xfrm>
          <a:prstGeom prst="rect">
            <a:avLst/>
          </a:prstGeom>
          <a:noFill/>
          <a:ln/>
        </p:spPr>
        <p:txBody>
          <a:bodyPr wrap="square" lIns="0" tIns="0" rIns="0" bIns="0" rtlCol="0" anchor="ctr"/>
          <a:lstStyle/>
          <a:p>
            <a:pPr marL="0" indent="0" algn="ctr">
              <a:buNone/>
            </a:pPr>
            <a:r>
              <a:rPr lang="en-US" sz="1150" b="1" kern="0" spc="100" dirty="0">
                <a:solidFill>
                  <a:srgbClr val="9AA7BD"/>
                </a:solidFill>
                <a:latin typeface="Calibri" pitchFamily="34" charset="0"/>
                <a:ea typeface="Calibri" pitchFamily="34" charset="-122"/>
                <a:cs typeface="Calibri" pitchFamily="34" charset="-120"/>
              </a:rPr>
              <a:t>&gt;50K RATE BY NATIVITY AND SEX</a:t>
            </a:r>
            <a:endParaRPr lang="en-US" sz="1150" dirty="0"/>
          </a:p>
        </p:txBody>
      </p:sp>
      <p:sp>
        <p:nvSpPr>
          <p:cNvPr id="7" name="Shape 5"/>
          <p:cNvSpPr/>
          <p:nvPr/>
        </p:nvSpPr>
        <p:spPr>
          <a:xfrm>
            <a:off x="502920" y="1691640"/>
            <a:ext cx="5577840" cy="448056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68_0.png"/>
          <p:cNvPicPr>
            <a:picLocks noChangeAspect="1"/>
          </p:cNvPicPr>
          <p:nvPr/>
        </p:nvPicPr>
        <p:blipFill>
          <a:blip r:embed="rId3"/>
          <a:stretch>
            <a:fillRect/>
          </a:stretch>
        </p:blipFill>
        <p:spPr>
          <a:xfrm>
            <a:off x="649224" y="1852895"/>
            <a:ext cx="5285232" cy="4158050"/>
          </a:xfrm>
          <a:prstGeom prst="rect">
            <a:avLst/>
          </a:prstGeom>
        </p:spPr>
      </p:pic>
      <p:sp>
        <p:nvSpPr>
          <p:cNvPr id="9" name="Shape 6"/>
          <p:cNvSpPr/>
          <p:nvPr/>
        </p:nvSpPr>
        <p:spPr>
          <a:xfrm>
            <a:off x="6263640" y="1371600"/>
            <a:ext cx="5422392" cy="228600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0" name="Text 7"/>
          <p:cNvSpPr/>
          <p:nvPr/>
        </p:nvSpPr>
        <p:spPr>
          <a:xfrm>
            <a:off x="6510528" y="1536192"/>
            <a:ext cx="493776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THE GAP</a:t>
            </a:r>
            <a:endParaRPr lang="en-US" sz="1200" dirty="0"/>
          </a:p>
        </p:txBody>
      </p:sp>
      <p:sp>
        <p:nvSpPr>
          <p:cNvPr id="11" name="Text 8"/>
          <p:cNvSpPr/>
          <p:nvPr/>
        </p:nvSpPr>
        <p:spPr>
          <a:xfrm>
            <a:off x="6510528" y="1965960"/>
            <a:ext cx="5029200" cy="822960"/>
          </a:xfrm>
          <a:prstGeom prst="rect">
            <a:avLst/>
          </a:prstGeom>
          <a:noFill/>
          <a:ln/>
          <a:effectLst/>
        </p:spPr>
        <p:txBody>
          <a:bodyPr wrap="square" lIns="0" tIns="0" rIns="0" bIns="0" rtlCol="0" anchor="ctr"/>
          <a:lstStyle/>
          <a:p>
            <a:pPr marL="0" indent="0">
              <a:buNone/>
            </a:pPr>
            <a:r>
              <a:rPr lang="en-US" sz="3400" b="1">
                <a:solidFill>
                  <a:srgbClr val="F5F7FA"/>
                </a:solidFill>
                <a:latin typeface="Trebuchet MS" pitchFamily="34" charset="0"/>
                <a:ea typeface="Trebuchet MS" pitchFamily="34" charset="-122"/>
                <a:cs typeface="Trebuchet MS" pitchFamily="34" charset="-120"/>
              </a:rPr>
              <a:t>24.6%</a:t>
            </a:r>
            <a:r>
              <a:rPr lang="en-US" sz="1400" dirty="0">
                <a:solidFill>
                  <a:srgbClr val="9AA7BD"/>
                </a:solidFill>
                <a:latin typeface="Calibri" pitchFamily="34" charset="0"/>
                <a:ea typeface="Calibri" pitchFamily="34" charset="-122"/>
                <a:cs typeface="Calibri" pitchFamily="34" charset="-120"/>
              </a:rPr>
              <a:t>  US-born</a:t>
            </a:r>
            <a:r>
              <a:rPr lang="en-US" sz="1300" dirty="0">
                <a:solidFill>
                  <a:srgbClr val="6E7C94"/>
                </a:solidFill>
                <a:latin typeface="Calibri" pitchFamily="34" charset="0"/>
                <a:ea typeface="Calibri" pitchFamily="34" charset="-122"/>
                <a:cs typeface="Calibri" pitchFamily="34" charset="-120"/>
              </a:rPr>
              <a:t>    vs    </a:t>
            </a:r>
            <a:r>
              <a:rPr lang="en-US" sz="3400" b="1">
                <a:solidFill>
                  <a:schemeClr val="bg1"/>
                </a:solidFill>
                <a:latin typeface="Trebuchet MS" pitchFamily="34" charset="0"/>
                <a:ea typeface="Trebuchet MS" pitchFamily="34" charset="-122"/>
                <a:cs typeface="Trebuchet MS" pitchFamily="34" charset="-120"/>
              </a:rPr>
              <a:t>18.7%</a:t>
            </a:r>
            <a:r>
              <a:rPr lang="en-US" sz="1400" dirty="0">
                <a:solidFill>
                  <a:srgbClr val="9AA7BD"/>
                </a:solidFill>
                <a:latin typeface="Calibri" pitchFamily="34" charset="0"/>
                <a:ea typeface="Calibri" pitchFamily="34" charset="-122"/>
                <a:cs typeface="Calibri" pitchFamily="34" charset="-120"/>
              </a:rPr>
              <a:t>  foreign-born</a:t>
            </a:r>
            <a:endParaRPr lang="en-US" sz="3400" dirty="0"/>
          </a:p>
        </p:txBody>
      </p:sp>
      <p:sp>
        <p:nvSpPr>
          <p:cNvPr id="12" name="Text 9"/>
          <p:cNvSpPr/>
          <p:nvPr/>
        </p:nvSpPr>
        <p:spPr>
          <a:xfrm>
            <a:off x="6510528" y="2880360"/>
            <a:ext cx="5029200" cy="640080"/>
          </a:xfrm>
          <a:prstGeom prst="rect">
            <a:avLst/>
          </a:prstGeom>
          <a:noFill/>
          <a:ln/>
        </p:spPr>
        <p:txBody>
          <a:bodyPr wrap="square" lIns="0" tIns="0" rIns="0" bIns="0" rtlCol="0" anchor="t"/>
          <a:lstStyle/>
          <a:p>
            <a:pPr marL="0" indent="0">
              <a:buNone/>
            </a:pPr>
            <a:r>
              <a:rPr lang="en-US" sz="1250" dirty="0">
                <a:solidFill>
                  <a:srgbClr val="9AA7BD"/>
                </a:solidFill>
                <a:latin typeface="Calibri" pitchFamily="34" charset="0"/>
                <a:ea typeface="Calibri" pitchFamily="34" charset="-122"/>
                <a:cs typeface="Calibri" pitchFamily="34" charset="-120"/>
              </a:rPr>
              <a:t>US-born people earn &gt;50K at a higher base rate. Unknown region sits near the US rate at 25.1%.</a:t>
            </a:r>
            <a:endParaRPr lang="en-US" sz="1250" dirty="0"/>
          </a:p>
        </p:txBody>
      </p:sp>
      <p:sp>
        <p:nvSpPr>
          <p:cNvPr id="13" name="Shape 10"/>
          <p:cNvSpPr/>
          <p:nvPr/>
        </p:nvSpPr>
        <p:spPr>
          <a:xfrm>
            <a:off x="6263640" y="3840480"/>
            <a:ext cx="5422392" cy="2331720"/>
          </a:xfrm>
          <a:prstGeom prst="roundRect">
            <a:avLst>
              <a:gd name="adj" fmla="val 1600"/>
            </a:avLst>
          </a:prstGeom>
          <a:solidFill>
            <a:srgbClr val="232631"/>
          </a:solidFill>
          <a:ln w="12700">
            <a:solidFill>
              <a:srgbClr val="3A3F4A">
                <a:alpha val="80000"/>
              </a:srgbClr>
            </a:solidFill>
            <a:prstDash val="solid"/>
          </a:ln>
          <a:effectLst/>
        </p:spPr>
        <p:txBody>
          <a:bodyPr/>
          <a:lstStyle/>
          <a:p>
            <a:endParaRPr lang="en-US"/>
          </a:p>
        </p:txBody>
      </p:sp>
      <p:sp>
        <p:nvSpPr>
          <p:cNvPr id="14" name="Text 11"/>
          <p:cNvSpPr/>
          <p:nvPr/>
        </p:nvSpPr>
        <p:spPr>
          <a:xfrm>
            <a:off x="6510528" y="3986784"/>
            <a:ext cx="4937760" cy="274320"/>
          </a:xfrm>
          <a:prstGeom prst="rect">
            <a:avLst/>
          </a:prstGeom>
          <a:noFill/>
          <a:ln/>
        </p:spPr>
        <p:txBody>
          <a:bodyPr wrap="square" lIns="0" tIns="0" rIns="0" bIns="0" rtlCol="0" anchor="ctr"/>
          <a:lstStyle/>
          <a:p>
            <a:pPr marL="0" indent="0">
              <a:buNone/>
            </a:pPr>
            <a:r>
              <a:rPr lang="en-US" sz="1200" b="1" kern="0" spc="150" dirty="0">
                <a:solidFill>
                  <a:srgbClr val="E8C15A"/>
                </a:solidFill>
                <a:latin typeface="Calibri" pitchFamily="34" charset="0"/>
                <a:ea typeface="Calibri" pitchFamily="34" charset="-122"/>
                <a:cs typeface="Calibri" pitchFamily="34" charset="-120"/>
              </a:rPr>
              <a:t>WHY IT MATTERS</a:t>
            </a:r>
            <a:endParaRPr lang="en-US" sz="1200" dirty="0"/>
          </a:p>
        </p:txBody>
      </p:sp>
      <p:sp>
        <p:nvSpPr>
          <p:cNvPr id="15" name="Text 12"/>
          <p:cNvSpPr/>
          <p:nvPr/>
        </p:nvSpPr>
        <p:spPr>
          <a:xfrm>
            <a:off x="6510528" y="4370832"/>
            <a:ext cx="5029200" cy="1737360"/>
          </a:xfrm>
          <a:prstGeom prst="rect">
            <a:avLst/>
          </a:prstGeom>
          <a:noFill/>
          <a:ln/>
        </p:spPr>
        <p:txBody>
          <a:bodyPr wrap="square" lIns="0" tIns="0" rIns="0" bIns="0" rtlCol="0" anchor="t"/>
          <a:lstStyle/>
          <a:p>
            <a:pPr marL="177800" indent="-177800">
              <a:spcAft>
                <a:spcPts val="600"/>
              </a:spcAft>
              <a:buSzPct val="100000"/>
              <a:buChar char="•"/>
            </a:pPr>
            <a:r>
              <a:rPr lang="en-US" sz="1200" dirty="0">
                <a:solidFill>
                  <a:srgbClr val="9AA7BD"/>
                </a:solidFill>
                <a:latin typeface="Calibri" pitchFamily="34" charset="0"/>
                <a:ea typeface="Calibri" pitchFamily="34" charset="-122"/>
                <a:cs typeface="Calibri" pitchFamily="34" charset="-120"/>
              </a:rPr>
              <a:t>If a model just learns this gap, it misses real foreign-born high earners: a higher false-negative rate  (results in a lower recall, for that group)</a:t>
            </a:r>
            <a:endParaRPr lang="en-US" sz="1200" dirty="0"/>
          </a:p>
          <a:p>
            <a:pPr marL="177800" indent="-177800">
              <a:spcAft>
                <a:spcPts val="600"/>
              </a:spcAft>
              <a:buSzPct val="100000"/>
              <a:buChar char="•"/>
            </a:pPr>
            <a:r>
              <a:rPr lang="en-US" sz="1200" dirty="0">
                <a:solidFill>
                  <a:srgbClr val="9AA7BD"/>
                </a:solidFill>
                <a:latin typeface="Calibri" pitchFamily="34" charset="0"/>
                <a:ea typeface="Calibri" pitchFamily="34" charset="-122"/>
                <a:cs typeface="Calibri" pitchFamily="34" charset="-120"/>
              </a:rPr>
              <a:t>That per-group recall gap is exactly what the fairness audit measures, and Hypothesis 2 predicts XGBoost has the smallest one.</a:t>
            </a:r>
            <a:endParaRPr lang="en-US" sz="1200" dirty="0"/>
          </a:p>
          <a:p>
            <a:pPr marL="177800" indent="-177800">
              <a:spcAft>
                <a:spcPts val="600"/>
              </a:spcAft>
              <a:buSzPct val="100000"/>
              <a:buChar char="•"/>
            </a:pPr>
            <a:r>
              <a:rPr lang="en-US" sz="1200" dirty="0">
                <a:solidFill>
                  <a:srgbClr val="9AA7BD"/>
                </a:solidFill>
                <a:latin typeface="Calibri" pitchFamily="34" charset="0"/>
                <a:ea typeface="Calibri" pitchFamily="34" charset="-122"/>
                <a:cs typeface="Calibri" pitchFamily="34" charset="-120"/>
              </a:rPr>
              <a:t>Splitting by sex shows men are higher in both groups, so the audit checks sex and race alongside nativity, not just nativity alone.</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6181D"/>
        </a:solidFill>
        <a:effectLst/>
      </p:bgPr>
    </p:bg>
    <p:spTree>
      <p:nvGrpSpPr>
        <p:cNvPr id="1" name=""/>
        <p:cNvGrpSpPr/>
        <p:nvPr/>
      </p:nvGrpSpPr>
      <p:grpSpPr>
        <a:xfrm>
          <a:off x="0" y="0"/>
          <a:ext cx="0" cy="0"/>
          <a:chOff x="0" y="0"/>
          <a:chExt cx="0" cy="0"/>
        </a:xfrm>
      </p:grpSpPr>
      <p:sp>
        <p:nvSpPr>
          <p:cNvPr id="2" name="Shape 0"/>
          <p:cNvSpPr/>
          <p:nvPr/>
        </p:nvSpPr>
        <p:spPr>
          <a:xfrm>
            <a:off x="502920" y="384048"/>
            <a:ext cx="640080" cy="640080"/>
          </a:xfrm>
          <a:prstGeom prst="roundRect">
            <a:avLst>
              <a:gd name="adj" fmla="val 1600"/>
            </a:avLst>
          </a:prstGeom>
          <a:solidFill>
            <a:srgbClr val="232631"/>
          </a:solidFill>
          <a:ln w="12700">
            <a:solidFill>
              <a:srgbClr val="6AA0FF">
                <a:alpha val="70000"/>
              </a:srgbClr>
            </a:solidFill>
            <a:prstDash val="solid"/>
          </a:ln>
          <a:effectLst/>
        </p:spPr>
        <p:txBody>
          <a:bodyPr/>
          <a:lstStyle/>
          <a:p>
            <a:endParaRPr lang="en-US"/>
          </a:p>
        </p:txBody>
      </p:sp>
      <p:sp>
        <p:nvSpPr>
          <p:cNvPr id="3" name="Text 1"/>
          <p:cNvSpPr/>
          <p:nvPr/>
        </p:nvSpPr>
        <p:spPr>
          <a:xfrm>
            <a:off x="502920" y="384048"/>
            <a:ext cx="640080" cy="640080"/>
          </a:xfrm>
          <a:prstGeom prst="rect">
            <a:avLst/>
          </a:prstGeom>
          <a:noFill/>
          <a:ln/>
        </p:spPr>
        <p:txBody>
          <a:bodyPr wrap="square" rtlCol="0" anchor="ctr"/>
          <a:lstStyle/>
          <a:p>
            <a:pPr marL="0" indent="0" algn="ctr">
              <a:buNone/>
            </a:pPr>
            <a:r>
              <a:rPr lang="en-US" sz="2000" b="1">
                <a:solidFill>
                  <a:srgbClr val="E8C15A"/>
                </a:solidFill>
                <a:latin typeface="Trebuchet MS" pitchFamily="34" charset="0"/>
                <a:ea typeface="Trebuchet MS" pitchFamily="34" charset="-122"/>
                <a:cs typeface="Trebuchet MS" pitchFamily="34" charset="-120"/>
              </a:rPr>
              <a:t>H3</a:t>
            </a:r>
            <a:endParaRPr lang="en-US" sz="2000" dirty="0"/>
          </a:p>
        </p:txBody>
      </p:sp>
      <p:sp>
        <p:nvSpPr>
          <p:cNvPr id="4" name="Text 2"/>
          <p:cNvSpPr/>
          <p:nvPr/>
        </p:nvSpPr>
        <p:spPr>
          <a:xfrm>
            <a:off x="1298448" y="347472"/>
            <a:ext cx="10332720" cy="475488"/>
          </a:xfrm>
          <a:prstGeom prst="rect">
            <a:avLst/>
          </a:prstGeom>
          <a:noFill/>
          <a:ln/>
          <a:effectLst/>
        </p:spPr>
        <p:txBody>
          <a:bodyPr wrap="square" lIns="0" tIns="0" rIns="0" bIns="0" rtlCol="0" anchor="ctr"/>
          <a:lstStyle/>
          <a:p>
            <a:pPr marL="0" indent="0">
              <a:buNone/>
            </a:pPr>
            <a:r>
              <a:rPr lang="en-US" sz="3000" b="1">
                <a:solidFill>
                  <a:srgbClr val="F5F7FA"/>
                </a:solidFill>
                <a:latin typeface="Trebuchet MS" pitchFamily="34" charset="0"/>
                <a:ea typeface="Trebuchet MS" pitchFamily="34" charset="-122"/>
                <a:cs typeface="Trebuchet MS" pitchFamily="34" charset="-120"/>
              </a:rPr>
              <a:t>Patterns the flexible models can exploit</a:t>
            </a:r>
            <a:endParaRPr lang="en-US" sz="3000" dirty="0"/>
          </a:p>
        </p:txBody>
      </p:sp>
      <p:sp>
        <p:nvSpPr>
          <p:cNvPr id="5" name="Text 3"/>
          <p:cNvSpPr/>
          <p:nvPr/>
        </p:nvSpPr>
        <p:spPr>
          <a:xfrm>
            <a:off x="1316736" y="841248"/>
            <a:ext cx="10332720" cy="310896"/>
          </a:xfrm>
          <a:prstGeom prst="rect">
            <a:avLst/>
          </a:prstGeom>
          <a:noFill/>
          <a:ln/>
        </p:spPr>
        <p:txBody>
          <a:bodyPr wrap="square" lIns="0" tIns="0" rIns="0" bIns="0" rtlCol="0" anchor="ctr"/>
          <a:lstStyle/>
          <a:p>
            <a:pPr marL="0" indent="0">
              <a:buNone/>
            </a:pPr>
            <a:r>
              <a:rPr lang="en-US" sz="1250" i="1" dirty="0">
                <a:solidFill>
                  <a:srgbClr val="9AA7BD"/>
                </a:solidFill>
                <a:latin typeface="Calibri" pitchFamily="34" charset="0"/>
                <a:ea typeface="Calibri" pitchFamily="34" charset="-122"/>
                <a:cs typeface="Calibri" pitchFamily="34" charset="-120"/>
              </a:rPr>
              <a:t>Non-linearity, thresholds, and interactions favor trees and networks</a:t>
            </a:r>
            <a:endParaRPr lang="en-US" sz="1250" dirty="0"/>
          </a:p>
        </p:txBody>
      </p:sp>
      <p:sp>
        <p:nvSpPr>
          <p:cNvPr id="6" name="Text 4"/>
          <p:cNvSpPr/>
          <p:nvPr/>
        </p:nvSpPr>
        <p:spPr>
          <a:xfrm>
            <a:off x="548640" y="1371600"/>
            <a:ext cx="3611880" cy="274320"/>
          </a:xfrm>
          <a:prstGeom prst="rect">
            <a:avLst/>
          </a:prstGeom>
          <a:noFill/>
          <a:ln/>
        </p:spPr>
        <p:txBody>
          <a:bodyPr wrap="square" lIns="0" tIns="0" rIns="0" bIns="0" rtlCol="0" anchor="ctr"/>
          <a:lstStyle/>
          <a:p>
            <a:pPr marL="0" indent="0" algn="ctr">
              <a:buNone/>
            </a:pPr>
            <a:r>
              <a:rPr lang="en-US" sz="1100" b="1" kern="0" spc="100" dirty="0">
                <a:solidFill>
                  <a:srgbClr val="9AA7BD"/>
                </a:solidFill>
                <a:latin typeface="Calibri" pitchFamily="34" charset="0"/>
                <a:ea typeface="Calibri" pitchFamily="34" charset="-122"/>
                <a:cs typeface="Calibri" pitchFamily="34" charset="-120"/>
              </a:rPr>
              <a:t>AGE: A CURVE, NOT A LINE</a:t>
            </a:r>
            <a:endParaRPr lang="en-US" sz="1100" dirty="0"/>
          </a:p>
        </p:txBody>
      </p:sp>
      <p:sp>
        <p:nvSpPr>
          <p:cNvPr id="7" name="Shape 5"/>
          <p:cNvSpPr/>
          <p:nvPr/>
        </p:nvSpPr>
        <p:spPr>
          <a:xfrm>
            <a:off x="502920" y="1691640"/>
            <a:ext cx="3703320" cy="30632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8" name="Image 0" descr="/home/claude/imgs/cell71_0.png"/>
          <p:cNvPicPr>
            <a:picLocks noChangeAspect="1"/>
          </p:cNvPicPr>
          <p:nvPr/>
        </p:nvPicPr>
        <p:blipFill>
          <a:blip r:embed="rId3"/>
          <a:stretch>
            <a:fillRect/>
          </a:stretch>
        </p:blipFill>
        <p:spPr>
          <a:xfrm>
            <a:off x="649224" y="1860070"/>
            <a:ext cx="3410712" cy="2726380"/>
          </a:xfrm>
          <a:prstGeom prst="rect">
            <a:avLst/>
          </a:prstGeom>
        </p:spPr>
      </p:pic>
      <p:sp>
        <p:nvSpPr>
          <p:cNvPr id="9" name="Text 6"/>
          <p:cNvSpPr/>
          <p:nvPr/>
        </p:nvSpPr>
        <p:spPr>
          <a:xfrm>
            <a:off x="4389120" y="1371600"/>
            <a:ext cx="3611880" cy="274320"/>
          </a:xfrm>
          <a:prstGeom prst="rect">
            <a:avLst/>
          </a:prstGeom>
          <a:noFill/>
          <a:ln/>
        </p:spPr>
        <p:txBody>
          <a:bodyPr wrap="square" lIns="0" tIns="0" rIns="0" bIns="0" rtlCol="0" anchor="ctr"/>
          <a:lstStyle/>
          <a:p>
            <a:pPr marL="0" indent="0" algn="ctr">
              <a:buNone/>
            </a:pPr>
            <a:r>
              <a:rPr lang="en-US" sz="1100" b="1" kern="0" spc="100" dirty="0">
                <a:solidFill>
                  <a:srgbClr val="9AA7BD"/>
                </a:solidFill>
                <a:latin typeface="Calibri" pitchFamily="34" charset="0"/>
                <a:ea typeface="Calibri" pitchFamily="34" charset="-122"/>
                <a:cs typeface="Calibri" pitchFamily="34" charset="-120"/>
              </a:rPr>
              <a:t>CAPITAL GAIN: A THRESHOLD</a:t>
            </a:r>
            <a:endParaRPr lang="en-US" sz="1100" dirty="0"/>
          </a:p>
        </p:txBody>
      </p:sp>
      <p:sp>
        <p:nvSpPr>
          <p:cNvPr id="10" name="Shape 7"/>
          <p:cNvSpPr/>
          <p:nvPr/>
        </p:nvSpPr>
        <p:spPr>
          <a:xfrm>
            <a:off x="4343400" y="1691640"/>
            <a:ext cx="3703320" cy="30632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1" name="Image 1" descr="/home/claude/imgs/cell72_0.png"/>
          <p:cNvPicPr>
            <a:picLocks noChangeAspect="1"/>
          </p:cNvPicPr>
          <p:nvPr/>
        </p:nvPicPr>
        <p:blipFill>
          <a:blip r:embed="rId4"/>
          <a:stretch>
            <a:fillRect/>
          </a:stretch>
        </p:blipFill>
        <p:spPr>
          <a:xfrm>
            <a:off x="4489704" y="1860070"/>
            <a:ext cx="3410712" cy="2726380"/>
          </a:xfrm>
          <a:prstGeom prst="rect">
            <a:avLst/>
          </a:prstGeom>
        </p:spPr>
      </p:pic>
      <p:sp>
        <p:nvSpPr>
          <p:cNvPr id="12" name="Text 8"/>
          <p:cNvSpPr/>
          <p:nvPr/>
        </p:nvSpPr>
        <p:spPr>
          <a:xfrm>
            <a:off x="8229600" y="1371600"/>
            <a:ext cx="3410712" cy="274320"/>
          </a:xfrm>
          <a:prstGeom prst="rect">
            <a:avLst/>
          </a:prstGeom>
          <a:noFill/>
          <a:ln/>
        </p:spPr>
        <p:txBody>
          <a:bodyPr wrap="square" lIns="0" tIns="0" rIns="0" bIns="0" rtlCol="0" anchor="ctr"/>
          <a:lstStyle/>
          <a:p>
            <a:pPr marL="0" indent="0" algn="ctr">
              <a:buNone/>
            </a:pPr>
            <a:r>
              <a:rPr lang="en-US" sz="1100" b="1" kern="0" spc="100" dirty="0">
                <a:solidFill>
                  <a:srgbClr val="9AA7BD"/>
                </a:solidFill>
                <a:latin typeface="Calibri" pitchFamily="34" charset="0"/>
                <a:ea typeface="Calibri" pitchFamily="34" charset="-122"/>
                <a:cs typeface="Calibri" pitchFamily="34" charset="-120"/>
              </a:rPr>
              <a:t>INTERACTION CHECK</a:t>
            </a:r>
            <a:endParaRPr lang="en-US" sz="1100" dirty="0"/>
          </a:p>
        </p:txBody>
      </p:sp>
      <p:sp>
        <p:nvSpPr>
          <p:cNvPr id="13" name="Shape 9"/>
          <p:cNvSpPr/>
          <p:nvPr/>
        </p:nvSpPr>
        <p:spPr>
          <a:xfrm>
            <a:off x="8183880" y="1691640"/>
            <a:ext cx="3502152" cy="3063240"/>
          </a:xfrm>
          <a:prstGeom prst="roundRect">
            <a:avLst>
              <a:gd name="adj" fmla="val 1600"/>
            </a:avLst>
          </a:prstGeom>
          <a:solidFill>
            <a:srgbClr val="FFFFFF"/>
          </a:solidFill>
          <a:ln w="12700">
            <a:solidFill>
              <a:srgbClr val="6AA0FF">
                <a:alpha val="45000"/>
              </a:srgbClr>
            </a:solidFill>
            <a:prstDash val="solid"/>
          </a:ln>
          <a:effectLst/>
        </p:spPr>
        <p:txBody>
          <a:bodyPr/>
          <a:lstStyle/>
          <a:p>
            <a:endParaRPr lang="en-US"/>
          </a:p>
        </p:txBody>
      </p:sp>
      <p:pic>
        <p:nvPicPr>
          <p:cNvPr id="14" name="Image 2" descr="/home/claude/imgs/cell73_0.png"/>
          <p:cNvPicPr>
            <a:picLocks noChangeAspect="1"/>
          </p:cNvPicPr>
          <p:nvPr/>
        </p:nvPicPr>
        <p:blipFill>
          <a:blip r:embed="rId5"/>
          <a:stretch>
            <a:fillRect/>
          </a:stretch>
        </p:blipFill>
        <p:spPr>
          <a:xfrm>
            <a:off x="8330184" y="2304532"/>
            <a:ext cx="3209544" cy="1837456"/>
          </a:xfrm>
          <a:prstGeom prst="rect">
            <a:avLst/>
          </a:prstGeom>
        </p:spPr>
      </p:pic>
      <p:sp>
        <p:nvSpPr>
          <p:cNvPr id="15" name="Shape 10"/>
          <p:cNvSpPr/>
          <p:nvPr/>
        </p:nvSpPr>
        <p:spPr>
          <a:xfrm>
            <a:off x="502920" y="4937760"/>
            <a:ext cx="11183112" cy="1371600"/>
          </a:xfrm>
          <a:prstGeom prst="roundRect">
            <a:avLst>
              <a:gd name="adj" fmla="val 1600"/>
            </a:avLst>
          </a:prstGeom>
          <a:solidFill>
            <a:srgbClr val="1C1E24"/>
          </a:solidFill>
          <a:ln w="12700">
            <a:solidFill>
              <a:srgbClr val="3A3F4A">
                <a:alpha val="80000"/>
              </a:srgbClr>
            </a:solidFill>
            <a:prstDash val="solid"/>
          </a:ln>
          <a:effectLst/>
        </p:spPr>
        <p:txBody>
          <a:bodyPr/>
          <a:lstStyle/>
          <a:p>
            <a:endParaRPr lang="en-US"/>
          </a:p>
        </p:txBody>
      </p:sp>
      <p:sp>
        <p:nvSpPr>
          <p:cNvPr id="16" name="Text 11"/>
          <p:cNvSpPr/>
          <p:nvPr/>
        </p:nvSpPr>
        <p:spPr>
          <a:xfrm>
            <a:off x="822960" y="5084064"/>
            <a:ext cx="3429000" cy="320040"/>
          </a:xfrm>
          <a:prstGeom prst="rect">
            <a:avLst/>
          </a:prstGeom>
          <a:noFill/>
          <a:ln/>
          <a:effectLst/>
        </p:spPr>
        <p:txBody>
          <a:bodyPr wrap="square" lIns="0" tIns="0" rIns="0" bIns="0" rtlCol="0" anchor="ctr"/>
          <a:lstStyle/>
          <a:p>
            <a:pPr marL="0" indent="0">
              <a:buNone/>
            </a:pPr>
            <a:r>
              <a:rPr lang="en-US" sz="1400" b="1">
                <a:solidFill>
                  <a:srgbClr val="E8C15A"/>
                </a:solidFill>
                <a:latin typeface="Trebuchet MS" pitchFamily="34" charset="0"/>
                <a:ea typeface="Trebuchet MS" pitchFamily="34" charset="-122"/>
                <a:cs typeface="Trebuchet MS" pitchFamily="34" charset="-120"/>
              </a:rPr>
              <a:t>Non-linear</a:t>
            </a:r>
            <a:endParaRPr lang="en-US" sz="1400" dirty="0"/>
          </a:p>
        </p:txBody>
      </p:sp>
      <p:sp>
        <p:nvSpPr>
          <p:cNvPr id="17" name="Text 12"/>
          <p:cNvSpPr/>
          <p:nvPr/>
        </p:nvSpPr>
        <p:spPr>
          <a:xfrm>
            <a:off x="822960" y="5413248"/>
            <a:ext cx="3474720" cy="822960"/>
          </a:xfrm>
          <a:prstGeom prst="rect">
            <a:avLst/>
          </a:prstGeom>
          <a:noFill/>
          <a:ln/>
        </p:spPr>
        <p:txBody>
          <a:bodyPr wrap="square" lIns="0" tIns="0" rIns="0" bIns="0" rtlCol="0" anchor="t"/>
          <a:lstStyle/>
          <a:p>
            <a:pPr marL="0" indent="0">
              <a:buNone/>
            </a:pPr>
            <a:r>
              <a:rPr lang="en-US" sz="1150" dirty="0">
                <a:solidFill>
                  <a:srgbClr val="9AA7BD"/>
                </a:solidFill>
                <a:latin typeface="Calibri" pitchFamily="34" charset="0"/>
                <a:ea typeface="Calibri" pitchFamily="34" charset="-122"/>
                <a:cs typeface="Calibri" pitchFamily="34" charset="-120"/>
              </a:rPr>
              <a:t>The &gt;50K rate rises then falls with age. A linear model reads age as one straight effect; a tree or net captures the bend.</a:t>
            </a:r>
            <a:endParaRPr lang="en-US" sz="1150" dirty="0"/>
          </a:p>
        </p:txBody>
      </p:sp>
      <p:sp>
        <p:nvSpPr>
          <p:cNvPr id="18" name="Shape 13"/>
          <p:cNvSpPr/>
          <p:nvPr/>
        </p:nvSpPr>
        <p:spPr>
          <a:xfrm>
            <a:off x="4389120" y="5084064"/>
            <a:ext cx="0" cy="960120"/>
          </a:xfrm>
          <a:prstGeom prst="line">
            <a:avLst/>
          </a:prstGeom>
          <a:noFill/>
          <a:ln w="12700">
            <a:solidFill>
              <a:srgbClr val="3A3F4A"/>
            </a:solidFill>
            <a:prstDash val="solid"/>
          </a:ln>
        </p:spPr>
        <p:txBody>
          <a:bodyPr/>
          <a:lstStyle/>
          <a:p>
            <a:endParaRPr lang="en-US"/>
          </a:p>
        </p:txBody>
      </p:sp>
      <p:sp>
        <p:nvSpPr>
          <p:cNvPr id="19" name="Text 14"/>
          <p:cNvSpPr/>
          <p:nvPr/>
        </p:nvSpPr>
        <p:spPr>
          <a:xfrm>
            <a:off x="4535424" y="5084064"/>
            <a:ext cx="3429000" cy="320040"/>
          </a:xfrm>
          <a:prstGeom prst="rect">
            <a:avLst/>
          </a:prstGeom>
          <a:noFill/>
          <a:ln/>
          <a:effectLst/>
        </p:spPr>
        <p:txBody>
          <a:bodyPr wrap="square" lIns="0" tIns="0" rIns="0" bIns="0" rtlCol="0" anchor="ctr"/>
          <a:lstStyle/>
          <a:p>
            <a:pPr marL="0" indent="0">
              <a:buNone/>
            </a:pPr>
            <a:r>
              <a:rPr lang="en-US" sz="1400" b="1">
                <a:solidFill>
                  <a:srgbClr val="E8C15A"/>
                </a:solidFill>
                <a:latin typeface="Trebuchet MS" pitchFamily="34" charset="0"/>
                <a:ea typeface="Trebuchet MS" pitchFamily="34" charset="-122"/>
                <a:cs typeface="Trebuchet MS" pitchFamily="34" charset="-120"/>
              </a:rPr>
              <a:t>Threshold</a:t>
            </a:r>
            <a:endParaRPr lang="en-US" sz="1400" dirty="0"/>
          </a:p>
        </p:txBody>
      </p:sp>
      <p:sp>
        <p:nvSpPr>
          <p:cNvPr id="20" name="Text 15"/>
          <p:cNvSpPr/>
          <p:nvPr/>
        </p:nvSpPr>
        <p:spPr>
          <a:xfrm>
            <a:off x="4535424" y="5413248"/>
            <a:ext cx="3474720" cy="822960"/>
          </a:xfrm>
          <a:prstGeom prst="rect">
            <a:avLst/>
          </a:prstGeom>
          <a:noFill/>
          <a:ln/>
        </p:spPr>
        <p:txBody>
          <a:bodyPr wrap="square" lIns="0" tIns="0" rIns="0" bIns="0" rtlCol="0" anchor="t"/>
          <a:lstStyle/>
          <a:p>
            <a:pPr marL="0" indent="0">
              <a:buNone/>
            </a:pPr>
            <a:r>
              <a:rPr lang="en-US" sz="1150" dirty="0">
                <a:solidFill>
                  <a:srgbClr val="9AA7BD"/>
                </a:solidFill>
                <a:latin typeface="Calibri" pitchFamily="34" charset="0"/>
                <a:ea typeface="Calibri" pitchFamily="34" charset="-122"/>
                <a:cs typeface="Calibri" pitchFamily="34" charset="-120"/>
              </a:rPr>
              <a:t>Any capital gain flips the &gt;$50k rate from low to high as an association, a sharp cutoff that tree model splits handle naturally.</a:t>
            </a:r>
            <a:endParaRPr lang="en-US" sz="1150" dirty="0"/>
          </a:p>
        </p:txBody>
      </p:sp>
      <p:sp>
        <p:nvSpPr>
          <p:cNvPr id="21" name="Shape 16"/>
          <p:cNvSpPr/>
          <p:nvPr/>
        </p:nvSpPr>
        <p:spPr>
          <a:xfrm>
            <a:off x="8101584" y="5084064"/>
            <a:ext cx="0" cy="960120"/>
          </a:xfrm>
          <a:prstGeom prst="line">
            <a:avLst/>
          </a:prstGeom>
          <a:noFill/>
          <a:ln w="12700">
            <a:solidFill>
              <a:srgbClr val="3A3F4A"/>
            </a:solidFill>
            <a:prstDash val="solid"/>
          </a:ln>
        </p:spPr>
        <p:txBody>
          <a:bodyPr/>
          <a:lstStyle/>
          <a:p>
            <a:endParaRPr lang="en-US"/>
          </a:p>
        </p:txBody>
      </p:sp>
      <p:sp>
        <p:nvSpPr>
          <p:cNvPr id="22" name="Text 17"/>
          <p:cNvSpPr/>
          <p:nvPr/>
        </p:nvSpPr>
        <p:spPr>
          <a:xfrm>
            <a:off x="8247888" y="5084064"/>
            <a:ext cx="3429000" cy="320040"/>
          </a:xfrm>
          <a:prstGeom prst="rect">
            <a:avLst/>
          </a:prstGeom>
          <a:noFill/>
          <a:ln/>
          <a:effectLst/>
        </p:spPr>
        <p:txBody>
          <a:bodyPr wrap="square" lIns="0" tIns="0" rIns="0" bIns="0" rtlCol="0" anchor="ctr"/>
          <a:lstStyle/>
          <a:p>
            <a:pPr marL="0" indent="0">
              <a:buNone/>
            </a:pPr>
            <a:r>
              <a:rPr lang="en-US" sz="1400" b="1">
                <a:solidFill>
                  <a:srgbClr val="E8C15A"/>
                </a:solidFill>
                <a:latin typeface="Trebuchet MS" pitchFamily="34" charset="0"/>
                <a:ea typeface="Trebuchet MS" pitchFamily="34" charset="-122"/>
                <a:cs typeface="Trebuchet MS" pitchFamily="34" charset="-120"/>
              </a:rPr>
              <a:t>Interaction</a:t>
            </a:r>
            <a:endParaRPr lang="en-US" sz="1400" dirty="0"/>
          </a:p>
        </p:txBody>
      </p:sp>
      <p:sp>
        <p:nvSpPr>
          <p:cNvPr id="23" name="Text 18"/>
          <p:cNvSpPr/>
          <p:nvPr/>
        </p:nvSpPr>
        <p:spPr>
          <a:xfrm>
            <a:off x="8247888" y="5413248"/>
            <a:ext cx="3474720" cy="822960"/>
          </a:xfrm>
          <a:prstGeom prst="rect">
            <a:avLst/>
          </a:prstGeom>
          <a:noFill/>
          <a:ln/>
        </p:spPr>
        <p:txBody>
          <a:bodyPr wrap="square" lIns="0" tIns="0" rIns="0" bIns="0" rtlCol="0" anchor="t"/>
          <a:lstStyle/>
          <a:p>
            <a:r>
              <a:rPr lang="en-US" sz="1200" dirty="0"/>
              <a:t>.</a:t>
            </a:r>
            <a:r>
              <a:rPr lang="en-US" sz="1150" dirty="0">
                <a:solidFill>
                  <a:srgbClr val="9AA7BD"/>
                </a:solidFill>
                <a:latin typeface="Calibri" pitchFamily="34" charset="0"/>
                <a:ea typeface="Calibri" pitchFamily="34" charset="-122"/>
                <a:cs typeface="Calibri" pitchFamily="34" charset="-120"/>
              </a:rPr>
              <a:t>High pay rates show up where high education and being married occur together, not from either alone. </a:t>
            </a:r>
            <a:r>
              <a:rPr lang="en-US" sz="1150" dirty="0" err="1">
                <a:solidFill>
                  <a:srgbClr val="9AA7BD"/>
                </a:solidFill>
                <a:latin typeface="Calibri" pitchFamily="34" charset="0"/>
                <a:ea typeface="Calibri" pitchFamily="34" charset="-122"/>
                <a:cs typeface="Calibri" pitchFamily="34" charset="-120"/>
              </a:rPr>
              <a:t>XGBoost</a:t>
            </a:r>
            <a:r>
              <a:rPr lang="en-US" sz="1150" dirty="0">
                <a:solidFill>
                  <a:srgbClr val="9AA7BD"/>
                </a:solidFill>
                <a:latin typeface="Calibri" pitchFamily="34" charset="0"/>
                <a:ea typeface="Calibri" pitchFamily="34" charset="-122"/>
                <a:cs typeface="Calibri" pitchFamily="34" charset="-120"/>
              </a:rPr>
              <a:t> and MLP can pick up on those kinds of combined patterns. </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16181D"/>
        </a:solidFill>
        <a:effectLst/>
      </p:bgPr>
    </p:bg>
    <p:spTree>
      <p:nvGrpSpPr>
        <p:cNvPr id="1" name=""/>
        <p:cNvGrpSpPr/>
        <p:nvPr/>
      </p:nvGrpSpPr>
      <p:grpSpPr>
        <a:xfrm>
          <a:off x="0" y="0"/>
          <a:ext cx="0" cy="0"/>
          <a:chOff x="0" y="0"/>
          <a:chExt cx="0" cy="0"/>
        </a:xfrm>
      </p:grpSpPr>
      <p:sp>
        <p:nvSpPr>
          <p:cNvPr id="4" name="Text 2"/>
          <p:cNvSpPr/>
          <p:nvPr/>
        </p:nvSpPr>
        <p:spPr>
          <a:xfrm>
            <a:off x="640080" y="566928"/>
            <a:ext cx="10972800" cy="640080"/>
          </a:xfrm>
          <a:prstGeom prst="rect">
            <a:avLst/>
          </a:prstGeom>
          <a:noFill/>
          <a:ln/>
          <a:effectLst/>
        </p:spPr>
        <p:txBody>
          <a:bodyPr wrap="square" lIns="0" tIns="0" rIns="0" bIns="0" rtlCol="0" anchor="ctr"/>
          <a:lstStyle/>
          <a:p>
            <a:pPr marL="0" indent="0">
              <a:buNone/>
            </a:pPr>
            <a:r>
              <a:rPr lang="en-US" sz="3200" b="1">
                <a:solidFill>
                  <a:srgbClr val="F5F7FA"/>
                </a:solidFill>
                <a:latin typeface="Trebuchet MS" pitchFamily="34" charset="0"/>
                <a:ea typeface="Trebuchet MS" pitchFamily="34" charset="-122"/>
                <a:cs typeface="Trebuchet MS" pitchFamily="34" charset="-120"/>
              </a:rPr>
              <a:t>Where the EDA leaves each hypothesis</a:t>
            </a:r>
            <a:endParaRPr lang="en-US" sz="3200" dirty="0"/>
          </a:p>
        </p:txBody>
      </p:sp>
      <p:sp>
        <p:nvSpPr>
          <p:cNvPr id="5" name="Shape 3"/>
          <p:cNvSpPr/>
          <p:nvPr/>
        </p:nvSpPr>
        <p:spPr>
          <a:xfrm>
            <a:off x="667512" y="1298448"/>
            <a:ext cx="2743200" cy="0"/>
          </a:xfrm>
          <a:prstGeom prst="line">
            <a:avLst/>
          </a:prstGeom>
          <a:noFill/>
          <a:ln w="25400">
            <a:solidFill>
              <a:srgbClr val="6AA0FF"/>
            </a:solidFill>
            <a:prstDash val="solid"/>
          </a:ln>
          <a:effectLst/>
        </p:spPr>
        <p:txBody>
          <a:bodyPr/>
          <a:lstStyle/>
          <a:p>
            <a:endParaRPr lang="en-US"/>
          </a:p>
        </p:txBody>
      </p:sp>
      <p:sp>
        <p:nvSpPr>
          <p:cNvPr id="6" name="Shape 4"/>
          <p:cNvSpPr/>
          <p:nvPr/>
        </p:nvSpPr>
        <p:spPr>
          <a:xfrm>
            <a:off x="640080" y="1627632"/>
            <a:ext cx="896112" cy="896112"/>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7" name="Text 5"/>
          <p:cNvSpPr/>
          <p:nvPr/>
        </p:nvSpPr>
        <p:spPr>
          <a:xfrm>
            <a:off x="640080" y="1627632"/>
            <a:ext cx="896112" cy="896112"/>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H1</a:t>
            </a:r>
            <a:endParaRPr lang="en-US" sz="2400" dirty="0"/>
          </a:p>
        </p:txBody>
      </p:sp>
      <p:sp>
        <p:nvSpPr>
          <p:cNvPr id="8" name="Text 6"/>
          <p:cNvSpPr/>
          <p:nvPr/>
        </p:nvSpPr>
        <p:spPr>
          <a:xfrm>
            <a:off x="1719072" y="1609344"/>
            <a:ext cx="7589520" cy="932688"/>
          </a:xfrm>
          <a:prstGeom prst="rect">
            <a:avLst/>
          </a:prstGeom>
          <a:noFill/>
          <a:ln/>
        </p:spPr>
        <p:txBody>
          <a:bodyPr wrap="square" lIns="0" tIns="0" rIns="0" bIns="0" rtlCol="0" anchor="ctr"/>
          <a:lstStyle/>
          <a:p>
            <a:pPr marL="0" indent="0">
              <a:buNone/>
            </a:pPr>
            <a:r>
              <a:rPr lang="en-US" sz="1350" dirty="0">
                <a:solidFill>
                  <a:srgbClr val="9AA7BD"/>
                </a:solidFill>
                <a:latin typeface="Calibri" pitchFamily="34" charset="0"/>
                <a:ea typeface="Calibri" pitchFamily="34" charset="-122"/>
                <a:cs typeface="Calibri" pitchFamily="34" charset="-120"/>
              </a:rPr>
              <a:t>Education spreads the &gt;50K rate wider and cleaner than hours, and once a decision tree puts every feature in competition, education still beats hours on both importance measures (~8x on tree, ~4x on permutation). Real support for H1.</a:t>
            </a:r>
            <a:endParaRPr lang="en-US" sz="1350" dirty="0"/>
          </a:p>
        </p:txBody>
      </p:sp>
      <p:sp>
        <p:nvSpPr>
          <p:cNvPr id="9" name="Shape 7"/>
          <p:cNvSpPr/>
          <p:nvPr/>
        </p:nvSpPr>
        <p:spPr>
          <a:xfrm>
            <a:off x="640080" y="2688336"/>
            <a:ext cx="896112" cy="896112"/>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0" name="Text 8"/>
          <p:cNvSpPr/>
          <p:nvPr/>
        </p:nvSpPr>
        <p:spPr>
          <a:xfrm>
            <a:off x="640080" y="2688336"/>
            <a:ext cx="896112" cy="896112"/>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H2</a:t>
            </a:r>
            <a:endParaRPr lang="en-US" sz="2400" dirty="0"/>
          </a:p>
        </p:txBody>
      </p:sp>
      <p:sp>
        <p:nvSpPr>
          <p:cNvPr id="11" name="Text 9"/>
          <p:cNvSpPr/>
          <p:nvPr/>
        </p:nvSpPr>
        <p:spPr>
          <a:xfrm>
            <a:off x="1719072" y="2670048"/>
            <a:ext cx="7589520" cy="932688"/>
          </a:xfrm>
          <a:prstGeom prst="rect">
            <a:avLst/>
          </a:prstGeom>
          <a:noFill/>
          <a:ln/>
        </p:spPr>
        <p:txBody>
          <a:bodyPr wrap="square" lIns="0" tIns="0" rIns="0" bIns="0" rtlCol="0" anchor="ctr"/>
          <a:lstStyle/>
          <a:p>
            <a:pPr marL="0" indent="0">
              <a:buNone/>
            </a:pPr>
            <a:r>
              <a:rPr lang="en-US" sz="1350" dirty="0">
                <a:solidFill>
                  <a:srgbClr val="9AA7BD"/>
                </a:solidFill>
                <a:latin typeface="Calibri" pitchFamily="34" charset="0"/>
                <a:ea typeface="Calibri" pitchFamily="34" charset="-122"/>
                <a:cs typeface="Calibri" pitchFamily="34" charset="-120"/>
              </a:rPr>
              <a:t>A real US-born vs foreign-born base-rate gap that holds up alongside sex. This is the recall gap the fairness audit will measure per model.</a:t>
            </a:r>
            <a:endParaRPr lang="en-US" sz="1350" dirty="0"/>
          </a:p>
        </p:txBody>
      </p:sp>
      <p:sp>
        <p:nvSpPr>
          <p:cNvPr id="12" name="Shape 10"/>
          <p:cNvSpPr/>
          <p:nvPr/>
        </p:nvSpPr>
        <p:spPr>
          <a:xfrm>
            <a:off x="640080" y="3749040"/>
            <a:ext cx="896112" cy="896112"/>
          </a:xfrm>
          <a:prstGeom prst="roundRect">
            <a:avLst>
              <a:gd name="adj" fmla="val 1600"/>
            </a:avLst>
          </a:prstGeom>
          <a:solidFill>
            <a:srgbClr val="2A2E39"/>
          </a:solidFill>
          <a:ln w="12700">
            <a:solidFill>
              <a:srgbClr val="6AA0FF">
                <a:alpha val="65000"/>
              </a:srgbClr>
            </a:solidFill>
            <a:prstDash val="solid"/>
          </a:ln>
          <a:effectLst/>
        </p:spPr>
        <p:txBody>
          <a:bodyPr/>
          <a:lstStyle/>
          <a:p>
            <a:endParaRPr lang="en-US"/>
          </a:p>
        </p:txBody>
      </p:sp>
      <p:sp>
        <p:nvSpPr>
          <p:cNvPr id="13" name="Text 11"/>
          <p:cNvSpPr/>
          <p:nvPr/>
        </p:nvSpPr>
        <p:spPr>
          <a:xfrm>
            <a:off x="640080" y="3749040"/>
            <a:ext cx="896112" cy="896112"/>
          </a:xfrm>
          <a:prstGeom prst="rect">
            <a:avLst/>
          </a:prstGeom>
          <a:noFill/>
          <a:ln/>
        </p:spPr>
        <p:txBody>
          <a:bodyPr wrap="square" rtlCol="0" anchor="ctr"/>
          <a:lstStyle/>
          <a:p>
            <a:pPr marL="0" indent="0" algn="ctr">
              <a:buNone/>
            </a:pPr>
            <a:r>
              <a:rPr lang="en-US" sz="2400" b="1">
                <a:solidFill>
                  <a:srgbClr val="E8C15A"/>
                </a:solidFill>
                <a:latin typeface="Trebuchet MS" pitchFamily="34" charset="0"/>
                <a:ea typeface="Trebuchet MS" pitchFamily="34" charset="-122"/>
                <a:cs typeface="Trebuchet MS" pitchFamily="34" charset="-120"/>
              </a:rPr>
              <a:t>H3</a:t>
            </a:r>
            <a:endParaRPr lang="en-US" sz="2400" dirty="0"/>
          </a:p>
        </p:txBody>
      </p:sp>
      <p:sp>
        <p:nvSpPr>
          <p:cNvPr id="14" name="Text 12"/>
          <p:cNvSpPr/>
          <p:nvPr/>
        </p:nvSpPr>
        <p:spPr>
          <a:xfrm>
            <a:off x="1719072" y="3730752"/>
            <a:ext cx="7589520" cy="932688"/>
          </a:xfrm>
          <a:prstGeom prst="rect">
            <a:avLst/>
          </a:prstGeom>
          <a:noFill/>
          <a:ln/>
        </p:spPr>
        <p:txBody>
          <a:bodyPr wrap="square" lIns="0" tIns="0" rIns="0" bIns="0" rtlCol="0" anchor="ctr"/>
          <a:lstStyle/>
          <a:p>
            <a:pPr marL="0" indent="0">
              <a:buNone/>
            </a:pPr>
            <a:r>
              <a:rPr lang="en-US" sz="1350" dirty="0">
                <a:solidFill>
                  <a:srgbClr val="9AA7BD"/>
                </a:solidFill>
                <a:latin typeface="Calibri" pitchFamily="34" charset="0"/>
                <a:ea typeface="Calibri" pitchFamily="34" charset="-122"/>
                <a:cs typeface="Calibri" pitchFamily="34" charset="-120"/>
              </a:rPr>
              <a:t>Non-linear (age), threshold (capital gain), and interaction (education × marital status) patterns are present, consistent with expecting XGBoost to classify best.</a:t>
            </a:r>
            <a:endParaRPr lang="en-US" sz="1350" dirty="0"/>
          </a:p>
        </p:txBody>
      </p:sp>
      <p:sp>
        <p:nvSpPr>
          <p:cNvPr id="15" name="Text 13"/>
          <p:cNvSpPr/>
          <p:nvPr/>
        </p:nvSpPr>
        <p:spPr>
          <a:xfrm>
            <a:off x="640080" y="4919472"/>
            <a:ext cx="8503920" cy="731520"/>
          </a:xfrm>
          <a:prstGeom prst="rect">
            <a:avLst/>
          </a:prstGeom>
          <a:noFill/>
          <a:ln/>
        </p:spPr>
        <p:txBody>
          <a:bodyPr wrap="square" lIns="0" tIns="0" rIns="0" bIns="0" rtlCol="0" anchor="t"/>
          <a:lstStyle/>
          <a:p>
            <a:r>
              <a:rPr lang="en-US" sz="1250" i="1" dirty="0">
                <a:solidFill>
                  <a:srgbClr val="6E7C94"/>
                </a:solidFill>
                <a:latin typeface="Calibri" pitchFamily="34" charset="0"/>
                <a:ea typeface="Calibri" pitchFamily="34" charset="-122"/>
                <a:cs typeface="Calibri" pitchFamily="34" charset="-120"/>
              </a:rPr>
              <a:t>*No single feature cleanly separates the two income groups, so these are early hints rather than actual proof. But nothing in the EDA cuts against these three hypotheses either.  </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0A0E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Oval 2"/>
          <p:cNvSpPr/>
          <p:nvPr/>
        </p:nvSpPr>
        <p:spPr>
          <a:xfrm>
            <a:off x="2712567" y="45720"/>
            <a:ext cx="6766560" cy="6766560"/>
          </a:xfrm>
          <a:prstGeom prst="ellipse">
            <a:avLst/>
          </a:prstGeom>
          <a:noFill/>
          <a:ln w="15240">
            <a:solidFill>
              <a:srgbClr val="E8C15A">
                <a:alpha val="20000"/>
              </a:srgbClr>
            </a:solidFill>
          </a:ln>
          <a:effectLst>
            <a:glow rad="203200">
              <a:srgbClr val="E8C15A">
                <a:alpha val="22000"/>
              </a:srgbClr>
            </a:glow>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Oval 5"/>
          <p:cNvSpPr/>
          <p:nvPr/>
        </p:nvSpPr>
        <p:spPr>
          <a:xfrm>
            <a:off x="9966960" y="-1280160"/>
            <a:ext cx="3657600" cy="3657600"/>
          </a:xfrm>
          <a:prstGeom prst="ellipse">
            <a:avLst/>
          </a:prstGeom>
          <a:noFill/>
          <a:ln w="12700">
            <a:solidFill>
              <a:srgbClr val="6AA0FF">
                <a:alpha val="12000"/>
              </a:srgbClr>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305" y="2563053"/>
            <a:ext cx="12191695" cy="1097280"/>
          </a:xfrm>
          <a:prstGeom prst="rect">
            <a:avLst/>
          </a:prstGeom>
          <a:noFill/>
        </p:spPr>
        <p:txBody>
          <a:bodyPr wrap="square" lIns="0" tIns="0" rIns="0" bIns="0" anchor="ctr">
            <a:spAutoFit/>
          </a:bodyPr>
          <a:lstStyle/>
          <a:p>
            <a:pPr algn="ctr"/>
            <a:r>
              <a:rPr sz="5800" b="1" i="0" dirty="0">
                <a:solidFill>
                  <a:srgbClr val="F5F7FA"/>
                </a:solidFill>
                <a:latin typeface="Cambria"/>
              </a:rPr>
              <a:t>Thank you</a:t>
            </a:r>
          </a:p>
        </p:txBody>
      </p:sp>
      <p:sp>
        <p:nvSpPr>
          <p:cNvPr id="10" name="TextBox 9"/>
          <p:cNvSpPr txBox="1"/>
          <p:nvPr/>
        </p:nvSpPr>
        <p:spPr>
          <a:xfrm>
            <a:off x="-610" y="3760470"/>
            <a:ext cx="12191695" cy="640080"/>
          </a:xfrm>
          <a:prstGeom prst="rect">
            <a:avLst/>
          </a:prstGeom>
          <a:noFill/>
        </p:spPr>
        <p:txBody>
          <a:bodyPr wrap="square" lIns="0" tIns="0" rIns="0" bIns="0" anchor="ctr">
            <a:spAutoFit/>
          </a:bodyPr>
          <a:lstStyle/>
          <a:p>
            <a:pPr algn="ctr"/>
            <a:r>
              <a:rPr sz="3000" b="0" i="0" dirty="0">
                <a:solidFill>
                  <a:srgbClr val="E8C15A"/>
                </a:solidFill>
                <a:latin typeface="Cambria"/>
              </a:rPr>
              <a:t>Any questions?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350</TotalTime>
  <Words>2809</Words>
  <Application>Microsoft Office PowerPoint</Application>
  <PresentationFormat>Widescreen</PresentationFormat>
  <Paragraphs>235</Paragraphs>
  <Slides>13</Slides>
  <Notes>13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vt:lpstr>
      <vt:lpstr>Trebuchet MS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Erik Herb</cp:lastModifiedBy>
  <cp:revision>3</cp:revision>
  <dcterms:created xsi:type="dcterms:W3CDTF">2026-07-13T18:07:21Z</dcterms:created>
  <dcterms:modified xsi:type="dcterms:W3CDTF">2026-07-14T23:49:01Z</dcterms:modified>
</cp:coreProperties>
</file>